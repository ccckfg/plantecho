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大家好，我是XXX，今天给大家汇报的项目是 DYN Plant Echo——一个基于 ESP32 和大语言模型的智能植物陪伴系统。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我们的核心理念是：让每一株植物，都有被听见的权利。</a:t>
            </a:r>
          </a:p>
          <a:p>
            <a:endParaRPr lang="zh-CN" dirty="0"/>
          </a:p>
          <a:p>
            <a:r>
              <a:rPr lang="zh-CN" dirty="0"/>
              <a:t>要点：① 项目名称和定位 ② 核心理念 ③ 期中/期末汇报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那么，为什么我们要做 PlantEcho？</a:t>
            </a:r>
          </a:p>
          <a:p>
            <a:endParaRPr lang="zh-CN" dirty="0"/>
          </a:p>
          <a:p>
            <a:r>
              <a:rPr lang="zh-CN" dirty="0"/>
              <a:t>市面上的植物监控系统，大多是一个冷冰冰的传感器看板——"水分: 23%"、"温度: 24°C"。但植物不是数据，它们是生命。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我们提出了五个设计原则：说人话、尊重节奏、操作信任、共情细节、呼吸感动效。这五个原则贯穿了整个项目的设计和开发。</a:t>
            </a:r>
          </a:p>
          <a:p>
            <a:endParaRPr lang="zh-CN" dirty="0"/>
          </a:p>
          <a:p>
            <a:r>
              <a:rPr lang="zh-CN" dirty="0"/>
              <a:t>要点：① 不是传感器看板而是陪伴 ② 五大设计原则 ③ 设计哲学来源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让我用几个具体的例子来说明这些原则。</a:t>
            </a:r>
          </a:p>
          <a:p>
            <a:endParaRPr lang="zh-CN" dirty="0"/>
          </a:p>
          <a:p>
            <a:r>
              <a:rPr lang="zh-CN" dirty="0"/>
              <a:t>"说人话"是什么意思？当土壤湿度是23%时，我们不会显示"水分: 23%"，而是显示"我有点渴了·23%"。这就是植物视角的语言。</a:t>
            </a:r>
          </a:p>
          <a:p>
            <a:endParaRPr lang="zh-CN" dirty="0"/>
          </a:p>
          <a:p>
            <a:r>
              <a:rPr lang="zh-CN" dirty="0"/>
              <a:t>"尊重节奏"——植物是慢的载体，我们的软件也是。关键操作走5秒撤销toast，而不是突然弹出的确认框。动画全部是380ms缓动，不做突然出现。</a:t>
            </a:r>
          </a:p>
          <a:p>
            <a:endParaRPr lang="zh-CN" dirty="0"/>
          </a:p>
          <a:p>
            <a:r>
              <a:rPr lang="zh-CN" dirty="0"/>
              <a:t>[互动] 大家有没有遇到过那种点了按钮没反应的情况？我们在设计中明确要求：未实现的按钮不放出来。</a:t>
            </a:r>
          </a:p>
          <a:p>
            <a:endParaRPr lang="zh-CN" dirty="0"/>
          </a:p>
          <a:p>
            <a:r>
              <a:rPr lang="zh-CN" dirty="0"/>
              <a:t>要点：① 具体设计原则示例 ② 反模式避免 ③ 人文关怀落地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了解了设计哲学，让我们看看系统是怎么实现的。</a:t>
            </a:r>
          </a:p>
          <a:p>
            <a:endParaRPr lang="zh-CN" dirty="0"/>
          </a:p>
          <a:p>
            <a:r>
              <a:rPr lang="zh-CN" dirty="0"/>
              <a:t>整个系统分为三层：硬件层、服务端层和客户端层。</a:t>
            </a:r>
          </a:p>
          <a:p>
            <a:endParaRPr lang="zh-CN" dirty="0"/>
          </a:p>
          <a:p>
            <a:r>
              <a:rPr lang="zh-CN" dirty="0"/>
              <a:t>硬件层是 ESP32，负责采集传感器数据，通过 MQTT 协议上报到服务端。服务端是 Node.js + TypeScript + Fastify + SQLite 的技术栈，承载了8个核心模块。客户端是 Tauri v2 + React 18 的桌面应用。</a:t>
            </a:r>
          </a:p>
          <a:p>
            <a:endParaRPr lang="zh-CN" dirty="0"/>
          </a:p>
          <a:p>
            <a:r>
              <a:rPr lang="zh-CN" dirty="0"/>
              <a:t>[停顿] 数据通过 SSE 实时同步到客户端，用户在任何一端的操作都能实时反映到其他端。</a:t>
            </a:r>
          </a:p>
          <a:p>
            <a:endParaRPr lang="zh-CN" dirty="0"/>
          </a:p>
          <a:p>
            <a:r>
              <a:rPr lang="zh-CN" dirty="0"/>
              <a:t>要点：① 三层架构 ② 技术栈选择 ③ 数据流方向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先看硬件层。</a:t>
            </a:r>
          </a:p>
          <a:p>
            <a:endParaRPr lang="zh-CN" dirty="0"/>
          </a:p>
          <a:p>
            <a:r>
              <a:rPr lang="zh-CN" dirty="0"/>
              <a:t>ESP32 是我们的核心控制器，挂载了四个传感器：SHT40 温湿度传感器、BH1750 光照传感器、电容式土壤湿度传感器和 OLED 显示屏。</a:t>
            </a:r>
          </a:p>
          <a:p>
            <a:endParaRPr lang="zh-CN" dirty="0"/>
          </a:p>
          <a:p>
            <a:r>
              <a:rPr lang="zh-CN" dirty="0"/>
              <a:t>它有三个核心能力：SoftAP 配网——长按 BOOT 键3秒就能进入配网模式；MQTT 上报——1秒级的数据上报频率，断线自动重连；OTA 在线更新——通过 manifest 文件就能远程升级固件。</a:t>
            </a:r>
          </a:p>
          <a:p>
            <a:endParaRPr lang="zh-CN" dirty="0"/>
          </a:p>
          <a:p>
            <a:r>
              <a:rPr lang="zh-CN" dirty="0"/>
              <a:t>[停顿] 特别值得一提的是，认领设备后，设备密钥可以通过 MQTT 自动下发，不需要用户手动填写。</a:t>
            </a:r>
          </a:p>
          <a:p>
            <a:endParaRPr lang="zh-CN" dirty="0"/>
          </a:p>
          <a:p>
            <a:r>
              <a:rPr lang="zh-CN" dirty="0"/>
              <a:t>要点：① 四个传感器 ② 三大核心能力 ③ 自动密钥下发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接下来看服务端。</a:t>
            </a:r>
          </a:p>
          <a:p>
            <a:endParaRPr lang="zh-CN" dirty="0"/>
          </a:p>
          <a:p>
            <a:r>
              <a:rPr lang="zh-CN" dirty="0"/>
              <a:t>技术栈是 Node.js 24 + TypeScript + Fastify，存储用 SQLite，加上 sqlite-vec 做向量检索，Zod 做 schema 校验。</a:t>
            </a:r>
          </a:p>
          <a:p>
            <a:endParaRPr lang="zh-CN" dirty="0"/>
          </a:p>
          <a:p>
            <a:r>
              <a:rPr lang="zh-CN" dirty="0"/>
              <a:t>我们有8个核心模块：设备管理、植物档案、聊天引擎、记忆系统、主动发言、实时同步、天气服务和访问鉴权。</a:t>
            </a:r>
          </a:p>
          <a:p>
            <a:endParaRPr lang="zh-CN" dirty="0"/>
          </a:p>
          <a:p>
            <a:r>
              <a:rPr lang="zh-CN" dirty="0"/>
              <a:t>[停顿] 每个模块都是独立的，但又通过事件系统紧密协作。比如传感器数据上报后，会触发设备管理模块更新状态，同时触发主动发言模块判断是否需要提醒用户。</a:t>
            </a:r>
          </a:p>
          <a:p>
            <a:endParaRPr lang="zh-CN" dirty="0"/>
          </a:p>
          <a:p>
            <a:r>
              <a:rPr lang="zh-CN" dirty="0"/>
              <a:t>要点：① 技术栈 ② 8个核心模块 ③ 模块间协作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服务端最核心的模块是记忆系统。</a:t>
            </a:r>
          </a:p>
          <a:p>
            <a:endParaRPr lang="zh-CN" dirty="0"/>
          </a:p>
          <a:p>
            <a:r>
              <a:rPr lang="zh-CN" dirty="0"/>
              <a:t>我们借鉴了 AgentGal 的上下文管理，设计了四阶段的记忆生命周期：Drafts → Consolidation → Episode → Understanding。</a:t>
            </a:r>
          </a:p>
          <a:p>
            <a:endParaRPr lang="zh-CN" dirty="0"/>
          </a:p>
          <a:p>
            <a:r>
              <a:rPr lang="zh-CN" dirty="0"/>
              <a:t>用户消息和传感器事件先进入 Drafts，然后通过 background_jobs 调度 Consolidation，由 closure detector 判断是否形成一个完整的 Episode，最终从多个 Episode 中提炼出长期的 Understanding。</a:t>
            </a:r>
          </a:p>
          <a:p>
            <a:endParaRPr lang="zh-CN" dirty="0"/>
          </a:p>
          <a:p>
            <a:r>
              <a:rPr lang="zh-CN" dirty="0"/>
              <a:t>[停顿] 检索管线也很有意思：我们用 FTS5/BM25 做全文检索，sqlite-vec 做向量检索，然后通过 Hybrid Fusion 融合，还可以加上 Qwen3-Reranker-8B 做重排序。</a:t>
            </a:r>
          </a:p>
          <a:p>
            <a:endParaRPr lang="zh-CN" dirty="0"/>
          </a:p>
          <a:p>
            <a:r>
              <a:rPr lang="zh-CN" dirty="0"/>
              <a:t>最终排序公式是：relevance × 0.50 + recency × 0.20 + importance × 0.30。</a:t>
            </a:r>
          </a:p>
          <a:p>
            <a:endParaRPr lang="zh-CN" dirty="0"/>
          </a:p>
          <a:p>
            <a:r>
              <a:rPr lang="zh-CN" dirty="0"/>
              <a:t>要点：① 四阶段生命周期 ② 混合检索管线 ③ 排序公式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有了记忆系统，还需要聪明的引用策略。</a:t>
            </a:r>
          </a:p>
          <a:p>
            <a:endParaRPr lang="zh-CN" dirty="0"/>
          </a:p>
          <a:p>
            <a:r>
              <a:rPr lang="zh-CN" dirty="0"/>
              <a:t>我们的核心原则是：诚实优先。</a:t>
            </a:r>
          </a:p>
          <a:p>
            <a:endParaRPr lang="zh-CN" dirty="0"/>
          </a:p>
          <a:p>
            <a:r>
              <a:rPr lang="zh-CN" dirty="0"/>
              <a:t>当用户问状态/读数类问题时，优先回答当前传感器数据，不主动引用旧记忆。当用户明确问"记得/上次"时，才允许引用中高相关记忆。高相关记忆最多引用1条。</a:t>
            </a:r>
          </a:p>
          <a:p>
            <a:endParaRPr lang="zh-CN" dirty="0"/>
          </a:p>
          <a:p>
            <a:r>
              <a:rPr lang="zh-CN" dirty="0"/>
              <a:t>[停顿] 最重要的是：没有可靠记忆时，禁止说"我记得"。这比引用错误的记忆更伤害用户信任。</a:t>
            </a:r>
          </a:p>
          <a:p>
            <a:endParaRPr lang="zh-CN" dirty="0"/>
          </a:p>
          <a:p>
            <a:r>
              <a:rPr lang="zh-CN" dirty="0"/>
              <a:t>要点：① 智能引用策略 ② 诚实优先原则 ③ 引用格式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记忆系统让植物能"记住"，主动发言引擎让植物能"开口"。</a:t>
            </a:r>
          </a:p>
          <a:p>
            <a:endParaRPr lang="zh-CN" dirty="0"/>
          </a:p>
          <a:p>
            <a:r>
              <a:rPr lang="zh-CN" dirty="0"/>
              <a:t>我们有三种触发机制：传感器异常（缺水优先）、天气提醒（下雨提醒带伞）、用户自定义提醒（"十分钟后提醒我浇水"）。</a:t>
            </a:r>
          </a:p>
          <a:p>
            <a:endParaRPr lang="zh-CN" dirty="0"/>
          </a:p>
          <a:p>
            <a:r>
              <a:rPr lang="zh-CN" dirty="0"/>
              <a:t>[停顿] 设计亮点是：事件只决定"该不该说"和"事实是什么"，LLM 只负责把结构化事实润色成植物口吻的一句话。比如"今天外面下雨了，记得带伞哦～我会乖乖待在家里的"。</a:t>
            </a:r>
          </a:p>
          <a:p>
            <a:endParaRPr lang="zh-CN" dirty="0"/>
          </a:p>
          <a:p>
            <a:r>
              <a:rPr lang="zh-CN" dirty="0"/>
              <a:t>我们还设计了冷却去重机制，避免1秒级的传感器上报导致重复刷屏。</a:t>
            </a:r>
          </a:p>
          <a:p>
            <a:endParaRPr lang="zh-CN" dirty="0"/>
          </a:p>
          <a:p>
            <a:r>
              <a:rPr lang="zh-CN" dirty="0"/>
              <a:t>要点：① 三种触发机制 ② LLM 润色设计 ③ 冷却去重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服务端说完了，让我们看看客户端。</a:t>
            </a:r>
          </a:p>
          <a:p>
            <a:endParaRPr lang="zh-CN" dirty="0"/>
          </a:p>
          <a:p>
            <a:r>
              <a:rPr lang="zh-CN" dirty="0"/>
              <a:t>技术栈是 Tauri v2 + React 18 + Vite 5，设计语言是 Verdant Echo——Forest-to-Soil 配色系统，从深森林绿到暖奶油白。</a:t>
            </a:r>
          </a:p>
          <a:p>
            <a:endParaRPr lang="zh-CN" dirty="0"/>
          </a:p>
          <a:p>
            <a:r>
              <a:rPr lang="zh-CN" dirty="0"/>
              <a:t>我们有五个核心页面：温室 Dashboard、植物详情、植响对话、成长日记和相册。每个页面都遵循人文关怀五原则。</a:t>
            </a:r>
          </a:p>
          <a:p>
            <a:endParaRPr lang="zh-CN" dirty="0"/>
          </a:p>
          <a:p>
            <a:r>
              <a:rPr lang="zh-CN" dirty="0"/>
              <a:t>[停顿] 共享的 UI 组件包括 AppShell、SideNav、Card、Chip、Toast 等，Toast 系统支持 undo action，这是"撤销 &gt; 确认"原则的具体实现。</a:t>
            </a:r>
          </a:p>
          <a:p>
            <a:endParaRPr lang="zh-CN" dirty="0"/>
          </a:p>
          <a:p>
            <a:r>
              <a:rPr lang="zh-CN" dirty="0"/>
              <a:t>要点：① 技术栈 ② 设计语言 ③ 五个核心页面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让我展示一下温室 Dashboard 的设计。</a:t>
            </a:r>
          </a:p>
          <a:p>
            <a:endParaRPr lang="zh-CN" dirty="0"/>
          </a:p>
          <a:p>
            <a:r>
              <a:rPr lang="zh-CN" dirty="0"/>
              <a:t>每次进入，用户会看到一个时间感问候——"下午好，欢迎回到你的温室"。根据时辰自动切换：早安、午安、下午好、晚上好。</a:t>
            </a:r>
          </a:p>
          <a:p>
            <a:endParaRPr lang="zh-CN" dirty="0"/>
          </a:p>
          <a:p>
            <a:r>
              <a:rPr lang="zh-CN" dirty="0"/>
              <a:t>[停顿] 一键浇水按钮点击后，不会显示"已浇水"这样的系统消息，而是显示一个居中的气泡："📝 你为小绿记录了一次浇水"，带5秒撤销功能。</a:t>
            </a:r>
          </a:p>
          <a:p>
            <a:endParaRPr lang="zh-CN" dirty="0"/>
          </a:p>
          <a:p>
            <a:r>
              <a:rPr lang="zh-CN" dirty="0"/>
              <a:t>植物卡片上会显示植物视角的状态标签——"我有点渴了"而不是"土壤湿度低"。底部还有 PlantReflectionFooter，是植物口吻的一句话，比如"今天已经是第15天了，谢谢你一直陪着我"。</a:t>
            </a:r>
          </a:p>
          <a:p>
            <a:endParaRPr lang="zh-CN" dirty="0"/>
          </a:p>
          <a:p>
            <a:r>
              <a:rPr lang="zh-CN" dirty="0"/>
              <a:t>要点：① 时间感问候 ② 撤销 toast ③ 植物视角语言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植响对话是用户和植物交流的核心界面。</a:t>
            </a:r>
          </a:p>
          <a:p>
            <a:endParaRPr lang="zh-CN" dirty="0"/>
          </a:p>
          <a:p>
            <a:r>
              <a:rPr lang="zh-CN" dirty="0"/>
              <a:t>左侧是植物档案卡，右侧是对话区。支持流式回复、快捷动作 chip。快捷动作渲染为系统操作 chip，不是伪装成用户消息——这是"操作信任"原则的体现。</a:t>
            </a:r>
          </a:p>
          <a:p>
            <a:endParaRPr lang="zh-CN" dirty="0"/>
          </a:p>
          <a:p>
            <a:r>
              <a:rPr lang="zh-CN" dirty="0"/>
              <a:t>[停顿] 成长日记页面有 Bento StatCard 展示统计数据，里程碑时间线记录植物的重要时刻。</a:t>
            </a:r>
          </a:p>
          <a:p>
            <a:endParaRPr lang="zh-CN" dirty="0"/>
          </a:p>
          <a:p>
            <a:r>
              <a:rPr lang="zh-CN" dirty="0"/>
              <a:t>里程碑可以被回应——用户悬停里程碑卡片就能直接给植物留言，留言会以系统消息形式发到对话流。"看见"和"被看见"形成闭环。</a:t>
            </a:r>
          </a:p>
          <a:p>
            <a:endParaRPr lang="zh-CN" dirty="0"/>
          </a:p>
          <a:p>
            <a:r>
              <a:rPr lang="zh-CN" dirty="0"/>
              <a:t>要点：① 对话界面设计 ② 快捷动作渲染 ③ 里程碑回应机制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让我总结一下项目的技术亮点。</a:t>
            </a:r>
          </a:p>
          <a:p>
            <a:endParaRPr lang="zh-CN" dirty="0"/>
          </a:p>
          <a:p>
            <a:r>
              <a:rPr lang="zh-CN" dirty="0"/>
              <a:t>第一个亮点：混合记忆检索。我们的检索系统在120条记忆、48个查询的测试集上，Top-1、Top-3、MRR 均达到100%。</a:t>
            </a:r>
          </a:p>
          <a:p>
            <a:endParaRPr lang="zh-CN" dirty="0"/>
          </a:p>
          <a:p>
            <a:r>
              <a:rPr lang="zh-CN" dirty="0"/>
              <a:t>[停顿] 第二个：Qwen3-Reranker-8B 的集成。这是一个可选的 rerank 层，显著提升了排序质量，而且配置可以自动从主 LLM 连接派生。</a:t>
            </a:r>
          </a:p>
          <a:p>
            <a:endParaRPr lang="zh-CN" dirty="0"/>
          </a:p>
          <a:p>
            <a:r>
              <a:rPr lang="zh-CN" dirty="0"/>
              <a:t>第三个：OpenAI-compatible API。我们的服务端暴露了标准的 /v1/chat/completions 和 /v1/models 接口，可以被任何 OpenAI 兼容的客户端调用。</a:t>
            </a:r>
          </a:p>
          <a:p>
            <a:endParaRPr lang="zh-CN" dirty="0"/>
          </a:p>
          <a:p>
            <a:r>
              <a:rPr lang="zh-CN" dirty="0"/>
              <a:t>第四个：实时同步。通过 SQLite sync_events + SSE 推送，实现多端实时刷新。</a:t>
            </a:r>
          </a:p>
          <a:p>
            <a:endParaRPr lang="zh-CN" dirty="0"/>
          </a:p>
          <a:p>
            <a:r>
              <a:rPr lang="zh-CN" dirty="0"/>
              <a:t>第五个：MQTT 自动密钥下发。认领设备后，密钥通过 MQTT config topic 自动下发，不需要用户手动操作。</a:t>
            </a:r>
          </a:p>
          <a:p>
            <a:endParaRPr lang="zh-CN" dirty="0"/>
          </a:p>
          <a:p>
            <a:r>
              <a:rPr lang="zh-CN" dirty="0"/>
              <a:t>要点：① 检索准确率 ② Reranker 集成 ③ OpenAI API ④ 实时同步 ⑤ 自动密钥</a:t>
            </a:r>
          </a:p>
          <a:p>
            <a:r>
              <a:rPr lang="zh-CN" dirty="0"/>
              <a:t>时长：2.5分钟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说完技术亮点，看看工程化。</a:t>
            </a:r>
          </a:p>
          <a:p>
            <a:endParaRPr lang="zh-CN" dirty="0"/>
          </a:p>
          <a:p>
            <a:r>
              <a:rPr lang="zh-CN" dirty="0"/>
              <a:t>Docker 方面，我们使用多阶段构建，镜像已经推送到 Docker Hub（ccckfg/dyn:latest）。Docker Compose 支持单实例灰度部署，暴露 HTTP 8787 和 MQTT 1883 两个端口。</a:t>
            </a:r>
          </a:p>
          <a:p>
            <a:endParaRPr lang="zh-CN" dirty="0"/>
          </a:p>
          <a:p>
            <a:r>
              <a:rPr lang="zh-CN" dirty="0"/>
              <a:t>Monorepo 方面，使用 npm workspaces 管理三个包：packages/shared 共享 schema、apps/server 核心后端、apps/desktop 桌面端。</a:t>
            </a:r>
          </a:p>
          <a:p>
            <a:endParaRPr lang="zh-CN" dirty="0"/>
          </a:p>
          <a:p>
            <a:r>
              <a:rPr lang="zh-CN" dirty="0"/>
              <a:t>[停顿] 测试方面，25个服务端测试全部通过，4个 smoke 测试全部绿色，检索评估 100% 准确。</a:t>
            </a:r>
          </a:p>
          <a:p>
            <a:endParaRPr lang="zh-CN" dirty="0"/>
          </a:p>
          <a:p>
            <a:r>
              <a:rPr lang="zh-CN" dirty="0"/>
              <a:t>要点：① Docker 容器化 ② Monorepo 架构 ③ 测试覆盖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让我详细展示验证状态。</a:t>
            </a:r>
          </a:p>
          <a:p>
            <a:endParaRPr lang="zh-CN" dirty="0"/>
          </a:p>
          <a:p>
            <a:r>
              <a:rPr lang="zh-CN" dirty="0"/>
              <a:t>后端：25个测试用例全部通过，覆盖设备、植物、聊天、记忆、主动发言等模块。</a:t>
            </a:r>
          </a:p>
          <a:p>
            <a:endParaRPr lang="zh-CN" dirty="0"/>
          </a:p>
          <a:p>
            <a:r>
              <a:rPr lang="zh-CN" dirty="0"/>
              <a:t>检索评估：120条记忆 + 48个查询，Hybrid + Rerank 组合全部满分。</a:t>
            </a:r>
          </a:p>
          <a:p>
            <a:endParaRPr lang="zh-CN" dirty="0"/>
          </a:p>
          <a:p>
            <a:r>
              <a:rPr lang="zh-CN" dirty="0"/>
              <a:t>Docker 部署：本地镜像构建、容器验证、Docker Hub 推送全部完成。/health 端点、鉴权、设备认领、数据上报等全流程验证通过。</a:t>
            </a:r>
          </a:p>
          <a:p>
            <a:endParaRPr lang="zh-CN" dirty="0"/>
          </a:p>
          <a:p>
            <a:r>
              <a:rPr lang="zh-CN" dirty="0"/>
              <a:t>[停顿] 桌面客户端：Tauri v2.11.2 + Rust release 已产出 msi 和 nsis 安装包。</a:t>
            </a:r>
          </a:p>
          <a:p>
            <a:endParaRPr lang="zh-CN" dirty="0"/>
          </a:p>
          <a:p>
            <a:r>
              <a:rPr lang="zh-CN" dirty="0"/>
              <a:t>ESP32 真实硬件：OLED、SHT40、GY-302、土壤 ADC 实测可用；HTTP 上传、MQTT 上报、断线重连、SoftAP 配网、OTA、设备密钥自动接收全部验证通过。</a:t>
            </a:r>
          </a:p>
          <a:p>
            <a:endParaRPr lang="zh-CN" dirty="0"/>
          </a:p>
          <a:p>
            <a:r>
              <a:rPr lang="zh-CN" dirty="0"/>
              <a:t>要点：① 后端测试 ② 检索评估 ③ Docker 部署 ④ 桌面端 ⑤ ESP32 硬件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总结一下完成度。</a:t>
            </a:r>
          </a:p>
          <a:p>
            <a:endParaRPr lang="zh-CN" dirty="0"/>
          </a:p>
          <a:p>
            <a:r>
              <a:rPr lang="zh-CN" dirty="0"/>
              <a:t>整体后端约 90%——核心功能闭环，剩余是设备管理的高级功能和分布式化。</a:t>
            </a:r>
          </a:p>
          <a:p>
            <a:endParaRPr lang="zh-CN" dirty="0"/>
          </a:p>
          <a:p>
            <a:r>
              <a:rPr lang="zh-CN" dirty="0"/>
              <a:t>桌面客户端约 87%——骨架、设计稿、后端联调、安装包、图片上传都已完成，剩余是编辑表单、趋势图、深色模式等。</a:t>
            </a:r>
          </a:p>
          <a:p>
            <a:endParaRPr lang="zh-CN" dirty="0"/>
          </a:p>
          <a:p>
            <a:r>
              <a:rPr lang="zh-CN" dirty="0"/>
              <a:t>[停顿] 硬件数据接入 92%——传感器、MQTT、SoftAP、OTA 都已实测通过，剩余是土壤校准和长期稳定性观察。</a:t>
            </a:r>
          </a:p>
          <a:p>
            <a:endParaRPr lang="zh-CN" dirty="0"/>
          </a:p>
          <a:p>
            <a:r>
              <a:rPr lang="zh-CN" dirty="0"/>
              <a:t>记忆系统架构 85%——AgentGal 生命周期、混合检索、Rerank 都已实现，剩余是生产稳定性和更长尾的语料压测。</a:t>
            </a:r>
          </a:p>
          <a:p>
            <a:endParaRPr lang="zh-CN" dirty="0"/>
          </a:p>
          <a:p>
            <a:r>
              <a:rPr lang="zh-CN" dirty="0"/>
              <a:t>设计稿落地 100%——Verdant Echo 设计语言完整落地。</a:t>
            </a:r>
          </a:p>
          <a:p>
            <a:endParaRPr lang="zh-CN" dirty="0"/>
          </a:p>
          <a:p>
            <a:r>
              <a:rPr lang="zh-CN" dirty="0"/>
              <a:t>要点：① 各模块完成度 ② 核心功能闭环 ③ 剩余工作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最后，说说下一步的计划。</a:t>
            </a:r>
          </a:p>
          <a:p>
            <a:endParaRPr lang="zh-CN" dirty="0"/>
          </a:p>
          <a:p>
            <a:r>
              <a:rPr lang="zh-CN" dirty="0"/>
              <a:t>优先级最高的是设备管理闭环——设备删除/停用、批量管理、历史无密钥设备强制迁移。</a:t>
            </a:r>
          </a:p>
          <a:p>
            <a:endParaRPr lang="zh-CN" dirty="0"/>
          </a:p>
          <a:p>
            <a:r>
              <a:rPr lang="zh-CN" dirty="0"/>
              <a:t>然后是深度 LLM 联调——用更自然的语料压测 closure 和 generator prompt，提升记忆生成质量。</a:t>
            </a:r>
          </a:p>
          <a:p>
            <a:endParaRPr lang="zh-CN" dirty="0"/>
          </a:p>
          <a:p>
            <a:r>
              <a:rPr lang="zh-CN" dirty="0"/>
              <a:t>[停顿] ESP32 现场验证——MQTT 长跑、OTA 升级演练、土壤校准，确保真实环境下的稳定性。</a:t>
            </a:r>
          </a:p>
          <a:p>
            <a:endParaRPr lang="zh-CN" dirty="0"/>
          </a:p>
          <a:p>
            <a:r>
              <a:rPr lang="zh-CN" dirty="0"/>
              <a:t>桌面客户端二阶段——档案表单、趋势图、提醒管理、深色模式、头像裁剪、相册编辑、多用户体系。目标是从"可用"到"好用"。</a:t>
            </a:r>
          </a:p>
          <a:p>
            <a:endParaRPr lang="zh-CN" dirty="0"/>
          </a:p>
          <a:p>
            <a:r>
              <a:rPr lang="zh-CN" dirty="0"/>
              <a:t>要点：① 设备管理 ② LLM 联调 ③ ESP32 验证 ④ 客户端二阶段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最后，我想用一句话总结这个项目的精神：</a:t>
            </a:r>
          </a:p>
          <a:p>
            <a:endParaRPr lang="zh-CN" dirty="0"/>
          </a:p>
          <a:p>
            <a:r>
              <a:rPr lang="zh-CN" dirty="0"/>
              <a:t>和植物一起呼吸。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PlantEcho 不是一个高效的传感器看板，而是一个有温度的陪伴软件。它尊重植物的节奏，也尊重用户的节奏。它用植物的语言和用户对话，用诚实的态度面对自己的局限。</a:t>
            </a:r>
          </a:p>
          <a:p>
            <a:endParaRPr lang="zh-CN" dirty="0"/>
          </a:p>
          <a:p>
            <a:r>
              <a:rPr lang="zh-CN" dirty="0"/>
              <a:t>[停顿]</a:t>
            </a:r>
          </a:p>
          <a:p>
            <a:endParaRPr lang="zh-CN" dirty="0"/>
          </a:p>
          <a:p>
            <a:r>
              <a:rPr lang="zh-CN" dirty="0"/>
              <a:t>感谢大家的聆听。如果有任何问题，欢迎交流。</a:t>
            </a:r>
          </a:p>
          <a:p>
            <a:endParaRPr lang="zh-CN" dirty="0"/>
          </a:p>
          <a:p>
            <a:r>
              <a:rPr lang="zh-CN" dirty="0"/>
              <a:t>要点：① 项目精神 ② 人文关怀 ③ 感谢</a:t>
            </a:r>
          </a:p>
          <a:p>
            <a:r>
              <a:rPr lang="zh-CN" dirty="0"/>
              <a:t>时长：1.5分钟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D5016"/>
              </a:gs>
              <a:gs pos="50000">
                <a:srgbClr val="3A6520"/>
              </a:gs>
              <a:gs pos="100000">
                <a:srgbClr val="4A7C28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A849">
                  <a:alpha val="15000"/>
                </a:srgbClr>
              </a:gs>
              <a:gs pos="100000">
                <a:srgbClr val="E8A84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6B9B37">
                  <a:alpha val="20000"/>
                </a:srgbClr>
              </a:gs>
              <a:gs pos="100000">
                <a:srgbClr val="6B9B3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143000" y="571500"/>
            <a:ext cx="1143000" cy="1143000"/>
          </a:xfrm>
          <a:prstGeom prst="ellipse">
            <a:avLst/>
          </a:prstGeom>
          <a:solidFill>
            <a:srgbClr val="6B9B37">
              <a:alpha val="8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2047875" y="1381125"/>
            <a:ext cx="666750" cy="666750"/>
          </a:xfrm>
          <a:prstGeom prst="ellipse">
            <a:avLst/>
          </a:prstGeom>
          <a:solidFill>
            <a:srgbClr val="8BBF4A">
              <a:alpha val="6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9239250" y="4762500"/>
            <a:ext cx="1524000" cy="1524000"/>
          </a:xfrm>
          <a:prstGeom prst="ellipse">
            <a:avLst/>
          </a:prstGeom>
          <a:solidFill>
            <a:srgbClr val="6B9B37">
              <a:alpha val="7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0239375" y="4524375"/>
            <a:ext cx="857250" cy="857250"/>
          </a:xfrm>
          <a:prstGeom prst="ellipse">
            <a:avLst/>
          </a:prstGeom>
          <a:solidFill>
            <a:srgbClr val="8BBF4A">
              <a:alpha val="5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8334375" y="714375"/>
            <a:ext cx="476250" cy="476250"/>
          </a:xfrm>
          <a:prstGeom prst="ellipse">
            <a:avLst/>
          </a:prstGeom>
          <a:solidFill>
            <a:srgbClr val="E8A849">
              <a:alpha val="8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2952750" y="5334000"/>
            <a:ext cx="762000" cy="762000"/>
          </a:xfrm>
          <a:prstGeom prst="ellipse">
            <a:avLst/>
          </a:prstGeom>
          <a:solidFill>
            <a:srgbClr val="6B9B37">
              <a:alpha val="6000"/>
            </a:srgbClr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 rot="-1800000">
            <a:off x="876300" y="1666875"/>
            <a:ext cx="152400" cy="476250"/>
            <a:chOff x="876300" y="1666875"/>
            <a:chExt cx="152400" cy="476250"/>
          </a:xfrm>
        </p:grpSpPr>
        <p:sp>
          <p:nvSpPr>
            <p:cNvPr id="11" name="Ellipse 11"/>
            <p:cNvSpPr/>
            <p:nvPr/>
          </p:nvSpPr>
          <p:spPr>
            <a:xfrm>
              <a:off x="876300" y="1666875"/>
              <a:ext cx="152400" cy="476250"/>
            </a:xfrm>
            <a:prstGeom prst="ellipse">
              <a:avLst/>
            </a:prstGeom>
            <a:solidFill>
              <a:srgbClr val="6B9B37">
                <a:alpha val="12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23925" y="1666875"/>
              <a:ext cx="57150" cy="476250"/>
            </a:xfrm>
            <a:prstGeom prst="ellipse">
              <a:avLst/>
            </a:prstGeom>
            <a:solidFill>
              <a:srgbClr val="8BBF4A">
                <a:alpha val="8000"/>
              </a:srgbClr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 rot="1200000">
            <a:off x="11144250" y="4476750"/>
            <a:ext cx="190500" cy="571500"/>
            <a:chOff x="11144250" y="4476750"/>
            <a:chExt cx="190500" cy="571500"/>
          </a:xfrm>
        </p:grpSpPr>
        <p:sp>
          <p:nvSpPr>
            <p:cNvPr id="14" name="Ellipse 14"/>
            <p:cNvSpPr/>
            <p:nvPr/>
          </p:nvSpPr>
          <p:spPr>
            <a:xfrm>
              <a:off x="11144250" y="4476750"/>
              <a:ext cx="190500" cy="571500"/>
            </a:xfrm>
            <a:prstGeom prst="ellipse">
              <a:avLst/>
            </a:prstGeom>
            <a:solidFill>
              <a:srgbClr val="6B9B37">
                <a:alpha val="1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201400" y="4476750"/>
              <a:ext cx="76200" cy="571500"/>
            </a:xfrm>
            <a:prstGeom prst="ellipse">
              <a:avLst/>
            </a:prstGeom>
            <a:solidFill>
              <a:srgbClr val="8BBF4A">
                <a:alpha val="6000"/>
              </a:srgbClr>
            </a:solidFill>
            <a:ln>
              <a:noFill/>
            </a:ln>
          </p:spPr>
        </p:sp>
      </p:grpSp>
      <p:sp>
        <p:nvSpPr>
          <p:cNvPr id="17" name="Ellipse 17"/>
          <p:cNvSpPr/>
          <p:nvPr/>
        </p:nvSpPr>
        <p:spPr>
          <a:xfrm>
            <a:off x="10410825" y="1219200"/>
            <a:ext cx="133350" cy="419100"/>
          </a:xfrm>
          <a:prstGeom prst="ellipse">
            <a:avLst/>
          </a:prstGeom>
          <a:solidFill>
            <a:srgbClr val="6B9B37">
              <a:alpha val="10000"/>
            </a:srgbClr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2809875" y="800100"/>
            <a:ext cx="95250" cy="304800"/>
          </a:xfrm>
          <a:prstGeom prst="ellipse">
            <a:avLst/>
          </a:prstGeom>
          <a:solidFill>
            <a:srgbClr val="8BBF4A">
              <a:alpha val="10000"/>
            </a:srgbClr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8991600" y="5734050"/>
            <a:ext cx="114300" cy="342900"/>
          </a:xfrm>
          <a:prstGeom prst="ellipse">
            <a:avLst/>
          </a:prstGeom>
          <a:solidFill>
            <a:srgbClr val="8BBF4A">
              <a:alpha val="8000"/>
            </a:srgbClr>
          </a:solidFill>
          <a:ln>
            <a:noFill/>
          </a:ln>
        </p:spPr>
      </p:sp>
      <p:sp>
        <p:nvSpPr>
          <p:cNvPr id="20" name="Freeform 20"/>
          <p:cNvSpPr/>
          <p:nvPr/>
        </p:nvSpPr>
        <p:spPr>
          <a:xfrm>
            <a:off x="5655026" y="1776031"/>
            <a:ext cx="462249" cy="407370"/>
          </a:xfrm>
          <a:custGeom>
            <a:avLst/>
            <a:gdLst/>
            <a:ahLst/>
            <a:cxnLst/>
            <a:rect l="l" t="t" r="r" b="b"/>
            <a:pathLst>
              <a:path w="462249" h="407370">
                <a:moveTo>
                  <a:pt x="119832" y="6789"/>
                </a:moveTo>
                <a:cubicBezTo>
                  <a:pt x="159675" y="0"/>
                  <a:pt x="200447" y="11648"/>
                  <a:pt x="230690" y="38459"/>
                </a:cubicBezTo>
                <a:lnTo>
                  <a:pt x="231513" y="39193"/>
                </a:lnTo>
                <a:lnTo>
                  <a:pt x="232268" y="38526"/>
                </a:lnTo>
                <a:cubicBezTo>
                  <a:pt x="261097" y="13226"/>
                  <a:pt x="299425" y="1565"/>
                  <a:pt x="337459" y="6522"/>
                </a:cubicBezTo>
                <a:lnTo>
                  <a:pt x="342927" y="7322"/>
                </a:lnTo>
                <a:cubicBezTo>
                  <a:pt x="391207" y="15658"/>
                  <a:pt x="431028" y="49799"/>
                  <a:pt x="446638" y="96241"/>
                </a:cubicBezTo>
                <a:cubicBezTo>
                  <a:pt x="462249" y="142682"/>
                  <a:pt x="451134" y="193944"/>
                  <a:pt x="417691" y="229750"/>
                </a:cubicBezTo>
                <a:lnTo>
                  <a:pt x="413691" y="233861"/>
                </a:lnTo>
                <a:lnTo>
                  <a:pt x="412624" y="234773"/>
                </a:lnTo>
                <a:lnTo>
                  <a:pt x="247048" y="398771"/>
                </a:lnTo>
                <a:cubicBezTo>
                  <a:pt x="239146" y="406592"/>
                  <a:pt x="226680" y="407370"/>
                  <a:pt x="217867" y="400593"/>
                </a:cubicBezTo>
                <a:lnTo>
                  <a:pt x="215777" y="398771"/>
                </a:lnTo>
                <a:lnTo>
                  <a:pt x="49245" y="233817"/>
                </a:lnTo>
                <a:cubicBezTo>
                  <a:pt x="13272" y="198816"/>
                  <a:pt x="0" y="146580"/>
                  <a:pt x="14902" y="98652"/>
                </a:cubicBezTo>
                <a:cubicBezTo>
                  <a:pt x="29803" y="50723"/>
                  <a:pt x="70354" y="15222"/>
                  <a:pt x="119832" y="6789"/>
                </a:cubicBezTo>
                <a:close/>
              </a:path>
            </a:pathLst>
          </a:custGeom>
          <a:solidFill>
            <a:srgbClr val="E8A84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3395280" y="2227898"/>
            <a:ext cx="5401439" cy="1005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DYN Plant Echo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29100" y="3107055"/>
            <a:ext cx="37338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D4E8C0"/>
                </a:solidFill>
                <a:latin typeface="Arial"/>
                <a:ea typeface="Microsoft YaHei"/>
                <a:cs typeface="Arial"/>
              </a:rPr>
              <a:t>与植物一起呼吸的陪伴系统</a:t>
            </a:r>
          </a:p>
        </p:txBody>
      </p:sp>
      <p:sp>
        <p:nvSpPr>
          <p:cNvPr id="23" name="Line 23"/>
          <p:cNvSpPr/>
          <p:nvPr/>
        </p:nvSpPr>
        <p:spPr>
          <a:xfrm>
            <a:off x="4953000" y="3667125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19050">
            <a:solidFill>
              <a:srgbClr val="E8A849">
                <a:alpha val="60000"/>
              </a:srgbClr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433888" y="3886200"/>
            <a:ext cx="3324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让每一株植物，都有被听见的权利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28426" y="4823460"/>
            <a:ext cx="23351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BBF80"/>
                </a:solidFill>
                <a:latin typeface="Arial"/>
                <a:ea typeface="Microsoft YaHei"/>
                <a:cs typeface="Arial"/>
              </a:rPr>
              <a:t>智能植物陪伴系统 · 期末汇报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57433" y="5106352"/>
            <a:ext cx="10771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BAF70"/>
                </a:solidFill>
                <a:latin typeface="Arial"/>
                <a:ea typeface="Microsoft YaHei"/>
                <a:cs typeface="Arial"/>
              </a:rPr>
              <a:t>2026年5月28日</a:t>
            </a:r>
          </a:p>
        </p:txBody>
      </p:sp>
      <p:sp>
        <p:nvSpPr>
          <p:cNvPr id="27" name="Freeform 27"/>
          <p:cNvSpPr/>
          <p:nvPr/>
        </p:nvSpPr>
        <p:spPr>
          <a:xfrm>
            <a:off x="5895754" y="5657850"/>
            <a:ext cx="228821" cy="242054"/>
          </a:xfrm>
          <a:custGeom>
            <a:avLst/>
            <a:gdLst/>
            <a:ahLst/>
            <a:cxnLst/>
            <a:rect l="l" t="t" r="r" b="b"/>
            <a:pathLst>
              <a:path w="228821" h="242054">
                <a:moveTo>
                  <a:pt x="919" y="143866"/>
                </a:moveTo>
                <a:lnTo>
                  <a:pt x="691" y="141732"/>
                </a:lnTo>
                <a:lnTo>
                  <a:pt x="640" y="141186"/>
                </a:lnTo>
                <a:cubicBezTo>
                  <a:pt x="199" y="136458"/>
                  <a:pt x="0" y="131710"/>
                  <a:pt x="43" y="126962"/>
                </a:cubicBezTo>
                <a:cubicBezTo>
                  <a:pt x="272" y="47079"/>
                  <a:pt x="54526" y="0"/>
                  <a:pt x="165143" y="0"/>
                </a:cubicBezTo>
                <a:lnTo>
                  <a:pt x="216121" y="0"/>
                </a:lnTo>
                <a:cubicBezTo>
                  <a:pt x="223135" y="0"/>
                  <a:pt x="228821" y="5686"/>
                  <a:pt x="228821" y="12700"/>
                </a:cubicBezTo>
                <a:lnTo>
                  <a:pt x="228795" y="38824"/>
                </a:lnTo>
                <a:cubicBezTo>
                  <a:pt x="222471" y="149327"/>
                  <a:pt x="168597" y="203200"/>
                  <a:pt x="76421" y="203200"/>
                </a:cubicBezTo>
                <a:lnTo>
                  <a:pt x="43007" y="203200"/>
                </a:lnTo>
                <a:cubicBezTo>
                  <a:pt x="40822" y="212016"/>
                  <a:pt x="39231" y="220968"/>
                  <a:pt x="38245" y="229997"/>
                </a:cubicBezTo>
                <a:cubicBezTo>
                  <a:pt x="37745" y="234507"/>
                  <a:pt x="34878" y="238408"/>
                  <a:pt x="30723" y="240231"/>
                </a:cubicBezTo>
                <a:cubicBezTo>
                  <a:pt x="26567" y="242054"/>
                  <a:pt x="21755" y="241521"/>
                  <a:pt x="18099" y="238834"/>
                </a:cubicBezTo>
                <a:cubicBezTo>
                  <a:pt x="14443" y="236147"/>
                  <a:pt x="12498" y="231713"/>
                  <a:pt x="12997" y="227203"/>
                </a:cubicBezTo>
                <a:cubicBezTo>
                  <a:pt x="14470" y="213927"/>
                  <a:pt x="16925" y="201452"/>
                  <a:pt x="20363" y="189776"/>
                </a:cubicBezTo>
                <a:lnTo>
                  <a:pt x="18864" y="187922"/>
                </a:lnTo>
                <a:lnTo>
                  <a:pt x="16223" y="184366"/>
                </a:lnTo>
                <a:lnTo>
                  <a:pt x="14229" y="181458"/>
                </a:lnTo>
                <a:lnTo>
                  <a:pt x="11917" y="177736"/>
                </a:lnTo>
                <a:lnTo>
                  <a:pt x="10673" y="175565"/>
                </a:lnTo>
                <a:lnTo>
                  <a:pt x="9847" y="174015"/>
                </a:lnTo>
                <a:cubicBezTo>
                  <a:pt x="7830" y="170182"/>
                  <a:pt x="6143" y="166184"/>
                  <a:pt x="4805" y="162065"/>
                </a:cubicBezTo>
                <a:lnTo>
                  <a:pt x="3891" y="159055"/>
                </a:lnTo>
                <a:lnTo>
                  <a:pt x="2812" y="154902"/>
                </a:lnTo>
                <a:lnTo>
                  <a:pt x="2088" y="151498"/>
                </a:lnTo>
                <a:lnTo>
                  <a:pt x="1542" y="148425"/>
                </a:lnTo>
                <a:close/>
                <a:moveTo>
                  <a:pt x="109365" y="89992"/>
                </a:moveTo>
                <a:cubicBezTo>
                  <a:pt x="73233" y="106058"/>
                  <a:pt x="47719" y="129743"/>
                  <a:pt x="31793" y="160896"/>
                </a:cubicBezTo>
                <a:cubicBezTo>
                  <a:pt x="32623" y="162590"/>
                  <a:pt x="33546" y="164283"/>
                  <a:pt x="34562" y="165976"/>
                </a:cubicBezTo>
                <a:lnTo>
                  <a:pt x="36911" y="169545"/>
                </a:lnTo>
                <a:lnTo>
                  <a:pt x="37800" y="170777"/>
                </a:lnTo>
                <a:cubicBezTo>
                  <a:pt x="38816" y="172165"/>
                  <a:pt x="39908" y="173558"/>
                  <a:pt x="41077" y="174955"/>
                </a:cubicBezTo>
                <a:lnTo>
                  <a:pt x="43579" y="177800"/>
                </a:lnTo>
                <a:lnTo>
                  <a:pt x="51821" y="177800"/>
                </a:lnTo>
                <a:cubicBezTo>
                  <a:pt x="64991" y="148958"/>
                  <a:pt x="87089" y="127686"/>
                  <a:pt x="119677" y="113208"/>
                </a:cubicBezTo>
                <a:cubicBezTo>
                  <a:pt x="126088" y="110360"/>
                  <a:pt x="128976" y="102855"/>
                  <a:pt x="126129" y="96444"/>
                </a:cubicBezTo>
                <a:cubicBezTo>
                  <a:pt x="123281" y="90033"/>
                  <a:pt x="115775" y="87145"/>
                  <a:pt x="109365" y="89992"/>
                </a:cubicBezTo>
              </a:path>
            </a:pathLst>
          </a:custGeom>
          <a:solidFill>
            <a:srgbClr val="6B9B37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A3A0E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A7C28">
                  <a:alpha val="6000"/>
                </a:srgbClr>
              </a:gs>
              <a:gs pos="100000">
                <a:srgbClr val="4A7C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514350"/>
            <a:ext cx="492980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为什么要做 PlantEcho?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978218"/>
            <a:ext cx="2794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不是传感器看板，而是陪伴软件</a:t>
            </a:r>
          </a:p>
        </p:txBody>
      </p:sp>
      <p:sp>
        <p:nvSpPr>
          <p:cNvPr id="7" name="Freeform 7"/>
          <p:cNvSpPr/>
          <p:nvPr/>
        </p:nvSpPr>
        <p:spPr>
          <a:xfrm>
            <a:off x="1333500" y="1619250"/>
            <a:ext cx="9525000" cy="1143000"/>
          </a:xfrm>
          <a:custGeom>
            <a:avLst/>
            <a:gdLst/>
            <a:ahLst/>
            <a:cxnLst/>
            <a:rect l="l" t="t" r="r" b="b"/>
            <a:pathLst>
              <a:path w="9525000" h="1143000">
                <a:moveTo>
                  <a:pt x="152400" y="0"/>
                </a:moveTo>
                <a:lnTo>
                  <a:pt x="9372600" y="0"/>
                </a:lnTo>
                <a:cubicBezTo>
                  <a:pt x="9456768" y="0"/>
                  <a:pt x="9525000" y="68232"/>
                  <a:pt x="9525000" y="152400"/>
                </a:cubicBezTo>
                <a:lnTo>
                  <a:pt x="9525000" y="990600"/>
                </a:lnTo>
                <a:cubicBezTo>
                  <a:pt x="9525000" y="1074768"/>
                  <a:pt x="9456768" y="1143000"/>
                  <a:pt x="93726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1333500" y="1619250"/>
            <a:ext cx="9525000" cy="1143000"/>
          </a:xfrm>
          <a:custGeom>
            <a:avLst/>
            <a:gdLst/>
            <a:ahLst/>
            <a:cxnLst/>
            <a:rect l="l" t="t" r="r" b="b"/>
            <a:pathLst>
              <a:path w="9525000" h="1143000">
                <a:moveTo>
                  <a:pt x="152400" y="0"/>
                </a:moveTo>
                <a:lnTo>
                  <a:pt x="9372600" y="0"/>
                </a:lnTo>
                <a:cubicBezTo>
                  <a:pt x="9456768" y="0"/>
                  <a:pt x="9525000" y="68232"/>
                  <a:pt x="9525000" y="152400"/>
                </a:cubicBezTo>
                <a:lnTo>
                  <a:pt x="9525000" y="990600"/>
                </a:lnTo>
                <a:cubicBezTo>
                  <a:pt x="9525000" y="1074768"/>
                  <a:pt x="9456768" y="1143000"/>
                  <a:pt x="937260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609725" y="1657350"/>
            <a:ext cx="47577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4A7C28">
                    <a:alpha val="30000"/>
                  </a:srgbClr>
                </a:solidFill>
                <a:latin typeface="Georgia"/>
                <a:ea typeface="SimSun"/>
                <a:cs typeface="Georgia"/>
              </a:rPr>
              <a:t>"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74778" y="1996440"/>
            <a:ext cx="584244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植物本身就是慢的载体，软件的响应也应该耐心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69408" y="2394585"/>
            <a:ext cx="18531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—— PlantEcho 设计哲学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43902" y="3524250"/>
            <a:ext cx="1560195" cy="1147762"/>
            <a:chOff x="743902" y="3524250"/>
            <a:chExt cx="1560195" cy="1147762"/>
          </a:xfrm>
        </p:grpSpPr>
        <p:sp>
          <p:nvSpPr>
            <p:cNvPr id="12" name="Ellipse 12"/>
            <p:cNvSpPr/>
            <p:nvPr/>
          </p:nvSpPr>
          <p:spPr>
            <a:xfrm>
              <a:off x="1238250" y="3524250"/>
              <a:ext cx="571500" cy="5715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348883" y="3653552"/>
              <a:ext cx="350726" cy="314023"/>
            </a:xfrm>
            <a:custGeom>
              <a:avLst/>
              <a:gdLst/>
              <a:ahLst/>
              <a:cxnLst/>
              <a:rect l="l" t="t" r="r" b="b"/>
              <a:pathLst>
                <a:path w="350726" h="314023">
                  <a:moveTo>
                    <a:pt x="77025" y="43894"/>
                  </a:moveTo>
                  <a:cubicBezTo>
                    <a:pt x="138922" y="0"/>
                    <a:pt x="227330" y="3588"/>
                    <a:pt x="284559" y="52388"/>
                  </a:cubicBezTo>
                  <a:cubicBezTo>
                    <a:pt x="342773" y="102060"/>
                    <a:pt x="350726" y="183166"/>
                    <a:pt x="302847" y="241268"/>
                  </a:cubicBezTo>
                  <a:cubicBezTo>
                    <a:pt x="257747" y="295989"/>
                    <a:pt x="176403" y="314023"/>
                    <a:pt x="108680" y="285798"/>
                  </a:cubicBezTo>
                  <a:lnTo>
                    <a:pt x="104981" y="284194"/>
                  </a:lnTo>
                  <a:lnTo>
                    <a:pt x="35544" y="298974"/>
                  </a:lnTo>
                  <a:lnTo>
                    <a:pt x="34909" y="299069"/>
                  </a:lnTo>
                  <a:lnTo>
                    <a:pt x="34353" y="299180"/>
                  </a:lnTo>
                  <a:lnTo>
                    <a:pt x="34068" y="299180"/>
                  </a:lnTo>
                  <a:lnTo>
                    <a:pt x="33718" y="299260"/>
                  </a:lnTo>
                  <a:lnTo>
                    <a:pt x="33115" y="299260"/>
                  </a:lnTo>
                  <a:lnTo>
                    <a:pt x="32591" y="299323"/>
                  </a:lnTo>
                  <a:lnTo>
                    <a:pt x="32258" y="299307"/>
                  </a:lnTo>
                  <a:lnTo>
                    <a:pt x="31893" y="299323"/>
                  </a:lnTo>
                  <a:lnTo>
                    <a:pt x="31369" y="299276"/>
                  </a:lnTo>
                  <a:lnTo>
                    <a:pt x="30813" y="299276"/>
                  </a:lnTo>
                  <a:lnTo>
                    <a:pt x="30464" y="299212"/>
                  </a:lnTo>
                  <a:lnTo>
                    <a:pt x="30115" y="299180"/>
                  </a:lnTo>
                  <a:lnTo>
                    <a:pt x="29559" y="299069"/>
                  </a:lnTo>
                  <a:lnTo>
                    <a:pt x="29019" y="298990"/>
                  </a:lnTo>
                  <a:lnTo>
                    <a:pt x="28765" y="298926"/>
                  </a:lnTo>
                  <a:lnTo>
                    <a:pt x="28384" y="298847"/>
                  </a:lnTo>
                  <a:lnTo>
                    <a:pt x="27607" y="298593"/>
                  </a:lnTo>
                  <a:lnTo>
                    <a:pt x="27226" y="298514"/>
                  </a:lnTo>
                  <a:lnTo>
                    <a:pt x="27051" y="298434"/>
                  </a:lnTo>
                  <a:lnTo>
                    <a:pt x="26702" y="298323"/>
                  </a:lnTo>
                  <a:lnTo>
                    <a:pt x="25987" y="298006"/>
                  </a:lnTo>
                  <a:lnTo>
                    <a:pt x="25511" y="297815"/>
                  </a:lnTo>
                  <a:lnTo>
                    <a:pt x="25336" y="297720"/>
                  </a:lnTo>
                  <a:lnTo>
                    <a:pt x="25114" y="297624"/>
                  </a:lnTo>
                  <a:lnTo>
                    <a:pt x="24622" y="297339"/>
                  </a:lnTo>
                  <a:lnTo>
                    <a:pt x="23908" y="296958"/>
                  </a:lnTo>
                  <a:lnTo>
                    <a:pt x="23654" y="296783"/>
                  </a:lnTo>
                  <a:lnTo>
                    <a:pt x="23066" y="296370"/>
                  </a:lnTo>
                  <a:lnTo>
                    <a:pt x="22431" y="295942"/>
                  </a:lnTo>
                  <a:lnTo>
                    <a:pt x="22400" y="295878"/>
                  </a:lnTo>
                  <a:lnTo>
                    <a:pt x="22193" y="295735"/>
                  </a:lnTo>
                  <a:lnTo>
                    <a:pt x="21511" y="295100"/>
                  </a:lnTo>
                  <a:lnTo>
                    <a:pt x="21114" y="294783"/>
                  </a:lnTo>
                  <a:lnTo>
                    <a:pt x="21018" y="294672"/>
                  </a:lnTo>
                  <a:lnTo>
                    <a:pt x="20129" y="293687"/>
                  </a:lnTo>
                  <a:lnTo>
                    <a:pt x="19923" y="293465"/>
                  </a:lnTo>
                  <a:lnTo>
                    <a:pt x="19748" y="293243"/>
                  </a:lnTo>
                  <a:lnTo>
                    <a:pt x="19129" y="292354"/>
                  </a:lnTo>
                  <a:lnTo>
                    <a:pt x="18907" y="292052"/>
                  </a:lnTo>
                  <a:lnTo>
                    <a:pt x="18828" y="291894"/>
                  </a:lnTo>
                  <a:lnTo>
                    <a:pt x="18161" y="290735"/>
                  </a:lnTo>
                  <a:lnTo>
                    <a:pt x="18050" y="290544"/>
                  </a:lnTo>
                  <a:lnTo>
                    <a:pt x="17986" y="290417"/>
                  </a:lnTo>
                  <a:lnTo>
                    <a:pt x="17875" y="290227"/>
                  </a:lnTo>
                  <a:lnTo>
                    <a:pt x="17653" y="289624"/>
                  </a:lnTo>
                  <a:lnTo>
                    <a:pt x="17335" y="288957"/>
                  </a:lnTo>
                  <a:lnTo>
                    <a:pt x="17272" y="288703"/>
                  </a:lnTo>
                  <a:lnTo>
                    <a:pt x="17209" y="288544"/>
                  </a:lnTo>
                  <a:lnTo>
                    <a:pt x="16939" y="287576"/>
                  </a:lnTo>
                  <a:lnTo>
                    <a:pt x="16827" y="287290"/>
                  </a:lnTo>
                  <a:lnTo>
                    <a:pt x="16796" y="287052"/>
                  </a:lnTo>
                  <a:lnTo>
                    <a:pt x="16716" y="286750"/>
                  </a:lnTo>
                  <a:lnTo>
                    <a:pt x="16637" y="286226"/>
                  </a:lnTo>
                  <a:lnTo>
                    <a:pt x="16510" y="285560"/>
                  </a:lnTo>
                  <a:lnTo>
                    <a:pt x="16478" y="285067"/>
                  </a:lnTo>
                  <a:lnTo>
                    <a:pt x="16431" y="284909"/>
                  </a:lnTo>
                  <a:lnTo>
                    <a:pt x="16431" y="284655"/>
                  </a:lnTo>
                  <a:lnTo>
                    <a:pt x="16367" y="283797"/>
                  </a:lnTo>
                  <a:lnTo>
                    <a:pt x="16383" y="283226"/>
                  </a:lnTo>
                  <a:lnTo>
                    <a:pt x="16399" y="282861"/>
                  </a:lnTo>
                  <a:lnTo>
                    <a:pt x="16431" y="282019"/>
                  </a:lnTo>
                  <a:lnTo>
                    <a:pt x="16494" y="281622"/>
                  </a:lnTo>
                  <a:lnTo>
                    <a:pt x="16494" y="281321"/>
                  </a:lnTo>
                  <a:lnTo>
                    <a:pt x="16621" y="280765"/>
                  </a:lnTo>
                  <a:lnTo>
                    <a:pt x="16700" y="280226"/>
                  </a:lnTo>
                  <a:lnTo>
                    <a:pt x="16780" y="279908"/>
                  </a:lnTo>
                  <a:lnTo>
                    <a:pt x="16843" y="279591"/>
                  </a:lnTo>
                  <a:lnTo>
                    <a:pt x="17129" y="278638"/>
                  </a:lnTo>
                  <a:lnTo>
                    <a:pt x="17177" y="278432"/>
                  </a:lnTo>
                  <a:lnTo>
                    <a:pt x="35433" y="223663"/>
                  </a:lnTo>
                  <a:lnTo>
                    <a:pt x="35084" y="223076"/>
                  </a:lnTo>
                  <a:cubicBezTo>
                    <a:pt x="0" y="163592"/>
                    <a:pt x="15891" y="89868"/>
                    <a:pt x="73390" y="46561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6316" y="41881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说人话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3902" y="44586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把否定句翻译成邀请句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72991" y="3524250"/>
            <a:ext cx="1483519" cy="1147762"/>
            <a:chOff x="2972991" y="3524250"/>
            <a:chExt cx="1483519" cy="1147762"/>
          </a:xfrm>
        </p:grpSpPr>
        <p:sp>
          <p:nvSpPr>
            <p:cNvPr id="17" name="Ellipse 17"/>
            <p:cNvSpPr/>
            <p:nvPr/>
          </p:nvSpPr>
          <p:spPr>
            <a:xfrm>
              <a:off x="3429000" y="3524250"/>
              <a:ext cx="571500" cy="5715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56000" y="3644139"/>
              <a:ext cx="333852" cy="334398"/>
            </a:xfrm>
            <a:custGeom>
              <a:avLst/>
              <a:gdLst/>
              <a:ahLst/>
              <a:cxnLst/>
              <a:rect l="l" t="t" r="r" b="b"/>
              <a:pathLst>
                <a:path w="333852" h="334398">
                  <a:moveTo>
                    <a:pt x="238125" y="28384"/>
                  </a:moveTo>
                  <a:cubicBezTo>
                    <a:pt x="304282" y="66582"/>
                    <a:pt x="333852" y="146484"/>
                    <a:pt x="308499" y="218547"/>
                  </a:cubicBezTo>
                  <a:cubicBezTo>
                    <a:pt x="283146" y="290611"/>
                    <a:pt x="210062" y="334398"/>
                    <a:pt x="134560" y="322760"/>
                  </a:cubicBezTo>
                  <a:cubicBezTo>
                    <a:pt x="59059" y="311121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8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158750" y="70611"/>
                  </a:moveTo>
                  <a:cubicBezTo>
                    <a:pt x="150702" y="70612"/>
                    <a:pt x="143928" y="76636"/>
                    <a:pt x="142986" y="84629"/>
                  </a:cubicBezTo>
                  <a:lnTo>
                    <a:pt x="142875" y="86486"/>
                  </a:lnTo>
                  <a:lnTo>
                    <a:pt x="142875" y="165861"/>
                  </a:lnTo>
                  <a:lnTo>
                    <a:pt x="143018" y="167941"/>
                  </a:lnTo>
                  <a:cubicBezTo>
                    <a:pt x="143380" y="170695"/>
                    <a:pt x="144458" y="173306"/>
                    <a:pt x="146145" y="175513"/>
                  </a:cubicBezTo>
                  <a:lnTo>
                    <a:pt x="147526" y="177101"/>
                  </a:lnTo>
                  <a:lnTo>
                    <a:pt x="195151" y="224726"/>
                  </a:lnTo>
                  <a:lnTo>
                    <a:pt x="196644" y="226027"/>
                  </a:lnTo>
                  <a:cubicBezTo>
                    <a:pt x="202370" y="230471"/>
                    <a:pt x="210380" y="230471"/>
                    <a:pt x="216106" y="226027"/>
                  </a:cubicBezTo>
                  <a:lnTo>
                    <a:pt x="217599" y="224710"/>
                  </a:lnTo>
                  <a:lnTo>
                    <a:pt x="218916" y="223217"/>
                  </a:lnTo>
                  <a:cubicBezTo>
                    <a:pt x="223359" y="217491"/>
                    <a:pt x="223359" y="209481"/>
                    <a:pt x="218916" y="203755"/>
                  </a:cubicBezTo>
                  <a:lnTo>
                    <a:pt x="217599" y="202262"/>
                  </a:lnTo>
                  <a:lnTo>
                    <a:pt x="174625" y="159273"/>
                  </a:lnTo>
                  <a:lnTo>
                    <a:pt x="174625" y="86486"/>
                  </a:lnTo>
                  <a:lnTo>
                    <a:pt x="174514" y="84629"/>
                  </a:lnTo>
                  <a:cubicBezTo>
                    <a:pt x="173572" y="76636"/>
                    <a:pt x="166798" y="70612"/>
                    <a:pt x="158750" y="70611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83553" y="4188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尊重节奏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72991" y="4458652"/>
              <a:ext cx="14835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5秒撤销，380ms缓动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55431" y="3524250"/>
            <a:ext cx="1100137" cy="1147762"/>
            <a:chOff x="5355431" y="3524250"/>
            <a:chExt cx="1100137" cy="1147762"/>
          </a:xfrm>
        </p:grpSpPr>
        <p:sp>
          <p:nvSpPr>
            <p:cNvPr id="22" name="Ellipse 22"/>
            <p:cNvSpPr/>
            <p:nvPr/>
          </p:nvSpPr>
          <p:spPr>
            <a:xfrm>
              <a:off x="5619750" y="3524250"/>
              <a:ext cx="571500" cy="5715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739562" y="3651250"/>
              <a:ext cx="331861" cy="317670"/>
            </a:xfrm>
            <a:custGeom>
              <a:avLst/>
              <a:gdLst/>
              <a:ahLst/>
              <a:cxnLst/>
              <a:rect l="l" t="t" r="r" b="b"/>
              <a:pathLst>
                <a:path w="331861" h="317670">
                  <a:moveTo>
                    <a:pt x="165906" y="0"/>
                  </a:moveTo>
                  <a:lnTo>
                    <a:pt x="167780" y="111"/>
                  </a:lnTo>
                  <a:lnTo>
                    <a:pt x="168716" y="238"/>
                  </a:lnTo>
                  <a:lnTo>
                    <a:pt x="169685" y="445"/>
                  </a:lnTo>
                  <a:lnTo>
                    <a:pt x="171447" y="984"/>
                  </a:lnTo>
                  <a:cubicBezTo>
                    <a:pt x="172664" y="1433"/>
                    <a:pt x="173821" y="2030"/>
                    <a:pt x="174892" y="2762"/>
                  </a:cubicBezTo>
                  <a:lnTo>
                    <a:pt x="176543" y="4064"/>
                  </a:lnTo>
                  <a:lnTo>
                    <a:pt x="180591" y="7525"/>
                  </a:lnTo>
                  <a:cubicBezTo>
                    <a:pt x="212616" y="34124"/>
                    <a:pt x="253090" y="48408"/>
                    <a:pt x="294716" y="47800"/>
                  </a:cubicBezTo>
                  <a:lnTo>
                    <a:pt x="300145" y="47641"/>
                  </a:lnTo>
                  <a:cubicBezTo>
                    <a:pt x="307450" y="47308"/>
                    <a:pt x="314038" y="52007"/>
                    <a:pt x="316100" y="59023"/>
                  </a:cubicBezTo>
                  <a:cubicBezTo>
                    <a:pt x="331861" y="112638"/>
                    <a:pt x="325206" y="170352"/>
                    <a:pt x="297655" y="218971"/>
                  </a:cubicBezTo>
                  <a:cubicBezTo>
                    <a:pt x="270105" y="267591"/>
                    <a:pt x="224015" y="302960"/>
                    <a:pt x="169923" y="316992"/>
                  </a:cubicBezTo>
                  <a:cubicBezTo>
                    <a:pt x="167310" y="317670"/>
                    <a:pt x="164567" y="317670"/>
                    <a:pt x="161953" y="316992"/>
                  </a:cubicBezTo>
                  <a:cubicBezTo>
                    <a:pt x="107858" y="302964"/>
                    <a:pt x="61764" y="267596"/>
                    <a:pt x="34211" y="218976"/>
                  </a:cubicBezTo>
                  <a:cubicBezTo>
                    <a:pt x="6657" y="170356"/>
                    <a:pt x="0" y="112640"/>
                    <a:pt x="15761" y="59023"/>
                  </a:cubicBezTo>
                  <a:cubicBezTo>
                    <a:pt x="17822" y="52007"/>
                    <a:pt x="24410" y="47308"/>
                    <a:pt x="31715" y="47641"/>
                  </a:cubicBezTo>
                  <a:cubicBezTo>
                    <a:pt x="75172" y="49627"/>
                    <a:pt x="117806" y="35322"/>
                    <a:pt x="151270" y="7525"/>
                  </a:cubicBezTo>
                  <a:lnTo>
                    <a:pt x="155445" y="3953"/>
                  </a:lnTo>
                  <a:lnTo>
                    <a:pt x="156969" y="2762"/>
                  </a:lnTo>
                  <a:cubicBezTo>
                    <a:pt x="158040" y="2030"/>
                    <a:pt x="159197" y="1433"/>
                    <a:pt x="160414" y="984"/>
                  </a:cubicBezTo>
                  <a:lnTo>
                    <a:pt x="162192" y="445"/>
                  </a:lnTo>
                  <a:cubicBezTo>
                    <a:pt x="162814" y="294"/>
                    <a:pt x="163445" y="183"/>
                    <a:pt x="164081" y="111"/>
                  </a:cubicBezTo>
                  <a:lnTo>
                    <a:pt x="165906" y="0"/>
                  </a:lnTo>
                  <a:close/>
                  <a:moveTo>
                    <a:pt x="224803" y="115776"/>
                  </a:moveTo>
                  <a:cubicBezTo>
                    <a:pt x="221825" y="112795"/>
                    <a:pt x="217784" y="111120"/>
                    <a:pt x="213571" y="111120"/>
                  </a:cubicBezTo>
                  <a:cubicBezTo>
                    <a:pt x="209358" y="111120"/>
                    <a:pt x="205317" y="112795"/>
                    <a:pt x="202339" y="115776"/>
                  </a:cubicBezTo>
                  <a:lnTo>
                    <a:pt x="150063" y="168037"/>
                  </a:lnTo>
                  <a:lnTo>
                    <a:pt x="129537" y="147526"/>
                  </a:lnTo>
                  <a:lnTo>
                    <a:pt x="128044" y="146209"/>
                  </a:lnTo>
                  <a:cubicBezTo>
                    <a:pt x="121423" y="141089"/>
                    <a:pt x="111963" y="141990"/>
                    <a:pt x="106427" y="148268"/>
                  </a:cubicBezTo>
                  <a:cubicBezTo>
                    <a:pt x="100891" y="154546"/>
                    <a:pt x="101181" y="164045"/>
                    <a:pt x="107089" y="169974"/>
                  </a:cubicBezTo>
                  <a:lnTo>
                    <a:pt x="138839" y="201724"/>
                  </a:lnTo>
                  <a:lnTo>
                    <a:pt x="140332" y="203041"/>
                  </a:lnTo>
                  <a:cubicBezTo>
                    <a:pt x="146651" y="207943"/>
                    <a:pt x="155631" y="207379"/>
                    <a:pt x="161287" y="201724"/>
                  </a:cubicBezTo>
                  <a:lnTo>
                    <a:pt x="224787" y="138224"/>
                  </a:lnTo>
                  <a:lnTo>
                    <a:pt x="226104" y="136731"/>
                  </a:lnTo>
                  <a:cubicBezTo>
                    <a:pt x="231007" y="130412"/>
                    <a:pt x="230442" y="121432"/>
                    <a:pt x="224787" y="115776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74303" y="4188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操作信任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55431" y="44586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控制权还给用户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39476" y="3524250"/>
            <a:ext cx="1713548" cy="1147762"/>
            <a:chOff x="7239476" y="3524250"/>
            <a:chExt cx="1713548" cy="1147762"/>
          </a:xfrm>
        </p:grpSpPr>
        <p:sp>
          <p:nvSpPr>
            <p:cNvPr id="27" name="Ellipse 27"/>
            <p:cNvSpPr/>
            <p:nvPr/>
          </p:nvSpPr>
          <p:spPr>
            <a:xfrm>
              <a:off x="7810500" y="3524250"/>
              <a:ext cx="571500" cy="5715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7930947" y="3663451"/>
              <a:ext cx="330178" cy="290979"/>
            </a:xfrm>
            <a:custGeom>
              <a:avLst/>
              <a:gdLst/>
              <a:ahLst/>
              <a:cxnLst/>
              <a:rect l="l" t="t" r="r" b="b"/>
              <a:pathLst>
                <a:path w="330178" h="290979">
                  <a:moveTo>
                    <a:pt x="85594" y="4849"/>
                  </a:moveTo>
                  <a:cubicBezTo>
                    <a:pt x="114053" y="0"/>
                    <a:pt x="143176" y="8320"/>
                    <a:pt x="164779" y="27471"/>
                  </a:cubicBezTo>
                  <a:lnTo>
                    <a:pt x="165366" y="27995"/>
                  </a:lnTo>
                  <a:lnTo>
                    <a:pt x="165906" y="27519"/>
                  </a:lnTo>
                  <a:cubicBezTo>
                    <a:pt x="186498" y="9447"/>
                    <a:pt x="213875" y="1118"/>
                    <a:pt x="241042" y="4659"/>
                  </a:cubicBezTo>
                  <a:lnTo>
                    <a:pt x="244948" y="5230"/>
                  </a:lnTo>
                  <a:cubicBezTo>
                    <a:pt x="279434" y="11184"/>
                    <a:pt x="307877" y="35571"/>
                    <a:pt x="319027" y="68743"/>
                  </a:cubicBezTo>
                  <a:cubicBezTo>
                    <a:pt x="330178" y="101916"/>
                    <a:pt x="322239" y="138531"/>
                    <a:pt x="298351" y="164107"/>
                  </a:cubicBezTo>
                  <a:lnTo>
                    <a:pt x="295494" y="167044"/>
                  </a:lnTo>
                  <a:lnTo>
                    <a:pt x="294732" y="167695"/>
                  </a:lnTo>
                  <a:lnTo>
                    <a:pt x="176463" y="284836"/>
                  </a:lnTo>
                  <a:cubicBezTo>
                    <a:pt x="170818" y="290423"/>
                    <a:pt x="161914" y="290979"/>
                    <a:pt x="155619" y="286138"/>
                  </a:cubicBezTo>
                  <a:lnTo>
                    <a:pt x="154127" y="284836"/>
                  </a:lnTo>
                  <a:lnTo>
                    <a:pt x="35175" y="167012"/>
                  </a:lnTo>
                  <a:cubicBezTo>
                    <a:pt x="9480" y="142011"/>
                    <a:pt x="0" y="104700"/>
                    <a:pt x="10644" y="70465"/>
                  </a:cubicBezTo>
                  <a:cubicBezTo>
                    <a:pt x="21288" y="36231"/>
                    <a:pt x="50253" y="10873"/>
                    <a:pt x="85594" y="484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65053" y="4188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共情细节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9476" y="44586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时间感问候，里程碑庆祝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83579" y="3524250"/>
            <a:ext cx="1406842" cy="1147762"/>
            <a:chOff x="9583579" y="3524250"/>
            <a:chExt cx="1406842" cy="1147762"/>
          </a:xfrm>
        </p:grpSpPr>
        <p:sp>
          <p:nvSpPr>
            <p:cNvPr id="32" name="Ellipse 32"/>
            <p:cNvSpPr/>
            <p:nvPr/>
          </p:nvSpPr>
          <p:spPr>
            <a:xfrm>
              <a:off x="10001250" y="3524250"/>
              <a:ext cx="571500" cy="5715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143849" y="3667125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59316" y="41881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呼吸感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83579" y="44586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渐变遮罩，柔和动效</a:t>
              </a:r>
            </a:p>
          </p:txBody>
        </p:sp>
      </p:grpSp>
      <p:sp>
        <p:nvSpPr>
          <p:cNvPr id="37" name="Freeform 37"/>
          <p:cNvSpPr/>
          <p:nvPr/>
        </p:nvSpPr>
        <p:spPr>
          <a:xfrm>
            <a:off x="1524000" y="3873500"/>
            <a:ext cx="8763000" cy="254000"/>
          </a:xfrm>
          <a:custGeom>
            <a:avLst/>
            <a:gdLst/>
            <a:ahLst/>
            <a:cxnLst/>
            <a:rect l="l" t="t" r="r" b="b"/>
            <a:pathLst>
              <a:path w="8763000" h="254000">
                <a:moveTo>
                  <a:pt x="0" y="127000"/>
                </a:moveTo>
                <a:cubicBezTo>
                  <a:pt x="889000" y="254000"/>
                  <a:pt x="1619250" y="254000"/>
                  <a:pt x="2190750" y="127000"/>
                </a:cubicBezTo>
                <a:cubicBezTo>
                  <a:pt x="3016250" y="0"/>
                  <a:pt x="3746500" y="0"/>
                  <a:pt x="4381500" y="127000"/>
                </a:cubicBezTo>
                <a:cubicBezTo>
                  <a:pt x="5207000" y="254000"/>
                  <a:pt x="5937250" y="254000"/>
                  <a:pt x="6572250" y="127000"/>
                </a:cubicBezTo>
                <a:cubicBezTo>
                  <a:pt x="7397750" y="0"/>
                  <a:pt x="8128000" y="0"/>
                  <a:pt x="8763000" y="127000"/>
                </a:cubicBezTo>
              </a:path>
            </a:pathLst>
          </a:custGeom>
          <a:noFill/>
          <a:ln w="14288">
            <a:solidFill>
              <a:srgbClr val="4A7C28">
                <a:alpha val="20000"/>
              </a:srgbClr>
            </a:solidFill>
          </a:ln>
        </p:spPr>
      </p:sp>
      <p:sp>
        <p:nvSpPr>
          <p:cNvPr id="38" name="Freeform 38"/>
          <p:cNvSpPr/>
          <p:nvPr/>
        </p:nvSpPr>
        <p:spPr>
          <a:xfrm>
            <a:off x="1905000" y="5143500"/>
            <a:ext cx="8382000" cy="762000"/>
          </a:xfrm>
          <a:custGeom>
            <a:avLst/>
            <a:gdLst/>
            <a:ahLst/>
            <a:cxnLst/>
            <a:rect l="l" t="t" r="r" b="b"/>
            <a:pathLst>
              <a:path w="8382000" h="762000">
                <a:moveTo>
                  <a:pt x="114300" y="0"/>
                </a:moveTo>
                <a:lnTo>
                  <a:pt x="8267700" y="0"/>
                </a:lnTo>
                <a:cubicBezTo>
                  <a:pt x="8330826" y="0"/>
                  <a:pt x="8382000" y="51174"/>
                  <a:pt x="8382000" y="114300"/>
                </a:cubicBezTo>
                <a:lnTo>
                  <a:pt x="8382000" y="647700"/>
                </a:lnTo>
                <a:cubicBezTo>
                  <a:pt x="8382000" y="710826"/>
                  <a:pt x="8330826" y="762000"/>
                  <a:pt x="8267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5000"/>
            </a:srgbClr>
          </a:solidFill>
          <a:ln>
            <a:noFill/>
          </a:ln>
        </p:spPr>
      </p:sp>
      <p:grpSp>
        <p:nvGrpSpPr>
          <p:cNvPr id="46" name="Group 46"/>
          <p:cNvGrpSpPr/>
          <p:nvPr/>
        </p:nvGrpSpPr>
        <p:grpSpPr>
          <a:xfrm>
            <a:off x="2215792" y="5340350"/>
            <a:ext cx="254716" cy="254000"/>
            <a:chOff x="2215792" y="5340350"/>
            <a:chExt cx="254716" cy="254000"/>
          </a:xfrm>
        </p:grpSpPr>
        <p:sp>
          <p:nvSpPr>
            <p:cNvPr id="39" name="Freeform 39"/>
            <p:cNvSpPr/>
            <p:nvPr/>
          </p:nvSpPr>
          <p:spPr>
            <a:xfrm>
              <a:off x="2215792" y="545465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2330450" y="5340350"/>
              <a:ext cx="25400" cy="38458"/>
            </a:xfrm>
            <a:custGeom>
              <a:avLst/>
              <a:gdLst/>
              <a:ahLst/>
              <a:cxnLst/>
              <a:rect l="l" t="t" r="r" b="b"/>
              <a:pathLst>
                <a:path w="25400" h="38458">
                  <a:moveTo>
                    <a:pt x="12700" y="0"/>
                  </a:moveTo>
                  <a:cubicBezTo>
                    <a:pt x="19139" y="1"/>
                    <a:pt x="24558" y="4820"/>
                    <a:pt x="25311" y="11214"/>
                  </a:cubicBezTo>
                  <a:lnTo>
                    <a:pt x="25400" y="12700"/>
                  </a:lnTo>
                  <a:lnTo>
                    <a:pt x="25400" y="25400"/>
                  </a:lnTo>
                  <a:cubicBezTo>
                    <a:pt x="25393" y="32119"/>
                    <a:pt x="20152" y="37670"/>
                    <a:pt x="13444" y="38064"/>
                  </a:cubicBezTo>
                  <a:cubicBezTo>
                    <a:pt x="6736" y="38458"/>
                    <a:pt x="883" y="33558"/>
                    <a:pt x="89" y="26886"/>
                  </a:cubicBezTo>
                  <a:lnTo>
                    <a:pt x="0" y="25400"/>
                  </a:ln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2431692" y="545465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2247933" y="5372115"/>
              <a:ext cx="36765" cy="36974"/>
            </a:xfrm>
            <a:custGeom>
              <a:avLst/>
              <a:gdLst/>
              <a:ahLst/>
              <a:cxnLst/>
              <a:rect l="l" t="t" r="r" b="b"/>
              <a:pathLst>
                <a:path w="36765" h="36974">
                  <a:moveTo>
                    <a:pt x="4958" y="4976"/>
                  </a:moveTo>
                  <a:cubicBezTo>
                    <a:pt x="9482" y="452"/>
                    <a:pt x="16666" y="0"/>
                    <a:pt x="21722" y="3922"/>
                  </a:cubicBezTo>
                  <a:lnTo>
                    <a:pt x="22916" y="4976"/>
                  </a:lnTo>
                  <a:lnTo>
                    <a:pt x="31806" y="13866"/>
                  </a:lnTo>
                  <a:cubicBezTo>
                    <a:pt x="36533" y="18609"/>
                    <a:pt x="36765" y="26208"/>
                    <a:pt x="32336" y="31230"/>
                  </a:cubicBezTo>
                  <a:cubicBezTo>
                    <a:pt x="27907" y="36253"/>
                    <a:pt x="20339" y="36974"/>
                    <a:pt x="15042" y="32878"/>
                  </a:cubicBezTo>
                  <a:lnTo>
                    <a:pt x="13848" y="31824"/>
                  </a:lnTo>
                  <a:lnTo>
                    <a:pt x="4958" y="22934"/>
                  </a:lnTo>
                  <a:cubicBezTo>
                    <a:pt x="0" y="17974"/>
                    <a:pt x="0" y="9935"/>
                    <a:pt x="4958" y="4976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2401411" y="5372132"/>
              <a:ext cx="37148" cy="36766"/>
            </a:xfrm>
            <a:custGeom>
              <a:avLst/>
              <a:gdLst/>
              <a:ahLst/>
              <a:cxnLst/>
              <a:rect l="l" t="t" r="r" b="b"/>
              <a:pathLst>
                <a:path w="37148" h="36766">
                  <a:moveTo>
                    <a:pt x="14040" y="4959"/>
                  </a:moveTo>
                  <a:cubicBezTo>
                    <a:pt x="18783" y="232"/>
                    <a:pt x="26382" y="0"/>
                    <a:pt x="31405" y="4429"/>
                  </a:cubicBezTo>
                  <a:cubicBezTo>
                    <a:pt x="36427" y="8858"/>
                    <a:pt x="37148" y="16426"/>
                    <a:pt x="33052" y="21723"/>
                  </a:cubicBezTo>
                  <a:lnTo>
                    <a:pt x="31998" y="22917"/>
                  </a:lnTo>
                  <a:lnTo>
                    <a:pt x="23108" y="31807"/>
                  </a:lnTo>
                  <a:cubicBezTo>
                    <a:pt x="18365" y="36534"/>
                    <a:pt x="10766" y="36766"/>
                    <a:pt x="5744" y="32337"/>
                  </a:cubicBezTo>
                  <a:cubicBezTo>
                    <a:pt x="721" y="27908"/>
                    <a:pt x="0" y="20340"/>
                    <a:pt x="4096" y="15043"/>
                  </a:cubicBezTo>
                  <a:lnTo>
                    <a:pt x="5150" y="13849"/>
                  </a:lnTo>
                  <a:lnTo>
                    <a:pt x="14040" y="495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305050" y="5543550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63500" y="0"/>
                  </a:moveTo>
                  <a:cubicBezTo>
                    <a:pt x="70514" y="0"/>
                    <a:pt x="76200" y="5686"/>
                    <a:pt x="76200" y="12700"/>
                  </a:cubicBezTo>
                  <a:cubicBezTo>
                    <a:pt x="76200" y="33742"/>
                    <a:pt x="59142" y="50800"/>
                    <a:pt x="38100" y="50800"/>
                  </a:cubicBezTo>
                  <a:cubicBezTo>
                    <a:pt x="17058" y="50800"/>
                    <a:pt x="0" y="33742"/>
                    <a:pt x="0" y="12700"/>
                  </a:cubicBezTo>
                  <a:cubicBezTo>
                    <a:pt x="1" y="6261"/>
                    <a:pt x="4820" y="842"/>
                    <a:pt x="11214" y="89"/>
                  </a:cubicBezTo>
                  <a:lnTo>
                    <a:pt x="12700" y="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260488" y="5391150"/>
              <a:ext cx="165323" cy="139700"/>
            </a:xfrm>
            <a:custGeom>
              <a:avLst/>
              <a:gdLst/>
              <a:ahLst/>
              <a:cxnLst/>
              <a:rect l="l" t="t" r="r" b="b"/>
              <a:pathLst>
                <a:path w="165323" h="139700">
                  <a:moveTo>
                    <a:pt x="82662" y="0"/>
                  </a:moveTo>
                  <a:cubicBezTo>
                    <a:pt x="115460" y="0"/>
                    <a:pt x="144579" y="20988"/>
                    <a:pt x="154951" y="52103"/>
                  </a:cubicBezTo>
                  <a:cubicBezTo>
                    <a:pt x="165323" y="83219"/>
                    <a:pt x="154621" y="117481"/>
                    <a:pt x="128382" y="137160"/>
                  </a:cubicBezTo>
                  <a:cubicBezTo>
                    <a:pt x="126631" y="138475"/>
                    <a:pt x="124571" y="139315"/>
                    <a:pt x="122400" y="139598"/>
                  </a:cubicBezTo>
                  <a:lnTo>
                    <a:pt x="120762" y="139700"/>
                  </a:lnTo>
                  <a:lnTo>
                    <a:pt x="44562" y="139700"/>
                  </a:lnTo>
                  <a:cubicBezTo>
                    <a:pt x="41814" y="139700"/>
                    <a:pt x="39140" y="138809"/>
                    <a:pt x="36942" y="137160"/>
                  </a:cubicBezTo>
                  <a:cubicBezTo>
                    <a:pt x="10703" y="117481"/>
                    <a:pt x="0" y="83219"/>
                    <a:pt x="10372" y="52103"/>
                  </a:cubicBezTo>
                  <a:cubicBezTo>
                    <a:pt x="20744" y="20988"/>
                    <a:pt x="49863" y="0"/>
                    <a:pt x="82662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2649855" y="5378768"/>
            <a:ext cx="63633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核心洞察：</a:t>
            </a:r>
            <a:r>
              <a:rPr lang="zh-CN" sz="13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PlantEcho 不是让植物"说话"，而是让用户感受到植物的存在</a:t>
            </a:r>
          </a:p>
        </p:txBody>
      </p:sp>
      <p:sp>
        <p:nvSpPr>
          <p:cNvPr id="48" name="Ellipse 48"/>
          <p:cNvSpPr/>
          <p:nvPr/>
        </p:nvSpPr>
        <p:spPr>
          <a:xfrm>
            <a:off x="11239500" y="762000"/>
            <a:ext cx="381000" cy="38100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</p:sp>
      <p:sp>
        <p:nvSpPr>
          <p:cNvPr id="49" name="Ellipse 49"/>
          <p:cNvSpPr/>
          <p:nvPr/>
        </p:nvSpPr>
        <p:spPr>
          <a:xfrm>
            <a:off x="619125" y="6048375"/>
            <a:ext cx="285750" cy="285750"/>
          </a:xfrm>
          <a:prstGeom prst="ellipse">
            <a:avLst/>
          </a:prstGeom>
          <a:solidFill>
            <a:srgbClr val="E8A849">
              <a:alpha val="8000"/>
            </a:srgbClr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02 / 18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设计哲学：人文关怀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333500"/>
            <a:ext cx="2095500" cy="2381250"/>
            <a:chOff x="571500" y="1333500"/>
            <a:chExt cx="2095500" cy="2381250"/>
          </a:xfrm>
        </p:grpSpPr>
        <p:sp>
          <p:nvSpPr>
            <p:cNvPr id="5" name="Freeform 5"/>
            <p:cNvSpPr/>
            <p:nvPr/>
          </p:nvSpPr>
          <p:spPr>
            <a:xfrm>
              <a:off x="571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390650" y="1581150"/>
              <a:ext cx="457200" cy="4572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444133" y="1653302"/>
              <a:ext cx="350726" cy="314023"/>
            </a:xfrm>
            <a:custGeom>
              <a:avLst/>
              <a:gdLst/>
              <a:ahLst/>
              <a:cxnLst/>
              <a:rect l="l" t="t" r="r" b="b"/>
              <a:pathLst>
                <a:path w="350726" h="314023">
                  <a:moveTo>
                    <a:pt x="77025" y="43894"/>
                  </a:moveTo>
                  <a:cubicBezTo>
                    <a:pt x="138922" y="0"/>
                    <a:pt x="227330" y="3588"/>
                    <a:pt x="284559" y="52388"/>
                  </a:cubicBezTo>
                  <a:cubicBezTo>
                    <a:pt x="342773" y="102060"/>
                    <a:pt x="350726" y="183166"/>
                    <a:pt x="302847" y="241268"/>
                  </a:cubicBezTo>
                  <a:cubicBezTo>
                    <a:pt x="257747" y="295989"/>
                    <a:pt x="176403" y="314023"/>
                    <a:pt x="108680" y="285798"/>
                  </a:cubicBezTo>
                  <a:lnTo>
                    <a:pt x="104981" y="284194"/>
                  </a:lnTo>
                  <a:lnTo>
                    <a:pt x="35544" y="298974"/>
                  </a:lnTo>
                  <a:lnTo>
                    <a:pt x="34909" y="299069"/>
                  </a:lnTo>
                  <a:lnTo>
                    <a:pt x="34353" y="299180"/>
                  </a:lnTo>
                  <a:lnTo>
                    <a:pt x="34068" y="299180"/>
                  </a:lnTo>
                  <a:lnTo>
                    <a:pt x="33718" y="299260"/>
                  </a:lnTo>
                  <a:lnTo>
                    <a:pt x="33115" y="299260"/>
                  </a:lnTo>
                  <a:lnTo>
                    <a:pt x="32591" y="299323"/>
                  </a:lnTo>
                  <a:lnTo>
                    <a:pt x="32258" y="299307"/>
                  </a:lnTo>
                  <a:lnTo>
                    <a:pt x="31893" y="299323"/>
                  </a:lnTo>
                  <a:lnTo>
                    <a:pt x="31369" y="299276"/>
                  </a:lnTo>
                  <a:lnTo>
                    <a:pt x="30813" y="299276"/>
                  </a:lnTo>
                  <a:lnTo>
                    <a:pt x="30464" y="299212"/>
                  </a:lnTo>
                  <a:lnTo>
                    <a:pt x="30115" y="299180"/>
                  </a:lnTo>
                  <a:lnTo>
                    <a:pt x="29559" y="299069"/>
                  </a:lnTo>
                  <a:lnTo>
                    <a:pt x="29019" y="298990"/>
                  </a:lnTo>
                  <a:lnTo>
                    <a:pt x="28765" y="298926"/>
                  </a:lnTo>
                  <a:lnTo>
                    <a:pt x="28384" y="298847"/>
                  </a:lnTo>
                  <a:lnTo>
                    <a:pt x="27607" y="298593"/>
                  </a:lnTo>
                  <a:lnTo>
                    <a:pt x="27226" y="298514"/>
                  </a:lnTo>
                  <a:lnTo>
                    <a:pt x="27051" y="298434"/>
                  </a:lnTo>
                  <a:lnTo>
                    <a:pt x="26702" y="298323"/>
                  </a:lnTo>
                  <a:lnTo>
                    <a:pt x="25987" y="298006"/>
                  </a:lnTo>
                  <a:lnTo>
                    <a:pt x="25511" y="297815"/>
                  </a:lnTo>
                  <a:lnTo>
                    <a:pt x="25336" y="297720"/>
                  </a:lnTo>
                  <a:lnTo>
                    <a:pt x="25114" y="297624"/>
                  </a:lnTo>
                  <a:lnTo>
                    <a:pt x="24622" y="297339"/>
                  </a:lnTo>
                  <a:lnTo>
                    <a:pt x="23908" y="296958"/>
                  </a:lnTo>
                  <a:lnTo>
                    <a:pt x="23654" y="296783"/>
                  </a:lnTo>
                  <a:lnTo>
                    <a:pt x="23066" y="296370"/>
                  </a:lnTo>
                  <a:lnTo>
                    <a:pt x="22431" y="295942"/>
                  </a:lnTo>
                  <a:lnTo>
                    <a:pt x="22400" y="295878"/>
                  </a:lnTo>
                  <a:lnTo>
                    <a:pt x="22193" y="295735"/>
                  </a:lnTo>
                  <a:lnTo>
                    <a:pt x="21511" y="295100"/>
                  </a:lnTo>
                  <a:lnTo>
                    <a:pt x="21114" y="294783"/>
                  </a:lnTo>
                  <a:lnTo>
                    <a:pt x="21018" y="294672"/>
                  </a:lnTo>
                  <a:lnTo>
                    <a:pt x="20129" y="293688"/>
                  </a:lnTo>
                  <a:lnTo>
                    <a:pt x="19923" y="293465"/>
                  </a:lnTo>
                  <a:lnTo>
                    <a:pt x="19748" y="293243"/>
                  </a:lnTo>
                  <a:lnTo>
                    <a:pt x="19129" y="292354"/>
                  </a:lnTo>
                  <a:lnTo>
                    <a:pt x="18907" y="292052"/>
                  </a:lnTo>
                  <a:lnTo>
                    <a:pt x="18828" y="291894"/>
                  </a:lnTo>
                  <a:lnTo>
                    <a:pt x="18161" y="290735"/>
                  </a:lnTo>
                  <a:lnTo>
                    <a:pt x="18050" y="290544"/>
                  </a:lnTo>
                  <a:lnTo>
                    <a:pt x="17986" y="290417"/>
                  </a:lnTo>
                  <a:lnTo>
                    <a:pt x="17875" y="290227"/>
                  </a:lnTo>
                  <a:lnTo>
                    <a:pt x="17653" y="289624"/>
                  </a:lnTo>
                  <a:lnTo>
                    <a:pt x="17335" y="288957"/>
                  </a:lnTo>
                  <a:lnTo>
                    <a:pt x="17272" y="288703"/>
                  </a:lnTo>
                  <a:lnTo>
                    <a:pt x="17209" y="288544"/>
                  </a:lnTo>
                  <a:lnTo>
                    <a:pt x="16939" y="287576"/>
                  </a:lnTo>
                  <a:lnTo>
                    <a:pt x="16827" y="287290"/>
                  </a:lnTo>
                  <a:lnTo>
                    <a:pt x="16796" y="287052"/>
                  </a:lnTo>
                  <a:lnTo>
                    <a:pt x="16716" y="286750"/>
                  </a:lnTo>
                  <a:lnTo>
                    <a:pt x="16637" y="286226"/>
                  </a:lnTo>
                  <a:lnTo>
                    <a:pt x="16510" y="285560"/>
                  </a:lnTo>
                  <a:lnTo>
                    <a:pt x="16478" y="285067"/>
                  </a:lnTo>
                  <a:lnTo>
                    <a:pt x="16431" y="284909"/>
                  </a:lnTo>
                  <a:lnTo>
                    <a:pt x="16431" y="284655"/>
                  </a:lnTo>
                  <a:lnTo>
                    <a:pt x="16367" y="283797"/>
                  </a:lnTo>
                  <a:lnTo>
                    <a:pt x="16383" y="283226"/>
                  </a:lnTo>
                  <a:lnTo>
                    <a:pt x="16399" y="282861"/>
                  </a:lnTo>
                  <a:lnTo>
                    <a:pt x="16431" y="282019"/>
                  </a:lnTo>
                  <a:lnTo>
                    <a:pt x="16494" y="281622"/>
                  </a:lnTo>
                  <a:lnTo>
                    <a:pt x="16494" y="281321"/>
                  </a:lnTo>
                  <a:lnTo>
                    <a:pt x="16621" y="280765"/>
                  </a:lnTo>
                  <a:lnTo>
                    <a:pt x="16700" y="280226"/>
                  </a:lnTo>
                  <a:lnTo>
                    <a:pt x="16780" y="279908"/>
                  </a:lnTo>
                  <a:lnTo>
                    <a:pt x="16843" y="279591"/>
                  </a:lnTo>
                  <a:lnTo>
                    <a:pt x="17129" y="278638"/>
                  </a:lnTo>
                  <a:lnTo>
                    <a:pt x="17177" y="278432"/>
                  </a:lnTo>
                  <a:lnTo>
                    <a:pt x="35433" y="223663"/>
                  </a:lnTo>
                  <a:lnTo>
                    <a:pt x="35084" y="223076"/>
                  </a:lnTo>
                  <a:cubicBezTo>
                    <a:pt x="0" y="163592"/>
                    <a:pt x="15891" y="89868"/>
                    <a:pt x="73390" y="46561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1027" y="21402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让系统说人话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9152" y="24393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把否定句翻译成邀请句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52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15913" y="2847499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"我有点渴了·23%"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7112" y="3037999"/>
              <a:ext cx="10642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而非"水分:23%"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0453" y="333184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拒绝冰冷的系统语言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57500" y="1333500"/>
            <a:ext cx="2095500" cy="2381250"/>
            <a:chOff x="2857500" y="1333500"/>
            <a:chExt cx="2095500" cy="2381250"/>
          </a:xfrm>
        </p:grpSpPr>
        <p:sp>
          <p:nvSpPr>
            <p:cNvPr id="16" name="Freeform 16"/>
            <p:cNvSpPr/>
            <p:nvPr/>
          </p:nvSpPr>
          <p:spPr>
            <a:xfrm>
              <a:off x="2857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57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676650" y="1581150"/>
              <a:ext cx="457200" cy="4572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746500" y="1643889"/>
              <a:ext cx="333852" cy="334398"/>
            </a:xfrm>
            <a:custGeom>
              <a:avLst/>
              <a:gdLst/>
              <a:ahLst/>
              <a:cxnLst/>
              <a:rect l="l" t="t" r="r" b="b"/>
              <a:pathLst>
                <a:path w="333852" h="334398">
                  <a:moveTo>
                    <a:pt x="238125" y="28384"/>
                  </a:moveTo>
                  <a:cubicBezTo>
                    <a:pt x="304282" y="66582"/>
                    <a:pt x="333852" y="146484"/>
                    <a:pt x="308499" y="218547"/>
                  </a:cubicBezTo>
                  <a:cubicBezTo>
                    <a:pt x="283146" y="290611"/>
                    <a:pt x="210062" y="334398"/>
                    <a:pt x="134560" y="322760"/>
                  </a:cubicBezTo>
                  <a:cubicBezTo>
                    <a:pt x="59059" y="311121"/>
                    <a:pt x="2554" y="247358"/>
                    <a:pt x="79" y="171005"/>
                  </a:cubicBezTo>
                  <a:lnTo>
                    <a:pt x="0" y="165861"/>
                  </a:lnTo>
                  <a:lnTo>
                    <a:pt x="79" y="160718"/>
                  </a:lnTo>
                  <a:cubicBezTo>
                    <a:pt x="1888" y="104948"/>
                    <a:pt x="32843" y="54223"/>
                    <a:pt x="81612" y="27112"/>
                  </a:cubicBezTo>
                  <a:cubicBezTo>
                    <a:pt x="130381" y="0"/>
                    <a:pt x="189803" y="483"/>
                    <a:pt x="238125" y="28384"/>
                  </a:cubicBezTo>
                  <a:close/>
                  <a:moveTo>
                    <a:pt x="158750" y="70611"/>
                  </a:moveTo>
                  <a:cubicBezTo>
                    <a:pt x="150702" y="70612"/>
                    <a:pt x="143928" y="76636"/>
                    <a:pt x="142986" y="84629"/>
                  </a:cubicBezTo>
                  <a:lnTo>
                    <a:pt x="142875" y="86486"/>
                  </a:lnTo>
                  <a:lnTo>
                    <a:pt x="142875" y="165861"/>
                  </a:lnTo>
                  <a:lnTo>
                    <a:pt x="143018" y="167941"/>
                  </a:lnTo>
                  <a:cubicBezTo>
                    <a:pt x="143380" y="170695"/>
                    <a:pt x="144458" y="173306"/>
                    <a:pt x="146145" y="175513"/>
                  </a:cubicBezTo>
                  <a:lnTo>
                    <a:pt x="147526" y="177101"/>
                  </a:lnTo>
                  <a:lnTo>
                    <a:pt x="195151" y="224726"/>
                  </a:lnTo>
                  <a:lnTo>
                    <a:pt x="196644" y="226027"/>
                  </a:lnTo>
                  <a:cubicBezTo>
                    <a:pt x="202370" y="230471"/>
                    <a:pt x="210380" y="230471"/>
                    <a:pt x="216106" y="226027"/>
                  </a:cubicBezTo>
                  <a:lnTo>
                    <a:pt x="217599" y="224710"/>
                  </a:lnTo>
                  <a:lnTo>
                    <a:pt x="218916" y="223217"/>
                  </a:lnTo>
                  <a:cubicBezTo>
                    <a:pt x="223359" y="217491"/>
                    <a:pt x="223359" y="209481"/>
                    <a:pt x="218916" y="203755"/>
                  </a:cubicBezTo>
                  <a:lnTo>
                    <a:pt x="217599" y="202262"/>
                  </a:lnTo>
                  <a:lnTo>
                    <a:pt x="174625" y="159273"/>
                  </a:lnTo>
                  <a:lnTo>
                    <a:pt x="174625" y="86486"/>
                  </a:lnTo>
                  <a:lnTo>
                    <a:pt x="174514" y="84629"/>
                  </a:lnTo>
                  <a:cubicBezTo>
                    <a:pt x="173572" y="76636"/>
                    <a:pt x="166798" y="70612"/>
                    <a:pt x="158750" y="70611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163514" y="21402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尊重用户的节奏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55181" y="24393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植物是慢的载体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238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422952" y="2847499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5秒撤销 toast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76672" y="3037999"/>
              <a:ext cx="10571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380ms 缓动动画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46453" y="333184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拒绝突然出现的弹窗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143500" y="1333500"/>
            <a:ext cx="2095500" cy="2381250"/>
            <a:chOff x="5143500" y="1333500"/>
            <a:chExt cx="2095500" cy="2381250"/>
          </a:xfrm>
        </p:grpSpPr>
        <p:sp>
          <p:nvSpPr>
            <p:cNvPr id="27" name="Freeform 27"/>
            <p:cNvSpPr/>
            <p:nvPr/>
          </p:nvSpPr>
          <p:spPr>
            <a:xfrm>
              <a:off x="5143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143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962650" y="1581150"/>
              <a:ext cx="457200" cy="457200"/>
            </a:xfrm>
            <a:prstGeom prst="ellipse">
              <a:avLst/>
            </a:pr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025312" y="1651000"/>
              <a:ext cx="331861" cy="317670"/>
            </a:xfrm>
            <a:custGeom>
              <a:avLst/>
              <a:gdLst/>
              <a:ahLst/>
              <a:cxnLst/>
              <a:rect l="l" t="t" r="r" b="b"/>
              <a:pathLst>
                <a:path w="331861" h="317670">
                  <a:moveTo>
                    <a:pt x="165906" y="0"/>
                  </a:moveTo>
                  <a:lnTo>
                    <a:pt x="167780" y="111"/>
                  </a:lnTo>
                  <a:lnTo>
                    <a:pt x="168716" y="238"/>
                  </a:lnTo>
                  <a:lnTo>
                    <a:pt x="169685" y="444"/>
                  </a:lnTo>
                  <a:lnTo>
                    <a:pt x="171447" y="984"/>
                  </a:lnTo>
                  <a:cubicBezTo>
                    <a:pt x="172664" y="1433"/>
                    <a:pt x="173821" y="2030"/>
                    <a:pt x="174892" y="2762"/>
                  </a:cubicBezTo>
                  <a:lnTo>
                    <a:pt x="176543" y="4064"/>
                  </a:lnTo>
                  <a:lnTo>
                    <a:pt x="180591" y="7525"/>
                  </a:lnTo>
                  <a:cubicBezTo>
                    <a:pt x="212616" y="34124"/>
                    <a:pt x="253090" y="48408"/>
                    <a:pt x="294716" y="47800"/>
                  </a:cubicBezTo>
                  <a:lnTo>
                    <a:pt x="300145" y="47641"/>
                  </a:lnTo>
                  <a:cubicBezTo>
                    <a:pt x="307450" y="47308"/>
                    <a:pt x="314038" y="52007"/>
                    <a:pt x="316100" y="59023"/>
                  </a:cubicBezTo>
                  <a:cubicBezTo>
                    <a:pt x="331861" y="112638"/>
                    <a:pt x="325206" y="170352"/>
                    <a:pt x="297655" y="218971"/>
                  </a:cubicBezTo>
                  <a:cubicBezTo>
                    <a:pt x="270105" y="267591"/>
                    <a:pt x="224015" y="302960"/>
                    <a:pt x="169923" y="316992"/>
                  </a:cubicBezTo>
                  <a:cubicBezTo>
                    <a:pt x="167310" y="317670"/>
                    <a:pt x="164567" y="317670"/>
                    <a:pt x="161953" y="316992"/>
                  </a:cubicBezTo>
                  <a:cubicBezTo>
                    <a:pt x="107858" y="302964"/>
                    <a:pt x="61764" y="267596"/>
                    <a:pt x="34211" y="218976"/>
                  </a:cubicBezTo>
                  <a:cubicBezTo>
                    <a:pt x="6657" y="170356"/>
                    <a:pt x="0" y="112640"/>
                    <a:pt x="15761" y="59023"/>
                  </a:cubicBezTo>
                  <a:cubicBezTo>
                    <a:pt x="17822" y="52007"/>
                    <a:pt x="24410" y="47308"/>
                    <a:pt x="31715" y="47641"/>
                  </a:cubicBezTo>
                  <a:cubicBezTo>
                    <a:pt x="75172" y="49627"/>
                    <a:pt x="117806" y="35322"/>
                    <a:pt x="151270" y="7525"/>
                  </a:cubicBezTo>
                  <a:lnTo>
                    <a:pt x="155445" y="3953"/>
                  </a:lnTo>
                  <a:lnTo>
                    <a:pt x="156969" y="2762"/>
                  </a:lnTo>
                  <a:cubicBezTo>
                    <a:pt x="158040" y="2030"/>
                    <a:pt x="159197" y="1433"/>
                    <a:pt x="160414" y="984"/>
                  </a:cubicBezTo>
                  <a:lnTo>
                    <a:pt x="162192" y="444"/>
                  </a:lnTo>
                  <a:cubicBezTo>
                    <a:pt x="162814" y="294"/>
                    <a:pt x="163445" y="183"/>
                    <a:pt x="164081" y="111"/>
                  </a:cubicBezTo>
                  <a:lnTo>
                    <a:pt x="165906" y="0"/>
                  </a:lnTo>
                  <a:close/>
                  <a:moveTo>
                    <a:pt x="224803" y="115776"/>
                  </a:moveTo>
                  <a:cubicBezTo>
                    <a:pt x="221825" y="112795"/>
                    <a:pt x="217784" y="111120"/>
                    <a:pt x="213571" y="111120"/>
                  </a:cubicBezTo>
                  <a:cubicBezTo>
                    <a:pt x="209358" y="111120"/>
                    <a:pt x="205317" y="112795"/>
                    <a:pt x="202339" y="115776"/>
                  </a:cubicBezTo>
                  <a:lnTo>
                    <a:pt x="150063" y="168037"/>
                  </a:lnTo>
                  <a:lnTo>
                    <a:pt x="129537" y="147526"/>
                  </a:lnTo>
                  <a:lnTo>
                    <a:pt x="128044" y="146209"/>
                  </a:lnTo>
                  <a:cubicBezTo>
                    <a:pt x="121423" y="141089"/>
                    <a:pt x="111963" y="141990"/>
                    <a:pt x="106427" y="148268"/>
                  </a:cubicBezTo>
                  <a:cubicBezTo>
                    <a:pt x="100891" y="154546"/>
                    <a:pt x="101181" y="164045"/>
                    <a:pt x="107089" y="169974"/>
                  </a:cubicBezTo>
                  <a:lnTo>
                    <a:pt x="138839" y="201724"/>
                  </a:lnTo>
                  <a:lnTo>
                    <a:pt x="140332" y="203041"/>
                  </a:lnTo>
                  <a:cubicBezTo>
                    <a:pt x="146651" y="207943"/>
                    <a:pt x="155631" y="207379"/>
                    <a:pt x="161287" y="201724"/>
                  </a:cubicBezTo>
                  <a:lnTo>
                    <a:pt x="224787" y="138224"/>
                  </a:lnTo>
                  <a:lnTo>
                    <a:pt x="226104" y="136731"/>
                  </a:lnTo>
                  <a:cubicBezTo>
                    <a:pt x="231007" y="130412"/>
                    <a:pt x="230442" y="121432"/>
                    <a:pt x="224787" y="115776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60053" y="2140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操作信任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41181" y="243935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控制权还给用户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5524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80472" y="28474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离线时诚实标注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38073" y="30379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未实现的按钮不放出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98176" y="33318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拒绝伪造用户身份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429500" y="1333500"/>
            <a:ext cx="2095500" cy="2381250"/>
            <a:chOff x="7429500" y="1333500"/>
            <a:chExt cx="2095500" cy="2381250"/>
          </a:xfrm>
        </p:grpSpPr>
        <p:sp>
          <p:nvSpPr>
            <p:cNvPr id="38" name="Freeform 38"/>
            <p:cNvSpPr/>
            <p:nvPr/>
          </p:nvSpPr>
          <p:spPr>
            <a:xfrm>
              <a:off x="7429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7429500" y="1333500"/>
              <a:ext cx="2095500" cy="2381250"/>
            </a:xfrm>
            <a:custGeom>
              <a:avLst/>
              <a:gdLst/>
              <a:ahLst/>
              <a:cxnLst/>
              <a:rect l="l" t="t" r="r" b="b"/>
              <a:pathLst>
                <a:path w="2095500" h="23812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2266950"/>
                  </a:lnTo>
                  <a:cubicBezTo>
                    <a:pt x="2095500" y="2330076"/>
                    <a:pt x="2044326" y="2381250"/>
                    <a:pt x="19812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248650" y="1581150"/>
              <a:ext cx="457200" cy="4572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311947" y="1663201"/>
              <a:ext cx="330178" cy="290979"/>
            </a:xfrm>
            <a:custGeom>
              <a:avLst/>
              <a:gdLst/>
              <a:ahLst/>
              <a:cxnLst/>
              <a:rect l="l" t="t" r="r" b="b"/>
              <a:pathLst>
                <a:path w="330178" h="290979">
                  <a:moveTo>
                    <a:pt x="85594" y="4849"/>
                  </a:moveTo>
                  <a:cubicBezTo>
                    <a:pt x="114053" y="0"/>
                    <a:pt x="143176" y="8320"/>
                    <a:pt x="164779" y="27471"/>
                  </a:cubicBezTo>
                  <a:lnTo>
                    <a:pt x="165366" y="27995"/>
                  </a:lnTo>
                  <a:lnTo>
                    <a:pt x="165906" y="27519"/>
                  </a:lnTo>
                  <a:cubicBezTo>
                    <a:pt x="186498" y="9447"/>
                    <a:pt x="213875" y="1118"/>
                    <a:pt x="241042" y="4659"/>
                  </a:cubicBezTo>
                  <a:lnTo>
                    <a:pt x="244948" y="5230"/>
                  </a:lnTo>
                  <a:cubicBezTo>
                    <a:pt x="279434" y="11184"/>
                    <a:pt x="307877" y="35571"/>
                    <a:pt x="319027" y="68743"/>
                  </a:cubicBezTo>
                  <a:cubicBezTo>
                    <a:pt x="330178" y="101916"/>
                    <a:pt x="322239" y="138531"/>
                    <a:pt x="298351" y="164107"/>
                  </a:cubicBezTo>
                  <a:lnTo>
                    <a:pt x="295494" y="167044"/>
                  </a:lnTo>
                  <a:lnTo>
                    <a:pt x="294732" y="167695"/>
                  </a:lnTo>
                  <a:lnTo>
                    <a:pt x="176463" y="284836"/>
                  </a:lnTo>
                  <a:cubicBezTo>
                    <a:pt x="170818" y="290423"/>
                    <a:pt x="161914" y="290979"/>
                    <a:pt x="155619" y="286138"/>
                  </a:cubicBezTo>
                  <a:lnTo>
                    <a:pt x="154127" y="284836"/>
                  </a:lnTo>
                  <a:lnTo>
                    <a:pt x="35175" y="167012"/>
                  </a:lnTo>
                  <a:cubicBezTo>
                    <a:pt x="9480" y="142011"/>
                    <a:pt x="0" y="104700"/>
                    <a:pt x="10644" y="70465"/>
                  </a:cubicBezTo>
                  <a:cubicBezTo>
                    <a:pt x="21288" y="36231"/>
                    <a:pt x="50253" y="10873"/>
                    <a:pt x="85594" y="484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046053" y="21402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共情细节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850505" y="24393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让每个时刻被看见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781050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108871" y="284749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时间感问候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66472" y="30379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里程碑可被回应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884176" y="333184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拒绝空状态的冷漠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715500" y="1333500"/>
            <a:ext cx="1905000" cy="2381250"/>
            <a:chOff x="9715500" y="1333500"/>
            <a:chExt cx="1905000" cy="2381250"/>
          </a:xfrm>
        </p:grpSpPr>
        <p:sp>
          <p:nvSpPr>
            <p:cNvPr id="49" name="Freeform 49"/>
            <p:cNvSpPr/>
            <p:nvPr/>
          </p:nvSpPr>
          <p:spPr>
            <a:xfrm>
              <a:off x="9715500" y="1333500"/>
              <a:ext cx="1905000" cy="2381250"/>
            </a:xfrm>
            <a:custGeom>
              <a:avLst/>
              <a:gdLst/>
              <a:ahLst/>
              <a:cxnLst/>
              <a:rect l="l" t="t" r="r" b="b"/>
              <a:pathLst>
                <a:path w="1905000" h="238125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2266950"/>
                  </a:lnTo>
                  <a:cubicBezTo>
                    <a:pt x="1905000" y="2330076"/>
                    <a:pt x="1853826" y="2381250"/>
                    <a:pt x="17907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715500" y="1333500"/>
              <a:ext cx="1905000" cy="2381250"/>
            </a:xfrm>
            <a:custGeom>
              <a:avLst/>
              <a:gdLst/>
              <a:ahLst/>
              <a:cxnLst/>
              <a:rect l="l" t="t" r="r" b="b"/>
              <a:pathLst>
                <a:path w="1905000" h="238125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2266950"/>
                  </a:lnTo>
                  <a:cubicBezTo>
                    <a:pt x="1905000" y="2330076"/>
                    <a:pt x="1853826" y="2381250"/>
                    <a:pt x="17907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10439400" y="1581150"/>
              <a:ext cx="457200" cy="4572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524849" y="1666875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340316" y="21402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呼吸感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41255" y="24393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视觉的节奏与韵律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0001250" y="27146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086022" y="2847499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渐变遮罩柔化边界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57222" y="30379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滚动条柔和显现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206371" y="333184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45A28">
                      <a:alpha val="70000"/>
                    </a:srgbClr>
                  </a:solidFill>
                  <a:latin typeface="Arial"/>
                  <a:ea typeface="Microsoft YaHei"/>
                  <a:cs typeface="Arial"/>
                </a:rPr>
                <a:t>❌ 拒绝硬线切割</a:t>
              </a:r>
            </a:p>
          </p:txBody>
        </p:sp>
      </p:grpSp>
      <p:sp>
        <p:nvSpPr>
          <p:cNvPr id="60" name="Freeform 60"/>
          <p:cNvSpPr/>
          <p:nvPr/>
        </p:nvSpPr>
        <p:spPr>
          <a:xfrm>
            <a:off x="571500" y="4095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882292" y="4292600"/>
            <a:ext cx="254716" cy="254000"/>
            <a:chOff x="882292" y="4292600"/>
            <a:chExt cx="254716" cy="254000"/>
          </a:xfrm>
        </p:grpSpPr>
        <p:sp>
          <p:nvSpPr>
            <p:cNvPr id="61" name="Freeform 61"/>
            <p:cNvSpPr/>
            <p:nvPr/>
          </p:nvSpPr>
          <p:spPr>
            <a:xfrm>
              <a:off x="882292" y="440690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996950" y="4292600"/>
              <a:ext cx="25400" cy="38458"/>
            </a:xfrm>
            <a:custGeom>
              <a:avLst/>
              <a:gdLst/>
              <a:ahLst/>
              <a:cxnLst/>
              <a:rect l="l" t="t" r="r" b="b"/>
              <a:pathLst>
                <a:path w="25400" h="38458">
                  <a:moveTo>
                    <a:pt x="12700" y="0"/>
                  </a:moveTo>
                  <a:cubicBezTo>
                    <a:pt x="19139" y="1"/>
                    <a:pt x="24558" y="4820"/>
                    <a:pt x="25311" y="11214"/>
                  </a:cubicBezTo>
                  <a:lnTo>
                    <a:pt x="25400" y="12700"/>
                  </a:lnTo>
                  <a:lnTo>
                    <a:pt x="25400" y="25400"/>
                  </a:lnTo>
                  <a:cubicBezTo>
                    <a:pt x="25393" y="32119"/>
                    <a:pt x="20152" y="37670"/>
                    <a:pt x="13444" y="38064"/>
                  </a:cubicBezTo>
                  <a:cubicBezTo>
                    <a:pt x="6736" y="38458"/>
                    <a:pt x="883" y="33558"/>
                    <a:pt x="89" y="26886"/>
                  </a:cubicBezTo>
                  <a:lnTo>
                    <a:pt x="0" y="25400"/>
                  </a:lnTo>
                  <a:lnTo>
                    <a:pt x="0" y="12700"/>
                  </a:lnTo>
                  <a:cubicBezTo>
                    <a:pt x="0" y="5686"/>
                    <a:pt x="5686" y="0"/>
                    <a:pt x="127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98192" y="4406900"/>
              <a:ext cx="38816" cy="25400"/>
            </a:xfrm>
            <a:custGeom>
              <a:avLst/>
              <a:gdLst/>
              <a:ahLst/>
              <a:cxnLst/>
              <a:rect l="l" t="t" r="r" b="b"/>
              <a:pathLst>
                <a:path w="38816" h="25400">
                  <a:moveTo>
                    <a:pt x="25758" y="0"/>
                  </a:moveTo>
                  <a:cubicBezTo>
                    <a:pt x="32477" y="7"/>
                    <a:pt x="38028" y="5248"/>
                    <a:pt x="38422" y="11956"/>
                  </a:cubicBezTo>
                  <a:cubicBezTo>
                    <a:pt x="38816" y="18664"/>
                    <a:pt x="33916" y="24517"/>
                    <a:pt x="27244" y="25311"/>
                  </a:cubicBezTo>
                  <a:lnTo>
                    <a:pt x="25758" y="25400"/>
                  </a:lnTo>
                  <a:lnTo>
                    <a:pt x="13058" y="25400"/>
                  </a:lnTo>
                  <a:cubicBezTo>
                    <a:pt x="6338" y="25393"/>
                    <a:pt x="788" y="20152"/>
                    <a:pt x="394" y="13444"/>
                  </a:cubicBezTo>
                  <a:cubicBezTo>
                    <a:pt x="0" y="6736"/>
                    <a:pt x="4900" y="883"/>
                    <a:pt x="11572" y="89"/>
                  </a:cubicBezTo>
                  <a:lnTo>
                    <a:pt x="13058" y="0"/>
                  </a:lnTo>
                  <a:lnTo>
                    <a:pt x="2575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914433" y="4324365"/>
              <a:ext cx="36765" cy="36974"/>
            </a:xfrm>
            <a:custGeom>
              <a:avLst/>
              <a:gdLst/>
              <a:ahLst/>
              <a:cxnLst/>
              <a:rect l="l" t="t" r="r" b="b"/>
              <a:pathLst>
                <a:path w="36765" h="36974">
                  <a:moveTo>
                    <a:pt x="4958" y="4976"/>
                  </a:moveTo>
                  <a:cubicBezTo>
                    <a:pt x="9482" y="452"/>
                    <a:pt x="16666" y="0"/>
                    <a:pt x="21722" y="3922"/>
                  </a:cubicBezTo>
                  <a:lnTo>
                    <a:pt x="22916" y="4976"/>
                  </a:lnTo>
                  <a:lnTo>
                    <a:pt x="31806" y="13866"/>
                  </a:lnTo>
                  <a:cubicBezTo>
                    <a:pt x="36533" y="18609"/>
                    <a:pt x="36765" y="26208"/>
                    <a:pt x="32336" y="31230"/>
                  </a:cubicBezTo>
                  <a:cubicBezTo>
                    <a:pt x="27907" y="36253"/>
                    <a:pt x="20339" y="36974"/>
                    <a:pt x="15042" y="32878"/>
                  </a:cubicBezTo>
                  <a:lnTo>
                    <a:pt x="13848" y="31824"/>
                  </a:lnTo>
                  <a:lnTo>
                    <a:pt x="4958" y="22934"/>
                  </a:lnTo>
                  <a:cubicBezTo>
                    <a:pt x="0" y="17974"/>
                    <a:pt x="0" y="9935"/>
                    <a:pt x="4958" y="4976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1067911" y="4324382"/>
              <a:ext cx="37148" cy="36766"/>
            </a:xfrm>
            <a:custGeom>
              <a:avLst/>
              <a:gdLst/>
              <a:ahLst/>
              <a:cxnLst/>
              <a:rect l="l" t="t" r="r" b="b"/>
              <a:pathLst>
                <a:path w="37148" h="36766">
                  <a:moveTo>
                    <a:pt x="14040" y="4959"/>
                  </a:moveTo>
                  <a:cubicBezTo>
                    <a:pt x="18783" y="232"/>
                    <a:pt x="26382" y="0"/>
                    <a:pt x="31405" y="4429"/>
                  </a:cubicBezTo>
                  <a:cubicBezTo>
                    <a:pt x="36427" y="8858"/>
                    <a:pt x="37148" y="16426"/>
                    <a:pt x="33052" y="21723"/>
                  </a:cubicBezTo>
                  <a:lnTo>
                    <a:pt x="31998" y="22917"/>
                  </a:lnTo>
                  <a:lnTo>
                    <a:pt x="23108" y="31807"/>
                  </a:lnTo>
                  <a:cubicBezTo>
                    <a:pt x="18365" y="36534"/>
                    <a:pt x="10766" y="36766"/>
                    <a:pt x="5744" y="32337"/>
                  </a:cubicBezTo>
                  <a:cubicBezTo>
                    <a:pt x="721" y="27908"/>
                    <a:pt x="0" y="20340"/>
                    <a:pt x="4096" y="15043"/>
                  </a:cubicBezTo>
                  <a:lnTo>
                    <a:pt x="5150" y="13849"/>
                  </a:lnTo>
                  <a:lnTo>
                    <a:pt x="14040" y="495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971550" y="4495800"/>
              <a:ext cx="76200" cy="50800"/>
            </a:xfrm>
            <a:custGeom>
              <a:avLst/>
              <a:gdLst/>
              <a:ahLst/>
              <a:cxnLst/>
              <a:rect l="l" t="t" r="r" b="b"/>
              <a:pathLst>
                <a:path w="76200" h="50800">
                  <a:moveTo>
                    <a:pt x="63500" y="0"/>
                  </a:moveTo>
                  <a:cubicBezTo>
                    <a:pt x="70514" y="0"/>
                    <a:pt x="76200" y="5686"/>
                    <a:pt x="76200" y="12700"/>
                  </a:cubicBezTo>
                  <a:cubicBezTo>
                    <a:pt x="76200" y="33742"/>
                    <a:pt x="59142" y="50800"/>
                    <a:pt x="38100" y="50800"/>
                  </a:cubicBezTo>
                  <a:cubicBezTo>
                    <a:pt x="17058" y="50800"/>
                    <a:pt x="0" y="33742"/>
                    <a:pt x="0" y="12700"/>
                  </a:cubicBezTo>
                  <a:cubicBezTo>
                    <a:pt x="1" y="6261"/>
                    <a:pt x="4820" y="842"/>
                    <a:pt x="11214" y="89"/>
                  </a:cubicBezTo>
                  <a:lnTo>
                    <a:pt x="12700" y="0"/>
                  </a:lnTo>
                  <a:lnTo>
                    <a:pt x="63500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26988" y="4343400"/>
              <a:ext cx="165323" cy="139700"/>
            </a:xfrm>
            <a:custGeom>
              <a:avLst/>
              <a:gdLst/>
              <a:ahLst/>
              <a:cxnLst/>
              <a:rect l="l" t="t" r="r" b="b"/>
              <a:pathLst>
                <a:path w="165323" h="139700">
                  <a:moveTo>
                    <a:pt x="82662" y="0"/>
                  </a:moveTo>
                  <a:cubicBezTo>
                    <a:pt x="115460" y="0"/>
                    <a:pt x="144579" y="20988"/>
                    <a:pt x="154951" y="52103"/>
                  </a:cubicBezTo>
                  <a:cubicBezTo>
                    <a:pt x="165323" y="83219"/>
                    <a:pt x="154621" y="117481"/>
                    <a:pt x="128382" y="137160"/>
                  </a:cubicBezTo>
                  <a:cubicBezTo>
                    <a:pt x="126631" y="138475"/>
                    <a:pt x="124571" y="139315"/>
                    <a:pt x="122400" y="139598"/>
                  </a:cubicBezTo>
                  <a:lnTo>
                    <a:pt x="120762" y="139700"/>
                  </a:lnTo>
                  <a:lnTo>
                    <a:pt x="44562" y="139700"/>
                  </a:lnTo>
                  <a:cubicBezTo>
                    <a:pt x="41814" y="139700"/>
                    <a:pt x="39140" y="138809"/>
                    <a:pt x="36942" y="137160"/>
                  </a:cubicBezTo>
                  <a:cubicBezTo>
                    <a:pt x="10703" y="117481"/>
                    <a:pt x="0" y="83219"/>
                    <a:pt x="10372" y="52103"/>
                  </a:cubicBezTo>
                  <a:cubicBezTo>
                    <a:pt x="20744" y="20988"/>
                    <a:pt x="49863" y="0"/>
                    <a:pt x="82662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1316355" y="43119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设计原则总纲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319212" y="4593431"/>
            <a:ext cx="76852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所有用户可见文案都遵循「人文关怀」五原则：</a:t>
            </a:r>
            <a:r>
              <a:rPr lang="zh-CN" sz="1125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植物视角 · 撤销优先 · 诚实优先 · 共情细节 · 呼吸感动效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46760" y="52044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应避免的反模式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762000" y="5524500"/>
            <a:ext cx="10477500" cy="476250"/>
            <a:chOff x="762000" y="5524500"/>
            <a:chExt cx="10477500" cy="476250"/>
          </a:xfrm>
        </p:grpSpPr>
        <p:sp>
          <p:nvSpPr>
            <p:cNvPr id="72" name="Freeform 72"/>
            <p:cNvSpPr/>
            <p:nvPr/>
          </p:nvSpPr>
          <p:spPr>
            <a:xfrm>
              <a:off x="762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40118" y="570499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用红色/感叹号否定用户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3429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607118" y="5704999"/>
              <a:ext cx="18973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用户阅读时弹 modal 抢焦点</a:t>
              </a:r>
            </a:p>
          </p:txBody>
        </p:sp>
        <p:sp>
          <p:nvSpPr>
            <p:cNvPr id="76" name="Freeform 76"/>
            <p:cNvSpPr/>
            <p:nvPr/>
          </p:nvSpPr>
          <p:spPr>
            <a:xfrm>
              <a:off x="6096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274118" y="570499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系统写入"用户消息"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8763000" y="5524500"/>
              <a:ext cx="2476500" cy="476250"/>
            </a:xfrm>
            <a:custGeom>
              <a:avLst/>
              <a:gdLst/>
              <a:ahLst/>
              <a:cxnLst/>
              <a:rect l="l" t="t" r="r" b="b"/>
              <a:pathLst>
                <a:path w="2476500" h="47625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400050"/>
                  </a:lnTo>
                  <a:cubicBezTo>
                    <a:pt x="2476500" y="442134"/>
                    <a:pt x="2442384" y="476250"/>
                    <a:pt x="2400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6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941118" y="570499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❌ 无撤销路径的破坏性操作</a:t>
              </a:r>
            </a:p>
          </p:txBody>
        </p:sp>
      </p:grpSp>
      <p:sp>
        <p:nvSpPr>
          <p:cNvPr id="81" name="Ellipse 81"/>
          <p:cNvSpPr/>
          <p:nvPr/>
        </p:nvSpPr>
        <p:spPr>
          <a:xfrm>
            <a:off x="11287125" y="619125"/>
            <a:ext cx="285750" cy="28575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</p:sp>
      <p:sp>
        <p:nvSpPr>
          <p:cNvPr id="82" name="Ellipse 82"/>
          <p:cNvSpPr/>
          <p:nvPr/>
        </p:nvSpPr>
        <p:spPr>
          <a:xfrm>
            <a:off x="361950" y="6362700"/>
            <a:ext cx="228600" cy="228600"/>
          </a:xfrm>
          <a:prstGeom prst="ellipse">
            <a:avLst/>
          </a:prstGeom>
          <a:solidFill>
            <a:srgbClr val="E8A849">
              <a:alpha val="8000"/>
            </a:srgbClr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03 / 18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系统全景架构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97821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硬件层 → 服务端层 → 客户端层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571500" y="1476375"/>
            <a:ext cx="3238500" cy="4572000"/>
            <a:chOff x="571500" y="1476375"/>
            <a:chExt cx="3238500" cy="4572000"/>
          </a:xfrm>
        </p:grpSpPr>
        <p:sp>
          <p:nvSpPr>
            <p:cNvPr id="6" name="Freeform 6"/>
            <p:cNvSpPr/>
            <p:nvPr/>
          </p:nvSpPr>
          <p:spPr>
            <a:xfrm>
              <a:off x="5715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476375"/>
              <a:ext cx="3238500" cy="476250"/>
            </a:xfrm>
            <a:custGeom>
              <a:avLst/>
              <a:gdLst/>
              <a:ahLst/>
              <a:cxnLst/>
              <a:rect l="l" t="t" r="r" b="b"/>
              <a:pathLst>
                <a:path w="3238500" h="47625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323850"/>
                  </a:lnTo>
                  <a:cubicBezTo>
                    <a:pt x="3238500" y="408018"/>
                    <a:pt x="3170268" y="476250"/>
                    <a:pt x="308610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809750"/>
              <a:ext cx="3238500" cy="142875"/>
            </a:xfrm>
            <a:prstGeom prst="rect">
              <a:avLst/>
            </a:prstGeom>
            <a:solidFill>
              <a:srgbClr val="4A7C2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87400" y="1590675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63500" y="228600"/>
                  </a:moveTo>
                  <a:cubicBezTo>
                    <a:pt x="56486" y="228600"/>
                    <a:pt x="50800" y="222914"/>
                    <a:pt x="50800" y="215900"/>
                  </a:cubicBezTo>
                  <a:cubicBezTo>
                    <a:pt x="50800" y="208886"/>
                    <a:pt x="56486" y="203200"/>
                    <a:pt x="63500" y="203200"/>
                  </a:cubicBezTo>
                  <a:lnTo>
                    <a:pt x="76200" y="203200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152400"/>
                  </a:lnTo>
                  <a:cubicBezTo>
                    <a:pt x="254000" y="166428"/>
                    <a:pt x="242628" y="177800"/>
                    <a:pt x="228600" y="177800"/>
                  </a:cubicBezTo>
                  <a:lnTo>
                    <a:pt x="177800" y="177800"/>
                  </a:lnTo>
                  <a:lnTo>
                    <a:pt x="177800" y="203200"/>
                  </a:lnTo>
                  <a:lnTo>
                    <a:pt x="190500" y="203200"/>
                  </a:lnTo>
                  <a:cubicBezTo>
                    <a:pt x="197514" y="203200"/>
                    <a:pt x="203200" y="208886"/>
                    <a:pt x="203200" y="215900"/>
                  </a:cubicBezTo>
                  <a:cubicBezTo>
                    <a:pt x="203200" y="222914"/>
                    <a:pt x="197514" y="228600"/>
                    <a:pt x="190500" y="228600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200"/>
                  </a:lnTo>
                  <a:lnTo>
                    <a:pt x="152400" y="203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2045" y="1603058"/>
              <a:ext cx="80100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硬件层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857250" y="2143125"/>
              <a:ext cx="2667000" cy="419100"/>
            </a:xfrm>
            <a:custGeom>
              <a:avLst/>
              <a:gdLst/>
              <a:ahLst/>
              <a:cxnLst/>
              <a:rect l="l" t="t" r="r" b="b"/>
              <a:pathLst>
                <a:path w="2667000" h="419100">
                  <a:moveTo>
                    <a:pt x="76200" y="0"/>
                  </a:moveTo>
                  <a:lnTo>
                    <a:pt x="2590800" y="0"/>
                  </a:lnTo>
                  <a:cubicBezTo>
                    <a:pt x="2632884" y="0"/>
                    <a:pt x="2667000" y="34116"/>
                    <a:pt x="2667000" y="76200"/>
                  </a:cubicBezTo>
                  <a:lnTo>
                    <a:pt x="2667000" y="342900"/>
                  </a:lnTo>
                  <a:cubicBezTo>
                    <a:pt x="2667000" y="384984"/>
                    <a:pt x="2632884" y="419100"/>
                    <a:pt x="2590800" y="419100"/>
                  </a:cubicBezTo>
                  <a:lnTo>
                    <a:pt x="76200" y="419100"/>
                  </a:lnTo>
                  <a:cubicBezTo>
                    <a:pt x="34116" y="419100"/>
                    <a:pt x="0" y="384984"/>
                    <a:pt x="0" y="3429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34817" y="2280285"/>
              <a:ext cx="151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核心控制器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74865" y="2696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传感器模块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857250" y="2952750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33236" y="307609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SHT40 温湿度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190750" y="2952750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416576" y="3076099"/>
              <a:ext cx="7865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BH1750 光照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57250" y="3381375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0356" y="3504724"/>
              <a:ext cx="8720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土壤湿度 ADC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2190750" y="3381375"/>
              <a:ext cx="1238250" cy="342900"/>
            </a:xfrm>
            <a:custGeom>
              <a:avLst/>
              <a:gdLst/>
              <a:ahLst/>
              <a:cxnLst/>
              <a:rect l="l" t="t" r="r" b="b"/>
              <a:pathLst>
                <a:path w="1238250" h="34290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285750"/>
                  </a:lnTo>
                  <a:cubicBezTo>
                    <a:pt x="1238250" y="317313"/>
                    <a:pt x="1212663" y="342900"/>
                    <a:pt x="118110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91656" y="3504724"/>
              <a:ext cx="836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B2B2B"/>
                  </a:solidFill>
                  <a:latin typeface="Arial"/>
                  <a:ea typeface="Microsoft YaHei"/>
                  <a:cs typeface="Arial"/>
                </a:rPr>
                <a:t>OLED 显示屏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55375" y="388715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857250" y="4143375"/>
              <a:ext cx="809625" cy="304800"/>
            </a:xfrm>
            <a:custGeom>
              <a:avLst/>
              <a:gdLst/>
              <a:ahLst/>
              <a:cxnLst/>
              <a:rect l="l" t="t" r="r" b="b"/>
              <a:pathLst>
                <a:path w="809625" h="304800">
                  <a:moveTo>
                    <a:pt x="57150" y="0"/>
                  </a:moveTo>
                  <a:lnTo>
                    <a:pt x="752475" y="0"/>
                  </a:lnTo>
                  <a:cubicBezTo>
                    <a:pt x="784038" y="0"/>
                    <a:pt x="809625" y="25587"/>
                    <a:pt x="809625" y="57150"/>
                  </a:cubicBezTo>
                  <a:lnTo>
                    <a:pt x="809625" y="247650"/>
                  </a:lnTo>
                  <a:cubicBezTo>
                    <a:pt x="809625" y="279213"/>
                    <a:pt x="784038" y="304800"/>
                    <a:pt x="752475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18142" y="4255770"/>
              <a:ext cx="4783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SoftAP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762125" y="4143375"/>
              <a:ext cx="809625" cy="304800"/>
            </a:xfrm>
            <a:custGeom>
              <a:avLst/>
              <a:gdLst/>
              <a:ahLst/>
              <a:cxnLst/>
              <a:rect l="l" t="t" r="r" b="b"/>
              <a:pathLst>
                <a:path w="809625" h="304800">
                  <a:moveTo>
                    <a:pt x="57150" y="0"/>
                  </a:moveTo>
                  <a:lnTo>
                    <a:pt x="752475" y="0"/>
                  </a:lnTo>
                  <a:cubicBezTo>
                    <a:pt x="784038" y="0"/>
                    <a:pt x="809625" y="25587"/>
                    <a:pt x="809625" y="57150"/>
                  </a:cubicBezTo>
                  <a:lnTo>
                    <a:pt x="809625" y="247650"/>
                  </a:lnTo>
                  <a:cubicBezTo>
                    <a:pt x="809625" y="279213"/>
                    <a:pt x="784038" y="304800"/>
                    <a:pt x="752475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71323" y="4255770"/>
              <a:ext cx="38170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MQTT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2667000" y="4143375"/>
              <a:ext cx="809625" cy="304800"/>
            </a:xfrm>
            <a:custGeom>
              <a:avLst/>
              <a:gdLst/>
              <a:ahLst/>
              <a:cxnLst/>
              <a:rect l="l" t="t" r="r" b="b"/>
              <a:pathLst>
                <a:path w="809625" h="304800">
                  <a:moveTo>
                    <a:pt x="57150" y="0"/>
                  </a:moveTo>
                  <a:lnTo>
                    <a:pt x="752475" y="0"/>
                  </a:lnTo>
                  <a:cubicBezTo>
                    <a:pt x="784038" y="0"/>
                    <a:pt x="809625" y="25587"/>
                    <a:pt x="809625" y="57150"/>
                  </a:cubicBezTo>
                  <a:lnTo>
                    <a:pt x="809625" y="247650"/>
                  </a:lnTo>
                  <a:cubicBezTo>
                    <a:pt x="809625" y="279213"/>
                    <a:pt x="784038" y="304800"/>
                    <a:pt x="752475" y="304800"/>
                  </a:cubicBezTo>
                  <a:lnTo>
                    <a:pt x="57150" y="304800"/>
                  </a:lnTo>
                  <a:cubicBezTo>
                    <a:pt x="25587" y="304800"/>
                    <a:pt x="0" y="279213"/>
                    <a:pt x="0" y="2476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927954" y="4255770"/>
              <a:ext cx="2781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OTA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93570" y="46572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上报数据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62755" y="4882991"/>
              <a:ext cx="125599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soilRaw · soilPercent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7571" y="5054441"/>
              <a:ext cx="13463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airTempC · airHumidity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45315" y="52258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lightLux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905250" y="3511391"/>
            <a:ext cx="571500" cy="472440"/>
            <a:chOff x="3905250" y="3511391"/>
            <a:chExt cx="571500" cy="472440"/>
          </a:xfrm>
        </p:grpSpPr>
        <p:sp>
          <p:nvSpPr>
            <p:cNvPr id="35" name="Line 35"/>
            <p:cNvSpPr/>
            <p:nvPr/>
          </p:nvSpPr>
          <p:spPr>
            <a:xfrm>
              <a:off x="3905250" y="3714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4A7C28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4381500" y="3657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023884" y="3511391"/>
              <a:ext cx="3342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MQTT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47982" y="3816191"/>
              <a:ext cx="2860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HTTP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4572000" y="1476375"/>
            <a:ext cx="3048000" cy="4572000"/>
            <a:chOff x="4572000" y="1476375"/>
            <a:chExt cx="3048000" cy="4572000"/>
          </a:xfrm>
        </p:grpSpPr>
        <p:sp>
          <p:nvSpPr>
            <p:cNvPr id="40" name="Freeform 40"/>
            <p:cNvSpPr/>
            <p:nvPr/>
          </p:nvSpPr>
          <p:spPr>
            <a:xfrm>
              <a:off x="4572000" y="1476375"/>
              <a:ext cx="3048000" cy="4572000"/>
            </a:xfrm>
            <a:custGeom>
              <a:avLst/>
              <a:gdLst/>
              <a:ahLst/>
              <a:cxnLst/>
              <a:rect l="l" t="t" r="r" b="b"/>
              <a:pathLst>
                <a:path w="3048000" h="4572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4419600"/>
                  </a:lnTo>
                  <a:cubicBezTo>
                    <a:pt x="3048000" y="4503768"/>
                    <a:pt x="2979768" y="4572000"/>
                    <a:pt x="28956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4572000" y="1476375"/>
              <a:ext cx="3048000" cy="4572000"/>
            </a:xfrm>
            <a:custGeom>
              <a:avLst/>
              <a:gdLst/>
              <a:ahLst/>
              <a:cxnLst/>
              <a:rect l="l" t="t" r="r" b="b"/>
              <a:pathLst>
                <a:path w="3048000" h="457200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4419600"/>
                  </a:lnTo>
                  <a:cubicBezTo>
                    <a:pt x="3048000" y="4503768"/>
                    <a:pt x="2979768" y="4572000"/>
                    <a:pt x="28956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2D5016">
                  <a:alpha val="40000"/>
                </a:srgbClr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4572000" y="1476375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152400" y="0"/>
                  </a:moveTo>
                  <a:lnTo>
                    <a:pt x="2895600" y="0"/>
                  </a:lnTo>
                  <a:cubicBezTo>
                    <a:pt x="2979768" y="0"/>
                    <a:pt x="3048000" y="68232"/>
                    <a:pt x="3048000" y="152400"/>
                  </a:cubicBezTo>
                  <a:lnTo>
                    <a:pt x="3048000" y="323850"/>
                  </a:lnTo>
                  <a:cubicBezTo>
                    <a:pt x="3048000" y="408018"/>
                    <a:pt x="2979768" y="476250"/>
                    <a:pt x="289560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572000" y="1809750"/>
              <a:ext cx="3048000" cy="142875"/>
            </a:xfrm>
            <a:prstGeom prst="rect">
              <a:avLst/>
            </a:prstGeom>
            <a:solidFill>
              <a:srgbClr val="2D5016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800599" y="1577975"/>
              <a:ext cx="228601" cy="254000"/>
              <a:chOff x="4800599" y="1577975"/>
              <a:chExt cx="228601" cy="2540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800600" y="1752359"/>
                <a:ext cx="228600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8" y="19164"/>
                      <a:pt x="228600" y="216"/>
                    </a:cubicBezTo>
                    <a:lnTo>
                      <a:pt x="228600" y="28816"/>
                    </a:lnTo>
                    <a:cubicBezTo>
                      <a:pt x="228600" y="59614"/>
                      <a:pt x="179133" y="78803"/>
                      <a:pt x="118199" y="79591"/>
                    </a:cubicBezTo>
                    <a:lnTo>
                      <a:pt x="114300" y="79616"/>
                    </a:lnTo>
                    <a:cubicBezTo>
                      <a:pt x="51587" y="79616"/>
                      <a:pt x="0" y="60274"/>
                      <a:pt x="0" y="2881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800600" y="1676159"/>
                <a:ext cx="228600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8" y="19164"/>
                      <a:pt x="228600" y="216"/>
                    </a:cubicBezTo>
                    <a:lnTo>
                      <a:pt x="228600" y="28816"/>
                    </a:lnTo>
                    <a:cubicBezTo>
                      <a:pt x="228600" y="60274"/>
                      <a:pt x="177013" y="79616"/>
                      <a:pt x="114300" y="79616"/>
                    </a:cubicBezTo>
                    <a:cubicBezTo>
                      <a:pt x="53365" y="79616"/>
                      <a:pt x="2921" y="61354"/>
                      <a:pt x="267" y="31420"/>
                    </a:cubicBezTo>
                    <a:lnTo>
                      <a:pt x="63" y="30137"/>
                    </a:lnTo>
                    <a:lnTo>
                      <a:pt x="0" y="2881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800599" y="1577975"/>
                <a:ext cx="228601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1" h="101600">
                    <a:moveTo>
                      <a:pt x="114301" y="0"/>
                    </a:moveTo>
                    <a:cubicBezTo>
                      <a:pt x="127522" y="0"/>
                      <a:pt x="140260" y="864"/>
                      <a:pt x="152109" y="2515"/>
                    </a:cubicBezTo>
                    <a:lnTo>
                      <a:pt x="158065" y="3416"/>
                    </a:lnTo>
                    <a:cubicBezTo>
                      <a:pt x="165177" y="4602"/>
                      <a:pt x="171891" y="6075"/>
                      <a:pt x="178207" y="7836"/>
                    </a:cubicBezTo>
                    <a:lnTo>
                      <a:pt x="183795" y="9500"/>
                    </a:lnTo>
                    <a:lnTo>
                      <a:pt x="184748" y="9804"/>
                    </a:lnTo>
                    <a:cubicBezTo>
                      <a:pt x="188204" y="10941"/>
                      <a:pt x="191614" y="12212"/>
                      <a:pt x="194971" y="13614"/>
                    </a:cubicBezTo>
                    <a:lnTo>
                      <a:pt x="197499" y="14707"/>
                    </a:lnTo>
                    <a:cubicBezTo>
                      <a:pt x="202028" y="16756"/>
                      <a:pt x="206122" y="18999"/>
                      <a:pt x="209780" y="21438"/>
                    </a:cubicBezTo>
                    <a:cubicBezTo>
                      <a:pt x="211177" y="22369"/>
                      <a:pt x="212502" y="23321"/>
                      <a:pt x="213755" y="24295"/>
                    </a:cubicBezTo>
                    <a:cubicBezTo>
                      <a:pt x="216929" y="26758"/>
                      <a:pt x="219783" y="29608"/>
                      <a:pt x="222251" y="32779"/>
                    </a:cubicBezTo>
                    <a:lnTo>
                      <a:pt x="223407" y="34404"/>
                    </a:lnTo>
                    <a:cubicBezTo>
                      <a:pt x="223999" y="35293"/>
                      <a:pt x="224545" y="36187"/>
                      <a:pt x="225045" y="37084"/>
                    </a:cubicBezTo>
                    <a:lnTo>
                      <a:pt x="225934" y="38849"/>
                    </a:lnTo>
                    <a:cubicBezTo>
                      <a:pt x="227314" y="41813"/>
                      <a:pt x="228161" y="44903"/>
                      <a:pt x="228474" y="48120"/>
                    </a:cubicBezTo>
                    <a:lnTo>
                      <a:pt x="228601" y="50800"/>
                    </a:lnTo>
                    <a:cubicBezTo>
                      <a:pt x="228601" y="82258"/>
                      <a:pt x="177014" y="101600"/>
                      <a:pt x="114301" y="101600"/>
                    </a:cubicBezTo>
                    <a:cubicBezTo>
                      <a:pt x="53366" y="101600"/>
                      <a:pt x="2922" y="83337"/>
                      <a:pt x="268" y="53404"/>
                    </a:cubicBezTo>
                    <a:cubicBezTo>
                      <a:pt x="89" y="52547"/>
                      <a:pt x="0" y="51675"/>
                      <a:pt x="1" y="50800"/>
                    </a:cubicBezTo>
                    <a:lnTo>
                      <a:pt x="64" y="49479"/>
                    </a:lnTo>
                    <a:lnTo>
                      <a:pt x="268" y="48209"/>
                    </a:lnTo>
                    <a:cubicBezTo>
                      <a:pt x="2871" y="18923"/>
                      <a:pt x="51195" y="800"/>
                      <a:pt x="110339" y="2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5122545" y="16030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服务端层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857750" y="2143125"/>
              <a:ext cx="2476500" cy="342900"/>
            </a:xfrm>
            <a:custGeom>
              <a:avLst/>
              <a:gdLst/>
              <a:ahLst/>
              <a:cxnLst/>
              <a:rect l="l" t="t" r="r" b="b"/>
              <a:pathLst>
                <a:path w="2476500" h="34290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85750"/>
                  </a:lnTo>
                  <a:cubicBezTo>
                    <a:pt x="2476500" y="317313"/>
                    <a:pt x="2450913" y="342900"/>
                    <a:pt x="2419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6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933748" y="2266474"/>
              <a:ext cx="23245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Node.js 24 + TypeScript + Fastify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60625" y="2648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核心模块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4857750" y="290512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154930" y="3027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设备管理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6096000" y="290512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93180" y="30270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植物档案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4857750" y="331470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154930" y="343662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聊天引擎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6096000" y="331470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93180" y="343662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记忆系统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4857750" y="372427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154930" y="3846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主动发言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6096000" y="3724275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93180" y="3846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实时同步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4857750" y="413385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154930" y="42557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天气服务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6096000" y="4133850"/>
              <a:ext cx="1143000" cy="323850"/>
            </a:xfrm>
            <a:custGeom>
              <a:avLst/>
              <a:gdLst/>
              <a:ahLst/>
              <a:cxnLst/>
              <a:rect l="l" t="t" r="r" b="b"/>
              <a:pathLst>
                <a:path w="1143000" h="3238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66700"/>
                  </a:lnTo>
                  <a:cubicBezTo>
                    <a:pt x="1143000" y="298263"/>
                    <a:pt x="1117413" y="323850"/>
                    <a:pt x="1085850" y="323850"/>
                  </a:cubicBezTo>
                  <a:lnTo>
                    <a:pt x="57150" y="323850"/>
                  </a:lnTo>
                  <a:cubicBezTo>
                    <a:pt x="25587" y="323850"/>
                    <a:pt x="0" y="298263"/>
                    <a:pt x="0" y="2667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393180" y="42557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访问鉴权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870019" y="4657249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存储层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4857750" y="4905375"/>
              <a:ext cx="2476500" cy="285750"/>
            </a:xfrm>
            <a:custGeom>
              <a:avLst/>
              <a:gdLst/>
              <a:ahLst/>
              <a:cxnLst/>
              <a:rect l="l" t="t" r="r" b="b"/>
              <a:pathLst>
                <a:path w="2476500" h="2857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28600"/>
                  </a:lnTo>
                  <a:cubicBezTo>
                    <a:pt x="2476500" y="260163"/>
                    <a:pt x="2450913" y="285750"/>
                    <a:pt x="2419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4000"/>
              </a:srgbClr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246608" y="5008245"/>
              <a:ext cx="16987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SQLite + sqlite-vec + FTS5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870019" y="5371624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校验层</a:t>
              </a:r>
            </a:p>
          </p:txBody>
        </p:sp>
        <p:sp>
          <p:nvSpPr>
            <p:cNvPr id="72" name="Freeform 72"/>
            <p:cNvSpPr/>
            <p:nvPr/>
          </p:nvSpPr>
          <p:spPr>
            <a:xfrm>
              <a:off x="4857750" y="5619750"/>
              <a:ext cx="2476500" cy="285750"/>
            </a:xfrm>
            <a:custGeom>
              <a:avLst/>
              <a:gdLst/>
              <a:ahLst/>
              <a:cxnLst/>
              <a:rect l="l" t="t" r="r" b="b"/>
              <a:pathLst>
                <a:path w="2476500" h="285750">
                  <a:moveTo>
                    <a:pt x="57150" y="0"/>
                  </a:moveTo>
                  <a:lnTo>
                    <a:pt x="2419350" y="0"/>
                  </a:lnTo>
                  <a:cubicBezTo>
                    <a:pt x="2450913" y="0"/>
                    <a:pt x="2476500" y="25587"/>
                    <a:pt x="2476500" y="57150"/>
                  </a:cubicBezTo>
                  <a:lnTo>
                    <a:pt x="2476500" y="228600"/>
                  </a:lnTo>
                  <a:cubicBezTo>
                    <a:pt x="2476500" y="260163"/>
                    <a:pt x="2450913" y="285750"/>
                    <a:pt x="2419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4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394484" y="5722620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Zod Schema Validation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715250" y="3130391"/>
            <a:ext cx="571500" cy="472440"/>
            <a:chOff x="7715250" y="3130391"/>
            <a:chExt cx="571500" cy="472440"/>
          </a:xfrm>
        </p:grpSpPr>
        <p:sp>
          <p:nvSpPr>
            <p:cNvPr id="75" name="Line 75"/>
            <p:cNvSpPr/>
            <p:nvPr/>
          </p:nvSpPr>
          <p:spPr>
            <a:xfrm>
              <a:off x="7715250" y="3333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2D5016"/>
              </a:solidFill>
            </a:ln>
          </p:spPr>
        </p:sp>
        <p:sp>
          <p:nvSpPr>
            <p:cNvPr id="76" name="Polygon 76"/>
            <p:cNvSpPr/>
            <p:nvPr/>
          </p:nvSpPr>
          <p:spPr>
            <a:xfrm>
              <a:off x="8191500" y="32766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891117" y="3130391"/>
              <a:ext cx="2197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SSE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755565" y="3435191"/>
              <a:ext cx="4908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REST API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8382000" y="1476375"/>
            <a:ext cx="3238500" cy="4572000"/>
            <a:chOff x="8382000" y="1476375"/>
            <a:chExt cx="3238500" cy="4572000"/>
          </a:xfrm>
        </p:grpSpPr>
        <p:sp>
          <p:nvSpPr>
            <p:cNvPr id="80" name="Freeform 80"/>
            <p:cNvSpPr/>
            <p:nvPr/>
          </p:nvSpPr>
          <p:spPr>
            <a:xfrm>
              <a:off x="83820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8382000" y="1476375"/>
              <a:ext cx="3238500" cy="4572000"/>
            </a:xfrm>
            <a:custGeom>
              <a:avLst/>
              <a:gdLst/>
              <a:ahLst/>
              <a:cxnLst/>
              <a:rect l="l" t="t" r="r" b="b"/>
              <a:pathLst>
                <a:path w="3238500" h="457200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4419600"/>
                  </a:lnTo>
                  <a:cubicBezTo>
                    <a:pt x="3238500" y="4503768"/>
                    <a:pt x="3170268" y="4572000"/>
                    <a:pt x="3086100" y="4572000"/>
                  </a:cubicBezTo>
                  <a:lnTo>
                    <a:pt x="152400" y="4572000"/>
                  </a:lnTo>
                  <a:cubicBezTo>
                    <a:pt x="68232" y="4572000"/>
                    <a:pt x="0" y="4503768"/>
                    <a:pt x="0" y="4419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noFill/>
            <a:ln w="19050">
              <a:solidFill>
                <a:srgbClr val="E8A849">
                  <a:alpha val="40000"/>
                </a:srgbClr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382000" y="1476375"/>
              <a:ext cx="3238500" cy="476250"/>
            </a:xfrm>
            <a:custGeom>
              <a:avLst/>
              <a:gdLst/>
              <a:ahLst/>
              <a:cxnLst/>
              <a:rect l="l" t="t" r="r" b="b"/>
              <a:pathLst>
                <a:path w="3238500" h="476250">
                  <a:moveTo>
                    <a:pt x="152400" y="0"/>
                  </a:moveTo>
                  <a:lnTo>
                    <a:pt x="3086100" y="0"/>
                  </a:lnTo>
                  <a:cubicBezTo>
                    <a:pt x="3170268" y="0"/>
                    <a:pt x="3238500" y="68232"/>
                    <a:pt x="3238500" y="152400"/>
                  </a:cubicBezTo>
                  <a:lnTo>
                    <a:pt x="3238500" y="323850"/>
                  </a:lnTo>
                  <a:cubicBezTo>
                    <a:pt x="3238500" y="408018"/>
                    <a:pt x="3170268" y="476250"/>
                    <a:pt x="3086100" y="476250"/>
                  </a:cubicBezTo>
                  <a:lnTo>
                    <a:pt x="152400" y="476250"/>
                  </a:lnTo>
                  <a:cubicBezTo>
                    <a:pt x="68232" y="476250"/>
                    <a:pt x="0" y="408018"/>
                    <a:pt x="0" y="32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382000" y="1809750"/>
              <a:ext cx="3238500" cy="142875"/>
            </a:xfrm>
            <a:prstGeom prst="rect">
              <a:avLst/>
            </a:prstGeom>
            <a:solidFill>
              <a:srgbClr val="E8A849"/>
            </a:solidFill>
            <a:ln>
              <a:noFill/>
            </a:ln>
          </p:spPr>
        </p:sp>
        <p:sp>
          <p:nvSpPr>
            <p:cNvPr id="84" name="Freeform 84"/>
            <p:cNvSpPr/>
            <p:nvPr/>
          </p:nvSpPr>
          <p:spPr>
            <a:xfrm>
              <a:off x="8593620" y="1576738"/>
              <a:ext cx="262560" cy="255237"/>
            </a:xfrm>
            <a:custGeom>
              <a:avLst/>
              <a:gdLst/>
              <a:ahLst/>
              <a:cxnLst/>
              <a:rect l="l" t="t" r="r" b="b"/>
              <a:pathLst>
                <a:path w="262560" h="255237">
                  <a:moveTo>
                    <a:pt x="140259" y="4958"/>
                  </a:moveTo>
                  <a:lnTo>
                    <a:pt x="254559" y="119258"/>
                  </a:lnTo>
                  <a:cubicBezTo>
                    <a:pt x="262560" y="127259"/>
                    <a:pt x="256896" y="140937"/>
                    <a:pt x="245580" y="140937"/>
                  </a:cubicBezTo>
                  <a:lnTo>
                    <a:pt x="232880" y="140937"/>
                  </a:lnTo>
                  <a:lnTo>
                    <a:pt x="232880" y="217137"/>
                  </a:lnTo>
                  <a:cubicBezTo>
                    <a:pt x="232880" y="238179"/>
                    <a:pt x="215822" y="255237"/>
                    <a:pt x="194780" y="255237"/>
                  </a:cubicBezTo>
                  <a:lnTo>
                    <a:pt x="67780" y="255237"/>
                  </a:lnTo>
                  <a:cubicBezTo>
                    <a:pt x="46738" y="255237"/>
                    <a:pt x="29680" y="238179"/>
                    <a:pt x="29680" y="217137"/>
                  </a:cubicBezTo>
                  <a:lnTo>
                    <a:pt x="29680" y="140937"/>
                  </a:lnTo>
                  <a:lnTo>
                    <a:pt x="16980" y="140937"/>
                  </a:lnTo>
                  <a:cubicBezTo>
                    <a:pt x="5677" y="140937"/>
                    <a:pt x="0" y="127259"/>
                    <a:pt x="8001" y="119258"/>
                  </a:cubicBezTo>
                  <a:lnTo>
                    <a:pt x="122301" y="4958"/>
                  </a:lnTo>
                  <a:cubicBezTo>
                    <a:pt x="127260" y="0"/>
                    <a:pt x="135299" y="0"/>
                    <a:pt x="140259" y="4958"/>
                  </a:cubicBezTo>
                  <a:moveTo>
                    <a:pt x="150330" y="115537"/>
                  </a:moveTo>
                  <a:lnTo>
                    <a:pt x="112230" y="115537"/>
                  </a:lnTo>
                  <a:cubicBezTo>
                    <a:pt x="101709" y="115537"/>
                    <a:pt x="93180" y="124066"/>
                    <a:pt x="93180" y="134587"/>
                  </a:cubicBezTo>
                  <a:lnTo>
                    <a:pt x="93180" y="172687"/>
                  </a:lnTo>
                  <a:cubicBezTo>
                    <a:pt x="93180" y="183208"/>
                    <a:pt x="101709" y="191737"/>
                    <a:pt x="112230" y="191737"/>
                  </a:cubicBezTo>
                  <a:lnTo>
                    <a:pt x="150330" y="191737"/>
                  </a:lnTo>
                  <a:cubicBezTo>
                    <a:pt x="160851" y="191737"/>
                    <a:pt x="169380" y="183208"/>
                    <a:pt x="169380" y="172687"/>
                  </a:cubicBezTo>
                  <a:lnTo>
                    <a:pt x="169380" y="134587"/>
                  </a:lnTo>
                  <a:cubicBezTo>
                    <a:pt x="169380" y="124066"/>
                    <a:pt x="160851" y="115537"/>
                    <a:pt x="150330" y="1155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932545" y="160305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客户端层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8667750" y="2143125"/>
              <a:ext cx="2667000" cy="342900"/>
            </a:xfrm>
            <a:custGeom>
              <a:avLst/>
              <a:gdLst/>
              <a:ahLst/>
              <a:cxnLst/>
              <a:rect l="l" t="t" r="r" b="b"/>
              <a:pathLst>
                <a:path w="2667000" h="342900">
                  <a:moveTo>
                    <a:pt x="57150" y="0"/>
                  </a:moveTo>
                  <a:lnTo>
                    <a:pt x="2609850" y="0"/>
                  </a:lnTo>
                  <a:cubicBezTo>
                    <a:pt x="2641413" y="0"/>
                    <a:pt x="2667000" y="25587"/>
                    <a:pt x="2667000" y="57150"/>
                  </a:cubicBezTo>
                  <a:lnTo>
                    <a:pt x="2667000" y="285750"/>
                  </a:lnTo>
                  <a:cubicBezTo>
                    <a:pt x="2667000" y="317313"/>
                    <a:pt x="2641413" y="342900"/>
                    <a:pt x="2609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070396" y="2266474"/>
              <a:ext cx="18617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6914"/>
                  </a:solidFill>
                  <a:latin typeface="Consolas"/>
                  <a:ea typeface="Microsoft YaHei"/>
                  <a:cs typeface="Consolas"/>
                </a:rPr>
                <a:t>Tauri v2 + React 18 + Vite 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665875" y="26489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页面设计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8667750" y="29051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90" name="Freeform 90"/>
            <p:cNvSpPr/>
            <p:nvPr/>
          </p:nvSpPr>
          <p:spPr>
            <a:xfrm>
              <a:off x="8826465" y="2989922"/>
              <a:ext cx="196920" cy="191428"/>
            </a:xfrm>
            <a:custGeom>
              <a:avLst/>
              <a:gdLst/>
              <a:ahLst/>
              <a:cxnLst/>
              <a:rect l="l" t="t" r="r" b="b"/>
              <a:pathLst>
                <a:path w="196920" h="191428">
                  <a:moveTo>
                    <a:pt x="105194" y="3718"/>
                  </a:moveTo>
                  <a:lnTo>
                    <a:pt x="190919" y="89443"/>
                  </a:lnTo>
                  <a:cubicBezTo>
                    <a:pt x="196920" y="95444"/>
                    <a:pt x="192672" y="105703"/>
                    <a:pt x="184185" y="105703"/>
                  </a:cubicBezTo>
                  <a:lnTo>
                    <a:pt x="174660" y="105703"/>
                  </a:lnTo>
                  <a:lnTo>
                    <a:pt x="174660" y="162853"/>
                  </a:lnTo>
                  <a:cubicBezTo>
                    <a:pt x="174660" y="178634"/>
                    <a:pt x="161866" y="191428"/>
                    <a:pt x="146085" y="191428"/>
                  </a:cubicBezTo>
                  <a:lnTo>
                    <a:pt x="50835" y="191428"/>
                  </a:lnTo>
                  <a:cubicBezTo>
                    <a:pt x="35053" y="191428"/>
                    <a:pt x="22260" y="178634"/>
                    <a:pt x="22260" y="162853"/>
                  </a:cubicBezTo>
                  <a:lnTo>
                    <a:pt x="22260" y="105703"/>
                  </a:lnTo>
                  <a:lnTo>
                    <a:pt x="12735" y="105703"/>
                  </a:lnTo>
                  <a:cubicBezTo>
                    <a:pt x="4258" y="105703"/>
                    <a:pt x="0" y="95444"/>
                    <a:pt x="6001" y="89443"/>
                  </a:cubicBezTo>
                  <a:lnTo>
                    <a:pt x="91726" y="3718"/>
                  </a:lnTo>
                  <a:cubicBezTo>
                    <a:pt x="95445" y="0"/>
                    <a:pt x="101475" y="0"/>
                    <a:pt x="105194" y="3718"/>
                  </a:cubicBezTo>
                  <a:moveTo>
                    <a:pt x="112747" y="86653"/>
                  </a:moveTo>
                  <a:lnTo>
                    <a:pt x="84172" y="86653"/>
                  </a:lnTo>
                  <a:cubicBezTo>
                    <a:pt x="76282" y="86653"/>
                    <a:pt x="69885" y="93049"/>
                    <a:pt x="69885" y="100940"/>
                  </a:cubicBezTo>
                  <a:lnTo>
                    <a:pt x="69885" y="129515"/>
                  </a:lnTo>
                  <a:cubicBezTo>
                    <a:pt x="69885" y="137406"/>
                    <a:pt x="76282" y="143803"/>
                    <a:pt x="84172" y="143803"/>
                  </a:cubicBezTo>
                  <a:lnTo>
                    <a:pt x="112747" y="143803"/>
                  </a:lnTo>
                  <a:cubicBezTo>
                    <a:pt x="120638" y="143803"/>
                    <a:pt x="127035" y="137406"/>
                    <a:pt x="127035" y="129515"/>
                  </a:cubicBezTo>
                  <a:lnTo>
                    <a:pt x="127035" y="100940"/>
                  </a:lnTo>
                  <a:cubicBezTo>
                    <a:pt x="127035" y="93049"/>
                    <a:pt x="120638" y="86653"/>
                    <a:pt x="112747" y="86653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8901172" y="3095149"/>
              <a:ext cx="10571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温室 Dashboard</a:t>
              </a:r>
            </a:p>
          </p:txBody>
        </p:sp>
        <p:sp>
          <p:nvSpPr>
            <p:cNvPr id="92" name="Freeform 92"/>
            <p:cNvSpPr/>
            <p:nvPr/>
          </p:nvSpPr>
          <p:spPr>
            <a:xfrm>
              <a:off x="10001250" y="29051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10172534" y="3000375"/>
              <a:ext cx="171616" cy="181540"/>
            </a:xfrm>
            <a:custGeom>
              <a:avLst/>
              <a:gdLst/>
              <a:ahLst/>
              <a:cxnLst/>
              <a:rect l="l" t="t" r="r" b="b"/>
              <a:pathLst>
                <a:path w="171616" h="181540">
                  <a:moveTo>
                    <a:pt x="689" y="107899"/>
                  </a:moveTo>
                  <a:lnTo>
                    <a:pt x="518" y="106299"/>
                  </a:lnTo>
                  <a:lnTo>
                    <a:pt x="480" y="105889"/>
                  </a:lnTo>
                  <a:cubicBezTo>
                    <a:pt x="149" y="102343"/>
                    <a:pt x="0" y="98783"/>
                    <a:pt x="32" y="95221"/>
                  </a:cubicBezTo>
                  <a:cubicBezTo>
                    <a:pt x="204" y="35309"/>
                    <a:pt x="40894" y="0"/>
                    <a:pt x="123857" y="0"/>
                  </a:cubicBezTo>
                  <a:lnTo>
                    <a:pt x="162091" y="0"/>
                  </a:lnTo>
                  <a:cubicBezTo>
                    <a:pt x="167351" y="0"/>
                    <a:pt x="171616" y="4264"/>
                    <a:pt x="171616" y="9525"/>
                  </a:cubicBezTo>
                  <a:lnTo>
                    <a:pt x="171596" y="29118"/>
                  </a:lnTo>
                  <a:cubicBezTo>
                    <a:pt x="166853" y="111995"/>
                    <a:pt x="126448" y="152400"/>
                    <a:pt x="57316" y="152400"/>
                  </a:cubicBezTo>
                  <a:lnTo>
                    <a:pt x="32255" y="152400"/>
                  </a:lnTo>
                  <a:cubicBezTo>
                    <a:pt x="30617" y="159012"/>
                    <a:pt x="29424" y="165726"/>
                    <a:pt x="28683" y="172498"/>
                  </a:cubicBezTo>
                  <a:cubicBezTo>
                    <a:pt x="28309" y="175880"/>
                    <a:pt x="26159" y="178806"/>
                    <a:pt x="23042" y="180173"/>
                  </a:cubicBezTo>
                  <a:cubicBezTo>
                    <a:pt x="19926" y="181540"/>
                    <a:pt x="16316" y="181141"/>
                    <a:pt x="13574" y="179126"/>
                  </a:cubicBezTo>
                  <a:cubicBezTo>
                    <a:pt x="10832" y="177110"/>
                    <a:pt x="9373" y="173785"/>
                    <a:pt x="9748" y="170402"/>
                  </a:cubicBezTo>
                  <a:cubicBezTo>
                    <a:pt x="10853" y="160445"/>
                    <a:pt x="12694" y="151089"/>
                    <a:pt x="15272" y="142332"/>
                  </a:cubicBezTo>
                  <a:lnTo>
                    <a:pt x="14148" y="140941"/>
                  </a:lnTo>
                  <a:lnTo>
                    <a:pt x="12167" y="138274"/>
                  </a:lnTo>
                  <a:lnTo>
                    <a:pt x="10672" y="136093"/>
                  </a:lnTo>
                  <a:lnTo>
                    <a:pt x="8938" y="133302"/>
                  </a:lnTo>
                  <a:lnTo>
                    <a:pt x="8005" y="131674"/>
                  </a:lnTo>
                  <a:lnTo>
                    <a:pt x="7385" y="130512"/>
                  </a:lnTo>
                  <a:cubicBezTo>
                    <a:pt x="5873" y="127637"/>
                    <a:pt x="4607" y="124638"/>
                    <a:pt x="3604" y="121549"/>
                  </a:cubicBezTo>
                  <a:lnTo>
                    <a:pt x="2918" y="119291"/>
                  </a:lnTo>
                  <a:lnTo>
                    <a:pt x="2109" y="116176"/>
                  </a:lnTo>
                  <a:lnTo>
                    <a:pt x="1566" y="113624"/>
                  </a:lnTo>
                  <a:lnTo>
                    <a:pt x="1156" y="111319"/>
                  </a:lnTo>
                  <a:close/>
                  <a:moveTo>
                    <a:pt x="82023" y="67494"/>
                  </a:moveTo>
                  <a:cubicBezTo>
                    <a:pt x="54925" y="79543"/>
                    <a:pt x="35789" y="97307"/>
                    <a:pt x="23845" y="120672"/>
                  </a:cubicBezTo>
                  <a:cubicBezTo>
                    <a:pt x="24467" y="121942"/>
                    <a:pt x="25159" y="123212"/>
                    <a:pt x="25921" y="124482"/>
                  </a:cubicBezTo>
                  <a:lnTo>
                    <a:pt x="27683" y="127159"/>
                  </a:lnTo>
                  <a:lnTo>
                    <a:pt x="28350" y="128083"/>
                  </a:lnTo>
                  <a:cubicBezTo>
                    <a:pt x="29112" y="129124"/>
                    <a:pt x="29931" y="130169"/>
                    <a:pt x="30807" y="131216"/>
                  </a:cubicBezTo>
                  <a:lnTo>
                    <a:pt x="32684" y="133350"/>
                  </a:lnTo>
                  <a:lnTo>
                    <a:pt x="38866" y="133350"/>
                  </a:lnTo>
                  <a:cubicBezTo>
                    <a:pt x="48743" y="111719"/>
                    <a:pt x="65317" y="95764"/>
                    <a:pt x="89758" y="84906"/>
                  </a:cubicBezTo>
                  <a:cubicBezTo>
                    <a:pt x="94566" y="82770"/>
                    <a:pt x="96732" y="77141"/>
                    <a:pt x="94596" y="72333"/>
                  </a:cubicBezTo>
                  <a:cubicBezTo>
                    <a:pt x="92461" y="67525"/>
                    <a:pt x="86831" y="65358"/>
                    <a:pt x="82023" y="67494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0466070" y="30951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植物详情</a:t>
              </a:r>
            </a:p>
          </p:txBody>
        </p:sp>
        <p:sp>
          <p:nvSpPr>
            <p:cNvPr id="95" name="Freeform 95"/>
            <p:cNvSpPr/>
            <p:nvPr/>
          </p:nvSpPr>
          <p:spPr>
            <a:xfrm>
              <a:off x="8667750" y="34766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96" name="Freeform 96"/>
            <p:cNvSpPr/>
            <p:nvPr/>
          </p:nvSpPr>
          <p:spPr>
            <a:xfrm>
              <a:off x="8819855" y="3563731"/>
              <a:ext cx="210436" cy="188414"/>
            </a:xfrm>
            <a:custGeom>
              <a:avLst/>
              <a:gdLst/>
              <a:ahLst/>
              <a:cxnLst/>
              <a:rect l="l" t="t" r="r" b="b"/>
              <a:pathLst>
                <a:path w="210436" h="188414">
                  <a:moveTo>
                    <a:pt x="46215" y="26337"/>
                  </a:moveTo>
                  <a:cubicBezTo>
                    <a:pt x="83353" y="0"/>
                    <a:pt x="136398" y="2153"/>
                    <a:pt x="170736" y="31433"/>
                  </a:cubicBezTo>
                  <a:cubicBezTo>
                    <a:pt x="205664" y="61236"/>
                    <a:pt x="210436" y="109899"/>
                    <a:pt x="181708" y="144761"/>
                  </a:cubicBezTo>
                  <a:cubicBezTo>
                    <a:pt x="154648" y="177594"/>
                    <a:pt x="105842" y="188414"/>
                    <a:pt x="65208" y="171479"/>
                  </a:cubicBezTo>
                  <a:lnTo>
                    <a:pt x="62989" y="170517"/>
                  </a:lnTo>
                  <a:lnTo>
                    <a:pt x="21326" y="179384"/>
                  </a:lnTo>
                  <a:lnTo>
                    <a:pt x="20945" y="179441"/>
                  </a:lnTo>
                  <a:lnTo>
                    <a:pt x="20612" y="179508"/>
                  </a:lnTo>
                  <a:lnTo>
                    <a:pt x="20441" y="179508"/>
                  </a:lnTo>
                  <a:lnTo>
                    <a:pt x="20231" y="179556"/>
                  </a:lnTo>
                  <a:lnTo>
                    <a:pt x="19869" y="179556"/>
                  </a:lnTo>
                  <a:lnTo>
                    <a:pt x="19555" y="179594"/>
                  </a:lnTo>
                  <a:lnTo>
                    <a:pt x="19355" y="179584"/>
                  </a:lnTo>
                  <a:lnTo>
                    <a:pt x="19136" y="179594"/>
                  </a:lnTo>
                  <a:lnTo>
                    <a:pt x="18821" y="179565"/>
                  </a:lnTo>
                  <a:lnTo>
                    <a:pt x="18488" y="179565"/>
                  </a:lnTo>
                  <a:lnTo>
                    <a:pt x="18278" y="179527"/>
                  </a:lnTo>
                  <a:lnTo>
                    <a:pt x="18069" y="179508"/>
                  </a:lnTo>
                  <a:lnTo>
                    <a:pt x="17736" y="179441"/>
                  </a:lnTo>
                  <a:lnTo>
                    <a:pt x="17412" y="179394"/>
                  </a:lnTo>
                  <a:lnTo>
                    <a:pt x="17259" y="179356"/>
                  </a:lnTo>
                  <a:lnTo>
                    <a:pt x="17031" y="179308"/>
                  </a:lnTo>
                  <a:lnTo>
                    <a:pt x="16564" y="179156"/>
                  </a:lnTo>
                  <a:lnTo>
                    <a:pt x="16335" y="179108"/>
                  </a:lnTo>
                  <a:lnTo>
                    <a:pt x="16231" y="179060"/>
                  </a:lnTo>
                  <a:lnTo>
                    <a:pt x="16021" y="178994"/>
                  </a:lnTo>
                  <a:lnTo>
                    <a:pt x="15592" y="178803"/>
                  </a:lnTo>
                  <a:lnTo>
                    <a:pt x="15307" y="178689"/>
                  </a:lnTo>
                  <a:lnTo>
                    <a:pt x="15202" y="178632"/>
                  </a:lnTo>
                  <a:lnTo>
                    <a:pt x="15069" y="178575"/>
                  </a:lnTo>
                  <a:lnTo>
                    <a:pt x="14773" y="178403"/>
                  </a:lnTo>
                  <a:lnTo>
                    <a:pt x="14345" y="178175"/>
                  </a:lnTo>
                  <a:lnTo>
                    <a:pt x="14192" y="178070"/>
                  </a:lnTo>
                  <a:lnTo>
                    <a:pt x="13840" y="177822"/>
                  </a:lnTo>
                  <a:lnTo>
                    <a:pt x="13459" y="177565"/>
                  </a:lnTo>
                  <a:lnTo>
                    <a:pt x="13440" y="177527"/>
                  </a:lnTo>
                  <a:lnTo>
                    <a:pt x="13316" y="177441"/>
                  </a:lnTo>
                  <a:lnTo>
                    <a:pt x="12906" y="177060"/>
                  </a:lnTo>
                  <a:lnTo>
                    <a:pt x="12668" y="176870"/>
                  </a:lnTo>
                  <a:lnTo>
                    <a:pt x="12611" y="176803"/>
                  </a:lnTo>
                  <a:lnTo>
                    <a:pt x="12078" y="176212"/>
                  </a:lnTo>
                  <a:lnTo>
                    <a:pt x="11954" y="176079"/>
                  </a:lnTo>
                  <a:lnTo>
                    <a:pt x="11849" y="175946"/>
                  </a:lnTo>
                  <a:lnTo>
                    <a:pt x="11478" y="175412"/>
                  </a:lnTo>
                  <a:lnTo>
                    <a:pt x="11344" y="175231"/>
                  </a:lnTo>
                  <a:lnTo>
                    <a:pt x="11297" y="175136"/>
                  </a:lnTo>
                  <a:lnTo>
                    <a:pt x="10897" y="174441"/>
                  </a:lnTo>
                  <a:lnTo>
                    <a:pt x="10830" y="174327"/>
                  </a:lnTo>
                  <a:lnTo>
                    <a:pt x="10792" y="174250"/>
                  </a:lnTo>
                  <a:lnTo>
                    <a:pt x="10725" y="174136"/>
                  </a:lnTo>
                  <a:lnTo>
                    <a:pt x="10592" y="173774"/>
                  </a:lnTo>
                  <a:lnTo>
                    <a:pt x="10401" y="173374"/>
                  </a:lnTo>
                  <a:lnTo>
                    <a:pt x="10363" y="173222"/>
                  </a:lnTo>
                  <a:lnTo>
                    <a:pt x="10325" y="173126"/>
                  </a:lnTo>
                  <a:lnTo>
                    <a:pt x="10163" y="172545"/>
                  </a:lnTo>
                  <a:lnTo>
                    <a:pt x="10096" y="172374"/>
                  </a:lnTo>
                  <a:lnTo>
                    <a:pt x="10077" y="172231"/>
                  </a:lnTo>
                  <a:lnTo>
                    <a:pt x="10030" y="172050"/>
                  </a:lnTo>
                  <a:lnTo>
                    <a:pt x="9982" y="171736"/>
                  </a:lnTo>
                  <a:lnTo>
                    <a:pt x="9906" y="171336"/>
                  </a:lnTo>
                  <a:lnTo>
                    <a:pt x="9887" y="171040"/>
                  </a:lnTo>
                  <a:lnTo>
                    <a:pt x="9858" y="170945"/>
                  </a:lnTo>
                  <a:lnTo>
                    <a:pt x="9858" y="170793"/>
                  </a:lnTo>
                  <a:lnTo>
                    <a:pt x="9820" y="170278"/>
                  </a:lnTo>
                  <a:lnTo>
                    <a:pt x="9830" y="169936"/>
                  </a:lnTo>
                  <a:lnTo>
                    <a:pt x="9839" y="169716"/>
                  </a:lnTo>
                  <a:lnTo>
                    <a:pt x="9858" y="169212"/>
                  </a:lnTo>
                  <a:lnTo>
                    <a:pt x="9896" y="168974"/>
                  </a:lnTo>
                  <a:lnTo>
                    <a:pt x="9896" y="168793"/>
                  </a:lnTo>
                  <a:lnTo>
                    <a:pt x="9973" y="168459"/>
                  </a:lnTo>
                  <a:lnTo>
                    <a:pt x="10020" y="168135"/>
                  </a:lnTo>
                  <a:lnTo>
                    <a:pt x="10068" y="167945"/>
                  </a:lnTo>
                  <a:lnTo>
                    <a:pt x="10106" y="167754"/>
                  </a:lnTo>
                  <a:lnTo>
                    <a:pt x="10277" y="167183"/>
                  </a:lnTo>
                  <a:lnTo>
                    <a:pt x="10306" y="167059"/>
                  </a:lnTo>
                  <a:lnTo>
                    <a:pt x="21260" y="134198"/>
                  </a:lnTo>
                  <a:lnTo>
                    <a:pt x="21050" y="133845"/>
                  </a:lnTo>
                  <a:cubicBezTo>
                    <a:pt x="0" y="98155"/>
                    <a:pt x="9535" y="53921"/>
                    <a:pt x="44034" y="27937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132570" y="36666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植响对话</a:t>
              </a:r>
            </a:p>
          </p:txBody>
        </p:sp>
        <p:sp>
          <p:nvSpPr>
            <p:cNvPr id="98" name="Freeform 98"/>
            <p:cNvSpPr/>
            <p:nvPr/>
          </p:nvSpPr>
          <p:spPr>
            <a:xfrm>
              <a:off x="10001250" y="3476625"/>
              <a:ext cx="1238250" cy="476250"/>
            </a:xfrm>
            <a:custGeom>
              <a:avLst/>
              <a:gdLst/>
              <a:ahLst/>
              <a:cxnLst/>
              <a:rect l="l" t="t" r="r" b="b"/>
              <a:pathLst>
                <a:path w="1238250" h="476250">
                  <a:moveTo>
                    <a:pt x="76200" y="0"/>
                  </a:moveTo>
                  <a:lnTo>
                    <a:pt x="1162050" y="0"/>
                  </a:lnTo>
                  <a:cubicBezTo>
                    <a:pt x="1204134" y="0"/>
                    <a:pt x="1238250" y="34116"/>
                    <a:pt x="1238250" y="76200"/>
                  </a:cubicBezTo>
                  <a:lnTo>
                    <a:pt x="1238250" y="400050"/>
                  </a:lnTo>
                  <a:cubicBezTo>
                    <a:pt x="1238250" y="442134"/>
                    <a:pt x="1204134" y="476250"/>
                    <a:pt x="11620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99" name="Freeform 99"/>
            <p:cNvSpPr/>
            <p:nvPr/>
          </p:nvSpPr>
          <p:spPr>
            <a:xfrm>
              <a:off x="10163175" y="3575506"/>
              <a:ext cx="190500" cy="158719"/>
            </a:xfrm>
            <a:custGeom>
              <a:avLst/>
              <a:gdLst/>
              <a:ahLst/>
              <a:cxnLst/>
              <a:rect l="l" t="t" r="r" b="b"/>
              <a:pathLst>
                <a:path w="190500" h="158719">
                  <a:moveTo>
                    <a:pt x="185738" y="16695"/>
                  </a:moveTo>
                  <a:cubicBezTo>
                    <a:pt x="188339" y="18197"/>
                    <a:pt x="190079" y="20837"/>
                    <a:pt x="190433" y="23820"/>
                  </a:cubicBezTo>
                  <a:lnTo>
                    <a:pt x="190500" y="24944"/>
                  </a:lnTo>
                  <a:lnTo>
                    <a:pt x="190500" y="148769"/>
                  </a:lnTo>
                  <a:cubicBezTo>
                    <a:pt x="190500" y="152172"/>
                    <a:pt x="188684" y="155316"/>
                    <a:pt x="185737" y="157017"/>
                  </a:cubicBezTo>
                  <a:cubicBezTo>
                    <a:pt x="182790" y="158719"/>
                    <a:pt x="179160" y="158719"/>
                    <a:pt x="176213" y="157017"/>
                  </a:cubicBezTo>
                  <a:cubicBezTo>
                    <a:pt x="154298" y="144363"/>
                    <a:pt x="127531" y="143414"/>
                    <a:pt x="104775" y="154484"/>
                  </a:cubicBezTo>
                  <a:lnTo>
                    <a:pt x="104775" y="9951"/>
                  </a:lnTo>
                  <a:cubicBezTo>
                    <a:pt x="131416" y="0"/>
                    <a:pt x="161110" y="2473"/>
                    <a:pt x="185738" y="16695"/>
                  </a:cubicBezTo>
                  <a:moveTo>
                    <a:pt x="85725" y="9961"/>
                  </a:moveTo>
                  <a:lnTo>
                    <a:pt x="85735" y="154493"/>
                  </a:lnTo>
                  <a:cubicBezTo>
                    <a:pt x="63901" y="143864"/>
                    <a:pt x="38309" y="144278"/>
                    <a:pt x="16831" y="155608"/>
                  </a:cubicBezTo>
                  <a:lnTo>
                    <a:pt x="13716" y="157322"/>
                  </a:lnTo>
                  <a:lnTo>
                    <a:pt x="12735" y="157741"/>
                  </a:lnTo>
                  <a:lnTo>
                    <a:pt x="12268" y="157894"/>
                  </a:lnTo>
                  <a:lnTo>
                    <a:pt x="11220" y="158141"/>
                  </a:lnTo>
                  <a:lnTo>
                    <a:pt x="10639" y="158237"/>
                  </a:lnTo>
                  <a:lnTo>
                    <a:pt x="9525" y="158294"/>
                  </a:lnTo>
                  <a:lnTo>
                    <a:pt x="9125" y="158294"/>
                  </a:lnTo>
                  <a:lnTo>
                    <a:pt x="8077" y="158179"/>
                  </a:lnTo>
                  <a:lnTo>
                    <a:pt x="7344" y="158046"/>
                  </a:lnTo>
                  <a:lnTo>
                    <a:pt x="6315" y="157741"/>
                  </a:lnTo>
                  <a:lnTo>
                    <a:pt x="5115" y="157208"/>
                  </a:lnTo>
                  <a:lnTo>
                    <a:pt x="4210" y="156674"/>
                  </a:lnTo>
                  <a:lnTo>
                    <a:pt x="3362" y="156036"/>
                  </a:lnTo>
                  <a:lnTo>
                    <a:pt x="2791" y="155503"/>
                  </a:lnTo>
                  <a:lnTo>
                    <a:pt x="2096" y="154722"/>
                  </a:lnTo>
                  <a:lnTo>
                    <a:pt x="1486" y="153874"/>
                  </a:lnTo>
                  <a:lnTo>
                    <a:pt x="1276" y="153531"/>
                  </a:lnTo>
                  <a:lnTo>
                    <a:pt x="972" y="152960"/>
                  </a:lnTo>
                  <a:lnTo>
                    <a:pt x="552" y="151979"/>
                  </a:lnTo>
                  <a:lnTo>
                    <a:pt x="400" y="151512"/>
                  </a:lnTo>
                  <a:lnTo>
                    <a:pt x="152" y="150464"/>
                  </a:lnTo>
                  <a:lnTo>
                    <a:pt x="57" y="149883"/>
                  </a:lnTo>
                  <a:lnTo>
                    <a:pt x="19" y="149416"/>
                  </a:lnTo>
                  <a:lnTo>
                    <a:pt x="0" y="24944"/>
                  </a:lnTo>
                  <a:cubicBezTo>
                    <a:pt x="0" y="21541"/>
                    <a:pt x="1816" y="18396"/>
                    <a:pt x="4762" y="16695"/>
                  </a:cubicBezTo>
                  <a:cubicBezTo>
                    <a:pt x="29391" y="2476"/>
                    <a:pt x="59085" y="7"/>
                    <a:pt x="85725" y="9961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466070" y="36666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成长日记</a:t>
              </a:r>
            </a:p>
          </p:txBody>
        </p:sp>
        <p:sp>
          <p:nvSpPr>
            <p:cNvPr id="101" name="Freeform 101"/>
            <p:cNvSpPr/>
            <p:nvPr/>
          </p:nvSpPr>
          <p:spPr>
            <a:xfrm>
              <a:off x="8667750" y="4048125"/>
              <a:ext cx="2571750" cy="476250"/>
            </a:xfrm>
            <a:custGeom>
              <a:avLst/>
              <a:gdLst/>
              <a:ahLst/>
              <a:cxnLst/>
              <a:rect l="l" t="t" r="r" b="b"/>
              <a:pathLst>
                <a:path w="2571750" h="476250">
                  <a:moveTo>
                    <a:pt x="76200" y="0"/>
                  </a:moveTo>
                  <a:lnTo>
                    <a:pt x="2495550" y="0"/>
                  </a:lnTo>
                  <a:cubicBezTo>
                    <a:pt x="2537634" y="0"/>
                    <a:pt x="2571750" y="34116"/>
                    <a:pt x="2571750" y="76200"/>
                  </a:cubicBezTo>
                  <a:lnTo>
                    <a:pt x="2571750" y="400050"/>
                  </a:lnTo>
                  <a:cubicBezTo>
                    <a:pt x="2571750" y="442134"/>
                    <a:pt x="2537634" y="476250"/>
                    <a:pt x="2495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102" name="Freeform 102"/>
            <p:cNvSpPr/>
            <p:nvPr/>
          </p:nvSpPr>
          <p:spPr>
            <a:xfrm>
              <a:off x="8829674" y="4143372"/>
              <a:ext cx="190502" cy="171454"/>
            </a:xfrm>
            <a:custGeom>
              <a:avLst/>
              <a:gdLst/>
              <a:ahLst/>
              <a:cxnLst/>
              <a:rect l="l" t="t" r="r" b="b"/>
              <a:pathLst>
                <a:path w="190502" h="171454">
                  <a:moveTo>
                    <a:pt x="123826" y="3"/>
                  </a:moveTo>
                  <a:cubicBezTo>
                    <a:pt x="133795" y="0"/>
                    <a:pt x="142081" y="7683"/>
                    <a:pt x="142828" y="17624"/>
                  </a:cubicBezTo>
                  <a:lnTo>
                    <a:pt x="142876" y="19053"/>
                  </a:lnTo>
                  <a:cubicBezTo>
                    <a:pt x="142876" y="23882"/>
                    <a:pt x="146491" y="27946"/>
                    <a:pt x="151286" y="28511"/>
                  </a:cubicBezTo>
                  <a:lnTo>
                    <a:pt x="152401" y="28578"/>
                  </a:lnTo>
                  <a:lnTo>
                    <a:pt x="161926" y="28578"/>
                  </a:lnTo>
                  <a:cubicBezTo>
                    <a:pt x="177057" y="28577"/>
                    <a:pt x="189566" y="40372"/>
                    <a:pt x="190453" y="55477"/>
                  </a:cubicBezTo>
                  <a:lnTo>
                    <a:pt x="190501" y="57153"/>
                  </a:lnTo>
                  <a:lnTo>
                    <a:pt x="190501" y="142878"/>
                  </a:lnTo>
                  <a:cubicBezTo>
                    <a:pt x="190502" y="158009"/>
                    <a:pt x="178707" y="170518"/>
                    <a:pt x="163602" y="171406"/>
                  </a:cubicBezTo>
                  <a:lnTo>
                    <a:pt x="161926" y="171453"/>
                  </a:lnTo>
                  <a:lnTo>
                    <a:pt x="28576" y="171453"/>
                  </a:lnTo>
                  <a:cubicBezTo>
                    <a:pt x="13445" y="171454"/>
                    <a:pt x="936" y="159660"/>
                    <a:pt x="48" y="144555"/>
                  </a:cubicBezTo>
                  <a:lnTo>
                    <a:pt x="1" y="142878"/>
                  </a:lnTo>
                  <a:lnTo>
                    <a:pt x="1" y="57153"/>
                  </a:lnTo>
                  <a:cubicBezTo>
                    <a:pt x="0" y="42022"/>
                    <a:pt x="11794" y="29513"/>
                    <a:pt x="26899" y="28626"/>
                  </a:cubicBezTo>
                  <a:lnTo>
                    <a:pt x="28576" y="28578"/>
                  </a:lnTo>
                  <a:lnTo>
                    <a:pt x="38101" y="28578"/>
                  </a:lnTo>
                  <a:cubicBezTo>
                    <a:pt x="43361" y="28578"/>
                    <a:pt x="47626" y="24314"/>
                    <a:pt x="47626" y="19053"/>
                  </a:cubicBezTo>
                  <a:cubicBezTo>
                    <a:pt x="47623" y="9084"/>
                    <a:pt x="55306" y="798"/>
                    <a:pt x="65247" y="51"/>
                  </a:cubicBezTo>
                  <a:lnTo>
                    <a:pt x="66676" y="3"/>
                  </a:lnTo>
                  <a:lnTo>
                    <a:pt x="123826" y="3"/>
                  </a:lnTo>
                  <a:close/>
                  <a:moveTo>
                    <a:pt x="95251" y="66678"/>
                  </a:moveTo>
                  <a:cubicBezTo>
                    <a:pt x="80582" y="66677"/>
                    <a:pt x="68295" y="77783"/>
                    <a:pt x="66819" y="92377"/>
                  </a:cubicBezTo>
                  <a:lnTo>
                    <a:pt x="66714" y="93824"/>
                  </a:lnTo>
                  <a:lnTo>
                    <a:pt x="66676" y="95253"/>
                  </a:lnTo>
                  <a:lnTo>
                    <a:pt x="66714" y="96682"/>
                  </a:lnTo>
                  <a:cubicBezTo>
                    <a:pt x="67494" y="112258"/>
                    <a:pt x="80619" y="124333"/>
                    <a:pt x="96207" y="123812"/>
                  </a:cubicBezTo>
                  <a:cubicBezTo>
                    <a:pt x="111794" y="123292"/>
                    <a:pt x="124085" y="110369"/>
                    <a:pt x="123824" y="94775"/>
                  </a:cubicBezTo>
                  <a:cubicBezTo>
                    <a:pt x="123563" y="79181"/>
                    <a:pt x="110847" y="66677"/>
                    <a:pt x="95251" y="66678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799320" y="42381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相册管理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704070" y="47524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设计系统</a:t>
              </a:r>
            </a:p>
          </p:txBody>
        </p:sp>
        <p:sp>
          <p:nvSpPr>
            <p:cNvPr id="105" name="Freeform 105"/>
            <p:cNvSpPr/>
            <p:nvPr/>
          </p:nvSpPr>
          <p:spPr>
            <a:xfrm>
              <a:off x="8667750" y="5000625"/>
              <a:ext cx="2571750" cy="285750"/>
            </a:xfrm>
            <a:custGeom>
              <a:avLst/>
              <a:gdLst/>
              <a:ahLst/>
              <a:cxnLst/>
              <a:rect l="l" t="t" r="r" b="b"/>
              <a:pathLst>
                <a:path w="2571750" h="285750">
                  <a:moveTo>
                    <a:pt x="57150" y="0"/>
                  </a:moveTo>
                  <a:lnTo>
                    <a:pt x="2514600" y="0"/>
                  </a:lnTo>
                  <a:cubicBezTo>
                    <a:pt x="2546163" y="0"/>
                    <a:pt x="2571750" y="25587"/>
                    <a:pt x="2571750" y="57150"/>
                  </a:cubicBezTo>
                  <a:lnTo>
                    <a:pt x="2571750" y="228600"/>
                  </a:lnTo>
                  <a:cubicBezTo>
                    <a:pt x="2571750" y="260163"/>
                    <a:pt x="2546163" y="285750"/>
                    <a:pt x="2514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6000"/>
              </a:srgbClr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023699" y="5103495"/>
              <a:ext cx="19551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Verdant Echo · Forest-to-Soil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704070" y="54668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核心机制</a:t>
              </a:r>
            </a:p>
          </p:txBody>
        </p:sp>
        <p:sp>
          <p:nvSpPr>
            <p:cNvPr id="108" name="Freeform 108"/>
            <p:cNvSpPr/>
            <p:nvPr/>
          </p:nvSpPr>
          <p:spPr>
            <a:xfrm>
              <a:off x="8667750" y="57150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190500"/>
                  </a:lnTo>
                  <a:cubicBezTo>
                    <a:pt x="1238250" y="222063"/>
                    <a:pt x="1212663" y="247650"/>
                    <a:pt x="1181100" y="247650"/>
                  </a:cubicBezTo>
                  <a:lnTo>
                    <a:pt x="57150" y="247650"/>
                  </a:lnTo>
                  <a:cubicBezTo>
                    <a:pt x="25587" y="247650"/>
                    <a:pt x="0" y="222063"/>
                    <a:pt x="0" y="1905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6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8917936" y="5797391"/>
              <a:ext cx="73787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SSE 实时同步</a:t>
              </a:r>
            </a:p>
          </p:txBody>
        </p:sp>
        <p:sp>
          <p:nvSpPr>
            <p:cNvPr id="110" name="Freeform 110"/>
            <p:cNvSpPr/>
            <p:nvPr/>
          </p:nvSpPr>
          <p:spPr>
            <a:xfrm>
              <a:off x="10001250" y="5715000"/>
              <a:ext cx="1238250" cy="247650"/>
            </a:xfrm>
            <a:custGeom>
              <a:avLst/>
              <a:gdLst/>
              <a:ahLst/>
              <a:cxnLst/>
              <a:rect l="l" t="t" r="r" b="b"/>
              <a:pathLst>
                <a:path w="1238250" h="247650">
                  <a:moveTo>
                    <a:pt x="57150" y="0"/>
                  </a:moveTo>
                  <a:lnTo>
                    <a:pt x="1181100" y="0"/>
                  </a:lnTo>
                  <a:cubicBezTo>
                    <a:pt x="1212663" y="0"/>
                    <a:pt x="1238250" y="25587"/>
                    <a:pt x="1238250" y="57150"/>
                  </a:cubicBezTo>
                  <a:lnTo>
                    <a:pt x="1238250" y="190500"/>
                  </a:lnTo>
                  <a:cubicBezTo>
                    <a:pt x="1238250" y="222063"/>
                    <a:pt x="1212663" y="247650"/>
                    <a:pt x="1181100" y="247650"/>
                  </a:cubicBezTo>
                  <a:lnTo>
                    <a:pt x="57150" y="247650"/>
                  </a:lnTo>
                  <a:cubicBezTo>
                    <a:pt x="25587" y="247650"/>
                    <a:pt x="0" y="222063"/>
                    <a:pt x="0" y="1905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6000"/>
              </a:srgbClr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0293608" y="5797391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Toast Undo</a:t>
              </a:r>
            </a:p>
          </p:txBody>
        </p:sp>
      </p:grpSp>
      <p:sp>
        <p:nvSpPr>
          <p:cNvPr id="113" name="TextBox 113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04 / 18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515983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硬件层：ESP32 智能感知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128301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传感器模块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619250"/>
            <a:ext cx="2630138" cy="952500"/>
            <a:chOff x="571500" y="1619250"/>
            <a:chExt cx="2630138" cy="952500"/>
          </a:xfrm>
        </p:grpSpPr>
        <p:sp>
          <p:nvSpPr>
            <p:cNvPr id="6" name="Freeform 6"/>
            <p:cNvSpPr/>
            <p:nvPr/>
          </p:nvSpPr>
          <p:spPr>
            <a:xfrm>
              <a:off x="571500" y="161925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61925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27090" y="1819275"/>
              <a:ext cx="263522" cy="286585"/>
            </a:xfrm>
            <a:custGeom>
              <a:avLst/>
              <a:gdLst/>
              <a:ahLst/>
              <a:cxnLst/>
              <a:rect l="l" t="t" r="r" b="b"/>
              <a:pathLst>
                <a:path w="263522" h="286585">
                  <a:moveTo>
                    <a:pt x="77785" y="0"/>
                  </a:moveTo>
                  <a:cubicBezTo>
                    <a:pt x="101457" y="0"/>
                    <a:pt x="120647" y="19190"/>
                    <a:pt x="120647" y="42862"/>
                  </a:cubicBezTo>
                  <a:lnTo>
                    <a:pt x="120647" y="156662"/>
                  </a:lnTo>
                  <a:lnTo>
                    <a:pt x="121719" y="157463"/>
                  </a:lnTo>
                  <a:cubicBezTo>
                    <a:pt x="143390" y="174362"/>
                    <a:pt x="153445" y="202195"/>
                    <a:pt x="147579" y="229043"/>
                  </a:cubicBezTo>
                  <a:lnTo>
                    <a:pt x="146793" y="232286"/>
                  </a:lnTo>
                  <a:cubicBezTo>
                    <a:pt x="138738" y="262332"/>
                    <a:pt x="112166" y="283711"/>
                    <a:pt x="81093" y="285148"/>
                  </a:cubicBezTo>
                  <a:cubicBezTo>
                    <a:pt x="50019" y="286585"/>
                    <a:pt x="21588" y="267749"/>
                    <a:pt x="10794" y="238575"/>
                  </a:cubicBezTo>
                  <a:cubicBezTo>
                    <a:pt x="0" y="209402"/>
                    <a:pt x="9325" y="176597"/>
                    <a:pt x="33851" y="157463"/>
                  </a:cubicBezTo>
                  <a:lnTo>
                    <a:pt x="34922" y="156662"/>
                  </a:lnTo>
                  <a:lnTo>
                    <a:pt x="34922" y="42862"/>
                  </a:lnTo>
                  <a:cubicBezTo>
                    <a:pt x="34921" y="20166"/>
                    <a:pt x="52613" y="1403"/>
                    <a:pt x="75270" y="71"/>
                  </a:cubicBezTo>
                  <a:close/>
                  <a:moveTo>
                    <a:pt x="206372" y="42862"/>
                  </a:moveTo>
                  <a:cubicBezTo>
                    <a:pt x="214263" y="42862"/>
                    <a:pt x="220660" y="49259"/>
                    <a:pt x="220660" y="57150"/>
                  </a:cubicBezTo>
                  <a:lnTo>
                    <a:pt x="220660" y="85725"/>
                  </a:lnTo>
                  <a:lnTo>
                    <a:pt x="249235" y="85725"/>
                  </a:lnTo>
                  <a:cubicBezTo>
                    <a:pt x="257126" y="85725"/>
                    <a:pt x="263522" y="92122"/>
                    <a:pt x="263522" y="100012"/>
                  </a:cubicBezTo>
                  <a:cubicBezTo>
                    <a:pt x="263522" y="107903"/>
                    <a:pt x="257126" y="114300"/>
                    <a:pt x="249235" y="114300"/>
                  </a:cubicBezTo>
                  <a:lnTo>
                    <a:pt x="220660" y="114300"/>
                  </a:lnTo>
                  <a:lnTo>
                    <a:pt x="220660" y="142875"/>
                  </a:lnTo>
                  <a:cubicBezTo>
                    <a:pt x="220660" y="150766"/>
                    <a:pt x="214263" y="157162"/>
                    <a:pt x="206372" y="157162"/>
                  </a:cubicBezTo>
                  <a:cubicBezTo>
                    <a:pt x="198481" y="157162"/>
                    <a:pt x="192085" y="150766"/>
                    <a:pt x="192085" y="142875"/>
                  </a:cubicBezTo>
                  <a:lnTo>
                    <a:pt x="192085" y="114300"/>
                  </a:lnTo>
                  <a:lnTo>
                    <a:pt x="163510" y="114300"/>
                  </a:lnTo>
                  <a:cubicBezTo>
                    <a:pt x="155619" y="114300"/>
                    <a:pt x="149222" y="107903"/>
                    <a:pt x="149222" y="100012"/>
                  </a:cubicBezTo>
                  <a:cubicBezTo>
                    <a:pt x="149222" y="92122"/>
                    <a:pt x="155619" y="85725"/>
                    <a:pt x="163510" y="85725"/>
                  </a:cubicBezTo>
                  <a:lnTo>
                    <a:pt x="192085" y="85725"/>
                  </a:lnTo>
                  <a:lnTo>
                    <a:pt x="192085" y="57150"/>
                  </a:lnTo>
                  <a:cubicBezTo>
                    <a:pt x="192085" y="49259"/>
                    <a:pt x="198481" y="42862"/>
                    <a:pt x="206372" y="42862"/>
                  </a:cubicBezTo>
                  <a:moveTo>
                    <a:pt x="77785" y="28575"/>
                  </a:moveTo>
                  <a:cubicBezTo>
                    <a:pt x="69894" y="28575"/>
                    <a:pt x="63497" y="34972"/>
                    <a:pt x="63497" y="42862"/>
                  </a:cubicBezTo>
                  <a:lnTo>
                    <a:pt x="63497" y="100012"/>
                  </a:lnTo>
                  <a:lnTo>
                    <a:pt x="92072" y="100012"/>
                  </a:lnTo>
                  <a:lnTo>
                    <a:pt x="92072" y="42862"/>
                  </a:lnTo>
                  <a:cubicBezTo>
                    <a:pt x="92072" y="34972"/>
                    <a:pt x="85676" y="28575"/>
                    <a:pt x="77785" y="28575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23010" y="1870710"/>
              <a:ext cx="536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SHT40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5868" y="2104549"/>
              <a:ext cx="1598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温湿度传感器 · I2C 0x44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26820" y="232219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airTempC · airHumidityPercent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2714625"/>
            <a:ext cx="2476500" cy="952500"/>
            <a:chOff x="571500" y="2714625"/>
            <a:chExt cx="2476500" cy="952500"/>
          </a:xfrm>
        </p:grpSpPr>
        <p:sp>
          <p:nvSpPr>
            <p:cNvPr id="13" name="Freeform 13"/>
            <p:cNvSpPr/>
            <p:nvPr/>
          </p:nvSpPr>
          <p:spPr>
            <a:xfrm>
              <a:off x="571500" y="2714625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71500" y="2714625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76288" y="2900362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157162" y="257175"/>
                  </a:moveTo>
                  <a:cubicBezTo>
                    <a:pt x="165053" y="257175"/>
                    <a:pt x="171450" y="263572"/>
                    <a:pt x="171450" y="271462"/>
                  </a:cubicBezTo>
                  <a:lnTo>
                    <a:pt x="171450" y="300038"/>
                  </a:lnTo>
                  <a:cubicBezTo>
                    <a:pt x="171450" y="307928"/>
                    <a:pt x="165053" y="314325"/>
                    <a:pt x="157162" y="314325"/>
                  </a:cubicBezTo>
                  <a:cubicBezTo>
                    <a:pt x="149272" y="314325"/>
                    <a:pt x="142875" y="307928"/>
                    <a:pt x="142875" y="300038"/>
                  </a:cubicBezTo>
                  <a:lnTo>
                    <a:pt x="142875" y="271462"/>
                  </a:lnTo>
                  <a:cubicBezTo>
                    <a:pt x="142875" y="263572"/>
                    <a:pt x="149272" y="257175"/>
                    <a:pt x="157162" y="257175"/>
                  </a:cubicBezTo>
                  <a:moveTo>
                    <a:pt x="86439" y="227886"/>
                  </a:moveTo>
                  <a:cubicBezTo>
                    <a:pt x="92017" y="233465"/>
                    <a:pt x="92017" y="242509"/>
                    <a:pt x="86439" y="248088"/>
                  </a:cubicBezTo>
                  <a:lnTo>
                    <a:pt x="66237" y="268291"/>
                  </a:lnTo>
                  <a:cubicBezTo>
                    <a:pt x="62650" y="272005"/>
                    <a:pt x="57337" y="273494"/>
                    <a:pt x="52342" y="272187"/>
                  </a:cubicBezTo>
                  <a:cubicBezTo>
                    <a:pt x="47347" y="270879"/>
                    <a:pt x="43446" y="266978"/>
                    <a:pt x="42138" y="261983"/>
                  </a:cubicBezTo>
                  <a:cubicBezTo>
                    <a:pt x="40831" y="256988"/>
                    <a:pt x="42320" y="251675"/>
                    <a:pt x="46034" y="248088"/>
                  </a:cubicBezTo>
                  <a:lnTo>
                    <a:pt x="66237" y="227886"/>
                  </a:lnTo>
                  <a:cubicBezTo>
                    <a:pt x="71816" y="222308"/>
                    <a:pt x="80860" y="222308"/>
                    <a:pt x="86439" y="227886"/>
                  </a:cubicBezTo>
                  <a:moveTo>
                    <a:pt x="248088" y="227886"/>
                  </a:moveTo>
                  <a:lnTo>
                    <a:pt x="268291" y="248088"/>
                  </a:lnTo>
                  <a:cubicBezTo>
                    <a:pt x="273705" y="253694"/>
                    <a:pt x="273628" y="262605"/>
                    <a:pt x="268117" y="268117"/>
                  </a:cubicBezTo>
                  <a:cubicBezTo>
                    <a:pt x="262605" y="273628"/>
                    <a:pt x="253694" y="273705"/>
                    <a:pt x="248088" y="268291"/>
                  </a:cubicBezTo>
                  <a:lnTo>
                    <a:pt x="227886" y="248088"/>
                  </a:lnTo>
                  <a:cubicBezTo>
                    <a:pt x="222471" y="242482"/>
                    <a:pt x="222548" y="233571"/>
                    <a:pt x="228060" y="228060"/>
                  </a:cubicBezTo>
                  <a:cubicBezTo>
                    <a:pt x="233571" y="222548"/>
                    <a:pt x="242482" y="222471"/>
                    <a:pt x="248088" y="227886"/>
                  </a:cubicBezTo>
                  <a:moveTo>
                    <a:pt x="175951" y="87354"/>
                  </a:moveTo>
                  <a:cubicBezTo>
                    <a:pt x="200760" y="93710"/>
                    <a:pt x="220269" y="112860"/>
                    <a:pt x="227084" y="137547"/>
                  </a:cubicBezTo>
                  <a:cubicBezTo>
                    <a:pt x="233898" y="162234"/>
                    <a:pt x="226977" y="188681"/>
                    <a:pt x="208941" y="206864"/>
                  </a:cubicBezTo>
                  <a:cubicBezTo>
                    <a:pt x="190906" y="225047"/>
                    <a:pt x="164517" y="232184"/>
                    <a:pt x="139775" y="225571"/>
                  </a:cubicBezTo>
                  <a:cubicBezTo>
                    <a:pt x="101799" y="215420"/>
                    <a:pt x="79159" y="176496"/>
                    <a:pt x="89112" y="138468"/>
                  </a:cubicBezTo>
                  <a:cubicBezTo>
                    <a:pt x="99065" y="100440"/>
                    <a:pt x="137871" y="77598"/>
                    <a:pt x="175951" y="87354"/>
                  </a:cubicBezTo>
                  <a:moveTo>
                    <a:pt x="42862" y="142875"/>
                  </a:moveTo>
                  <a:cubicBezTo>
                    <a:pt x="50753" y="142875"/>
                    <a:pt x="57150" y="149272"/>
                    <a:pt x="57150" y="157162"/>
                  </a:cubicBezTo>
                  <a:cubicBezTo>
                    <a:pt x="57150" y="165053"/>
                    <a:pt x="50753" y="171450"/>
                    <a:pt x="42862" y="171450"/>
                  </a:cubicBezTo>
                  <a:lnTo>
                    <a:pt x="14288" y="171450"/>
                  </a:lnTo>
                  <a:cubicBezTo>
                    <a:pt x="6397" y="171450"/>
                    <a:pt x="0" y="165053"/>
                    <a:pt x="0" y="157162"/>
                  </a:cubicBezTo>
                  <a:cubicBezTo>
                    <a:pt x="0" y="149272"/>
                    <a:pt x="6397" y="142875"/>
                    <a:pt x="14288" y="142875"/>
                  </a:cubicBezTo>
                  <a:close/>
                  <a:moveTo>
                    <a:pt x="300038" y="142875"/>
                  </a:moveTo>
                  <a:cubicBezTo>
                    <a:pt x="307928" y="142875"/>
                    <a:pt x="314325" y="149272"/>
                    <a:pt x="314325" y="157162"/>
                  </a:cubicBezTo>
                  <a:cubicBezTo>
                    <a:pt x="314325" y="165053"/>
                    <a:pt x="307928" y="171450"/>
                    <a:pt x="300038" y="171450"/>
                  </a:cubicBezTo>
                  <a:lnTo>
                    <a:pt x="271462" y="171450"/>
                  </a:lnTo>
                  <a:cubicBezTo>
                    <a:pt x="263572" y="171450"/>
                    <a:pt x="257175" y="165053"/>
                    <a:pt x="257175" y="157162"/>
                  </a:cubicBezTo>
                  <a:cubicBezTo>
                    <a:pt x="257175" y="149272"/>
                    <a:pt x="263572" y="142875"/>
                    <a:pt x="271462" y="142875"/>
                  </a:cubicBezTo>
                  <a:close/>
                  <a:moveTo>
                    <a:pt x="66237" y="46034"/>
                  </a:moveTo>
                  <a:lnTo>
                    <a:pt x="86439" y="66237"/>
                  </a:lnTo>
                  <a:cubicBezTo>
                    <a:pt x="91854" y="71843"/>
                    <a:pt x="91777" y="80754"/>
                    <a:pt x="86265" y="86265"/>
                  </a:cubicBezTo>
                  <a:cubicBezTo>
                    <a:pt x="80754" y="91777"/>
                    <a:pt x="71843" y="91854"/>
                    <a:pt x="66237" y="86439"/>
                  </a:cubicBezTo>
                  <a:lnTo>
                    <a:pt x="46034" y="66237"/>
                  </a:lnTo>
                  <a:cubicBezTo>
                    <a:pt x="40620" y="60631"/>
                    <a:pt x="40697" y="51720"/>
                    <a:pt x="46208" y="46208"/>
                  </a:cubicBezTo>
                  <a:cubicBezTo>
                    <a:pt x="51720" y="40697"/>
                    <a:pt x="60631" y="40620"/>
                    <a:pt x="66237" y="46034"/>
                  </a:cubicBezTo>
                  <a:moveTo>
                    <a:pt x="268291" y="46034"/>
                  </a:moveTo>
                  <a:cubicBezTo>
                    <a:pt x="273868" y="51614"/>
                    <a:pt x="273868" y="60658"/>
                    <a:pt x="268291" y="66237"/>
                  </a:cubicBezTo>
                  <a:lnTo>
                    <a:pt x="248088" y="86439"/>
                  </a:lnTo>
                  <a:cubicBezTo>
                    <a:pt x="242482" y="91854"/>
                    <a:pt x="233571" y="91777"/>
                    <a:pt x="228060" y="86265"/>
                  </a:cubicBezTo>
                  <a:cubicBezTo>
                    <a:pt x="222548" y="80754"/>
                    <a:pt x="222471" y="71843"/>
                    <a:pt x="227886" y="66237"/>
                  </a:cubicBezTo>
                  <a:lnTo>
                    <a:pt x="248088" y="46034"/>
                  </a:lnTo>
                  <a:cubicBezTo>
                    <a:pt x="253667" y="40457"/>
                    <a:pt x="262711" y="40457"/>
                    <a:pt x="268291" y="46034"/>
                  </a:cubicBezTo>
                  <a:moveTo>
                    <a:pt x="157162" y="0"/>
                  </a:moveTo>
                  <a:cubicBezTo>
                    <a:pt x="165053" y="0"/>
                    <a:pt x="171450" y="6397"/>
                    <a:pt x="171450" y="14288"/>
                  </a:cubicBezTo>
                  <a:lnTo>
                    <a:pt x="171450" y="42862"/>
                  </a:lnTo>
                  <a:cubicBezTo>
                    <a:pt x="171450" y="50753"/>
                    <a:pt x="165053" y="57150"/>
                    <a:pt x="157162" y="57150"/>
                  </a:cubicBezTo>
                  <a:cubicBezTo>
                    <a:pt x="149272" y="57150"/>
                    <a:pt x="142875" y="50753"/>
                    <a:pt x="142875" y="42862"/>
                  </a:cubicBezTo>
                  <a:lnTo>
                    <a:pt x="142875" y="14288"/>
                  </a:lnTo>
                  <a:cubicBezTo>
                    <a:pt x="142875" y="6397"/>
                    <a:pt x="149272" y="0"/>
                    <a:pt x="157162" y="0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3010" y="2966085"/>
              <a:ext cx="5917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BH1750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5868" y="3199924"/>
              <a:ext cx="1455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光照传感器 · I2C 0x23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26820" y="3417570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lightLux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3810000"/>
            <a:ext cx="2476500" cy="952500"/>
            <a:chOff x="571500" y="3810000"/>
            <a:chExt cx="2476500" cy="952500"/>
          </a:xfrm>
        </p:grpSpPr>
        <p:sp>
          <p:nvSpPr>
            <p:cNvPr id="20" name="Freeform 20"/>
            <p:cNvSpPr/>
            <p:nvPr/>
          </p:nvSpPr>
          <p:spPr>
            <a:xfrm>
              <a:off x="571500" y="381000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71500" y="3810000"/>
              <a:ext cx="2476500" cy="952500"/>
            </a:xfrm>
            <a:custGeom>
              <a:avLst/>
              <a:gdLst/>
              <a:ahLst/>
              <a:cxnLst/>
              <a:rect l="l" t="t" r="r" b="b"/>
              <a:pathLst>
                <a:path w="2476500" h="9525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857250"/>
                  </a:lnTo>
                  <a:cubicBezTo>
                    <a:pt x="2476500" y="909855"/>
                    <a:pt x="2433855" y="952500"/>
                    <a:pt x="2381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6648" y="4005482"/>
              <a:ext cx="253603" cy="298894"/>
            </a:xfrm>
            <a:custGeom>
              <a:avLst/>
              <a:gdLst/>
              <a:ahLst/>
              <a:cxnLst/>
              <a:rect l="l" t="t" r="r" b="b"/>
              <a:pathLst>
                <a:path w="253603" h="298894">
                  <a:moveTo>
                    <a:pt x="108342" y="9858"/>
                  </a:moveTo>
                  <a:cubicBezTo>
                    <a:pt x="104313" y="12381"/>
                    <a:pt x="100858" y="15720"/>
                    <a:pt x="98198" y="19660"/>
                  </a:cubicBezTo>
                  <a:lnTo>
                    <a:pt x="28304" y="123387"/>
                  </a:lnTo>
                  <a:cubicBezTo>
                    <a:pt x="0" y="170736"/>
                    <a:pt x="10873" y="230057"/>
                    <a:pt x="53550" y="264576"/>
                  </a:cubicBezTo>
                  <a:cubicBezTo>
                    <a:pt x="95969" y="298894"/>
                    <a:pt x="157648" y="298894"/>
                    <a:pt x="200054" y="264576"/>
                  </a:cubicBezTo>
                  <a:cubicBezTo>
                    <a:pt x="242730" y="230057"/>
                    <a:pt x="253603" y="170721"/>
                    <a:pt x="225700" y="124044"/>
                  </a:cubicBezTo>
                  <a:lnTo>
                    <a:pt x="155419" y="19660"/>
                  </a:lnTo>
                  <a:cubicBezTo>
                    <a:pt x="145104" y="4301"/>
                    <a:pt x="124101" y="0"/>
                    <a:pt x="108342" y="9858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23010" y="406146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电容式土壤湿度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5868" y="429529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GPIO34 / ADC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26820" y="4512945"/>
              <a:ext cx="1370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Consolas"/>
                  <a:ea typeface="Microsoft YaHei"/>
                  <a:cs typeface="Consolas"/>
                </a:rPr>
                <a:t>soilRaw · soilPercent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905375"/>
            <a:ext cx="2476500" cy="762000"/>
            <a:chOff x="571500" y="4905375"/>
            <a:chExt cx="2476500" cy="762000"/>
          </a:xfrm>
        </p:grpSpPr>
        <p:sp>
          <p:nvSpPr>
            <p:cNvPr id="27" name="Freeform 27"/>
            <p:cNvSpPr/>
            <p:nvPr/>
          </p:nvSpPr>
          <p:spPr>
            <a:xfrm>
              <a:off x="571500" y="4905375"/>
              <a:ext cx="2476500" cy="762000"/>
            </a:xfrm>
            <a:custGeom>
              <a:avLst/>
              <a:gdLst/>
              <a:ahLst/>
              <a:cxnLst/>
              <a:rect l="l" t="t" r="r" b="b"/>
              <a:pathLst>
                <a:path w="2476500" h="7620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666750"/>
                  </a:lnTo>
                  <a:cubicBezTo>
                    <a:pt x="2476500" y="719355"/>
                    <a:pt x="2433855" y="762000"/>
                    <a:pt x="2381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71500" y="4905375"/>
              <a:ext cx="2476500" cy="762000"/>
            </a:xfrm>
            <a:custGeom>
              <a:avLst/>
              <a:gdLst/>
              <a:ahLst/>
              <a:cxnLst/>
              <a:rect l="l" t="t" r="r" b="b"/>
              <a:pathLst>
                <a:path w="2476500" h="762000">
                  <a:moveTo>
                    <a:pt x="95250" y="0"/>
                  </a:moveTo>
                  <a:lnTo>
                    <a:pt x="2381250" y="0"/>
                  </a:lnTo>
                  <a:cubicBezTo>
                    <a:pt x="2433855" y="0"/>
                    <a:pt x="2476500" y="42645"/>
                    <a:pt x="2476500" y="95250"/>
                  </a:cubicBezTo>
                  <a:lnTo>
                    <a:pt x="2476500" y="666750"/>
                  </a:lnTo>
                  <a:cubicBezTo>
                    <a:pt x="2476500" y="719355"/>
                    <a:pt x="2433855" y="762000"/>
                    <a:pt x="23812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90575" y="5091112"/>
              <a:ext cx="285750" cy="257175"/>
            </a:xfrm>
            <a:custGeom>
              <a:avLst/>
              <a:gdLst/>
              <a:ahLst/>
              <a:cxnLst/>
              <a:rect l="l" t="t" r="r" b="b"/>
              <a:pathLst>
                <a:path w="285750" h="257175">
                  <a:moveTo>
                    <a:pt x="71438" y="257175"/>
                  </a:moveTo>
                  <a:cubicBezTo>
                    <a:pt x="63547" y="257175"/>
                    <a:pt x="57150" y="250778"/>
                    <a:pt x="57150" y="242888"/>
                  </a:cubicBezTo>
                  <a:cubicBezTo>
                    <a:pt x="57150" y="234997"/>
                    <a:pt x="63547" y="228600"/>
                    <a:pt x="71438" y="228600"/>
                  </a:cubicBezTo>
                  <a:lnTo>
                    <a:pt x="85725" y="228600"/>
                  </a:lnTo>
                  <a:lnTo>
                    <a:pt x="85725" y="200025"/>
                  </a:lnTo>
                  <a:lnTo>
                    <a:pt x="28575" y="200025"/>
                  </a:lnTo>
                  <a:cubicBezTo>
                    <a:pt x="12793" y="200025"/>
                    <a:pt x="0" y="187232"/>
                    <a:pt x="0" y="1714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lnTo>
                    <a:pt x="257175" y="0"/>
                  </a:lnTo>
                  <a:cubicBezTo>
                    <a:pt x="272957" y="0"/>
                    <a:pt x="285750" y="12793"/>
                    <a:pt x="285750" y="28575"/>
                  </a:cubicBezTo>
                  <a:lnTo>
                    <a:pt x="285750" y="171450"/>
                  </a:lnTo>
                  <a:cubicBezTo>
                    <a:pt x="285750" y="187232"/>
                    <a:pt x="272957" y="200025"/>
                    <a:pt x="257175" y="200025"/>
                  </a:cubicBezTo>
                  <a:lnTo>
                    <a:pt x="200025" y="200025"/>
                  </a:lnTo>
                  <a:lnTo>
                    <a:pt x="200025" y="228600"/>
                  </a:lnTo>
                  <a:lnTo>
                    <a:pt x="214312" y="228600"/>
                  </a:lnTo>
                  <a:cubicBezTo>
                    <a:pt x="222203" y="228600"/>
                    <a:pt x="228600" y="234997"/>
                    <a:pt x="228600" y="242888"/>
                  </a:cubicBezTo>
                  <a:cubicBezTo>
                    <a:pt x="228600" y="250778"/>
                    <a:pt x="222203" y="257175"/>
                    <a:pt x="214312" y="257175"/>
                  </a:cubicBezTo>
                  <a:close/>
                  <a:moveTo>
                    <a:pt x="171450" y="200025"/>
                  </a:moveTo>
                  <a:lnTo>
                    <a:pt x="114300" y="200025"/>
                  </a:lnTo>
                  <a:lnTo>
                    <a:pt x="114300" y="228600"/>
                  </a:lnTo>
                  <a:lnTo>
                    <a:pt x="171450" y="22860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23010" y="5128260"/>
              <a:ext cx="1079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OLED 显示屏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5868" y="5362099"/>
              <a:ext cx="5801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I2C 0x3C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650355" y="12830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核心能力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3619500" y="1619250"/>
            <a:ext cx="3619500" cy="1143000"/>
            <a:chOff x="3619500" y="1619250"/>
            <a:chExt cx="3619500" cy="1143000"/>
          </a:xfrm>
        </p:grpSpPr>
        <p:sp>
          <p:nvSpPr>
            <p:cNvPr id="34" name="Freeform 34"/>
            <p:cNvSpPr/>
            <p:nvPr/>
          </p:nvSpPr>
          <p:spPr>
            <a:xfrm>
              <a:off x="3619500" y="1619250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619500" y="1619250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3810000" y="1809750"/>
              <a:ext cx="381000" cy="3810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3906935" y="1858747"/>
              <a:ext cx="197927" cy="268861"/>
              <a:chOff x="3906935" y="1858747"/>
              <a:chExt cx="197927" cy="26886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3924300" y="1898648"/>
                <a:ext cx="127501" cy="127981"/>
              </a:xfrm>
              <a:custGeom>
                <a:avLst/>
                <a:gdLst/>
                <a:ahLst/>
                <a:cxnLst/>
                <a:rect l="l" t="t" r="r" b="b"/>
                <a:pathLst>
                  <a:path w="127501" h="127981">
                    <a:moveTo>
                      <a:pt x="63500" y="2"/>
                    </a:moveTo>
                    <a:cubicBezTo>
                      <a:pt x="98212" y="0"/>
                      <a:pt x="126493" y="27872"/>
                      <a:pt x="126997" y="62581"/>
                    </a:cubicBezTo>
                    <a:cubicBezTo>
                      <a:pt x="127501" y="97289"/>
                      <a:pt x="100040" y="125970"/>
                      <a:pt x="65342" y="126975"/>
                    </a:cubicBezTo>
                    <a:cubicBezTo>
                      <a:pt x="30645" y="127981"/>
                      <a:pt x="1570" y="100937"/>
                      <a:pt x="63" y="66258"/>
                    </a:cubicBezTo>
                    <a:lnTo>
                      <a:pt x="0" y="63502"/>
                    </a:lnTo>
                    <a:lnTo>
                      <a:pt x="63" y="60746"/>
                    </a:lnTo>
                    <a:cubicBezTo>
                      <a:pt x="1539" y="26781"/>
                      <a:pt x="29503" y="4"/>
                      <a:pt x="63500" y="2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906935" y="1858747"/>
                <a:ext cx="197927" cy="225183"/>
              </a:xfrm>
              <a:custGeom>
                <a:avLst/>
                <a:gdLst/>
                <a:ahLst/>
                <a:cxnLst/>
                <a:rect l="l" t="t" r="r" b="b"/>
                <a:pathLst>
                  <a:path w="197927" h="225183">
                    <a:moveTo>
                      <a:pt x="120654" y="8178"/>
                    </a:moveTo>
                    <a:cubicBezTo>
                      <a:pt x="124147" y="2098"/>
                      <a:pt x="131908" y="0"/>
                      <a:pt x="137989" y="3492"/>
                    </a:cubicBezTo>
                    <a:cubicBezTo>
                      <a:pt x="175751" y="25195"/>
                      <a:pt x="197927" y="66445"/>
                      <a:pt x="195204" y="109913"/>
                    </a:cubicBezTo>
                    <a:cubicBezTo>
                      <a:pt x="192480" y="153382"/>
                      <a:pt x="165329" y="191541"/>
                      <a:pt x="125154" y="208362"/>
                    </a:cubicBezTo>
                    <a:cubicBezTo>
                      <a:pt x="84980" y="225183"/>
                      <a:pt x="38740" y="217752"/>
                      <a:pt x="5858" y="189191"/>
                    </a:cubicBezTo>
                    <a:cubicBezTo>
                      <a:pt x="563" y="184590"/>
                      <a:pt x="0" y="176567"/>
                      <a:pt x="4601" y="171272"/>
                    </a:cubicBezTo>
                    <a:cubicBezTo>
                      <a:pt x="9202" y="165976"/>
                      <a:pt x="17225" y="165413"/>
                      <a:pt x="22521" y="170014"/>
                    </a:cubicBezTo>
                    <a:cubicBezTo>
                      <a:pt x="48108" y="192238"/>
                      <a:pt x="84088" y="198021"/>
                      <a:pt x="115350" y="184932"/>
                    </a:cubicBezTo>
                    <a:cubicBezTo>
                      <a:pt x="146611" y="171843"/>
                      <a:pt x="167739" y="142150"/>
                      <a:pt x="169859" y="108326"/>
                    </a:cubicBezTo>
                    <a:cubicBezTo>
                      <a:pt x="171978" y="74501"/>
                      <a:pt x="154723" y="42403"/>
                      <a:pt x="125340" y="25514"/>
                    </a:cubicBezTo>
                    <a:cubicBezTo>
                      <a:pt x="119260" y="22020"/>
                      <a:pt x="117162" y="14259"/>
                      <a:pt x="120654" y="8178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975100" y="2051050"/>
                <a:ext cx="25400" cy="76558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76558">
                    <a:moveTo>
                      <a:pt x="12700" y="0"/>
                    </a:moveTo>
                    <a:cubicBezTo>
                      <a:pt x="19139" y="1"/>
                      <a:pt x="24558" y="4820"/>
                      <a:pt x="25311" y="11214"/>
                    </a:cubicBezTo>
                    <a:lnTo>
                      <a:pt x="25400" y="12700"/>
                    </a:lnTo>
                    <a:lnTo>
                      <a:pt x="25400" y="63500"/>
                    </a:lnTo>
                    <a:cubicBezTo>
                      <a:pt x="25393" y="70219"/>
                      <a:pt x="20152" y="75770"/>
                      <a:pt x="13444" y="76164"/>
                    </a:cubicBezTo>
                    <a:cubicBezTo>
                      <a:pt x="6736" y="76558"/>
                      <a:pt x="883" y="71658"/>
                      <a:pt x="89" y="64986"/>
                    </a:cubicBezTo>
                    <a:lnTo>
                      <a:pt x="0" y="635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923942" y="2101850"/>
                <a:ext cx="127716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127716" h="25400">
                    <a:moveTo>
                      <a:pt x="114658" y="0"/>
                    </a:moveTo>
                    <a:cubicBezTo>
                      <a:pt x="121377" y="7"/>
                      <a:pt x="126928" y="5248"/>
                      <a:pt x="127322" y="11956"/>
                    </a:cubicBezTo>
                    <a:cubicBezTo>
                      <a:pt x="127716" y="18664"/>
                      <a:pt x="122816" y="24517"/>
                      <a:pt x="116144" y="25311"/>
                    </a:cubicBezTo>
                    <a:lnTo>
                      <a:pt x="114658" y="254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114658" y="0"/>
                    </a:ln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4269105" y="1835468"/>
              <a:ext cx="1193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SoftAP 配网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72915" y="209645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长按 BOOT 键 3 秒进入配网模式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73868" y="2333149"/>
              <a:ext cx="2424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Wi-Fi · MQTT · HTTP · 设备 ID · OTA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74820" y="2531745"/>
              <a:ext cx="12387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配置写入 NVS 持久化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619500" y="2905125"/>
            <a:ext cx="3619500" cy="1143000"/>
            <a:chOff x="3619500" y="2905125"/>
            <a:chExt cx="3619500" cy="1143000"/>
          </a:xfrm>
        </p:grpSpPr>
        <p:sp>
          <p:nvSpPr>
            <p:cNvPr id="47" name="Freeform 47"/>
            <p:cNvSpPr/>
            <p:nvPr/>
          </p:nvSpPr>
          <p:spPr>
            <a:xfrm>
              <a:off x="3619500" y="2905125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3619500" y="2905125"/>
              <a:ext cx="3619500" cy="1143000"/>
            </a:xfrm>
            <a:custGeom>
              <a:avLst/>
              <a:gdLst/>
              <a:ahLst/>
              <a:cxnLst/>
              <a:rect l="l" t="t" r="r" b="b"/>
              <a:pathLst>
                <a:path w="3619500" h="11430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1047750"/>
                  </a:lnTo>
                  <a:cubicBezTo>
                    <a:pt x="3619500" y="1100355"/>
                    <a:pt x="3576855" y="1143000"/>
                    <a:pt x="3524250" y="1143000"/>
                  </a:cubicBezTo>
                  <a:lnTo>
                    <a:pt x="95250" y="1143000"/>
                  </a:lnTo>
                  <a:cubicBezTo>
                    <a:pt x="42645" y="1143000"/>
                    <a:pt x="0" y="1100355"/>
                    <a:pt x="0" y="1047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3810000" y="3095625"/>
              <a:ext cx="381000" cy="3810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3860800" y="3179928"/>
              <a:ext cx="279400" cy="195148"/>
            </a:xfrm>
            <a:custGeom>
              <a:avLst/>
              <a:gdLst/>
              <a:ahLst/>
              <a:cxnLst/>
              <a:rect l="l" t="t" r="r" b="b"/>
              <a:pathLst>
                <a:path w="279400" h="195148">
                  <a:moveTo>
                    <a:pt x="114808" y="8471"/>
                  </a:moveTo>
                  <a:cubicBezTo>
                    <a:pt x="142685" y="0"/>
                    <a:pt x="173419" y="5626"/>
                    <a:pt x="195580" y="23406"/>
                  </a:cubicBezTo>
                  <a:cubicBezTo>
                    <a:pt x="213182" y="37478"/>
                    <a:pt x="223368" y="57518"/>
                    <a:pt x="224180" y="78524"/>
                  </a:cubicBezTo>
                  <a:lnTo>
                    <a:pt x="224219" y="81217"/>
                  </a:lnTo>
                  <a:lnTo>
                    <a:pt x="225374" y="81255"/>
                  </a:lnTo>
                  <a:cubicBezTo>
                    <a:pt x="254584" y="82614"/>
                    <a:pt x="277990" y="106159"/>
                    <a:pt x="279349" y="135484"/>
                  </a:cubicBezTo>
                  <a:lnTo>
                    <a:pt x="279400" y="138163"/>
                  </a:lnTo>
                  <a:cubicBezTo>
                    <a:pt x="279400" y="168732"/>
                    <a:pt x="255460" y="193688"/>
                    <a:pt x="225362" y="195085"/>
                  </a:cubicBezTo>
                  <a:lnTo>
                    <a:pt x="222694" y="195148"/>
                  </a:lnTo>
                  <a:lnTo>
                    <a:pt x="71844" y="195148"/>
                  </a:lnTo>
                  <a:lnTo>
                    <a:pt x="69025" y="195047"/>
                  </a:lnTo>
                  <a:cubicBezTo>
                    <a:pt x="31687" y="193650"/>
                    <a:pt x="1499" y="164579"/>
                    <a:pt x="63" y="128206"/>
                  </a:cubicBezTo>
                  <a:lnTo>
                    <a:pt x="0" y="125463"/>
                  </a:lnTo>
                  <a:cubicBezTo>
                    <a:pt x="0" y="90576"/>
                    <a:pt x="26416" y="61836"/>
                    <a:pt x="60757" y="56667"/>
                  </a:cubicBezTo>
                  <a:lnTo>
                    <a:pt x="62205" y="56464"/>
                  </a:lnTo>
                  <a:lnTo>
                    <a:pt x="63094" y="54166"/>
                  </a:lnTo>
                  <a:cubicBezTo>
                    <a:pt x="71514" y="33592"/>
                    <a:pt x="89205" y="17259"/>
                    <a:pt x="111722" y="9487"/>
                  </a:cubicBezTo>
                  <a:lnTo>
                    <a:pt x="114821" y="8471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69105" y="3121342"/>
              <a:ext cx="10487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MQTT 上报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72915" y="3382328"/>
              <a:ext cx="29173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Topic: dyn/devices/:deviceId/readings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73868" y="3619024"/>
              <a:ext cx="16552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1秒级上报 · 断线自动重连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274820" y="3817620"/>
              <a:ext cx="18893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设备密钥可通过 MQTT 自动下发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619500" y="4191000"/>
            <a:ext cx="4720923" cy="952500"/>
            <a:chOff x="3619500" y="4191000"/>
            <a:chExt cx="4720923" cy="952500"/>
          </a:xfrm>
        </p:grpSpPr>
        <p:sp>
          <p:nvSpPr>
            <p:cNvPr id="56" name="Freeform 56"/>
            <p:cNvSpPr/>
            <p:nvPr/>
          </p:nvSpPr>
          <p:spPr>
            <a:xfrm>
              <a:off x="3619500" y="4191000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857250"/>
                  </a:lnTo>
                  <a:cubicBezTo>
                    <a:pt x="3619500" y="909855"/>
                    <a:pt x="3576855" y="952500"/>
                    <a:pt x="3524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3619500" y="4191000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95250" y="0"/>
                  </a:moveTo>
                  <a:lnTo>
                    <a:pt x="3524250" y="0"/>
                  </a:lnTo>
                  <a:cubicBezTo>
                    <a:pt x="3576855" y="0"/>
                    <a:pt x="3619500" y="42645"/>
                    <a:pt x="3619500" y="95250"/>
                  </a:cubicBezTo>
                  <a:lnTo>
                    <a:pt x="3619500" y="857250"/>
                  </a:lnTo>
                  <a:cubicBezTo>
                    <a:pt x="3619500" y="909855"/>
                    <a:pt x="3576855" y="952500"/>
                    <a:pt x="3524250" y="952500"/>
                  </a:cubicBezTo>
                  <a:lnTo>
                    <a:pt x="95250" y="952500"/>
                  </a:lnTo>
                  <a:cubicBezTo>
                    <a:pt x="42645" y="952500"/>
                    <a:pt x="0" y="909855"/>
                    <a:pt x="0" y="857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3810000" y="4333875"/>
              <a:ext cx="381000" cy="381000"/>
            </a:xfrm>
            <a:prstGeom prst="ellipse">
              <a:avLst/>
            </a:pr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3898325" y="4397375"/>
              <a:ext cx="204350" cy="258712"/>
            </a:xfrm>
            <a:custGeom>
              <a:avLst/>
              <a:gdLst/>
              <a:ahLst/>
              <a:cxnLst/>
              <a:rect l="l" t="t" r="r" b="b"/>
              <a:pathLst>
                <a:path w="204350" h="258712">
                  <a:moveTo>
                    <a:pt x="114875" y="0"/>
                  </a:moveTo>
                  <a:lnTo>
                    <a:pt x="115104" y="13"/>
                  </a:lnTo>
                  <a:lnTo>
                    <a:pt x="115307" y="25"/>
                  </a:lnTo>
                  <a:lnTo>
                    <a:pt x="116361" y="89"/>
                  </a:lnTo>
                  <a:lnTo>
                    <a:pt x="116501" y="114"/>
                  </a:lnTo>
                  <a:lnTo>
                    <a:pt x="116640" y="114"/>
                  </a:lnTo>
                  <a:lnTo>
                    <a:pt x="117123" y="229"/>
                  </a:lnTo>
                  <a:lnTo>
                    <a:pt x="117783" y="330"/>
                  </a:lnTo>
                  <a:lnTo>
                    <a:pt x="117987" y="406"/>
                  </a:lnTo>
                  <a:lnTo>
                    <a:pt x="118126" y="419"/>
                  </a:lnTo>
                  <a:lnTo>
                    <a:pt x="118495" y="559"/>
                  </a:lnTo>
                  <a:lnTo>
                    <a:pt x="119155" y="737"/>
                  </a:lnTo>
                  <a:lnTo>
                    <a:pt x="119396" y="851"/>
                  </a:lnTo>
                  <a:lnTo>
                    <a:pt x="119587" y="902"/>
                  </a:lnTo>
                  <a:lnTo>
                    <a:pt x="119942" y="1079"/>
                  </a:lnTo>
                  <a:lnTo>
                    <a:pt x="120450" y="1295"/>
                  </a:lnTo>
                  <a:lnTo>
                    <a:pt x="120717" y="1448"/>
                  </a:lnTo>
                  <a:lnTo>
                    <a:pt x="120996" y="1575"/>
                  </a:lnTo>
                  <a:lnTo>
                    <a:pt x="121289" y="1765"/>
                  </a:lnTo>
                  <a:lnTo>
                    <a:pt x="121682" y="1981"/>
                  </a:lnTo>
                  <a:lnTo>
                    <a:pt x="122114" y="2286"/>
                  </a:lnTo>
                  <a:lnTo>
                    <a:pt x="122343" y="2426"/>
                  </a:lnTo>
                  <a:lnTo>
                    <a:pt x="122508" y="2578"/>
                  </a:lnTo>
                  <a:lnTo>
                    <a:pt x="122813" y="2794"/>
                  </a:lnTo>
                  <a:lnTo>
                    <a:pt x="123295" y="3226"/>
                  </a:lnTo>
                  <a:lnTo>
                    <a:pt x="123575" y="3442"/>
                  </a:lnTo>
                  <a:lnTo>
                    <a:pt x="123676" y="3569"/>
                  </a:lnTo>
                  <a:lnTo>
                    <a:pt x="123854" y="3721"/>
                  </a:lnTo>
                  <a:lnTo>
                    <a:pt x="124311" y="4242"/>
                  </a:lnTo>
                  <a:lnTo>
                    <a:pt x="124641" y="4585"/>
                  </a:lnTo>
                  <a:lnTo>
                    <a:pt x="124718" y="4699"/>
                  </a:lnTo>
                  <a:cubicBezTo>
                    <a:pt x="126242" y="6566"/>
                    <a:pt x="127207" y="8788"/>
                    <a:pt x="127486" y="11214"/>
                  </a:cubicBezTo>
                  <a:lnTo>
                    <a:pt x="127499" y="11366"/>
                  </a:lnTo>
                  <a:lnTo>
                    <a:pt x="127524" y="11887"/>
                  </a:lnTo>
                  <a:lnTo>
                    <a:pt x="127575" y="12700"/>
                  </a:lnTo>
                  <a:lnTo>
                    <a:pt x="127575" y="88900"/>
                  </a:lnTo>
                  <a:lnTo>
                    <a:pt x="191075" y="88900"/>
                  </a:lnTo>
                  <a:cubicBezTo>
                    <a:pt x="195605" y="88899"/>
                    <a:pt x="199793" y="91311"/>
                    <a:pt x="202065" y="95230"/>
                  </a:cubicBezTo>
                  <a:cubicBezTo>
                    <a:pt x="204337" y="99148"/>
                    <a:pt x="204350" y="103981"/>
                    <a:pt x="202099" y="107912"/>
                  </a:cubicBezTo>
                  <a:lnTo>
                    <a:pt x="201337" y="109068"/>
                  </a:lnTo>
                  <a:lnTo>
                    <a:pt x="99737" y="248768"/>
                  </a:lnTo>
                  <a:cubicBezTo>
                    <a:pt x="92523" y="258712"/>
                    <a:pt x="76775" y="253594"/>
                    <a:pt x="76775" y="241300"/>
                  </a:cubicBezTo>
                  <a:lnTo>
                    <a:pt x="76775" y="165100"/>
                  </a:lnTo>
                  <a:lnTo>
                    <a:pt x="13275" y="165100"/>
                  </a:lnTo>
                  <a:cubicBezTo>
                    <a:pt x="8745" y="165101"/>
                    <a:pt x="4557" y="162689"/>
                    <a:pt x="2285" y="158770"/>
                  </a:cubicBezTo>
                  <a:cubicBezTo>
                    <a:pt x="13" y="154852"/>
                    <a:pt x="0" y="150019"/>
                    <a:pt x="2251" y="146088"/>
                  </a:cubicBezTo>
                  <a:lnTo>
                    <a:pt x="3013" y="144932"/>
                  </a:lnTo>
                  <a:lnTo>
                    <a:pt x="104613" y="5232"/>
                  </a:lnTo>
                  <a:lnTo>
                    <a:pt x="104740" y="5067"/>
                  </a:lnTo>
                  <a:lnTo>
                    <a:pt x="104969" y="4762"/>
                  </a:lnTo>
                  <a:lnTo>
                    <a:pt x="105388" y="4280"/>
                  </a:lnTo>
                  <a:lnTo>
                    <a:pt x="105617" y="4000"/>
                  </a:lnTo>
                  <a:lnTo>
                    <a:pt x="105731" y="3899"/>
                  </a:lnTo>
                  <a:lnTo>
                    <a:pt x="105896" y="3721"/>
                  </a:lnTo>
                  <a:lnTo>
                    <a:pt x="106404" y="3264"/>
                  </a:lnTo>
                  <a:lnTo>
                    <a:pt x="106760" y="2934"/>
                  </a:lnTo>
                  <a:lnTo>
                    <a:pt x="106861" y="2857"/>
                  </a:lnTo>
                  <a:cubicBezTo>
                    <a:pt x="108350" y="1639"/>
                    <a:pt x="110095" y="775"/>
                    <a:pt x="111967" y="330"/>
                  </a:cubicBezTo>
                  <a:lnTo>
                    <a:pt x="112106" y="317"/>
                  </a:lnTo>
                  <a:lnTo>
                    <a:pt x="112449" y="254"/>
                  </a:lnTo>
                  <a:lnTo>
                    <a:pt x="113389" y="89"/>
                  </a:lnTo>
                  <a:lnTo>
                    <a:pt x="113529" y="76"/>
                  </a:lnTo>
                  <a:lnTo>
                    <a:pt x="114050" y="51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69105" y="4359592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OTA 在线更新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272915" y="4620578"/>
              <a:ext cx="40675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Manifest: {"version":"0.2.1","url":"firmware.bin"}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273868" y="4857274"/>
              <a:ext cx="13561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仅支持 2.4GHz Wi-Fi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7810500" y="1619250"/>
            <a:ext cx="3810000" cy="4000500"/>
            <a:chOff x="7810500" y="1619250"/>
            <a:chExt cx="3810000" cy="4000500"/>
          </a:xfrm>
        </p:grpSpPr>
        <p:sp>
          <p:nvSpPr>
            <p:cNvPr id="64" name="Freeform 64"/>
            <p:cNvSpPr/>
            <p:nvPr/>
          </p:nvSpPr>
          <p:spPr>
            <a:xfrm>
              <a:off x="7810500" y="1619250"/>
              <a:ext cx="3810000" cy="4000500"/>
            </a:xfrm>
            <a:custGeom>
              <a:avLst/>
              <a:gdLst/>
              <a:ahLst/>
              <a:cxnLst/>
              <a:rect l="l" t="t" r="r" b="b"/>
              <a:pathLst>
                <a:path w="3810000" h="4000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3886200"/>
                  </a:lnTo>
                  <a:cubicBezTo>
                    <a:pt x="3810000" y="3949326"/>
                    <a:pt x="3758826" y="4000500"/>
                    <a:pt x="3695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7810500" y="1619250"/>
              <a:ext cx="3810000" cy="4000500"/>
            </a:xfrm>
            <a:custGeom>
              <a:avLst/>
              <a:gdLst/>
              <a:ahLst/>
              <a:cxnLst/>
              <a:rect l="l" t="t" r="r" b="b"/>
              <a:pathLst>
                <a:path w="3810000" h="4000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3886200"/>
                  </a:lnTo>
                  <a:cubicBezTo>
                    <a:pt x="3810000" y="3949326"/>
                    <a:pt x="3758826" y="4000500"/>
                    <a:pt x="3695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240202" y="177546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数据流架构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8191500" y="2095500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400050"/>
                  </a:lnTo>
                  <a:cubicBezTo>
                    <a:pt x="3048000" y="442134"/>
                    <a:pt x="3013884" y="476250"/>
                    <a:pt x="2971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215079" y="2267902"/>
              <a:ext cx="1000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采集层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9715500" y="25717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4A7C28"/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9658350" y="27622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8191500" y="2905125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400050"/>
                  </a:lnTo>
                  <a:cubicBezTo>
                    <a:pt x="3048000" y="442134"/>
                    <a:pt x="3013884" y="476250"/>
                    <a:pt x="2971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99615" y="30775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传感器数据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9715500" y="33813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E8A849"/>
              </a:solidFill>
            </a:ln>
          </p:spPr>
        </p:sp>
        <p:sp>
          <p:nvSpPr>
            <p:cNvPr id="74" name="Polygon 74"/>
            <p:cNvSpPr/>
            <p:nvPr/>
          </p:nvSpPr>
          <p:spPr>
            <a:xfrm>
              <a:off x="9658350" y="35718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8191500" y="3714750"/>
              <a:ext cx="1428750" cy="476250"/>
            </a:xfrm>
            <a:custGeom>
              <a:avLst/>
              <a:gdLst/>
              <a:ahLst/>
              <a:cxnLst/>
              <a:rect l="l" t="t" r="r" b="b"/>
              <a:pathLst>
                <a:path w="1428750" h="476250">
                  <a:moveTo>
                    <a:pt x="76200" y="0"/>
                  </a:moveTo>
                  <a:lnTo>
                    <a:pt x="1352550" y="0"/>
                  </a:lnTo>
                  <a:cubicBezTo>
                    <a:pt x="1394634" y="0"/>
                    <a:pt x="1428750" y="34116"/>
                    <a:pt x="1428750" y="76200"/>
                  </a:cubicBezTo>
                  <a:lnTo>
                    <a:pt x="1428750" y="400050"/>
                  </a:lnTo>
                  <a:cubicBezTo>
                    <a:pt x="1428750" y="442134"/>
                    <a:pt x="1394634" y="476250"/>
                    <a:pt x="1352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8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708374" y="3895249"/>
              <a:ext cx="3950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MQTT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9810750" y="3714750"/>
              <a:ext cx="1428750" cy="476250"/>
            </a:xfrm>
            <a:custGeom>
              <a:avLst/>
              <a:gdLst/>
              <a:ahLst/>
              <a:cxnLst/>
              <a:rect l="l" t="t" r="r" b="b"/>
              <a:pathLst>
                <a:path w="1428750" h="476250">
                  <a:moveTo>
                    <a:pt x="76200" y="0"/>
                  </a:moveTo>
                  <a:lnTo>
                    <a:pt x="1352550" y="0"/>
                  </a:lnTo>
                  <a:cubicBezTo>
                    <a:pt x="1394634" y="0"/>
                    <a:pt x="1428750" y="34116"/>
                    <a:pt x="1428750" y="76200"/>
                  </a:cubicBezTo>
                  <a:lnTo>
                    <a:pt x="1428750" y="400050"/>
                  </a:lnTo>
                  <a:cubicBezTo>
                    <a:pt x="1428750" y="442134"/>
                    <a:pt x="1394634" y="476250"/>
                    <a:pt x="1352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8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356104" y="389524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HTTP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9715500" y="4191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2D5016"/>
              </a:solidFill>
            </a:ln>
          </p:spPr>
        </p:sp>
        <p:sp>
          <p:nvSpPr>
            <p:cNvPr id="80" name="Polygon 80"/>
            <p:cNvSpPr/>
            <p:nvPr/>
          </p:nvSpPr>
          <p:spPr>
            <a:xfrm>
              <a:off x="9658350" y="43815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81" name="Freeform 81"/>
            <p:cNvSpPr/>
            <p:nvPr/>
          </p:nvSpPr>
          <p:spPr>
            <a:xfrm>
              <a:off x="8191500" y="4524375"/>
              <a:ext cx="3048000" cy="476250"/>
            </a:xfrm>
            <a:custGeom>
              <a:avLst/>
              <a:gdLst/>
              <a:ahLst/>
              <a:cxnLst/>
              <a:rect l="l" t="t" r="r" b="b"/>
              <a:pathLst>
                <a:path w="3048000" h="476250">
                  <a:moveTo>
                    <a:pt x="76200" y="0"/>
                  </a:moveTo>
                  <a:lnTo>
                    <a:pt x="2971800" y="0"/>
                  </a:lnTo>
                  <a:cubicBezTo>
                    <a:pt x="3013884" y="0"/>
                    <a:pt x="3048000" y="34116"/>
                    <a:pt x="3048000" y="76200"/>
                  </a:cubicBezTo>
                  <a:lnTo>
                    <a:pt x="3048000" y="400050"/>
                  </a:lnTo>
                  <a:cubicBezTo>
                    <a:pt x="3048000" y="442134"/>
                    <a:pt x="3013884" y="476250"/>
                    <a:pt x="2971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1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219105" y="469677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后端服务接收</a:t>
              </a:r>
            </a:p>
          </p:txBody>
        </p:sp>
        <p:sp>
          <p:nvSpPr>
            <p:cNvPr id="83" name="Freeform 83"/>
            <p:cNvSpPr/>
            <p:nvPr/>
          </p:nvSpPr>
          <p:spPr>
            <a:xfrm>
              <a:off x="8096250" y="5191125"/>
              <a:ext cx="3238500" cy="285750"/>
            </a:xfrm>
            <a:custGeom>
              <a:avLst/>
              <a:gdLst/>
              <a:ahLst/>
              <a:cxnLst/>
              <a:rect l="l" t="t" r="r" b="b"/>
              <a:pathLst>
                <a:path w="3238500" h="285750">
                  <a:moveTo>
                    <a:pt x="57150" y="0"/>
                  </a:moveTo>
                  <a:lnTo>
                    <a:pt x="3181350" y="0"/>
                  </a:lnTo>
                  <a:cubicBezTo>
                    <a:pt x="3212913" y="0"/>
                    <a:pt x="3238500" y="25587"/>
                    <a:pt x="3238500" y="57150"/>
                  </a:cubicBezTo>
                  <a:lnTo>
                    <a:pt x="3238500" y="228600"/>
                  </a:lnTo>
                  <a:cubicBezTo>
                    <a:pt x="3238500" y="260163"/>
                    <a:pt x="3212913" y="285750"/>
                    <a:pt x="31813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5F0E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771215" y="5302091"/>
              <a:ext cx="18885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dyn/devices/:deviceId/readings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05 / 18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服务端架构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23825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025223" y="1397318"/>
            <a:ext cx="61415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Node.js 24 + TypeScript + Fastify + SQLite + sqlite-vec + Zod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1905000"/>
            <a:ext cx="2571750" cy="1047750"/>
            <a:chOff x="571500" y="1905000"/>
            <a:chExt cx="2571750" cy="1047750"/>
          </a:xfrm>
        </p:grpSpPr>
        <p:sp>
          <p:nvSpPr>
            <p:cNvPr id="7" name="Freeform 7"/>
            <p:cNvSpPr/>
            <p:nvPr/>
          </p:nvSpPr>
          <p:spPr>
            <a:xfrm>
              <a:off x="5715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76513" y="2062388"/>
              <a:ext cx="237674" cy="237674"/>
            </a:xfrm>
            <a:custGeom>
              <a:avLst/>
              <a:gdLst/>
              <a:ahLst/>
              <a:cxnLst/>
              <a:rect l="l" t="t" r="r" b="b"/>
              <a:pathLst>
                <a:path w="237674" h="237674">
                  <a:moveTo>
                    <a:pt x="148252" y="30837"/>
                  </a:moveTo>
                  <a:cubicBezTo>
                    <a:pt x="148857" y="33333"/>
                    <a:pt x="150616" y="35390"/>
                    <a:pt x="152988" y="36374"/>
                  </a:cubicBezTo>
                  <a:cubicBezTo>
                    <a:pt x="155360" y="37358"/>
                    <a:pt x="158060" y="37151"/>
                    <a:pt x="160253" y="35816"/>
                  </a:cubicBezTo>
                  <a:cubicBezTo>
                    <a:pt x="187357" y="19314"/>
                    <a:pt x="218372" y="50317"/>
                    <a:pt x="201870" y="77421"/>
                  </a:cubicBezTo>
                  <a:cubicBezTo>
                    <a:pt x="200535" y="79613"/>
                    <a:pt x="200326" y="82311"/>
                    <a:pt x="201307" y="84682"/>
                  </a:cubicBezTo>
                  <a:cubicBezTo>
                    <a:pt x="202289" y="87054"/>
                    <a:pt x="204343" y="88815"/>
                    <a:pt x="206837" y="89422"/>
                  </a:cubicBezTo>
                  <a:cubicBezTo>
                    <a:pt x="237674" y="96901"/>
                    <a:pt x="237674" y="140762"/>
                    <a:pt x="206837" y="148252"/>
                  </a:cubicBezTo>
                  <a:cubicBezTo>
                    <a:pt x="204341" y="148857"/>
                    <a:pt x="202284" y="150616"/>
                    <a:pt x="201300" y="152988"/>
                  </a:cubicBezTo>
                  <a:cubicBezTo>
                    <a:pt x="200316" y="155360"/>
                    <a:pt x="200524" y="158060"/>
                    <a:pt x="201859" y="160253"/>
                  </a:cubicBezTo>
                  <a:cubicBezTo>
                    <a:pt x="218361" y="187357"/>
                    <a:pt x="187357" y="218372"/>
                    <a:pt x="160253" y="201870"/>
                  </a:cubicBezTo>
                  <a:cubicBezTo>
                    <a:pt x="158061" y="200535"/>
                    <a:pt x="155364" y="200326"/>
                    <a:pt x="152992" y="201307"/>
                  </a:cubicBezTo>
                  <a:cubicBezTo>
                    <a:pt x="150620" y="202289"/>
                    <a:pt x="148859" y="204343"/>
                    <a:pt x="148252" y="206837"/>
                  </a:cubicBezTo>
                  <a:cubicBezTo>
                    <a:pt x="140773" y="237674"/>
                    <a:pt x="96912" y="237674"/>
                    <a:pt x="89422" y="206837"/>
                  </a:cubicBezTo>
                  <a:cubicBezTo>
                    <a:pt x="88818" y="204341"/>
                    <a:pt x="87058" y="202284"/>
                    <a:pt x="84686" y="201300"/>
                  </a:cubicBezTo>
                  <a:cubicBezTo>
                    <a:pt x="82314" y="200316"/>
                    <a:pt x="79615" y="200524"/>
                    <a:pt x="77421" y="201859"/>
                  </a:cubicBezTo>
                  <a:cubicBezTo>
                    <a:pt x="50317" y="218361"/>
                    <a:pt x="19302" y="187357"/>
                    <a:pt x="35804" y="160253"/>
                  </a:cubicBezTo>
                  <a:cubicBezTo>
                    <a:pt x="37139" y="158061"/>
                    <a:pt x="37348" y="155364"/>
                    <a:pt x="36367" y="152992"/>
                  </a:cubicBezTo>
                  <a:cubicBezTo>
                    <a:pt x="35385" y="150620"/>
                    <a:pt x="33331" y="148859"/>
                    <a:pt x="30837" y="148252"/>
                  </a:cubicBezTo>
                  <a:cubicBezTo>
                    <a:pt x="0" y="140773"/>
                    <a:pt x="0" y="96912"/>
                    <a:pt x="30837" y="89422"/>
                  </a:cubicBezTo>
                  <a:cubicBezTo>
                    <a:pt x="33333" y="88818"/>
                    <a:pt x="35390" y="87058"/>
                    <a:pt x="36374" y="84686"/>
                  </a:cubicBezTo>
                  <a:cubicBezTo>
                    <a:pt x="37358" y="82314"/>
                    <a:pt x="37151" y="79615"/>
                    <a:pt x="35816" y="77421"/>
                  </a:cubicBezTo>
                  <a:cubicBezTo>
                    <a:pt x="19314" y="50317"/>
                    <a:pt x="50317" y="19302"/>
                    <a:pt x="77421" y="35804"/>
                  </a:cubicBezTo>
                  <a:cubicBezTo>
                    <a:pt x="79611" y="37150"/>
                    <a:pt x="82313" y="37364"/>
                    <a:pt x="84688" y="36381"/>
                  </a:cubicBezTo>
                  <a:cubicBezTo>
                    <a:pt x="87063" y="35398"/>
                    <a:pt x="88823" y="33337"/>
                    <a:pt x="89422" y="30837"/>
                  </a:cubicBezTo>
                  <a:cubicBezTo>
                    <a:pt x="96901" y="0"/>
                    <a:pt x="140762" y="0"/>
                    <a:pt x="148252" y="30837"/>
                  </a:cubicBezTo>
                  <a:close/>
                  <a:moveTo>
                    <a:pt x="118837" y="85500"/>
                  </a:moveTo>
                  <a:cubicBezTo>
                    <a:pt x="100425" y="85500"/>
                    <a:pt x="85500" y="100425"/>
                    <a:pt x="85500" y="118837"/>
                  </a:cubicBezTo>
                  <a:cubicBezTo>
                    <a:pt x="85500" y="137249"/>
                    <a:pt x="100425" y="152175"/>
                    <a:pt x="118837" y="152175"/>
                  </a:cubicBezTo>
                  <a:cubicBezTo>
                    <a:pt x="137249" y="152175"/>
                    <a:pt x="152175" y="137249"/>
                    <a:pt x="152175" y="118837"/>
                  </a:cubicBezTo>
                  <a:cubicBezTo>
                    <a:pt x="152175" y="100425"/>
                    <a:pt x="137249" y="85500"/>
                    <a:pt x="118837" y="85500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8966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设备管理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0570" y="2379345"/>
              <a:ext cx="1357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读数上传 · 待认领登记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550795"/>
              <a:ext cx="12978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认领 · 密钥校验/轮换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722245"/>
              <a:ext cx="14556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MQTT 自动下发设备密钥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333750" y="1905000"/>
            <a:ext cx="2571750" cy="1047750"/>
            <a:chOff x="3333750" y="1905000"/>
            <a:chExt cx="2571750" cy="1047750"/>
          </a:xfrm>
        </p:grpSpPr>
        <p:sp>
          <p:nvSpPr>
            <p:cNvPr id="15" name="Freeform 15"/>
            <p:cNvSpPr/>
            <p:nvPr/>
          </p:nvSpPr>
          <p:spPr>
            <a:xfrm>
              <a:off x="333375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333375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557394" y="2081212"/>
              <a:ext cx="200218" cy="211797"/>
            </a:xfrm>
            <a:custGeom>
              <a:avLst/>
              <a:gdLst/>
              <a:ahLst/>
              <a:cxnLst/>
              <a:rect l="l" t="t" r="r" b="b"/>
              <a:pathLst>
                <a:path w="200218" h="211797">
                  <a:moveTo>
                    <a:pt x="804" y="125882"/>
                  </a:moveTo>
                  <a:lnTo>
                    <a:pt x="604" y="124016"/>
                  </a:lnTo>
                  <a:lnTo>
                    <a:pt x="560" y="123538"/>
                  </a:lnTo>
                  <a:cubicBezTo>
                    <a:pt x="174" y="119401"/>
                    <a:pt x="0" y="115247"/>
                    <a:pt x="38" y="111092"/>
                  </a:cubicBezTo>
                  <a:cubicBezTo>
                    <a:pt x="238" y="41194"/>
                    <a:pt x="47710" y="0"/>
                    <a:pt x="144500" y="0"/>
                  </a:cubicBezTo>
                  <a:lnTo>
                    <a:pt x="189106" y="0"/>
                  </a:lnTo>
                  <a:cubicBezTo>
                    <a:pt x="195243" y="0"/>
                    <a:pt x="200218" y="4975"/>
                    <a:pt x="200218" y="11112"/>
                  </a:cubicBezTo>
                  <a:lnTo>
                    <a:pt x="200196" y="33971"/>
                  </a:lnTo>
                  <a:cubicBezTo>
                    <a:pt x="194662" y="130661"/>
                    <a:pt x="147523" y="177800"/>
                    <a:pt x="66868" y="177800"/>
                  </a:cubicBezTo>
                  <a:lnTo>
                    <a:pt x="37631" y="177800"/>
                  </a:lnTo>
                  <a:cubicBezTo>
                    <a:pt x="35720" y="185514"/>
                    <a:pt x="34327" y="193347"/>
                    <a:pt x="33464" y="201247"/>
                  </a:cubicBezTo>
                  <a:cubicBezTo>
                    <a:pt x="33027" y="205194"/>
                    <a:pt x="30518" y="208607"/>
                    <a:pt x="26882" y="210202"/>
                  </a:cubicBezTo>
                  <a:cubicBezTo>
                    <a:pt x="23246" y="211797"/>
                    <a:pt x="19036" y="211331"/>
                    <a:pt x="15837" y="208980"/>
                  </a:cubicBezTo>
                  <a:cubicBezTo>
                    <a:pt x="12637" y="206628"/>
                    <a:pt x="10936" y="202749"/>
                    <a:pt x="11372" y="198803"/>
                  </a:cubicBezTo>
                  <a:cubicBezTo>
                    <a:pt x="12661" y="187186"/>
                    <a:pt x="14810" y="176270"/>
                    <a:pt x="17818" y="166054"/>
                  </a:cubicBezTo>
                  <a:lnTo>
                    <a:pt x="16506" y="164432"/>
                  </a:lnTo>
                  <a:lnTo>
                    <a:pt x="14195" y="161320"/>
                  </a:lnTo>
                  <a:lnTo>
                    <a:pt x="12450" y="158775"/>
                  </a:lnTo>
                  <a:lnTo>
                    <a:pt x="10428" y="155519"/>
                  </a:lnTo>
                  <a:lnTo>
                    <a:pt x="9339" y="153619"/>
                  </a:lnTo>
                  <a:lnTo>
                    <a:pt x="8616" y="152263"/>
                  </a:lnTo>
                  <a:cubicBezTo>
                    <a:pt x="6851" y="148910"/>
                    <a:pt x="5375" y="145411"/>
                    <a:pt x="4205" y="141807"/>
                  </a:cubicBezTo>
                  <a:lnTo>
                    <a:pt x="3405" y="139173"/>
                  </a:lnTo>
                  <a:lnTo>
                    <a:pt x="2460" y="135539"/>
                  </a:lnTo>
                  <a:lnTo>
                    <a:pt x="1827" y="132561"/>
                  </a:lnTo>
                  <a:lnTo>
                    <a:pt x="1349" y="129872"/>
                  </a:lnTo>
                  <a:close/>
                  <a:moveTo>
                    <a:pt x="95694" y="78743"/>
                  </a:moveTo>
                  <a:cubicBezTo>
                    <a:pt x="64079" y="92800"/>
                    <a:pt x="41754" y="113525"/>
                    <a:pt x="27819" y="140784"/>
                  </a:cubicBezTo>
                  <a:cubicBezTo>
                    <a:pt x="28545" y="142266"/>
                    <a:pt x="29352" y="143748"/>
                    <a:pt x="30241" y="145229"/>
                  </a:cubicBezTo>
                  <a:lnTo>
                    <a:pt x="32297" y="148352"/>
                  </a:lnTo>
                  <a:lnTo>
                    <a:pt x="33075" y="149430"/>
                  </a:lnTo>
                  <a:cubicBezTo>
                    <a:pt x="33964" y="150645"/>
                    <a:pt x="34920" y="151863"/>
                    <a:pt x="35942" y="153086"/>
                  </a:cubicBezTo>
                  <a:lnTo>
                    <a:pt x="38131" y="155575"/>
                  </a:lnTo>
                  <a:lnTo>
                    <a:pt x="45343" y="155575"/>
                  </a:lnTo>
                  <a:cubicBezTo>
                    <a:pt x="56867" y="130339"/>
                    <a:pt x="76203" y="111725"/>
                    <a:pt x="104717" y="99057"/>
                  </a:cubicBezTo>
                  <a:cubicBezTo>
                    <a:pt x="110327" y="96565"/>
                    <a:pt x="112854" y="89998"/>
                    <a:pt x="110362" y="84388"/>
                  </a:cubicBezTo>
                  <a:cubicBezTo>
                    <a:pt x="107871" y="78779"/>
                    <a:pt x="101303" y="76251"/>
                    <a:pt x="95694" y="78743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85191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植物档案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12820" y="2379345"/>
              <a:ext cx="13767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档案 · 状态 · 读数历史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12820" y="255079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Care Profile 建议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2820" y="27222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LLM / 模板双模式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0" y="1905000"/>
            <a:ext cx="2571750" cy="1047750"/>
            <a:chOff x="6096000" y="1905000"/>
            <a:chExt cx="2571750" cy="1047750"/>
          </a:xfrm>
        </p:grpSpPr>
        <p:sp>
          <p:nvSpPr>
            <p:cNvPr id="23" name="Freeform 23"/>
            <p:cNvSpPr/>
            <p:nvPr/>
          </p:nvSpPr>
          <p:spPr>
            <a:xfrm>
              <a:off x="60960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6096000" y="190500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297268" y="2071711"/>
              <a:ext cx="245508" cy="219816"/>
            </a:xfrm>
            <a:custGeom>
              <a:avLst/>
              <a:gdLst/>
              <a:ahLst/>
              <a:cxnLst/>
              <a:rect l="l" t="t" r="r" b="b"/>
              <a:pathLst>
                <a:path w="245508" h="219816">
                  <a:moveTo>
                    <a:pt x="53918" y="30726"/>
                  </a:moveTo>
                  <a:cubicBezTo>
                    <a:pt x="97245" y="0"/>
                    <a:pt x="159131" y="2511"/>
                    <a:pt x="199192" y="36671"/>
                  </a:cubicBezTo>
                  <a:cubicBezTo>
                    <a:pt x="239941" y="71442"/>
                    <a:pt x="245508" y="128216"/>
                    <a:pt x="211993" y="168888"/>
                  </a:cubicBezTo>
                  <a:cubicBezTo>
                    <a:pt x="180423" y="207193"/>
                    <a:pt x="123482" y="219816"/>
                    <a:pt x="76076" y="200058"/>
                  </a:cubicBezTo>
                  <a:lnTo>
                    <a:pt x="73487" y="198936"/>
                  </a:lnTo>
                  <a:lnTo>
                    <a:pt x="24881" y="209282"/>
                  </a:lnTo>
                  <a:lnTo>
                    <a:pt x="24436" y="209348"/>
                  </a:lnTo>
                  <a:lnTo>
                    <a:pt x="24047" y="209426"/>
                  </a:lnTo>
                  <a:lnTo>
                    <a:pt x="23847" y="209426"/>
                  </a:lnTo>
                  <a:lnTo>
                    <a:pt x="23603" y="209482"/>
                  </a:lnTo>
                  <a:lnTo>
                    <a:pt x="23181" y="209482"/>
                  </a:lnTo>
                  <a:lnTo>
                    <a:pt x="22814" y="209526"/>
                  </a:lnTo>
                  <a:lnTo>
                    <a:pt x="22581" y="209515"/>
                  </a:lnTo>
                  <a:lnTo>
                    <a:pt x="22325" y="209526"/>
                  </a:lnTo>
                  <a:lnTo>
                    <a:pt x="21958" y="209493"/>
                  </a:lnTo>
                  <a:lnTo>
                    <a:pt x="21569" y="209493"/>
                  </a:lnTo>
                  <a:lnTo>
                    <a:pt x="21325" y="209448"/>
                  </a:lnTo>
                  <a:lnTo>
                    <a:pt x="21080" y="209426"/>
                  </a:lnTo>
                  <a:lnTo>
                    <a:pt x="20691" y="209348"/>
                  </a:lnTo>
                  <a:lnTo>
                    <a:pt x="20314" y="209293"/>
                  </a:lnTo>
                  <a:lnTo>
                    <a:pt x="20136" y="209248"/>
                  </a:lnTo>
                  <a:lnTo>
                    <a:pt x="19869" y="209193"/>
                  </a:lnTo>
                  <a:lnTo>
                    <a:pt x="19325" y="209015"/>
                  </a:lnTo>
                  <a:lnTo>
                    <a:pt x="19058" y="208959"/>
                  </a:lnTo>
                  <a:lnTo>
                    <a:pt x="18936" y="208904"/>
                  </a:lnTo>
                  <a:lnTo>
                    <a:pt x="18691" y="208826"/>
                  </a:lnTo>
                  <a:lnTo>
                    <a:pt x="18191" y="208604"/>
                  </a:lnTo>
                  <a:lnTo>
                    <a:pt x="17858" y="208471"/>
                  </a:lnTo>
                  <a:lnTo>
                    <a:pt x="17736" y="208404"/>
                  </a:lnTo>
                  <a:lnTo>
                    <a:pt x="17580" y="208337"/>
                  </a:lnTo>
                  <a:lnTo>
                    <a:pt x="17235" y="208137"/>
                  </a:lnTo>
                  <a:lnTo>
                    <a:pt x="16735" y="207870"/>
                  </a:lnTo>
                  <a:lnTo>
                    <a:pt x="16558" y="207748"/>
                  </a:lnTo>
                  <a:lnTo>
                    <a:pt x="16146" y="207459"/>
                  </a:lnTo>
                  <a:lnTo>
                    <a:pt x="15702" y="207159"/>
                  </a:lnTo>
                  <a:lnTo>
                    <a:pt x="15680" y="207115"/>
                  </a:lnTo>
                  <a:lnTo>
                    <a:pt x="15535" y="207015"/>
                  </a:lnTo>
                  <a:lnTo>
                    <a:pt x="15057" y="206570"/>
                  </a:lnTo>
                  <a:lnTo>
                    <a:pt x="14780" y="206348"/>
                  </a:lnTo>
                  <a:lnTo>
                    <a:pt x="14713" y="206270"/>
                  </a:lnTo>
                  <a:lnTo>
                    <a:pt x="14091" y="205581"/>
                  </a:lnTo>
                  <a:lnTo>
                    <a:pt x="13946" y="205426"/>
                  </a:lnTo>
                  <a:lnTo>
                    <a:pt x="13824" y="205270"/>
                  </a:lnTo>
                  <a:lnTo>
                    <a:pt x="13391" y="204648"/>
                  </a:lnTo>
                  <a:lnTo>
                    <a:pt x="13235" y="204437"/>
                  </a:lnTo>
                  <a:lnTo>
                    <a:pt x="13179" y="204326"/>
                  </a:lnTo>
                  <a:lnTo>
                    <a:pt x="12713" y="203514"/>
                  </a:lnTo>
                  <a:lnTo>
                    <a:pt x="12635" y="203381"/>
                  </a:lnTo>
                  <a:lnTo>
                    <a:pt x="12590" y="203292"/>
                  </a:lnTo>
                  <a:lnTo>
                    <a:pt x="12513" y="203159"/>
                  </a:lnTo>
                  <a:lnTo>
                    <a:pt x="12357" y="202736"/>
                  </a:lnTo>
                  <a:lnTo>
                    <a:pt x="12135" y="202270"/>
                  </a:lnTo>
                  <a:lnTo>
                    <a:pt x="12090" y="202092"/>
                  </a:lnTo>
                  <a:lnTo>
                    <a:pt x="12046" y="201981"/>
                  </a:lnTo>
                  <a:lnTo>
                    <a:pt x="11857" y="201303"/>
                  </a:lnTo>
                  <a:lnTo>
                    <a:pt x="11779" y="201103"/>
                  </a:lnTo>
                  <a:lnTo>
                    <a:pt x="11757" y="200936"/>
                  </a:lnTo>
                  <a:lnTo>
                    <a:pt x="11701" y="200725"/>
                  </a:lnTo>
                  <a:lnTo>
                    <a:pt x="11646" y="200358"/>
                  </a:lnTo>
                  <a:lnTo>
                    <a:pt x="11557" y="199892"/>
                  </a:lnTo>
                  <a:lnTo>
                    <a:pt x="11535" y="199547"/>
                  </a:lnTo>
                  <a:lnTo>
                    <a:pt x="11501" y="199436"/>
                  </a:lnTo>
                  <a:lnTo>
                    <a:pt x="11501" y="199258"/>
                  </a:lnTo>
                  <a:lnTo>
                    <a:pt x="11457" y="198658"/>
                  </a:lnTo>
                  <a:lnTo>
                    <a:pt x="11468" y="198258"/>
                  </a:lnTo>
                  <a:lnTo>
                    <a:pt x="11479" y="198003"/>
                  </a:lnTo>
                  <a:lnTo>
                    <a:pt x="11501" y="197414"/>
                  </a:lnTo>
                  <a:lnTo>
                    <a:pt x="11546" y="197136"/>
                  </a:lnTo>
                  <a:lnTo>
                    <a:pt x="11546" y="196925"/>
                  </a:lnTo>
                  <a:lnTo>
                    <a:pt x="11635" y="196536"/>
                  </a:lnTo>
                  <a:lnTo>
                    <a:pt x="11690" y="196158"/>
                  </a:lnTo>
                  <a:lnTo>
                    <a:pt x="11746" y="195936"/>
                  </a:lnTo>
                  <a:lnTo>
                    <a:pt x="11790" y="195713"/>
                  </a:lnTo>
                  <a:lnTo>
                    <a:pt x="11990" y="195047"/>
                  </a:lnTo>
                  <a:lnTo>
                    <a:pt x="12024" y="194902"/>
                  </a:lnTo>
                  <a:lnTo>
                    <a:pt x="24803" y="156564"/>
                  </a:lnTo>
                  <a:lnTo>
                    <a:pt x="24559" y="156153"/>
                  </a:lnTo>
                  <a:cubicBezTo>
                    <a:pt x="0" y="114514"/>
                    <a:pt x="11124" y="62908"/>
                    <a:pt x="51373" y="32593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416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聊天引擎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5070" y="2379345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流式 + 非流式对话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5070" y="2550795"/>
              <a:ext cx="13833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LLM 不可用时 fallback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5070" y="2722245"/>
              <a:ext cx="14293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OpenAI-compatible API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858250" y="1905000"/>
            <a:ext cx="2762250" cy="1047750"/>
            <a:chOff x="8858250" y="1905000"/>
            <a:chExt cx="2762250" cy="1047750"/>
          </a:xfrm>
        </p:grpSpPr>
        <p:sp>
          <p:nvSpPr>
            <p:cNvPr id="31" name="Freeform 31"/>
            <p:cNvSpPr/>
            <p:nvPr/>
          </p:nvSpPr>
          <p:spPr>
            <a:xfrm>
              <a:off x="8858250" y="190500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858250" y="190500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082087" y="2070100"/>
              <a:ext cx="200026" cy="222250"/>
              <a:chOff x="9082087" y="2070100"/>
              <a:chExt cx="200026" cy="22225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9082088" y="2222686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162"/>
                      <a:pt x="156742" y="68953"/>
                      <a:pt x="103424" y="69642"/>
                    </a:cubicBezTo>
                    <a:lnTo>
                      <a:pt x="100012" y="69664"/>
                    </a:lnTo>
                    <a:cubicBezTo>
                      <a:pt x="45139" y="69664"/>
                      <a:pt x="0" y="52740"/>
                      <a:pt x="0" y="25214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082088" y="2156011"/>
                <a:ext cx="200025" cy="6966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9664">
                    <a:moveTo>
                      <a:pt x="0" y="0"/>
                    </a:moveTo>
                    <a:cubicBezTo>
                      <a:pt x="21869" y="16747"/>
                      <a:pt x="58163" y="25214"/>
                      <a:pt x="100012" y="25214"/>
                    </a:cubicBezTo>
                    <a:cubicBezTo>
                      <a:pt x="141795" y="25214"/>
                      <a:pt x="178078" y="16769"/>
                      <a:pt x="200025" y="189"/>
                    </a:cubicBezTo>
                    <a:lnTo>
                      <a:pt x="200025" y="25214"/>
                    </a:lnTo>
                    <a:cubicBezTo>
                      <a:pt x="200025" y="52740"/>
                      <a:pt x="154886" y="69664"/>
                      <a:pt x="100012" y="69664"/>
                    </a:cubicBezTo>
                    <a:cubicBezTo>
                      <a:pt x="46695" y="69664"/>
                      <a:pt x="2556" y="53684"/>
                      <a:pt x="233" y="27492"/>
                    </a:cubicBezTo>
                    <a:lnTo>
                      <a:pt x="56" y="26370"/>
                    </a:lnTo>
                    <a:lnTo>
                      <a:pt x="0" y="25214"/>
                    </a:ln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082087" y="20701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100013" y="0"/>
                    </a:moveTo>
                    <a:cubicBezTo>
                      <a:pt x="111581" y="0"/>
                      <a:pt x="122727" y="756"/>
                      <a:pt x="133095" y="2200"/>
                    </a:cubicBezTo>
                    <a:lnTo>
                      <a:pt x="138307" y="2989"/>
                    </a:lnTo>
                    <a:cubicBezTo>
                      <a:pt x="144530" y="4026"/>
                      <a:pt x="150405" y="5315"/>
                      <a:pt x="155931" y="6856"/>
                    </a:cubicBezTo>
                    <a:lnTo>
                      <a:pt x="160821" y="8312"/>
                    </a:lnTo>
                    <a:lnTo>
                      <a:pt x="161654" y="8579"/>
                    </a:lnTo>
                    <a:cubicBezTo>
                      <a:pt x="164679" y="9573"/>
                      <a:pt x="167663" y="10685"/>
                      <a:pt x="170600" y="11913"/>
                    </a:cubicBezTo>
                    <a:lnTo>
                      <a:pt x="172811" y="12868"/>
                    </a:lnTo>
                    <a:cubicBezTo>
                      <a:pt x="176775" y="14661"/>
                      <a:pt x="180357" y="16624"/>
                      <a:pt x="183557" y="18758"/>
                    </a:cubicBezTo>
                    <a:cubicBezTo>
                      <a:pt x="184780" y="19573"/>
                      <a:pt x="185939" y="20406"/>
                      <a:pt x="187035" y="21258"/>
                    </a:cubicBezTo>
                    <a:cubicBezTo>
                      <a:pt x="189813" y="23413"/>
                      <a:pt x="192310" y="25907"/>
                      <a:pt x="194470" y="28681"/>
                    </a:cubicBezTo>
                    <a:lnTo>
                      <a:pt x="195481" y="30104"/>
                    </a:lnTo>
                    <a:cubicBezTo>
                      <a:pt x="195999" y="30882"/>
                      <a:pt x="196477" y="31663"/>
                      <a:pt x="196914" y="32448"/>
                    </a:cubicBezTo>
                    <a:lnTo>
                      <a:pt x="197692" y="33993"/>
                    </a:lnTo>
                    <a:cubicBezTo>
                      <a:pt x="198900" y="36586"/>
                      <a:pt x="199641" y="39290"/>
                      <a:pt x="199915" y="42105"/>
                    </a:cubicBezTo>
                    <a:lnTo>
                      <a:pt x="200026" y="44450"/>
                    </a:lnTo>
                    <a:cubicBezTo>
                      <a:pt x="200026" y="71976"/>
                      <a:pt x="154887" y="88900"/>
                      <a:pt x="100013" y="88900"/>
                    </a:cubicBezTo>
                    <a:cubicBezTo>
                      <a:pt x="46696" y="88900"/>
                      <a:pt x="2557" y="72920"/>
                      <a:pt x="234" y="46728"/>
                    </a:cubicBezTo>
                    <a:cubicBezTo>
                      <a:pt x="78" y="45979"/>
                      <a:pt x="0" y="45215"/>
                      <a:pt x="1" y="44450"/>
                    </a:cubicBezTo>
                    <a:lnTo>
                      <a:pt x="56" y="43294"/>
                    </a:lnTo>
                    <a:lnTo>
                      <a:pt x="234" y="42183"/>
                    </a:lnTo>
                    <a:cubicBezTo>
                      <a:pt x="2512" y="16558"/>
                      <a:pt x="44795" y="700"/>
                      <a:pt x="96546" y="22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376410" y="210883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记忆系统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37320" y="2379345"/>
              <a:ext cx="13964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AgentGal 生命周期管理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37320" y="2550795"/>
              <a:ext cx="1587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FTS5 + BM25 + sqlite-vec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37320" y="2722245"/>
              <a:ext cx="1311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可选 Rerank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3143250"/>
            <a:ext cx="2571750" cy="1047750"/>
            <a:chOff x="571500" y="3143250"/>
            <a:chExt cx="2571750" cy="1047750"/>
          </a:xfrm>
        </p:grpSpPr>
        <p:sp>
          <p:nvSpPr>
            <p:cNvPr id="42" name="Freeform 42"/>
            <p:cNvSpPr/>
            <p:nvPr/>
          </p:nvSpPr>
          <p:spPr>
            <a:xfrm>
              <a:off x="5715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5715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05947" y="3308350"/>
              <a:ext cx="178806" cy="226373"/>
            </a:xfrm>
            <a:custGeom>
              <a:avLst/>
              <a:gdLst/>
              <a:ahLst/>
              <a:cxnLst/>
              <a:rect l="l" t="t" r="r" b="b"/>
              <a:pathLst>
                <a:path w="178806" h="226373">
                  <a:moveTo>
                    <a:pt x="100516" y="0"/>
                  </a:moveTo>
                  <a:lnTo>
                    <a:pt x="100716" y="11"/>
                  </a:lnTo>
                  <a:lnTo>
                    <a:pt x="100893" y="22"/>
                  </a:lnTo>
                  <a:lnTo>
                    <a:pt x="101816" y="78"/>
                  </a:lnTo>
                  <a:lnTo>
                    <a:pt x="101938" y="100"/>
                  </a:lnTo>
                  <a:lnTo>
                    <a:pt x="102060" y="100"/>
                  </a:lnTo>
                  <a:lnTo>
                    <a:pt x="102483" y="200"/>
                  </a:lnTo>
                  <a:lnTo>
                    <a:pt x="103060" y="289"/>
                  </a:lnTo>
                  <a:lnTo>
                    <a:pt x="103238" y="356"/>
                  </a:lnTo>
                  <a:lnTo>
                    <a:pt x="103360" y="367"/>
                  </a:lnTo>
                  <a:lnTo>
                    <a:pt x="103683" y="489"/>
                  </a:lnTo>
                  <a:lnTo>
                    <a:pt x="104261" y="645"/>
                  </a:lnTo>
                  <a:lnTo>
                    <a:pt x="104472" y="745"/>
                  </a:lnTo>
                  <a:lnTo>
                    <a:pt x="104638" y="789"/>
                  </a:lnTo>
                  <a:lnTo>
                    <a:pt x="104950" y="945"/>
                  </a:lnTo>
                  <a:lnTo>
                    <a:pt x="105394" y="1133"/>
                  </a:lnTo>
                  <a:lnTo>
                    <a:pt x="105627" y="1267"/>
                  </a:lnTo>
                  <a:lnTo>
                    <a:pt x="105872" y="1378"/>
                  </a:lnTo>
                  <a:lnTo>
                    <a:pt x="106127" y="1545"/>
                  </a:lnTo>
                  <a:lnTo>
                    <a:pt x="106472" y="1734"/>
                  </a:lnTo>
                  <a:lnTo>
                    <a:pt x="106850" y="2000"/>
                  </a:lnTo>
                  <a:lnTo>
                    <a:pt x="107050" y="2122"/>
                  </a:lnTo>
                  <a:lnTo>
                    <a:pt x="107194" y="2256"/>
                  </a:lnTo>
                  <a:lnTo>
                    <a:pt x="107461" y="2445"/>
                  </a:lnTo>
                  <a:lnTo>
                    <a:pt x="107883" y="2823"/>
                  </a:lnTo>
                  <a:lnTo>
                    <a:pt x="108128" y="3011"/>
                  </a:lnTo>
                  <a:lnTo>
                    <a:pt x="108217" y="3123"/>
                  </a:lnTo>
                  <a:lnTo>
                    <a:pt x="108372" y="3256"/>
                  </a:lnTo>
                  <a:lnTo>
                    <a:pt x="108772" y="3712"/>
                  </a:lnTo>
                  <a:lnTo>
                    <a:pt x="109061" y="4012"/>
                  </a:lnTo>
                  <a:lnTo>
                    <a:pt x="109128" y="4112"/>
                  </a:lnTo>
                  <a:cubicBezTo>
                    <a:pt x="110461" y="5745"/>
                    <a:pt x="111306" y="7690"/>
                    <a:pt x="111550" y="9812"/>
                  </a:cubicBezTo>
                  <a:lnTo>
                    <a:pt x="111561" y="9946"/>
                  </a:lnTo>
                  <a:lnTo>
                    <a:pt x="111584" y="10401"/>
                  </a:lnTo>
                  <a:lnTo>
                    <a:pt x="111628" y="11113"/>
                  </a:lnTo>
                  <a:lnTo>
                    <a:pt x="111628" y="77788"/>
                  </a:lnTo>
                  <a:lnTo>
                    <a:pt x="167191" y="77788"/>
                  </a:lnTo>
                  <a:cubicBezTo>
                    <a:pt x="171154" y="77787"/>
                    <a:pt x="174819" y="79897"/>
                    <a:pt x="176807" y="83326"/>
                  </a:cubicBezTo>
                  <a:cubicBezTo>
                    <a:pt x="178795" y="86755"/>
                    <a:pt x="178806" y="90983"/>
                    <a:pt x="176836" y="94423"/>
                  </a:cubicBezTo>
                  <a:lnTo>
                    <a:pt x="176170" y="95434"/>
                  </a:lnTo>
                  <a:lnTo>
                    <a:pt x="87270" y="217672"/>
                  </a:lnTo>
                  <a:cubicBezTo>
                    <a:pt x="80958" y="226373"/>
                    <a:pt x="67178" y="221894"/>
                    <a:pt x="67178" y="211138"/>
                  </a:cubicBezTo>
                  <a:lnTo>
                    <a:pt x="67178" y="144463"/>
                  </a:lnTo>
                  <a:lnTo>
                    <a:pt x="11616" y="144463"/>
                  </a:lnTo>
                  <a:cubicBezTo>
                    <a:pt x="7652" y="144463"/>
                    <a:pt x="3988" y="142353"/>
                    <a:pt x="1999" y="138924"/>
                  </a:cubicBezTo>
                  <a:cubicBezTo>
                    <a:pt x="11" y="135495"/>
                    <a:pt x="0" y="131267"/>
                    <a:pt x="1970" y="127827"/>
                  </a:cubicBezTo>
                  <a:lnTo>
                    <a:pt x="2637" y="126816"/>
                  </a:lnTo>
                  <a:lnTo>
                    <a:pt x="91537" y="4578"/>
                  </a:lnTo>
                  <a:lnTo>
                    <a:pt x="91648" y="4434"/>
                  </a:lnTo>
                  <a:lnTo>
                    <a:pt x="91848" y="4167"/>
                  </a:lnTo>
                  <a:lnTo>
                    <a:pt x="92215" y="3745"/>
                  </a:lnTo>
                  <a:lnTo>
                    <a:pt x="92415" y="3500"/>
                  </a:lnTo>
                  <a:lnTo>
                    <a:pt x="92515" y="3412"/>
                  </a:lnTo>
                  <a:lnTo>
                    <a:pt x="92659" y="3256"/>
                  </a:lnTo>
                  <a:lnTo>
                    <a:pt x="93104" y="2856"/>
                  </a:lnTo>
                  <a:lnTo>
                    <a:pt x="93415" y="2567"/>
                  </a:lnTo>
                  <a:lnTo>
                    <a:pt x="93504" y="2500"/>
                  </a:lnTo>
                  <a:cubicBezTo>
                    <a:pt x="94806" y="1434"/>
                    <a:pt x="96334" y="678"/>
                    <a:pt x="97971" y="289"/>
                  </a:cubicBezTo>
                  <a:lnTo>
                    <a:pt x="98093" y="278"/>
                  </a:lnTo>
                  <a:lnTo>
                    <a:pt x="98393" y="222"/>
                  </a:lnTo>
                  <a:lnTo>
                    <a:pt x="99215" y="78"/>
                  </a:lnTo>
                  <a:lnTo>
                    <a:pt x="99338" y="67"/>
                  </a:lnTo>
                  <a:lnTo>
                    <a:pt x="99793" y="44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8966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主动发言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0570" y="3617595"/>
              <a:ext cx="135702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传感器异常 · 天气提醒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0570" y="37890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用户自定义提醒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0570" y="3960495"/>
              <a:ext cx="1245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冷却去重 · LLM 润色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333750" y="3143250"/>
            <a:ext cx="2571750" cy="1047750"/>
            <a:chOff x="3333750" y="3143250"/>
            <a:chExt cx="2571750" cy="1047750"/>
          </a:xfrm>
        </p:grpSpPr>
        <p:sp>
          <p:nvSpPr>
            <p:cNvPr id="50" name="Freeform 50"/>
            <p:cNvSpPr/>
            <p:nvPr/>
          </p:nvSpPr>
          <p:spPr>
            <a:xfrm>
              <a:off x="333375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333375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3575731" y="3295660"/>
              <a:ext cx="173186" cy="235253"/>
              <a:chOff x="3575731" y="3295660"/>
              <a:chExt cx="173186" cy="23525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3590925" y="3330573"/>
                <a:ext cx="111563" cy="111983"/>
              </a:xfrm>
              <a:custGeom>
                <a:avLst/>
                <a:gdLst/>
                <a:ahLst/>
                <a:cxnLst/>
                <a:rect l="l" t="t" r="r" b="b"/>
                <a:pathLst>
                  <a:path w="111563" h="111983">
                    <a:moveTo>
                      <a:pt x="55562" y="2"/>
                    </a:moveTo>
                    <a:cubicBezTo>
                      <a:pt x="85936" y="0"/>
                      <a:pt x="110682" y="24388"/>
                      <a:pt x="111122" y="54758"/>
                    </a:cubicBezTo>
                    <a:cubicBezTo>
                      <a:pt x="111563" y="85128"/>
                      <a:pt x="87535" y="110224"/>
                      <a:pt x="57175" y="111103"/>
                    </a:cubicBezTo>
                    <a:cubicBezTo>
                      <a:pt x="26814" y="111983"/>
                      <a:pt x="1374" y="88320"/>
                      <a:pt x="56" y="57976"/>
                    </a:cubicBezTo>
                    <a:lnTo>
                      <a:pt x="0" y="55564"/>
                    </a:lnTo>
                    <a:lnTo>
                      <a:pt x="56" y="53153"/>
                    </a:lnTo>
                    <a:cubicBezTo>
                      <a:pt x="1347" y="23434"/>
                      <a:pt x="25815" y="3"/>
                      <a:pt x="55562" y="2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575731" y="3295660"/>
                <a:ext cx="173186" cy="197035"/>
              </a:xfrm>
              <a:custGeom>
                <a:avLst/>
                <a:gdLst/>
                <a:ahLst/>
                <a:cxnLst/>
                <a:rect l="l" t="t" r="r" b="b"/>
                <a:pathLst>
                  <a:path w="173186" h="197035">
                    <a:moveTo>
                      <a:pt x="105572" y="7156"/>
                    </a:moveTo>
                    <a:cubicBezTo>
                      <a:pt x="108629" y="1836"/>
                      <a:pt x="115419" y="0"/>
                      <a:pt x="120741" y="3055"/>
                    </a:cubicBezTo>
                    <a:cubicBezTo>
                      <a:pt x="153782" y="22046"/>
                      <a:pt x="173186" y="58139"/>
                      <a:pt x="170803" y="96174"/>
                    </a:cubicBezTo>
                    <a:cubicBezTo>
                      <a:pt x="168420" y="134209"/>
                      <a:pt x="144663" y="167599"/>
                      <a:pt x="109510" y="182317"/>
                    </a:cubicBezTo>
                    <a:cubicBezTo>
                      <a:pt x="74357" y="197035"/>
                      <a:pt x="33898" y="190533"/>
                      <a:pt x="5126" y="165542"/>
                    </a:cubicBezTo>
                    <a:cubicBezTo>
                      <a:pt x="493" y="161516"/>
                      <a:pt x="0" y="154496"/>
                      <a:pt x="4026" y="149863"/>
                    </a:cubicBezTo>
                    <a:cubicBezTo>
                      <a:pt x="8052" y="145229"/>
                      <a:pt x="15072" y="144736"/>
                      <a:pt x="19706" y="148762"/>
                    </a:cubicBezTo>
                    <a:cubicBezTo>
                      <a:pt x="42094" y="168209"/>
                      <a:pt x="73577" y="173268"/>
                      <a:pt x="100931" y="161815"/>
                    </a:cubicBezTo>
                    <a:cubicBezTo>
                      <a:pt x="128285" y="150362"/>
                      <a:pt x="146772" y="124381"/>
                      <a:pt x="148626" y="94785"/>
                    </a:cubicBezTo>
                    <a:cubicBezTo>
                      <a:pt x="150481" y="65188"/>
                      <a:pt x="135383" y="37103"/>
                      <a:pt x="109673" y="22324"/>
                    </a:cubicBezTo>
                    <a:cubicBezTo>
                      <a:pt x="104352" y="19267"/>
                      <a:pt x="102517" y="12477"/>
                      <a:pt x="105572" y="7156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635375" y="3463925"/>
                <a:ext cx="22225" cy="66988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66988">
                    <a:moveTo>
                      <a:pt x="11112" y="0"/>
                    </a:moveTo>
                    <a:cubicBezTo>
                      <a:pt x="16746" y="1"/>
                      <a:pt x="21488" y="4217"/>
                      <a:pt x="22147" y="9812"/>
                    </a:cubicBezTo>
                    <a:lnTo>
                      <a:pt x="22225" y="11112"/>
                    </a:lnTo>
                    <a:lnTo>
                      <a:pt x="22225" y="55562"/>
                    </a:lnTo>
                    <a:cubicBezTo>
                      <a:pt x="22218" y="61442"/>
                      <a:pt x="17633" y="66299"/>
                      <a:pt x="11764" y="66644"/>
                    </a:cubicBezTo>
                    <a:cubicBezTo>
                      <a:pt x="5894" y="66988"/>
                      <a:pt x="772" y="62701"/>
                      <a:pt x="78" y="56863"/>
                    </a:cubicBezTo>
                    <a:lnTo>
                      <a:pt x="0" y="55562"/>
                    </a:lnTo>
                    <a:lnTo>
                      <a:pt x="0" y="11112"/>
                    </a:lnTo>
                    <a:cubicBezTo>
                      <a:pt x="0" y="4975"/>
                      <a:pt x="4975" y="0"/>
                      <a:pt x="11112" y="0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590612" y="3508375"/>
                <a:ext cx="111751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11751" h="22225">
                    <a:moveTo>
                      <a:pt x="100326" y="0"/>
                    </a:moveTo>
                    <a:cubicBezTo>
                      <a:pt x="106205" y="7"/>
                      <a:pt x="111062" y="4592"/>
                      <a:pt x="111407" y="10461"/>
                    </a:cubicBezTo>
                    <a:cubicBezTo>
                      <a:pt x="111751" y="16331"/>
                      <a:pt x="107464" y="21453"/>
                      <a:pt x="101626" y="22147"/>
                    </a:cubicBezTo>
                    <a:lnTo>
                      <a:pt x="100326" y="22225"/>
                    </a:lnTo>
                    <a:lnTo>
                      <a:pt x="11426" y="22225"/>
                    </a:lnTo>
                    <a:cubicBezTo>
                      <a:pt x="5546" y="22218"/>
                      <a:pt x="689" y="17633"/>
                      <a:pt x="345" y="11764"/>
                    </a:cubicBezTo>
                    <a:cubicBezTo>
                      <a:pt x="0" y="5894"/>
                      <a:pt x="4287" y="772"/>
                      <a:pt x="10125" y="78"/>
                    </a:cubicBezTo>
                    <a:lnTo>
                      <a:pt x="11426" y="0"/>
                    </a:lnTo>
                    <a:lnTo>
                      <a:pt x="100326" y="0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385191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实时同步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512820" y="361759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SQLite sync_events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512820" y="3789045"/>
              <a:ext cx="8049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SSE 实时推送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12820" y="39604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多端实时刷新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0" y="3143250"/>
            <a:ext cx="2571750" cy="1047750"/>
            <a:chOff x="6096000" y="3143250"/>
            <a:chExt cx="2571750" cy="1047750"/>
          </a:xfrm>
        </p:grpSpPr>
        <p:sp>
          <p:nvSpPr>
            <p:cNvPr id="62" name="Freeform 62"/>
            <p:cNvSpPr/>
            <p:nvPr/>
          </p:nvSpPr>
          <p:spPr>
            <a:xfrm>
              <a:off x="60960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6096000" y="3143250"/>
              <a:ext cx="2571750" cy="1047750"/>
            </a:xfrm>
            <a:custGeom>
              <a:avLst/>
              <a:gdLst/>
              <a:ahLst/>
              <a:cxnLst/>
              <a:rect l="l" t="t" r="r" b="b"/>
              <a:pathLst>
                <a:path w="2571750" h="104775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952500"/>
                  </a:lnTo>
                  <a:cubicBezTo>
                    <a:pt x="2571750" y="1005105"/>
                    <a:pt x="2529105" y="1047750"/>
                    <a:pt x="24765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6297612" y="3326552"/>
              <a:ext cx="244475" cy="170755"/>
            </a:xfrm>
            <a:custGeom>
              <a:avLst/>
              <a:gdLst/>
              <a:ahLst/>
              <a:cxnLst/>
              <a:rect l="l" t="t" r="r" b="b"/>
              <a:pathLst>
                <a:path w="244475" h="170755">
                  <a:moveTo>
                    <a:pt x="100457" y="7412"/>
                  </a:moveTo>
                  <a:cubicBezTo>
                    <a:pt x="124849" y="0"/>
                    <a:pt x="151741" y="4923"/>
                    <a:pt x="171133" y="20480"/>
                  </a:cubicBezTo>
                  <a:cubicBezTo>
                    <a:pt x="186534" y="32793"/>
                    <a:pt x="195447" y="50329"/>
                    <a:pt x="196158" y="68709"/>
                  </a:cubicBezTo>
                  <a:lnTo>
                    <a:pt x="196191" y="71064"/>
                  </a:lnTo>
                  <a:lnTo>
                    <a:pt x="197202" y="71098"/>
                  </a:lnTo>
                  <a:cubicBezTo>
                    <a:pt x="222761" y="72287"/>
                    <a:pt x="243242" y="92889"/>
                    <a:pt x="244431" y="118548"/>
                  </a:cubicBezTo>
                  <a:lnTo>
                    <a:pt x="244475" y="120893"/>
                  </a:lnTo>
                  <a:cubicBezTo>
                    <a:pt x="244475" y="147641"/>
                    <a:pt x="223528" y="169477"/>
                    <a:pt x="197191" y="170699"/>
                  </a:cubicBezTo>
                  <a:lnTo>
                    <a:pt x="194858" y="170755"/>
                  </a:lnTo>
                  <a:lnTo>
                    <a:pt x="62863" y="170755"/>
                  </a:lnTo>
                  <a:lnTo>
                    <a:pt x="60396" y="170666"/>
                  </a:lnTo>
                  <a:cubicBezTo>
                    <a:pt x="27726" y="169443"/>
                    <a:pt x="1311" y="144007"/>
                    <a:pt x="56" y="112181"/>
                  </a:cubicBezTo>
                  <a:lnTo>
                    <a:pt x="0" y="109780"/>
                  </a:lnTo>
                  <a:cubicBezTo>
                    <a:pt x="0" y="79254"/>
                    <a:pt x="23114" y="54107"/>
                    <a:pt x="53162" y="49584"/>
                  </a:cubicBezTo>
                  <a:lnTo>
                    <a:pt x="54429" y="49406"/>
                  </a:lnTo>
                  <a:lnTo>
                    <a:pt x="55207" y="47395"/>
                  </a:lnTo>
                  <a:cubicBezTo>
                    <a:pt x="62574" y="29393"/>
                    <a:pt x="78054" y="15102"/>
                    <a:pt x="97757" y="8301"/>
                  </a:cubicBezTo>
                  <a:lnTo>
                    <a:pt x="100468" y="7412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61416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天气服务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75070" y="3617595"/>
              <a:ext cx="14818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代理和风天气 QWeather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75070" y="3789045"/>
              <a:ext cx="122558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实时天气 + 城市搜索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75070" y="396049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雨天自动提醒带伞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858250" y="3143250"/>
            <a:ext cx="2762250" cy="1047750"/>
            <a:chOff x="8858250" y="3143250"/>
            <a:chExt cx="2762250" cy="1047750"/>
          </a:xfrm>
        </p:grpSpPr>
        <p:sp>
          <p:nvSpPr>
            <p:cNvPr id="70" name="Freeform 70"/>
            <p:cNvSpPr/>
            <p:nvPr/>
          </p:nvSpPr>
          <p:spPr>
            <a:xfrm>
              <a:off x="8858250" y="314325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8858250" y="3143250"/>
              <a:ext cx="2762250" cy="1047750"/>
            </a:xfrm>
            <a:custGeom>
              <a:avLst/>
              <a:gdLst/>
              <a:ahLst/>
              <a:cxnLst/>
              <a:rect l="l" t="t" r="r" b="b"/>
              <a:pathLst>
                <a:path w="2762250" h="1047750">
                  <a:moveTo>
                    <a:pt x="95250" y="0"/>
                  </a:moveTo>
                  <a:lnTo>
                    <a:pt x="2667000" y="0"/>
                  </a:lnTo>
                  <a:cubicBezTo>
                    <a:pt x="2719605" y="0"/>
                    <a:pt x="2762250" y="42645"/>
                    <a:pt x="2762250" y="95250"/>
                  </a:cubicBezTo>
                  <a:lnTo>
                    <a:pt x="2762250" y="952500"/>
                  </a:lnTo>
                  <a:cubicBezTo>
                    <a:pt x="2762250" y="1005105"/>
                    <a:pt x="2719605" y="1047750"/>
                    <a:pt x="2667000" y="1047750"/>
                  </a:cubicBezTo>
                  <a:lnTo>
                    <a:pt x="95250" y="1047750"/>
                  </a:lnTo>
                  <a:cubicBezTo>
                    <a:pt x="42645" y="1047750"/>
                    <a:pt x="0" y="1005105"/>
                    <a:pt x="0" y="9525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9065943" y="3308350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6134" y="0"/>
                  </a:move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lnTo>
                    <a:pt x="116134" y="0"/>
                  </a:lnTo>
                  <a:close/>
                  <a:moveTo>
                    <a:pt x="157362" y="81043"/>
                  </a:moveTo>
                  <a:cubicBezTo>
                    <a:pt x="155277" y="78957"/>
                    <a:pt x="152449" y="77784"/>
                    <a:pt x="149500" y="77784"/>
                  </a:cubicBezTo>
                  <a:cubicBezTo>
                    <a:pt x="146550" y="77784"/>
                    <a:pt x="143722" y="78957"/>
                    <a:pt x="141638" y="81043"/>
                  </a:cubicBezTo>
                  <a:lnTo>
                    <a:pt x="105044" y="117626"/>
                  </a:lnTo>
                  <a:lnTo>
                    <a:pt x="90676" y="103268"/>
                  </a:lnTo>
                  <a:lnTo>
                    <a:pt x="89631" y="102346"/>
                  </a:lnTo>
                  <a:cubicBezTo>
                    <a:pt x="84996" y="98762"/>
                    <a:pt x="78374" y="99393"/>
                    <a:pt x="74499" y="103788"/>
                  </a:cubicBezTo>
                  <a:cubicBezTo>
                    <a:pt x="70623" y="108183"/>
                    <a:pt x="70826" y="114831"/>
                    <a:pt x="74963" y="118982"/>
                  </a:cubicBezTo>
                  <a:lnTo>
                    <a:pt x="97188" y="141207"/>
                  </a:lnTo>
                  <a:lnTo>
                    <a:pt x="98232" y="142129"/>
                  </a:lnTo>
                  <a:cubicBezTo>
                    <a:pt x="102656" y="145560"/>
                    <a:pt x="108942" y="145165"/>
                    <a:pt x="112901" y="141207"/>
                  </a:cubicBezTo>
                  <a:lnTo>
                    <a:pt x="157351" y="96757"/>
                  </a:lnTo>
                  <a:lnTo>
                    <a:pt x="158273" y="95712"/>
                  </a:lnTo>
                  <a:cubicBezTo>
                    <a:pt x="161705" y="91288"/>
                    <a:pt x="161309" y="85002"/>
                    <a:pt x="157351" y="81043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376410" y="3347085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访问鉴权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037320" y="36175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APP_ACCESS_KEY 保护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37320" y="3789045"/>
              <a:ext cx="117957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设备密钥 hash 校验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37320" y="396049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除设备读数外全量保护</a:t>
              </a:r>
            </a:p>
          </p:txBody>
        </p:sp>
      </p:grpSp>
      <p:sp>
        <p:nvSpPr>
          <p:cNvPr id="78" name="Freeform 78"/>
          <p:cNvSpPr/>
          <p:nvPr/>
        </p:nvSpPr>
        <p:spPr>
          <a:xfrm>
            <a:off x="571500" y="4476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9" name="Freeform 79"/>
          <p:cNvSpPr/>
          <p:nvPr/>
        </p:nvSpPr>
        <p:spPr>
          <a:xfrm>
            <a:off x="571500" y="4476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5528691" y="46329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存储与校验层</a:t>
            </a:r>
          </a:p>
        </p:txBody>
      </p:sp>
      <p:sp>
        <p:nvSpPr>
          <p:cNvPr id="81" name="Freeform 81"/>
          <p:cNvSpPr/>
          <p:nvPr/>
        </p:nvSpPr>
        <p:spPr>
          <a:xfrm>
            <a:off x="9525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1661220" y="5028724"/>
            <a:ext cx="4875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SQLite</a:t>
            </a:r>
          </a:p>
        </p:txBody>
      </p:sp>
      <p:sp>
        <p:nvSpPr>
          <p:cNvPr id="83" name="Freeform 83"/>
          <p:cNvSpPr/>
          <p:nvPr/>
        </p:nvSpPr>
        <p:spPr>
          <a:xfrm>
            <a:off x="30480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3632121" y="5028724"/>
            <a:ext cx="7367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sqlite-vec</a:t>
            </a:r>
          </a:p>
        </p:txBody>
      </p:sp>
      <p:sp>
        <p:nvSpPr>
          <p:cNvPr id="85" name="Freeform 85"/>
          <p:cNvSpPr/>
          <p:nvPr/>
        </p:nvSpPr>
        <p:spPr>
          <a:xfrm>
            <a:off x="51435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A849">
              <a:alpha val="6000"/>
            </a:srgbClr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5674221" y="5028724"/>
            <a:ext cx="8435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6914"/>
                </a:solidFill>
                <a:latin typeface="Consolas"/>
                <a:ea typeface="Microsoft YaHei"/>
                <a:cs typeface="Consolas"/>
              </a:rPr>
              <a:t>FTS5 / BM25</a:t>
            </a:r>
          </a:p>
        </p:txBody>
      </p:sp>
      <p:sp>
        <p:nvSpPr>
          <p:cNvPr id="87" name="Freeform 87"/>
          <p:cNvSpPr/>
          <p:nvPr/>
        </p:nvSpPr>
        <p:spPr>
          <a:xfrm>
            <a:off x="72390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4A574">
              <a:alpha val="6000"/>
            </a:srgbClr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8061639" y="5028724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B6914"/>
                </a:solidFill>
                <a:latin typeface="Consolas"/>
                <a:ea typeface="Microsoft YaHei"/>
                <a:cs typeface="Consolas"/>
              </a:rPr>
              <a:t>Zod</a:t>
            </a:r>
          </a:p>
        </p:txBody>
      </p:sp>
      <p:sp>
        <p:nvSpPr>
          <p:cNvPr id="89" name="Freeform 89"/>
          <p:cNvSpPr/>
          <p:nvPr/>
        </p:nvSpPr>
        <p:spPr>
          <a:xfrm>
            <a:off x="9334500" y="4905375"/>
            <a:ext cx="1905000" cy="342900"/>
          </a:xfrm>
          <a:custGeom>
            <a:avLst/>
            <a:gdLst/>
            <a:ahLst/>
            <a:cxnLst/>
            <a:rect l="l" t="t" r="r" b="b"/>
            <a:pathLst>
              <a:path w="1905000" h="3429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85750"/>
                </a:lnTo>
                <a:cubicBezTo>
                  <a:pt x="1905000" y="317313"/>
                  <a:pt x="1879413" y="342900"/>
                  <a:pt x="18478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9705022" y="502872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background_jobs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1573137" y="5562124"/>
            <a:ext cx="90457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plants · devices · sensor_readings · messages · plant_memories · plant_understandings · sync_events · proactive_event_log ...</a:t>
            </a:r>
          </a:p>
        </p:txBody>
      </p:sp>
      <p:sp>
        <p:nvSpPr>
          <p:cNvPr id="92" name="Ellipse 92"/>
          <p:cNvSpPr/>
          <p:nvPr/>
        </p:nvSpPr>
        <p:spPr>
          <a:xfrm>
            <a:off x="11287125" y="6048375"/>
            <a:ext cx="285750" cy="28575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06 / 18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626397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记忆系统：AgentGal 生命周期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1333500"/>
            <a:ext cx="2476500" cy="1524000"/>
            <a:chOff x="571500" y="1333500"/>
            <a:chExt cx="2476500" cy="1524000"/>
          </a:xfrm>
        </p:grpSpPr>
        <p:sp>
          <p:nvSpPr>
            <p:cNvPr id="5" name="Freeform 5"/>
            <p:cNvSpPr/>
            <p:nvPr/>
          </p:nvSpPr>
          <p:spPr>
            <a:xfrm>
              <a:off x="5715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1514475"/>
              <a:ext cx="304800" cy="304800"/>
            </a:xfrm>
            <a:prstGeom prst="ellipse">
              <a:avLst/>
            </a:prstGeom>
            <a:solidFill>
              <a:srgbClr val="E8A849">
                <a:alpha val="15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5012" y="1610678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3480" y="1578292"/>
              <a:ext cx="7174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Drafts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894999"/>
              <a:ext cx="14701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用户消息 · 传感器事件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21045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写入 memory_drafts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0570" y="23793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不阻塞聊天响应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569845"/>
              <a:ext cx="15410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传感器异常可 forceClose</a:t>
              </a:r>
            </a:p>
          </p:txBody>
        </p:sp>
      </p:grpSp>
      <p:sp>
        <p:nvSpPr>
          <p:cNvPr id="15" name="Line 15"/>
          <p:cNvSpPr/>
          <p:nvPr/>
        </p:nvSpPr>
        <p:spPr>
          <a:xfrm>
            <a:off x="3095625" y="2095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E8A849"/>
            </a:solidFill>
          </a:ln>
        </p:spPr>
      </p:sp>
      <p:sp>
        <p:nvSpPr>
          <p:cNvPr id="16" name="Polygon 16"/>
          <p:cNvSpPr/>
          <p:nvPr/>
        </p:nvSpPr>
        <p:spPr>
          <a:xfrm>
            <a:off x="3381375" y="20383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E8A849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3524250" y="1333500"/>
            <a:ext cx="2476500" cy="1524000"/>
            <a:chOff x="3524250" y="1333500"/>
            <a:chExt cx="2476500" cy="1524000"/>
          </a:xfrm>
        </p:grpSpPr>
        <p:sp>
          <p:nvSpPr>
            <p:cNvPr id="17" name="Freeform 17"/>
            <p:cNvSpPr/>
            <p:nvPr/>
          </p:nvSpPr>
          <p:spPr>
            <a:xfrm>
              <a:off x="352425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2425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3752850" y="1514475"/>
              <a:ext cx="304800" cy="304800"/>
            </a:xfrm>
            <a:prstGeom prst="ellipse">
              <a:avLst/>
            </a:prstGeom>
            <a:solidFill>
              <a:srgbClr val="D4A574">
                <a:alpha val="15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847634" y="1610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26230" y="1578292"/>
              <a:ext cx="13592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Consolidation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02368" y="1894999"/>
              <a:ext cx="14914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background_jobs 调度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02368" y="2104549"/>
              <a:ext cx="15341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closure detector 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3320" y="2379345"/>
              <a:ext cx="1435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支持 dedupe · 失败重试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03320" y="2569845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stale running job 恢复</a:t>
              </a:r>
            </a:p>
          </p:txBody>
        </p:sp>
      </p:grpSp>
      <p:sp>
        <p:nvSpPr>
          <p:cNvPr id="27" name="Line 27"/>
          <p:cNvSpPr/>
          <p:nvPr/>
        </p:nvSpPr>
        <p:spPr>
          <a:xfrm>
            <a:off x="6048375" y="2095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D4A574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6334125" y="20383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D4A574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6477000" y="1333500"/>
            <a:ext cx="2476500" cy="1524000"/>
            <a:chOff x="6477000" y="1333500"/>
            <a:chExt cx="2476500" cy="1524000"/>
          </a:xfrm>
        </p:grpSpPr>
        <p:sp>
          <p:nvSpPr>
            <p:cNvPr id="29" name="Freeform 29"/>
            <p:cNvSpPr/>
            <p:nvPr/>
          </p:nvSpPr>
          <p:spPr>
            <a:xfrm>
              <a:off x="64770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477000" y="13335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409700"/>
                  </a:lnTo>
                  <a:cubicBezTo>
                    <a:pt x="2476500" y="1472826"/>
                    <a:pt x="2425326" y="1524000"/>
                    <a:pt x="2362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705600" y="1514475"/>
              <a:ext cx="304800" cy="304800"/>
            </a:xfrm>
            <a:prstGeom prst="ellipse">
              <a:avLst/>
            </a:prstGeom>
            <a:solidFill>
              <a:srgbClr val="4A7C28">
                <a:alpha val="15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0384" y="1610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78980" y="1578292"/>
              <a:ext cx="7795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Episode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5118" y="1894999"/>
              <a:ext cx="13917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EpisodeMemory 生成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55118" y="2104549"/>
              <a:ext cx="14345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写入 plant_memories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6070" y="2379345"/>
              <a:ext cx="12847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raw_dialogue 可追溯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6070" y="25698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不进入向量索引文本</a:t>
              </a:r>
            </a:p>
          </p:txBody>
        </p:sp>
      </p:grpSp>
      <p:sp>
        <p:nvSpPr>
          <p:cNvPr id="39" name="Line 39"/>
          <p:cNvSpPr/>
          <p:nvPr/>
        </p:nvSpPr>
        <p:spPr>
          <a:xfrm>
            <a:off x="9001125" y="20955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19050">
            <a:solidFill>
              <a:srgbClr val="4A7C28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9286875" y="20383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grpSp>
        <p:nvGrpSpPr>
          <p:cNvPr id="50" name="Group 50"/>
          <p:cNvGrpSpPr/>
          <p:nvPr/>
        </p:nvGrpSpPr>
        <p:grpSpPr>
          <a:xfrm>
            <a:off x="9429750" y="1333500"/>
            <a:ext cx="2190750" cy="1524000"/>
            <a:chOff x="9429750" y="1333500"/>
            <a:chExt cx="2190750" cy="1524000"/>
          </a:xfrm>
        </p:grpSpPr>
        <p:sp>
          <p:nvSpPr>
            <p:cNvPr id="41" name="Freeform 41"/>
            <p:cNvSpPr/>
            <p:nvPr/>
          </p:nvSpPr>
          <p:spPr>
            <a:xfrm>
              <a:off x="9429750" y="1333500"/>
              <a:ext cx="2190750" cy="1524000"/>
            </a:xfrm>
            <a:custGeom>
              <a:avLst/>
              <a:gdLst/>
              <a:ahLst/>
              <a:cxnLst/>
              <a:rect l="l" t="t" r="r" b="b"/>
              <a:pathLst>
                <a:path w="2190750" h="1524000">
                  <a:moveTo>
                    <a:pt x="114300" y="0"/>
                  </a:moveTo>
                  <a:lnTo>
                    <a:pt x="2076450" y="0"/>
                  </a:lnTo>
                  <a:cubicBezTo>
                    <a:pt x="2139576" y="0"/>
                    <a:pt x="2190750" y="51174"/>
                    <a:pt x="2190750" y="114300"/>
                  </a:cubicBezTo>
                  <a:lnTo>
                    <a:pt x="2190750" y="1409700"/>
                  </a:lnTo>
                  <a:cubicBezTo>
                    <a:pt x="2190750" y="1472826"/>
                    <a:pt x="2139576" y="1524000"/>
                    <a:pt x="20764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429750" y="1333500"/>
              <a:ext cx="2190750" cy="1524000"/>
            </a:xfrm>
            <a:custGeom>
              <a:avLst/>
              <a:gdLst/>
              <a:ahLst/>
              <a:cxnLst/>
              <a:rect l="l" t="t" r="r" b="b"/>
              <a:pathLst>
                <a:path w="2190750" h="1524000">
                  <a:moveTo>
                    <a:pt x="114300" y="0"/>
                  </a:moveTo>
                  <a:lnTo>
                    <a:pt x="2076450" y="0"/>
                  </a:lnTo>
                  <a:cubicBezTo>
                    <a:pt x="2139576" y="0"/>
                    <a:pt x="2190750" y="51174"/>
                    <a:pt x="2190750" y="114300"/>
                  </a:cubicBezTo>
                  <a:lnTo>
                    <a:pt x="2190750" y="1409700"/>
                  </a:lnTo>
                  <a:cubicBezTo>
                    <a:pt x="2190750" y="1472826"/>
                    <a:pt x="2139576" y="1524000"/>
                    <a:pt x="20764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2D5016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658350" y="1514475"/>
              <a:ext cx="304800" cy="304800"/>
            </a:xfrm>
            <a:prstGeom prst="ellipse">
              <a:avLst/>
            </a:prstGeom>
            <a:solidFill>
              <a:srgbClr val="2D5016">
                <a:alpha val="1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53134" y="1610678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33635" y="1594485"/>
              <a:ext cx="13002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Understanding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07868" y="18949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长期判断形成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07868" y="2104549"/>
              <a:ext cx="15199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plant_understandings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08820" y="237934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UnderstandingPatch 注入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08820" y="2569845"/>
              <a:ext cx="13241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内容变化追加 history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741045" y="3060382"/>
            <a:ext cx="15601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混合检索管线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571500" y="3524250"/>
            <a:ext cx="9620250" cy="571500"/>
            <a:chOff x="571500" y="3524250"/>
            <a:chExt cx="9620250" cy="571500"/>
          </a:xfrm>
        </p:grpSpPr>
        <p:sp>
          <p:nvSpPr>
            <p:cNvPr id="52" name="Freeform 52"/>
            <p:cNvSpPr/>
            <p:nvPr/>
          </p:nvSpPr>
          <p:spPr>
            <a:xfrm>
              <a:off x="57150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59547" y="3685699"/>
              <a:ext cx="7574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Embedding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1237" y="3892391"/>
              <a:ext cx="7740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Query 向量化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95262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208597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219075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471321" y="36856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sqlite-vec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606040" y="38923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向量候选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357187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61" name="Polygon 61"/>
            <p:cNvSpPr/>
            <p:nvPr/>
          </p:nvSpPr>
          <p:spPr>
            <a:xfrm>
              <a:off x="370522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381000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79357" y="3685699"/>
              <a:ext cx="7947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FTS5/BM25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225290" y="3892391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全文候选</a:t>
              </a:r>
            </a:p>
          </p:txBody>
        </p:sp>
        <p:sp>
          <p:nvSpPr>
            <p:cNvPr id="65" name="Line 65"/>
            <p:cNvSpPr/>
            <p:nvPr/>
          </p:nvSpPr>
          <p:spPr>
            <a:xfrm>
              <a:off x="519112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532447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5429250" y="3524250"/>
              <a:ext cx="1524000" cy="571500"/>
            </a:xfrm>
            <a:custGeom>
              <a:avLst/>
              <a:gdLst/>
              <a:ahLst/>
              <a:cxnLst/>
              <a:rect l="l" t="t" r="r" b="b"/>
              <a:pathLst>
                <a:path w="1524000" h="57150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95300"/>
                  </a:lnTo>
                  <a:cubicBezTo>
                    <a:pt x="1524000" y="537384"/>
                    <a:pt x="1489884" y="571500"/>
                    <a:pt x="14478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700408" y="3685699"/>
              <a:ext cx="9816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Hybrid Fusion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545181" y="3892391"/>
              <a:ext cx="12921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0.75 向量 + 0.25 BM25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700087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713422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723900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646662" y="3685699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Rerank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307878" y="3892391"/>
              <a:ext cx="119574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Qwen3-Reranker-8B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8620125" y="381000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76" name="Polygon 76"/>
            <p:cNvSpPr/>
            <p:nvPr/>
          </p:nvSpPr>
          <p:spPr>
            <a:xfrm>
              <a:off x="8753475" y="37623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8858250" y="3524250"/>
              <a:ext cx="1333500" cy="571500"/>
            </a:xfrm>
            <a:custGeom>
              <a:avLst/>
              <a:gdLst/>
              <a:ahLst/>
              <a:cxnLst/>
              <a:rect l="l" t="t" r="r" b="b"/>
              <a:pathLst>
                <a:path w="1333500" h="571500">
                  <a:moveTo>
                    <a:pt x="76200" y="0"/>
                  </a:moveTo>
                  <a:lnTo>
                    <a:pt x="1257300" y="0"/>
                  </a:lnTo>
                  <a:cubicBezTo>
                    <a:pt x="1299384" y="0"/>
                    <a:pt x="1333500" y="34116"/>
                    <a:pt x="1333500" y="76200"/>
                  </a:cubicBezTo>
                  <a:lnTo>
                    <a:pt x="1333500" y="495300"/>
                  </a:lnTo>
                  <a:cubicBezTo>
                    <a:pt x="1333500" y="537384"/>
                    <a:pt x="1299384" y="571500"/>
                    <a:pt x="12573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12000"/>
              </a:srgbClr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213580" y="36856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最终排序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957250" y="3892391"/>
              <a:ext cx="11354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更新 lastRecalledAt</a:t>
              </a:r>
            </a:p>
          </p:txBody>
        </p:sp>
      </p:grpSp>
      <p:sp>
        <p:nvSpPr>
          <p:cNvPr id="81" name="Freeform 81"/>
          <p:cNvSpPr/>
          <p:nvPr/>
        </p:nvSpPr>
        <p:spPr>
          <a:xfrm>
            <a:off x="571500" y="4381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2" name="Freeform 82"/>
          <p:cNvSpPr/>
          <p:nvPr/>
        </p:nvSpPr>
        <p:spPr>
          <a:xfrm>
            <a:off x="571500" y="438150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44855" y="456914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最终排序公式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46760" y="4918710"/>
            <a:ext cx="49289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final =</a:t>
            </a:r>
            <a:r>
              <a:rPr lang="zh-CN" sz="1200" b="1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relevance</a:t>
            </a:r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× 0.50 +</a:t>
            </a:r>
            <a:r>
              <a:rPr lang="zh-CN" sz="1200" b="1" dirty="0">
                <a:solidFill>
                  <a:srgbClr val="E8A849"/>
                </a:solidFill>
                <a:latin typeface="Consolas"/>
                <a:ea typeface="Microsoft YaHei"/>
                <a:cs typeface="Consolas"/>
              </a:rPr>
              <a:t>recency</a:t>
            </a:r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× 0.20 +</a:t>
            </a:r>
            <a:r>
              <a:rPr lang="zh-CN" sz="1200" b="1" dirty="0">
                <a:solidFill>
                  <a:srgbClr val="D4A574"/>
                </a:solidFill>
                <a:latin typeface="Consolas"/>
                <a:ea typeface="Microsoft YaHei"/>
                <a:cs typeface="Consolas"/>
              </a:rPr>
              <a:t>importance</a:t>
            </a:r>
            <a:r>
              <a:rPr lang="zh-CN" sz="1200" dirty="0">
                <a:solidFill>
                  <a:srgbClr val="2B2B2B"/>
                </a:solidFill>
                <a:latin typeface="Consolas"/>
                <a:ea typeface="Microsoft YaHei"/>
                <a:cs typeface="Consolas"/>
              </a:rPr>
              <a:t>× 0.30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49618" y="5133499"/>
            <a:ext cx="6261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relevance 来自 hybrid fusion 或 rerank · recency 使用指数衰减 · importance 来自记忆重要度</a:t>
            </a:r>
          </a:p>
        </p:txBody>
      </p:sp>
      <p:sp>
        <p:nvSpPr>
          <p:cNvPr id="86" name="Freeform 86"/>
          <p:cNvSpPr/>
          <p:nvPr/>
        </p:nvSpPr>
        <p:spPr>
          <a:xfrm>
            <a:off x="571500" y="5619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746760" y="57759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分层上下文</a:t>
            </a:r>
          </a:p>
        </p:txBody>
      </p:sp>
      <p:sp>
        <p:nvSpPr>
          <p:cNvPr id="88" name="Freeform 88"/>
          <p:cNvSpPr/>
          <p:nvPr/>
        </p:nvSpPr>
        <p:spPr>
          <a:xfrm>
            <a:off x="7620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2D5016">
              <a:alpha val="8000"/>
            </a:srgbClr>
          </a:solidFill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1111568" y="6122670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稳定个性 · persona</a:t>
            </a:r>
          </a:p>
        </p:txBody>
      </p:sp>
      <p:sp>
        <p:nvSpPr>
          <p:cNvPr id="90" name="Freeform 90"/>
          <p:cNvSpPr/>
          <p:nvPr/>
        </p:nvSpPr>
        <p:spPr>
          <a:xfrm>
            <a:off x="28575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3042761" y="6122670"/>
            <a:ext cx="1534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当前状态 · plant_status</a:t>
            </a:r>
          </a:p>
        </p:txBody>
      </p:sp>
      <p:sp>
        <p:nvSpPr>
          <p:cNvPr id="92" name="Freeform 92"/>
          <p:cNvSpPr/>
          <p:nvPr/>
        </p:nvSpPr>
        <p:spPr>
          <a:xfrm>
            <a:off x="49530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5253276" y="6122670"/>
            <a:ext cx="130444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近期对话 · messages</a:t>
            </a:r>
          </a:p>
        </p:txBody>
      </p:sp>
      <p:sp>
        <p:nvSpPr>
          <p:cNvPr id="94" name="Freeform 94"/>
          <p:cNvSpPr/>
          <p:nvPr/>
        </p:nvSpPr>
        <p:spPr>
          <a:xfrm>
            <a:off x="7048500" y="6048375"/>
            <a:ext cx="1905000" cy="247650"/>
          </a:xfrm>
          <a:custGeom>
            <a:avLst/>
            <a:gdLst/>
            <a:ahLst/>
            <a:cxnLst/>
            <a:rect l="l" t="t" r="r" b="b"/>
            <a:pathLst>
              <a:path w="1905000" h="247650">
                <a:moveTo>
                  <a:pt x="47625" y="0"/>
                </a:moveTo>
                <a:lnTo>
                  <a:pt x="1857375" y="0"/>
                </a:lnTo>
                <a:cubicBezTo>
                  <a:pt x="1883678" y="0"/>
                  <a:pt x="1905000" y="21322"/>
                  <a:pt x="1905000" y="47625"/>
                </a:cubicBezTo>
                <a:lnTo>
                  <a:pt x="1905000" y="200025"/>
                </a:lnTo>
                <a:cubicBezTo>
                  <a:pt x="1905000" y="226328"/>
                  <a:pt x="1883678" y="247650"/>
                  <a:pt x="1857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7352062" y="6122670"/>
            <a:ext cx="12978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情节记忆 · memories</a:t>
            </a:r>
          </a:p>
        </p:txBody>
      </p:sp>
      <p:sp>
        <p:nvSpPr>
          <p:cNvPr id="96" name="Freeform 96"/>
          <p:cNvSpPr/>
          <p:nvPr/>
        </p:nvSpPr>
        <p:spPr>
          <a:xfrm>
            <a:off x="9144000" y="6048375"/>
            <a:ext cx="2095500" cy="247650"/>
          </a:xfrm>
          <a:custGeom>
            <a:avLst/>
            <a:gdLst/>
            <a:ahLst/>
            <a:cxnLst/>
            <a:rect l="l" t="t" r="r" b="b"/>
            <a:pathLst>
              <a:path w="2095500" h="247650">
                <a:moveTo>
                  <a:pt x="47625" y="0"/>
                </a:moveTo>
                <a:lnTo>
                  <a:pt x="2047875" y="0"/>
                </a:lnTo>
                <a:cubicBezTo>
                  <a:pt x="2074178" y="0"/>
                  <a:pt x="2095500" y="21322"/>
                  <a:pt x="2095500" y="47625"/>
                </a:cubicBezTo>
                <a:lnTo>
                  <a:pt x="2095500" y="200025"/>
                </a:lnTo>
                <a:cubicBezTo>
                  <a:pt x="2095500" y="226328"/>
                  <a:pt x="2074178" y="247650"/>
                  <a:pt x="2047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2D5016">
              <a:alpha val="8000"/>
            </a:srgbClr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9352216" y="6122670"/>
            <a:ext cx="16790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稳定理解 · understandings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07 / 18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421671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记忆召回与引用策略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266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智能引用策略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71500" y="1619250"/>
            <a:ext cx="5334000" cy="762000"/>
            <a:chOff x="571500" y="1619250"/>
            <a:chExt cx="5334000" cy="762000"/>
          </a:xfrm>
        </p:grpSpPr>
        <p:sp>
          <p:nvSpPr>
            <p:cNvPr id="6" name="Freeform 6"/>
            <p:cNvSpPr/>
            <p:nvPr/>
          </p:nvSpPr>
          <p:spPr>
            <a:xfrm>
              <a:off x="571500" y="161925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61925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81050" y="1828800"/>
              <a:ext cx="342900" cy="3429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23010" y="1823085"/>
              <a:ext cx="14198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状态/读数类问题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4915" y="205835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优先回答</a:t>
              </a:r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当前传感器数据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，不主动引用旧记忆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2524125"/>
            <a:ext cx="5334000" cy="762000"/>
            <a:chOff x="571500" y="2524125"/>
            <a:chExt cx="5334000" cy="762000"/>
          </a:xfrm>
        </p:grpSpPr>
        <p:sp>
          <p:nvSpPr>
            <p:cNvPr id="12" name="Freeform 12"/>
            <p:cNvSpPr/>
            <p:nvPr/>
          </p:nvSpPr>
          <p:spPr>
            <a:xfrm>
              <a:off x="571500" y="252412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71500" y="252412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81050" y="2733675"/>
              <a:ext cx="342900" cy="3429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841375" y="2809349"/>
              <a:ext cx="222250" cy="185172"/>
            </a:xfrm>
            <a:custGeom>
              <a:avLst/>
              <a:gdLst/>
              <a:ahLst/>
              <a:cxnLst/>
              <a:rect l="l" t="t" r="r" b="b"/>
              <a:pathLst>
                <a:path w="222250" h="185172">
                  <a:moveTo>
                    <a:pt x="216694" y="19478"/>
                  </a:moveTo>
                  <a:cubicBezTo>
                    <a:pt x="219728" y="21230"/>
                    <a:pt x="221759" y="24310"/>
                    <a:pt x="222172" y="27790"/>
                  </a:cubicBezTo>
                  <a:lnTo>
                    <a:pt x="222250" y="29101"/>
                  </a:lnTo>
                  <a:lnTo>
                    <a:pt x="222250" y="173563"/>
                  </a:lnTo>
                  <a:cubicBezTo>
                    <a:pt x="222250" y="177534"/>
                    <a:pt x="220132" y="181202"/>
                    <a:pt x="216694" y="183187"/>
                  </a:cubicBezTo>
                  <a:cubicBezTo>
                    <a:pt x="213255" y="185172"/>
                    <a:pt x="209019" y="185172"/>
                    <a:pt x="205581" y="183187"/>
                  </a:cubicBezTo>
                  <a:cubicBezTo>
                    <a:pt x="180014" y="168424"/>
                    <a:pt x="148786" y="167316"/>
                    <a:pt x="122238" y="180231"/>
                  </a:cubicBezTo>
                  <a:lnTo>
                    <a:pt x="122238" y="11610"/>
                  </a:lnTo>
                  <a:cubicBezTo>
                    <a:pt x="153319" y="0"/>
                    <a:pt x="187962" y="2886"/>
                    <a:pt x="216694" y="19478"/>
                  </a:cubicBezTo>
                  <a:moveTo>
                    <a:pt x="100012" y="11621"/>
                  </a:moveTo>
                  <a:lnTo>
                    <a:pt x="100024" y="180242"/>
                  </a:lnTo>
                  <a:cubicBezTo>
                    <a:pt x="74551" y="167842"/>
                    <a:pt x="44694" y="168325"/>
                    <a:pt x="19636" y="181542"/>
                  </a:cubicBezTo>
                  <a:lnTo>
                    <a:pt x="16002" y="183543"/>
                  </a:lnTo>
                  <a:lnTo>
                    <a:pt x="14857" y="184031"/>
                  </a:lnTo>
                  <a:lnTo>
                    <a:pt x="14313" y="184209"/>
                  </a:lnTo>
                  <a:lnTo>
                    <a:pt x="13091" y="184498"/>
                  </a:lnTo>
                  <a:lnTo>
                    <a:pt x="12413" y="184609"/>
                  </a:lnTo>
                  <a:lnTo>
                    <a:pt x="11113" y="184676"/>
                  </a:lnTo>
                  <a:lnTo>
                    <a:pt x="10646" y="184676"/>
                  </a:lnTo>
                  <a:lnTo>
                    <a:pt x="9423" y="184543"/>
                  </a:lnTo>
                  <a:lnTo>
                    <a:pt x="8568" y="184387"/>
                  </a:lnTo>
                  <a:lnTo>
                    <a:pt x="7368" y="184031"/>
                  </a:lnTo>
                  <a:lnTo>
                    <a:pt x="5967" y="183409"/>
                  </a:lnTo>
                  <a:lnTo>
                    <a:pt x="4912" y="182787"/>
                  </a:lnTo>
                  <a:lnTo>
                    <a:pt x="3923" y="182042"/>
                  </a:lnTo>
                  <a:lnTo>
                    <a:pt x="3256" y="181420"/>
                  </a:lnTo>
                  <a:lnTo>
                    <a:pt x="2445" y="180509"/>
                  </a:lnTo>
                  <a:lnTo>
                    <a:pt x="1734" y="179520"/>
                  </a:lnTo>
                  <a:lnTo>
                    <a:pt x="1489" y="179120"/>
                  </a:lnTo>
                  <a:lnTo>
                    <a:pt x="1133" y="178453"/>
                  </a:lnTo>
                  <a:lnTo>
                    <a:pt x="645" y="177308"/>
                  </a:lnTo>
                  <a:lnTo>
                    <a:pt x="467" y="176764"/>
                  </a:lnTo>
                  <a:lnTo>
                    <a:pt x="178" y="175542"/>
                  </a:lnTo>
                  <a:lnTo>
                    <a:pt x="67" y="174864"/>
                  </a:lnTo>
                  <a:lnTo>
                    <a:pt x="22" y="174319"/>
                  </a:lnTo>
                  <a:lnTo>
                    <a:pt x="0" y="29101"/>
                  </a:lnTo>
                  <a:cubicBezTo>
                    <a:pt x="0" y="25131"/>
                    <a:pt x="2118" y="21463"/>
                    <a:pt x="5556" y="19478"/>
                  </a:cubicBezTo>
                  <a:cubicBezTo>
                    <a:pt x="34290" y="2889"/>
                    <a:pt x="68933" y="8"/>
                    <a:pt x="100013" y="11621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3010" y="2727960"/>
              <a:ext cx="16222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明确问"记得/上次"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4915" y="296322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允许引用</a:t>
              </a:r>
              <a:r>
                <a:rPr lang="zh-CN" sz="10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中高相关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的记忆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3429000"/>
            <a:ext cx="5334000" cy="762000"/>
            <a:chOff x="571500" y="3429000"/>
            <a:chExt cx="5334000" cy="762000"/>
          </a:xfrm>
        </p:grpSpPr>
        <p:sp>
          <p:nvSpPr>
            <p:cNvPr id="19" name="Freeform 19"/>
            <p:cNvSpPr/>
            <p:nvPr/>
          </p:nvSpPr>
          <p:spPr>
            <a:xfrm>
              <a:off x="571500" y="342900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571500" y="3429000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81050" y="3638550"/>
              <a:ext cx="342900" cy="3429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29684" y="3687785"/>
              <a:ext cx="245509" cy="233989"/>
            </a:xfrm>
            <a:custGeom>
              <a:avLst/>
              <a:gdLst/>
              <a:ahLst/>
              <a:cxnLst/>
              <a:rect l="l" t="t" r="r" b="b"/>
              <a:pathLst>
                <a:path w="245509" h="233989">
                  <a:moveTo>
                    <a:pt x="81066" y="70431"/>
                  </a:moveTo>
                  <a:lnTo>
                    <a:pt x="10168" y="80710"/>
                  </a:lnTo>
                  <a:lnTo>
                    <a:pt x="8913" y="80965"/>
                  </a:lnTo>
                  <a:cubicBezTo>
                    <a:pt x="5042" y="81993"/>
                    <a:pt x="2024" y="85023"/>
                    <a:pt x="1012" y="88897"/>
                  </a:cubicBezTo>
                  <a:cubicBezTo>
                    <a:pt x="0" y="92771"/>
                    <a:pt x="1150" y="96890"/>
                    <a:pt x="4023" y="99679"/>
                  </a:cubicBezTo>
                  <a:lnTo>
                    <a:pt x="55385" y="149674"/>
                  </a:lnTo>
                  <a:lnTo>
                    <a:pt x="43272" y="220294"/>
                  </a:lnTo>
                  <a:lnTo>
                    <a:pt x="43128" y="221516"/>
                  </a:lnTo>
                  <a:cubicBezTo>
                    <a:pt x="42891" y="225519"/>
                    <a:pt x="44829" y="229339"/>
                    <a:pt x="48199" y="231512"/>
                  </a:cubicBezTo>
                  <a:cubicBezTo>
                    <a:pt x="51569" y="233685"/>
                    <a:pt x="55848" y="233874"/>
                    <a:pt x="59397" y="232006"/>
                  </a:cubicBezTo>
                  <a:lnTo>
                    <a:pt x="122805" y="198669"/>
                  </a:lnTo>
                  <a:lnTo>
                    <a:pt x="186068" y="232006"/>
                  </a:lnTo>
                  <a:lnTo>
                    <a:pt x="187179" y="232518"/>
                  </a:lnTo>
                  <a:cubicBezTo>
                    <a:pt x="190914" y="233989"/>
                    <a:pt x="195151" y="233331"/>
                    <a:pt x="198265" y="230798"/>
                  </a:cubicBezTo>
                  <a:cubicBezTo>
                    <a:pt x="201379" y="228265"/>
                    <a:pt x="202884" y="224250"/>
                    <a:pt x="202203" y="220294"/>
                  </a:cubicBezTo>
                  <a:lnTo>
                    <a:pt x="190080" y="149674"/>
                  </a:lnTo>
                  <a:lnTo>
                    <a:pt x="241464" y="99668"/>
                  </a:lnTo>
                  <a:lnTo>
                    <a:pt x="242331" y="98723"/>
                  </a:lnTo>
                  <a:cubicBezTo>
                    <a:pt x="244851" y="95619"/>
                    <a:pt x="245509" y="91399"/>
                    <a:pt x="244054" y="87674"/>
                  </a:cubicBezTo>
                  <a:cubicBezTo>
                    <a:pt x="242599" y="83950"/>
                    <a:pt x="239254" y="81294"/>
                    <a:pt x="235296" y="80721"/>
                  </a:cubicBezTo>
                  <a:lnTo>
                    <a:pt x="164399" y="70431"/>
                  </a:lnTo>
                  <a:lnTo>
                    <a:pt x="132706" y="6200"/>
                  </a:lnTo>
                  <a:cubicBezTo>
                    <a:pt x="130835" y="2404"/>
                    <a:pt x="126970" y="0"/>
                    <a:pt x="122738" y="0"/>
                  </a:cubicBezTo>
                  <a:cubicBezTo>
                    <a:pt x="118506" y="0"/>
                    <a:pt x="114641" y="2404"/>
                    <a:pt x="112770" y="6200"/>
                  </a:cubicBezTo>
                  <a:lnTo>
                    <a:pt x="81066" y="70431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23010" y="36328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高相关记忆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4915" y="3868102"/>
              <a:ext cx="25723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最多引用</a:t>
              </a:r>
              <a:r>
                <a:rPr lang="zh-CN" sz="105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1 条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，且能帮助回答时才引用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4333875"/>
            <a:ext cx="5334000" cy="762000"/>
            <a:chOff x="571500" y="4333875"/>
            <a:chExt cx="5334000" cy="762000"/>
          </a:xfrm>
        </p:grpSpPr>
        <p:sp>
          <p:nvSpPr>
            <p:cNvPr id="26" name="Freeform 26"/>
            <p:cNvSpPr/>
            <p:nvPr/>
          </p:nvSpPr>
          <p:spPr>
            <a:xfrm>
              <a:off x="571500" y="433387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1500" y="4333875"/>
              <a:ext cx="5334000" cy="762000"/>
            </a:xfrm>
            <a:custGeom>
              <a:avLst/>
              <a:gdLst/>
              <a:ahLst/>
              <a:cxnLst/>
              <a:rect l="l" t="t" r="r" b="b"/>
              <a:pathLst>
                <a:path w="5334000" h="762000">
                  <a:moveTo>
                    <a:pt x="95250" y="0"/>
                  </a:moveTo>
                  <a:lnTo>
                    <a:pt x="5238750" y="0"/>
                  </a:lnTo>
                  <a:cubicBezTo>
                    <a:pt x="5291355" y="0"/>
                    <a:pt x="5334000" y="42645"/>
                    <a:pt x="5334000" y="95250"/>
                  </a:cubicBezTo>
                  <a:lnTo>
                    <a:pt x="5334000" y="666750"/>
                  </a:lnTo>
                  <a:cubicBezTo>
                    <a:pt x="5334000" y="719355"/>
                    <a:pt x="5291355" y="762000"/>
                    <a:pt x="5238750" y="762000"/>
                  </a:cubicBezTo>
                  <a:lnTo>
                    <a:pt x="95250" y="762000"/>
                  </a:lnTo>
                  <a:cubicBezTo>
                    <a:pt x="42645" y="762000"/>
                    <a:pt x="0" y="719355"/>
                    <a:pt x="0" y="666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9525">
              <a:solidFill>
                <a:srgbClr val="C45A28">
                  <a:alpha val="30000"/>
                </a:srgbClr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81050" y="4543425"/>
              <a:ext cx="342900" cy="342900"/>
            </a:xfrm>
            <a:prstGeom prst="ellipse">
              <a:avLst/>
            </a:prstGeom>
            <a:solidFill>
              <a:srgbClr val="C45A28">
                <a:alpha val="12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36343" y="4603750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6134" y="0"/>
                  </a:move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lnTo>
                    <a:pt x="116134" y="0"/>
                  </a:lnTo>
                  <a:close/>
                  <a:moveTo>
                    <a:pt x="157362" y="81043"/>
                  </a:moveTo>
                  <a:cubicBezTo>
                    <a:pt x="155277" y="78957"/>
                    <a:pt x="152449" y="77784"/>
                    <a:pt x="149500" y="77784"/>
                  </a:cubicBezTo>
                  <a:cubicBezTo>
                    <a:pt x="146550" y="77784"/>
                    <a:pt x="143722" y="78957"/>
                    <a:pt x="141638" y="81043"/>
                  </a:cubicBezTo>
                  <a:lnTo>
                    <a:pt x="105044" y="117626"/>
                  </a:lnTo>
                  <a:lnTo>
                    <a:pt x="90676" y="103268"/>
                  </a:lnTo>
                  <a:lnTo>
                    <a:pt x="89631" y="102346"/>
                  </a:lnTo>
                  <a:cubicBezTo>
                    <a:pt x="84996" y="98762"/>
                    <a:pt x="78374" y="99393"/>
                    <a:pt x="74499" y="103788"/>
                  </a:cubicBezTo>
                  <a:cubicBezTo>
                    <a:pt x="70623" y="108183"/>
                    <a:pt x="70826" y="114831"/>
                    <a:pt x="74963" y="118982"/>
                  </a:cubicBezTo>
                  <a:lnTo>
                    <a:pt x="97188" y="141207"/>
                  </a:lnTo>
                  <a:lnTo>
                    <a:pt x="98232" y="142129"/>
                  </a:lnTo>
                  <a:cubicBezTo>
                    <a:pt x="102656" y="145560"/>
                    <a:pt x="108942" y="145165"/>
                    <a:pt x="112901" y="141207"/>
                  </a:cubicBezTo>
                  <a:lnTo>
                    <a:pt x="157351" y="96757"/>
                  </a:lnTo>
                  <a:lnTo>
                    <a:pt x="158273" y="95712"/>
                  </a:lnTo>
                  <a:cubicBezTo>
                    <a:pt x="161705" y="91288"/>
                    <a:pt x="161309" y="85002"/>
                    <a:pt x="157351" y="81043"/>
                  </a:cubicBezTo>
                  <a:close/>
                </a:path>
              </a:pathLst>
            </a:custGeom>
            <a:solidFill>
              <a:srgbClr val="C45A2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23010" y="45377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诚实优先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4915" y="4772978"/>
              <a:ext cx="23422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没有可靠记忆时，</a:t>
              </a:r>
              <a:r>
                <a:rPr lang="zh-CN" sz="1050" b="1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禁止说"我记得"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648450" y="12668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引用返回格式</a:t>
            </a:r>
          </a:p>
        </p:txBody>
      </p:sp>
      <p:sp>
        <p:nvSpPr>
          <p:cNvPr id="34" name="Freeform 34"/>
          <p:cNvSpPr/>
          <p:nvPr/>
        </p:nvSpPr>
        <p:spPr>
          <a:xfrm>
            <a:off x="6477000" y="161925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790700"/>
                </a:lnTo>
                <a:cubicBezTo>
                  <a:pt x="5143500" y="1853826"/>
                  <a:pt x="5092326" y="1905000"/>
                  <a:pt x="50292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6477000" y="1619250"/>
            <a:ext cx="5143500" cy="1905000"/>
          </a:xfrm>
          <a:custGeom>
            <a:avLst/>
            <a:gdLst/>
            <a:ahLst/>
            <a:cxnLst/>
            <a:rect l="l" t="t" r="r" b="b"/>
            <a:pathLst>
              <a:path w="5143500" h="19050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790700"/>
                </a:lnTo>
                <a:cubicBezTo>
                  <a:pt x="5143500" y="1853826"/>
                  <a:pt x="5092326" y="1905000"/>
                  <a:pt x="5029200" y="1905000"/>
                </a:cubicBezTo>
                <a:lnTo>
                  <a:pt x="114300" y="1905000"/>
                </a:lnTo>
                <a:cubicBezTo>
                  <a:pt x="51174" y="1905000"/>
                  <a:pt x="0" y="1853826"/>
                  <a:pt x="0" y="1790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655118" y="1799749"/>
            <a:ext cx="19685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"usedMemoryIds": ["..."],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5118" y="2009299"/>
            <a:ext cx="15413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"memoryCitations": [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45618" y="2218849"/>
            <a:ext cx="10927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7C28"/>
                </a:solidFill>
                <a:latin typeface="Consolas"/>
                <a:ea typeface="Microsoft YaHei"/>
                <a:cs typeface="Consolas"/>
              </a:rPr>
              <a:t>"id": "abc123",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45618" y="2428399"/>
            <a:ext cx="21393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A849"/>
                </a:solidFill>
                <a:latin typeface="Consolas"/>
                <a:ea typeface="Microsoft YaHei"/>
                <a:cs typeface="Consolas"/>
              </a:rPr>
              <a:t>"title": "从客厅搬到了东窗边",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45618" y="2637949"/>
            <a:ext cx="16338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D4A574"/>
                </a:solidFill>
                <a:latin typeface="Consolas"/>
                <a:ea typeface="Microsoft YaHei"/>
                <a:cs typeface="Consolas"/>
              </a:rPr>
              <a:t>"date": "2026-05-20",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45618" y="2847499"/>
            <a:ext cx="1249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"relevance": 0.91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55118" y="30570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55118" y="32665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Consolas"/>
                <a:ea typeface="Microsoft YaHei"/>
                <a:cs typeface="Consolas"/>
              </a:rPr>
              <a:t>]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48450" y="37433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召回查询构造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77000" y="4095750"/>
            <a:ext cx="5143500" cy="1238250"/>
          </a:xfrm>
          <a:custGeom>
            <a:avLst/>
            <a:gdLst/>
            <a:ahLst/>
            <a:cxnLst/>
            <a:rect l="l" t="t" r="r" b="b"/>
            <a:pathLst>
              <a:path w="5143500" h="123825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123950"/>
                </a:lnTo>
                <a:cubicBezTo>
                  <a:pt x="5143500" y="1187076"/>
                  <a:pt x="5092326" y="1238250"/>
                  <a:pt x="50292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6" name="Freeform 46"/>
          <p:cNvSpPr/>
          <p:nvPr/>
        </p:nvSpPr>
        <p:spPr>
          <a:xfrm>
            <a:off x="6477000" y="4095750"/>
            <a:ext cx="5143500" cy="1238250"/>
          </a:xfrm>
          <a:custGeom>
            <a:avLst/>
            <a:gdLst/>
            <a:ahLst/>
            <a:cxnLst/>
            <a:rect l="l" t="t" r="r" b="b"/>
            <a:pathLst>
              <a:path w="5143500" h="123825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1123950"/>
                </a:lnTo>
                <a:cubicBezTo>
                  <a:pt x="5143500" y="1187076"/>
                  <a:pt x="5092326" y="1238250"/>
                  <a:pt x="50292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654165" y="4268152"/>
            <a:ext cx="12987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Episode 语义查询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57022" y="4501991"/>
            <a:ext cx="27259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传感器场景 + 最近对话 + 当前关注点 + 主人新消息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165" y="4744402"/>
            <a:ext cx="18300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Understanding 语义查询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7022" y="4978241"/>
            <a:ext cx="2605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关系摘要 + 当前关注点 + 最近对话 + 主人新消息</a:t>
            </a:r>
          </a:p>
        </p:txBody>
      </p:sp>
      <p:sp>
        <p:nvSpPr>
          <p:cNvPr id="51" name="Freeform 51"/>
          <p:cNvSpPr/>
          <p:nvPr/>
        </p:nvSpPr>
        <p:spPr>
          <a:xfrm>
            <a:off x="6477000" y="5524500"/>
            <a:ext cx="5143500" cy="666750"/>
          </a:xfrm>
          <a:custGeom>
            <a:avLst/>
            <a:gdLst/>
            <a:ahLst/>
            <a:cxnLst/>
            <a:rect l="l" t="t" r="r" b="b"/>
            <a:pathLst>
              <a:path w="5143500" h="666750">
                <a:moveTo>
                  <a:pt x="95250" y="0"/>
                </a:moveTo>
                <a:lnTo>
                  <a:pt x="5048250" y="0"/>
                </a:lnTo>
                <a:cubicBezTo>
                  <a:pt x="5100855" y="0"/>
                  <a:pt x="5143500" y="42645"/>
                  <a:pt x="5143500" y="95250"/>
                </a:cubicBezTo>
                <a:lnTo>
                  <a:pt x="5143500" y="571500"/>
                </a:lnTo>
                <a:cubicBezTo>
                  <a:pt x="5143500" y="624105"/>
                  <a:pt x="5100855" y="666750"/>
                  <a:pt x="50482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</p:sp>
      <p:sp>
        <p:nvSpPr>
          <p:cNvPr id="52" name="Freeform 52"/>
          <p:cNvSpPr/>
          <p:nvPr/>
        </p:nvSpPr>
        <p:spPr>
          <a:xfrm>
            <a:off x="6689725" y="5665572"/>
            <a:ext cx="233696" cy="234079"/>
          </a:xfrm>
          <a:custGeom>
            <a:avLst/>
            <a:gdLst/>
            <a:ahLst/>
            <a:cxnLst/>
            <a:rect l="l" t="t" r="r" b="b"/>
            <a:pathLst>
              <a:path w="233696" h="234079">
                <a:moveTo>
                  <a:pt x="166688" y="19868"/>
                </a:moveTo>
                <a:cubicBezTo>
                  <a:pt x="212998" y="46607"/>
                  <a:pt x="233696" y="102539"/>
                  <a:pt x="215949" y="152983"/>
                </a:cubicBezTo>
                <a:cubicBezTo>
                  <a:pt x="198202" y="203428"/>
                  <a:pt x="147043" y="234079"/>
                  <a:pt x="94192" y="225932"/>
                </a:cubicBezTo>
                <a:cubicBezTo>
                  <a:pt x="41341" y="217785"/>
                  <a:pt x="1788" y="173150"/>
                  <a:pt x="56" y="119703"/>
                </a:cubicBezTo>
                <a:lnTo>
                  <a:pt x="0" y="116103"/>
                </a:lnTo>
                <a:lnTo>
                  <a:pt x="56" y="112502"/>
                </a:lnTo>
                <a:cubicBezTo>
                  <a:pt x="1321" y="73464"/>
                  <a:pt x="22990" y="37956"/>
                  <a:pt x="57128" y="18978"/>
                </a:cubicBezTo>
                <a:cubicBezTo>
                  <a:pt x="91267" y="0"/>
                  <a:pt x="132862" y="338"/>
                  <a:pt x="166687" y="19868"/>
                </a:cubicBezTo>
                <a:close/>
                <a:moveTo>
                  <a:pt x="152319" y="86021"/>
                </a:moveTo>
                <a:cubicBezTo>
                  <a:pt x="148360" y="82063"/>
                  <a:pt x="142074" y="81667"/>
                  <a:pt x="137651" y="85099"/>
                </a:cubicBezTo>
                <a:lnTo>
                  <a:pt x="136606" y="86021"/>
                </a:lnTo>
                <a:lnTo>
                  <a:pt x="100012" y="122604"/>
                </a:lnTo>
                <a:lnTo>
                  <a:pt x="85644" y="108246"/>
                </a:lnTo>
                <a:lnTo>
                  <a:pt x="84599" y="107324"/>
                </a:lnTo>
                <a:cubicBezTo>
                  <a:pt x="80176" y="103895"/>
                  <a:pt x="73892" y="104291"/>
                  <a:pt x="69934" y="108249"/>
                </a:cubicBezTo>
                <a:cubicBezTo>
                  <a:pt x="65976" y="112207"/>
                  <a:pt x="65580" y="118491"/>
                  <a:pt x="69009" y="122915"/>
                </a:cubicBezTo>
                <a:lnTo>
                  <a:pt x="69931" y="123959"/>
                </a:lnTo>
                <a:lnTo>
                  <a:pt x="92156" y="146184"/>
                </a:lnTo>
                <a:lnTo>
                  <a:pt x="93201" y="147107"/>
                </a:lnTo>
                <a:cubicBezTo>
                  <a:pt x="97209" y="150217"/>
                  <a:pt x="102816" y="150217"/>
                  <a:pt x="106824" y="147107"/>
                </a:cubicBezTo>
                <a:lnTo>
                  <a:pt x="107869" y="146184"/>
                </a:lnTo>
                <a:lnTo>
                  <a:pt x="152319" y="101734"/>
                </a:lnTo>
                <a:lnTo>
                  <a:pt x="153241" y="100690"/>
                </a:lnTo>
                <a:cubicBezTo>
                  <a:pt x="156673" y="96266"/>
                  <a:pt x="156278" y="89980"/>
                  <a:pt x="152319" y="86021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034212" y="5688806"/>
            <a:ext cx="24352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smoke:memory-citation 通过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036118" y="5924074"/>
            <a:ext cx="36274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直接记忆问题返回 citations，状态/读数问题不过度引用</a:t>
            </a:r>
          </a:p>
        </p:txBody>
      </p:sp>
      <p:sp>
        <p:nvSpPr>
          <p:cNvPr id="55" name="Ellipse 55"/>
          <p:cNvSpPr/>
          <p:nvPr/>
        </p:nvSpPr>
        <p:spPr>
          <a:xfrm>
            <a:off x="11287125" y="809625"/>
            <a:ext cx="285750" cy="285750"/>
          </a:xfrm>
          <a:prstGeom prst="ellipse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08 / 18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主动发言引擎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97821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让植物不只被动回答，还能主动关心主人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428750"/>
            <a:ext cx="3429000" cy="1714500"/>
            <a:chOff x="571500" y="1428750"/>
            <a:chExt cx="3429000" cy="171450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62000" y="1571625"/>
              <a:ext cx="381000" cy="3810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39788" y="1631086"/>
              <a:ext cx="225425" cy="265684"/>
            </a:xfrm>
            <a:custGeom>
              <a:avLst/>
              <a:gdLst/>
              <a:ahLst/>
              <a:cxnLst/>
              <a:rect l="l" t="t" r="r" b="b"/>
              <a:pathLst>
                <a:path w="225425" h="265684">
                  <a:moveTo>
                    <a:pt x="96304" y="8763"/>
                  </a:moveTo>
                  <a:cubicBezTo>
                    <a:pt x="92723" y="11005"/>
                    <a:pt x="89651" y="13973"/>
                    <a:pt x="87287" y="17475"/>
                  </a:cubicBezTo>
                  <a:lnTo>
                    <a:pt x="25159" y="109677"/>
                  </a:lnTo>
                  <a:cubicBezTo>
                    <a:pt x="0" y="151765"/>
                    <a:pt x="9665" y="204495"/>
                    <a:pt x="47600" y="235179"/>
                  </a:cubicBezTo>
                  <a:cubicBezTo>
                    <a:pt x="85306" y="265684"/>
                    <a:pt x="140132" y="265684"/>
                    <a:pt x="177825" y="235179"/>
                  </a:cubicBezTo>
                  <a:cubicBezTo>
                    <a:pt x="215760" y="204495"/>
                    <a:pt x="225425" y="151752"/>
                    <a:pt x="200622" y="110261"/>
                  </a:cubicBezTo>
                  <a:lnTo>
                    <a:pt x="138151" y="17475"/>
                  </a:lnTo>
                  <a:cubicBezTo>
                    <a:pt x="128981" y="3823"/>
                    <a:pt x="110312" y="0"/>
                    <a:pt x="96304" y="8763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21105" y="16640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传感器异常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667000" y="1619250"/>
              <a:ext cx="1143000" cy="247650"/>
            </a:xfrm>
            <a:custGeom>
              <a:avLst/>
              <a:gdLst/>
              <a:ahLst/>
              <a:cxnLst/>
              <a:rect l="l" t="t" r="r" b="b"/>
              <a:pathLst>
                <a:path w="1143000" h="247650">
                  <a:moveTo>
                    <a:pt x="123825" y="0"/>
                  </a:moveTo>
                  <a:lnTo>
                    <a:pt x="1019175" y="0"/>
                  </a:lnTo>
                  <a:cubicBezTo>
                    <a:pt x="1087562" y="0"/>
                    <a:pt x="1143000" y="55438"/>
                    <a:pt x="1143000" y="123825"/>
                  </a:cubicBezTo>
                  <a:lnTo>
                    <a:pt x="1143000" y="123825"/>
                  </a:lnTo>
                  <a:cubicBezTo>
                    <a:pt x="1143000" y="192212"/>
                    <a:pt x="1087562" y="247650"/>
                    <a:pt x="101917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82027" y="16935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最高优先级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1982152"/>
              <a:ext cx="19052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1. soil_low — "我有点渴了"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8665" y="2191702"/>
              <a:ext cx="21352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2. sensor_offline — 离线提醒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8665" y="240125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3. 过湿/温度/光照异常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2712720"/>
              <a:ext cx="17053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冷却: 30分钟 · 离线: 12小时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91000" y="1428750"/>
            <a:ext cx="3429000" cy="1714500"/>
            <a:chOff x="4191000" y="1428750"/>
            <a:chExt cx="3429000" cy="1714500"/>
          </a:xfrm>
        </p:grpSpPr>
        <p:sp>
          <p:nvSpPr>
            <p:cNvPr id="18" name="Freeform 18"/>
            <p:cNvSpPr/>
            <p:nvPr/>
          </p:nvSpPr>
          <p:spPr>
            <a:xfrm>
              <a:off x="41910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191000" y="1428750"/>
              <a:ext cx="3429000" cy="1714500"/>
            </a:xfrm>
            <a:custGeom>
              <a:avLst/>
              <a:gdLst/>
              <a:ahLst/>
              <a:cxnLst/>
              <a:rect l="l" t="t" r="r" b="b"/>
              <a:pathLst>
                <a:path w="3429000" h="1714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1600200"/>
                  </a:lnTo>
                  <a:cubicBezTo>
                    <a:pt x="3429000" y="1663326"/>
                    <a:pt x="3377826" y="1714500"/>
                    <a:pt x="3314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381500" y="1571625"/>
              <a:ext cx="381000" cy="3810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432300" y="1655928"/>
              <a:ext cx="279400" cy="195148"/>
            </a:xfrm>
            <a:custGeom>
              <a:avLst/>
              <a:gdLst/>
              <a:ahLst/>
              <a:cxnLst/>
              <a:rect l="l" t="t" r="r" b="b"/>
              <a:pathLst>
                <a:path w="279400" h="195148">
                  <a:moveTo>
                    <a:pt x="114808" y="8471"/>
                  </a:moveTo>
                  <a:cubicBezTo>
                    <a:pt x="142685" y="0"/>
                    <a:pt x="173419" y="5626"/>
                    <a:pt x="195580" y="23406"/>
                  </a:cubicBezTo>
                  <a:cubicBezTo>
                    <a:pt x="213182" y="37478"/>
                    <a:pt x="223368" y="57518"/>
                    <a:pt x="224180" y="78524"/>
                  </a:cubicBezTo>
                  <a:lnTo>
                    <a:pt x="224219" y="81217"/>
                  </a:lnTo>
                  <a:lnTo>
                    <a:pt x="225374" y="81255"/>
                  </a:lnTo>
                  <a:cubicBezTo>
                    <a:pt x="254584" y="82614"/>
                    <a:pt x="277990" y="106159"/>
                    <a:pt x="279349" y="135484"/>
                  </a:cubicBezTo>
                  <a:lnTo>
                    <a:pt x="279400" y="138163"/>
                  </a:lnTo>
                  <a:cubicBezTo>
                    <a:pt x="279400" y="168732"/>
                    <a:pt x="255460" y="193688"/>
                    <a:pt x="225362" y="195085"/>
                  </a:cubicBezTo>
                  <a:lnTo>
                    <a:pt x="222694" y="195148"/>
                  </a:lnTo>
                  <a:lnTo>
                    <a:pt x="71844" y="195148"/>
                  </a:lnTo>
                  <a:lnTo>
                    <a:pt x="69025" y="195047"/>
                  </a:lnTo>
                  <a:cubicBezTo>
                    <a:pt x="31687" y="193650"/>
                    <a:pt x="1499" y="164579"/>
                    <a:pt x="63" y="128207"/>
                  </a:cubicBezTo>
                  <a:lnTo>
                    <a:pt x="0" y="125463"/>
                  </a:lnTo>
                  <a:cubicBezTo>
                    <a:pt x="0" y="90576"/>
                    <a:pt x="26416" y="61836"/>
                    <a:pt x="60757" y="56667"/>
                  </a:cubicBezTo>
                  <a:lnTo>
                    <a:pt x="62205" y="56464"/>
                  </a:lnTo>
                  <a:lnTo>
                    <a:pt x="63094" y="54166"/>
                  </a:lnTo>
                  <a:cubicBezTo>
                    <a:pt x="71514" y="33592"/>
                    <a:pt x="89205" y="17259"/>
                    <a:pt x="111722" y="9487"/>
                  </a:cubicBezTo>
                  <a:lnTo>
                    <a:pt x="114821" y="8471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840605" y="1664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天气提醒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68165" y="19821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检测到下雨或降水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68165" y="21917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自动提醒主人带伞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68165" y="24012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每个植物各发一条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370070" y="2712720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冷却: 6小时 · 未配置时安静跳过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810500" y="1428750"/>
            <a:ext cx="3810000" cy="1714500"/>
            <a:chOff x="7810500" y="1428750"/>
            <a:chExt cx="3810000" cy="1714500"/>
          </a:xfrm>
        </p:grpSpPr>
        <p:sp>
          <p:nvSpPr>
            <p:cNvPr id="28" name="Freeform 28"/>
            <p:cNvSpPr/>
            <p:nvPr/>
          </p:nvSpPr>
          <p:spPr>
            <a:xfrm>
              <a:off x="7810500" y="1428750"/>
              <a:ext cx="3810000" cy="1714500"/>
            </a:xfrm>
            <a:custGeom>
              <a:avLst/>
              <a:gdLst/>
              <a:ahLst/>
              <a:cxnLst/>
              <a:rect l="l" t="t" r="r" b="b"/>
              <a:pathLst>
                <a:path w="3810000" h="1714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1600200"/>
                  </a:lnTo>
                  <a:cubicBezTo>
                    <a:pt x="3810000" y="1663326"/>
                    <a:pt x="3758826" y="1714500"/>
                    <a:pt x="3695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810500" y="1428750"/>
              <a:ext cx="3810000" cy="1714500"/>
            </a:xfrm>
            <a:custGeom>
              <a:avLst/>
              <a:gdLst/>
              <a:ahLst/>
              <a:cxnLst/>
              <a:rect l="l" t="t" r="r" b="b"/>
              <a:pathLst>
                <a:path w="3810000" h="1714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1600200"/>
                  </a:lnTo>
                  <a:cubicBezTo>
                    <a:pt x="3810000" y="1663326"/>
                    <a:pt x="3758826" y="1714500"/>
                    <a:pt x="3695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001000" y="1571625"/>
              <a:ext cx="381000" cy="3810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077199" y="1634767"/>
              <a:ext cx="228602" cy="254359"/>
              <a:chOff x="8077199" y="1634767"/>
              <a:chExt cx="228602" cy="25435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8077199" y="1634767"/>
                <a:ext cx="228602" cy="254359"/>
              </a:xfrm>
              <a:custGeom>
                <a:avLst/>
                <a:gdLst/>
                <a:ahLst/>
                <a:cxnLst/>
                <a:rect l="l" t="t" r="r" b="b"/>
                <a:pathLst>
                  <a:path w="228602" h="254359">
                    <a:moveTo>
                      <a:pt x="165101" y="358"/>
                    </a:moveTo>
                    <a:cubicBezTo>
                      <a:pt x="171540" y="359"/>
                      <a:pt x="176959" y="5178"/>
                      <a:pt x="177712" y="11572"/>
                    </a:cubicBezTo>
                    <a:lnTo>
                      <a:pt x="177801" y="13058"/>
                    </a:lnTo>
                    <a:lnTo>
                      <a:pt x="177801" y="25758"/>
                    </a:lnTo>
                    <a:lnTo>
                      <a:pt x="190501" y="25758"/>
                    </a:lnTo>
                    <a:cubicBezTo>
                      <a:pt x="210676" y="25757"/>
                      <a:pt x="227354" y="41483"/>
                      <a:pt x="228538" y="61623"/>
                    </a:cubicBezTo>
                    <a:lnTo>
                      <a:pt x="228601" y="63858"/>
                    </a:lnTo>
                    <a:lnTo>
                      <a:pt x="228601" y="216258"/>
                    </a:lnTo>
                    <a:cubicBezTo>
                      <a:pt x="228602" y="236433"/>
                      <a:pt x="212876" y="253111"/>
                      <a:pt x="192736" y="254294"/>
                    </a:cubicBezTo>
                    <a:lnTo>
                      <a:pt x="190501" y="254358"/>
                    </a:lnTo>
                    <a:lnTo>
                      <a:pt x="38101" y="254358"/>
                    </a:lnTo>
                    <a:cubicBezTo>
                      <a:pt x="17926" y="254359"/>
                      <a:pt x="1248" y="238633"/>
                      <a:pt x="65" y="218493"/>
                    </a:cubicBezTo>
                    <a:lnTo>
                      <a:pt x="1" y="216258"/>
                    </a:lnTo>
                    <a:lnTo>
                      <a:pt x="1" y="63858"/>
                    </a:lnTo>
                    <a:cubicBezTo>
                      <a:pt x="0" y="43683"/>
                      <a:pt x="15726" y="27005"/>
                      <a:pt x="35866" y="25821"/>
                    </a:cubicBezTo>
                    <a:lnTo>
                      <a:pt x="38101" y="25758"/>
                    </a:lnTo>
                    <a:lnTo>
                      <a:pt x="50801" y="25758"/>
                    </a:lnTo>
                    <a:lnTo>
                      <a:pt x="50801" y="13058"/>
                    </a:lnTo>
                    <a:cubicBezTo>
                      <a:pt x="50809" y="6338"/>
                      <a:pt x="56049" y="788"/>
                      <a:pt x="62757" y="394"/>
                    </a:cubicBezTo>
                    <a:cubicBezTo>
                      <a:pt x="69465" y="0"/>
                      <a:pt x="75319" y="4900"/>
                      <a:pt x="76112" y="11572"/>
                    </a:cubicBezTo>
                    <a:lnTo>
                      <a:pt x="76201" y="13058"/>
                    </a:lnTo>
                    <a:lnTo>
                      <a:pt x="76201" y="25758"/>
                    </a:lnTo>
                    <a:lnTo>
                      <a:pt x="152401" y="25758"/>
                    </a:lnTo>
                    <a:lnTo>
                      <a:pt x="152401" y="13058"/>
                    </a:lnTo>
                    <a:cubicBezTo>
                      <a:pt x="152401" y="6044"/>
                      <a:pt x="158087" y="358"/>
                      <a:pt x="165101" y="358"/>
                    </a:cubicBezTo>
                    <a:close/>
                    <a:moveTo>
                      <a:pt x="203201" y="89258"/>
                    </a:moveTo>
                    <a:lnTo>
                      <a:pt x="25401" y="89258"/>
                    </a:lnTo>
                    <a:lnTo>
                      <a:pt x="25401" y="211495"/>
                    </a:lnTo>
                    <a:cubicBezTo>
                      <a:pt x="25401" y="220449"/>
                      <a:pt x="30303" y="227828"/>
                      <a:pt x="36615" y="228844"/>
                    </a:cubicBezTo>
                    <a:lnTo>
                      <a:pt x="38101" y="228958"/>
                    </a:lnTo>
                    <a:lnTo>
                      <a:pt x="190501" y="228958"/>
                    </a:lnTo>
                    <a:cubicBezTo>
                      <a:pt x="197016" y="228958"/>
                      <a:pt x="202388" y="222227"/>
                      <a:pt x="203112" y="213527"/>
                    </a:cubicBezTo>
                    <a:lnTo>
                      <a:pt x="203201" y="211495"/>
                    </a:lnTo>
                    <a:lnTo>
                      <a:pt x="203201" y="89258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165742" y="1762125"/>
                <a:ext cx="38458" cy="63858"/>
              </a:xfrm>
              <a:custGeom>
                <a:avLst/>
                <a:gdLst/>
                <a:ahLst/>
                <a:cxnLst/>
                <a:rect l="l" t="t" r="r" b="b"/>
                <a:pathLst>
                  <a:path w="38458" h="63858">
                    <a:moveTo>
                      <a:pt x="25758" y="0"/>
                    </a:moveTo>
                    <a:cubicBezTo>
                      <a:pt x="32196" y="1"/>
                      <a:pt x="37616" y="4820"/>
                      <a:pt x="38369" y="11214"/>
                    </a:cubicBezTo>
                    <a:lnTo>
                      <a:pt x="38458" y="12700"/>
                    </a:lnTo>
                    <a:lnTo>
                      <a:pt x="38458" y="50800"/>
                    </a:lnTo>
                    <a:cubicBezTo>
                      <a:pt x="38450" y="57519"/>
                      <a:pt x="33210" y="63070"/>
                      <a:pt x="26502" y="63464"/>
                    </a:cubicBezTo>
                    <a:cubicBezTo>
                      <a:pt x="19794" y="63858"/>
                      <a:pt x="13940" y="58958"/>
                      <a:pt x="13147" y="52286"/>
                    </a:cubicBezTo>
                    <a:lnTo>
                      <a:pt x="13058" y="50800"/>
                    </a:lnTo>
                    <a:lnTo>
                      <a:pt x="13058" y="25400"/>
                    </a:lnTo>
                    <a:cubicBezTo>
                      <a:pt x="6338" y="25393"/>
                      <a:pt x="788" y="20152"/>
                      <a:pt x="394" y="13444"/>
                    </a:cubicBezTo>
                    <a:cubicBezTo>
                      <a:pt x="0" y="6736"/>
                      <a:pt x="4900" y="883"/>
                      <a:pt x="11572" y="89"/>
                    </a:cubicBezTo>
                    <a:lnTo>
                      <a:pt x="13058" y="0"/>
                    </a:lnTo>
                    <a:lnTo>
                      <a:pt x="25758" y="0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460105" y="1664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用户提醒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87665" y="1982152"/>
              <a:ext cx="15755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"十分钟后提醒我浇水"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87665" y="2191702"/>
              <a:ext cx="18132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"明天早上8点提醒我带伞"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7665" y="240125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规则解析中文时间表达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89570" y="2712720"/>
              <a:ext cx="25728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最长跨度: 30天 · background_jobs 持久化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742950" y="3362325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数据流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71500" y="3762375"/>
            <a:ext cx="11049000" cy="476250"/>
            <a:chOff x="571500" y="3762375"/>
            <a:chExt cx="11049000" cy="476250"/>
          </a:xfrm>
        </p:grpSpPr>
        <p:sp>
          <p:nvSpPr>
            <p:cNvPr id="41" name="Freeform 41"/>
            <p:cNvSpPr/>
            <p:nvPr/>
          </p:nvSpPr>
          <p:spPr>
            <a:xfrm>
              <a:off x="57150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98125" y="3934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事件触发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214312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246697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257175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696462" y="3934778"/>
              <a:ext cx="12745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evaluateReading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414337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446722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457200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20865" y="3934778"/>
              <a:ext cx="12262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sensorTriggers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614362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646747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657225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45A28">
                <a:alpha val="8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8875" y="3934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45A28"/>
                  </a:solidFill>
                  <a:latin typeface="Arial"/>
                  <a:ea typeface="Microsoft YaHei"/>
                  <a:cs typeface="Arial"/>
                </a:rPr>
                <a:t>冷却去重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814387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45A28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846772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C45A28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572500" y="3762375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76200" y="0"/>
                  </a:moveTo>
                  <a:lnTo>
                    <a:pt x="1447800" y="0"/>
                  </a:lnTo>
                  <a:cubicBezTo>
                    <a:pt x="1489884" y="0"/>
                    <a:pt x="1524000" y="34116"/>
                    <a:pt x="1524000" y="76200"/>
                  </a:cubicBezTo>
                  <a:lnTo>
                    <a:pt x="1524000" y="400050"/>
                  </a:lnTo>
                  <a:cubicBezTo>
                    <a:pt x="1524000" y="442134"/>
                    <a:pt x="1489884" y="476250"/>
                    <a:pt x="1447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D5016">
                <a:alpha val="10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987048" y="3934778"/>
              <a:ext cx="694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LLM 润色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10144125" y="4000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2D5016"/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10467975" y="3952875"/>
              <a:ext cx="57150" cy="95250"/>
            </a:xfrm>
            <a:custGeom>
              <a:avLst/>
              <a:gdLst/>
              <a:ahLst/>
              <a:cxnLst/>
              <a:rect l="l" t="t" r="r" b="b"/>
              <a:pathLst>
                <a:path w="57150" h="95250">
                  <a:moveTo>
                    <a:pt x="57150" y="47625"/>
                  </a:moveTo>
                  <a:lnTo>
                    <a:pt x="0" y="0"/>
                  </a:lnTo>
                  <a:lnTo>
                    <a:pt x="19050" y="95250"/>
                  </a:lnTo>
                  <a:close/>
                </a:path>
              </a:pathLst>
            </a:custGeom>
            <a:solidFill>
              <a:srgbClr val="2D5016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10572750" y="3762375"/>
              <a:ext cx="1047750" cy="476250"/>
            </a:xfrm>
            <a:custGeom>
              <a:avLst/>
              <a:gdLst/>
              <a:ahLst/>
              <a:cxnLst/>
              <a:rect l="l" t="t" r="r" b="b"/>
              <a:pathLst>
                <a:path w="1047750" h="476250">
                  <a:moveTo>
                    <a:pt x="76200" y="0"/>
                  </a:moveTo>
                  <a:lnTo>
                    <a:pt x="971550" y="0"/>
                  </a:lnTo>
                  <a:cubicBezTo>
                    <a:pt x="1013634" y="0"/>
                    <a:pt x="1047750" y="34116"/>
                    <a:pt x="1047750" y="76200"/>
                  </a:cubicBezTo>
                  <a:lnTo>
                    <a:pt x="1047750" y="400050"/>
                  </a:lnTo>
                  <a:cubicBezTo>
                    <a:pt x="1047750" y="442134"/>
                    <a:pt x="1013634" y="476250"/>
                    <a:pt x="97155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15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922270" y="39347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发言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001250" y="4238625"/>
            <a:ext cx="2000250" cy="676275"/>
            <a:chOff x="10001250" y="4238625"/>
            <a:chExt cx="2000250" cy="676275"/>
          </a:xfrm>
        </p:grpSpPr>
        <p:sp>
          <p:nvSpPr>
            <p:cNvPr id="64" name="Line 64"/>
            <p:cNvSpPr/>
            <p:nvPr/>
          </p:nvSpPr>
          <p:spPr>
            <a:xfrm>
              <a:off x="11096625" y="4238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11049000" y="4429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10001250" y="45720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57150" y="0"/>
                  </a:moveTo>
                  <a:lnTo>
                    <a:pt x="895350" y="0"/>
                  </a:lnTo>
                  <a:cubicBezTo>
                    <a:pt x="926913" y="0"/>
                    <a:pt x="952500" y="25587"/>
                    <a:pt x="952500" y="57150"/>
                  </a:cubicBezTo>
                  <a:lnTo>
                    <a:pt x="952500" y="285750"/>
                  </a:lnTo>
                  <a:cubicBezTo>
                    <a:pt x="952500" y="317313"/>
                    <a:pt x="926913" y="342900"/>
                    <a:pt x="895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163746" y="4703445"/>
              <a:ext cx="6275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messages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1049000" y="4572000"/>
              <a:ext cx="952500" cy="342900"/>
            </a:xfrm>
            <a:custGeom>
              <a:avLst/>
              <a:gdLst/>
              <a:ahLst/>
              <a:cxnLst/>
              <a:rect l="l" t="t" r="r" b="b"/>
              <a:pathLst>
                <a:path w="952500" h="342900">
                  <a:moveTo>
                    <a:pt x="57150" y="0"/>
                  </a:moveTo>
                  <a:lnTo>
                    <a:pt x="895350" y="0"/>
                  </a:lnTo>
                  <a:cubicBezTo>
                    <a:pt x="926913" y="0"/>
                    <a:pt x="952500" y="25587"/>
                    <a:pt x="952500" y="57150"/>
                  </a:cubicBezTo>
                  <a:lnTo>
                    <a:pt x="952500" y="285750"/>
                  </a:lnTo>
                  <a:cubicBezTo>
                    <a:pt x="952500" y="317313"/>
                    <a:pt x="926913" y="342900"/>
                    <a:pt x="895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16199" y="4703445"/>
              <a:ext cx="8181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sync_events</a:t>
              </a:r>
            </a:p>
          </p:txBody>
        </p:sp>
      </p:grpSp>
      <p:sp>
        <p:nvSpPr>
          <p:cNvPr id="71" name="Freeform 71"/>
          <p:cNvSpPr/>
          <p:nvPr/>
        </p:nvSpPr>
        <p:spPr>
          <a:xfrm>
            <a:off x="571500" y="514350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</p:sp>
      <p:grpSp>
        <p:nvGrpSpPr>
          <p:cNvPr id="79" name="Group 79"/>
          <p:cNvGrpSpPr/>
          <p:nvPr/>
        </p:nvGrpSpPr>
        <p:grpSpPr>
          <a:xfrm>
            <a:off x="879162" y="5337175"/>
            <a:ext cx="222876" cy="222250"/>
            <a:chOff x="879162" y="5337175"/>
            <a:chExt cx="222876" cy="222250"/>
          </a:xfrm>
        </p:grpSpPr>
        <p:sp>
          <p:nvSpPr>
            <p:cNvPr id="72" name="Freeform 72"/>
            <p:cNvSpPr/>
            <p:nvPr/>
          </p:nvSpPr>
          <p:spPr>
            <a:xfrm>
              <a:off x="879162" y="5437188"/>
              <a:ext cx="33964" cy="22225"/>
            </a:xfrm>
            <a:custGeom>
              <a:avLst/>
              <a:gdLst/>
              <a:ahLst/>
              <a:cxnLst/>
              <a:rect l="l" t="t" r="r" b="b"/>
              <a:pathLst>
                <a:path w="33964" h="22225">
                  <a:moveTo>
                    <a:pt x="22538" y="0"/>
                  </a:moveTo>
                  <a:cubicBezTo>
                    <a:pt x="28418" y="7"/>
                    <a:pt x="33275" y="4592"/>
                    <a:pt x="33619" y="10461"/>
                  </a:cubicBezTo>
                  <a:cubicBezTo>
                    <a:pt x="33964" y="16331"/>
                    <a:pt x="29677" y="21453"/>
                    <a:pt x="23838" y="22147"/>
                  </a:cubicBezTo>
                  <a:lnTo>
                    <a:pt x="22538" y="22225"/>
                  </a:lnTo>
                  <a:lnTo>
                    <a:pt x="11426" y="22225"/>
                  </a:lnTo>
                  <a:cubicBezTo>
                    <a:pt x="5546" y="22218"/>
                    <a:pt x="689" y="17633"/>
                    <a:pt x="345" y="11764"/>
                  </a:cubicBezTo>
                  <a:cubicBezTo>
                    <a:pt x="0" y="5894"/>
                    <a:pt x="4287" y="772"/>
                    <a:pt x="10125" y="78"/>
                  </a:cubicBezTo>
                  <a:lnTo>
                    <a:pt x="11426" y="0"/>
                  </a:lnTo>
                  <a:lnTo>
                    <a:pt x="2253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979488" y="5337175"/>
              <a:ext cx="22225" cy="33651"/>
            </a:xfrm>
            <a:custGeom>
              <a:avLst/>
              <a:gdLst/>
              <a:ahLst/>
              <a:cxnLst/>
              <a:rect l="l" t="t" r="r" b="b"/>
              <a:pathLst>
                <a:path w="22225" h="33651">
                  <a:moveTo>
                    <a:pt x="11113" y="0"/>
                  </a:moveTo>
                  <a:cubicBezTo>
                    <a:pt x="16746" y="1"/>
                    <a:pt x="21488" y="4217"/>
                    <a:pt x="22147" y="9812"/>
                  </a:cubicBezTo>
                  <a:lnTo>
                    <a:pt x="22225" y="11112"/>
                  </a:lnTo>
                  <a:lnTo>
                    <a:pt x="22225" y="22225"/>
                  </a:lnTo>
                  <a:cubicBezTo>
                    <a:pt x="22218" y="28105"/>
                    <a:pt x="17633" y="32962"/>
                    <a:pt x="11764" y="33306"/>
                  </a:cubicBezTo>
                  <a:cubicBezTo>
                    <a:pt x="5894" y="33651"/>
                    <a:pt x="772" y="29364"/>
                    <a:pt x="78" y="23525"/>
                  </a:cubicBezTo>
                  <a:lnTo>
                    <a:pt x="0" y="22225"/>
                  </a:lnTo>
                  <a:lnTo>
                    <a:pt x="0" y="11112"/>
                  </a:lnTo>
                  <a:cubicBezTo>
                    <a:pt x="0" y="4975"/>
                    <a:pt x="4975" y="0"/>
                    <a:pt x="11113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1068074" y="5437188"/>
              <a:ext cx="33964" cy="22225"/>
            </a:xfrm>
            <a:custGeom>
              <a:avLst/>
              <a:gdLst/>
              <a:ahLst/>
              <a:cxnLst/>
              <a:rect l="l" t="t" r="r" b="b"/>
              <a:pathLst>
                <a:path w="33964" h="22225">
                  <a:moveTo>
                    <a:pt x="22538" y="0"/>
                  </a:moveTo>
                  <a:cubicBezTo>
                    <a:pt x="28418" y="7"/>
                    <a:pt x="33275" y="4592"/>
                    <a:pt x="33619" y="10461"/>
                  </a:cubicBezTo>
                  <a:cubicBezTo>
                    <a:pt x="33964" y="16331"/>
                    <a:pt x="29677" y="21453"/>
                    <a:pt x="23838" y="22147"/>
                  </a:cubicBezTo>
                  <a:lnTo>
                    <a:pt x="22538" y="22225"/>
                  </a:lnTo>
                  <a:lnTo>
                    <a:pt x="11426" y="22225"/>
                  </a:lnTo>
                  <a:cubicBezTo>
                    <a:pt x="5546" y="22218"/>
                    <a:pt x="689" y="17633"/>
                    <a:pt x="345" y="11764"/>
                  </a:cubicBezTo>
                  <a:cubicBezTo>
                    <a:pt x="0" y="5894"/>
                    <a:pt x="4287" y="772"/>
                    <a:pt x="10125" y="78"/>
                  </a:cubicBezTo>
                  <a:lnTo>
                    <a:pt x="11426" y="0"/>
                  </a:lnTo>
                  <a:lnTo>
                    <a:pt x="2253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907285" y="5364970"/>
              <a:ext cx="32169" cy="32352"/>
            </a:xfrm>
            <a:custGeom>
              <a:avLst/>
              <a:gdLst/>
              <a:ahLst/>
              <a:cxnLst/>
              <a:rect l="l" t="t" r="r" b="b"/>
              <a:pathLst>
                <a:path w="32169" h="32352">
                  <a:moveTo>
                    <a:pt x="4338" y="4354"/>
                  </a:moveTo>
                  <a:cubicBezTo>
                    <a:pt x="8297" y="395"/>
                    <a:pt x="14583" y="0"/>
                    <a:pt x="19007" y="3432"/>
                  </a:cubicBezTo>
                  <a:lnTo>
                    <a:pt x="20051" y="4354"/>
                  </a:lnTo>
                  <a:lnTo>
                    <a:pt x="27830" y="12133"/>
                  </a:lnTo>
                  <a:cubicBezTo>
                    <a:pt x="31966" y="16283"/>
                    <a:pt x="32169" y="22932"/>
                    <a:pt x="28294" y="27327"/>
                  </a:cubicBezTo>
                  <a:cubicBezTo>
                    <a:pt x="24419" y="31721"/>
                    <a:pt x="17797" y="32352"/>
                    <a:pt x="13161" y="28768"/>
                  </a:cubicBezTo>
                  <a:lnTo>
                    <a:pt x="12117" y="27846"/>
                  </a:lnTo>
                  <a:lnTo>
                    <a:pt x="4338" y="20067"/>
                  </a:lnTo>
                  <a:cubicBezTo>
                    <a:pt x="0" y="15728"/>
                    <a:pt x="0" y="8693"/>
                    <a:pt x="4338" y="4354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1041578" y="5364984"/>
              <a:ext cx="32505" cy="32170"/>
            </a:xfrm>
            <a:custGeom>
              <a:avLst/>
              <a:gdLst/>
              <a:ahLst/>
              <a:cxnLst/>
              <a:rect l="l" t="t" r="r" b="b"/>
              <a:pathLst>
                <a:path w="32505" h="32170">
                  <a:moveTo>
                    <a:pt x="12285" y="4339"/>
                  </a:moveTo>
                  <a:cubicBezTo>
                    <a:pt x="16436" y="203"/>
                    <a:pt x="23084" y="0"/>
                    <a:pt x="27479" y="3875"/>
                  </a:cubicBezTo>
                  <a:cubicBezTo>
                    <a:pt x="31874" y="7751"/>
                    <a:pt x="32505" y="14372"/>
                    <a:pt x="28921" y="19008"/>
                  </a:cubicBezTo>
                  <a:lnTo>
                    <a:pt x="27998" y="20052"/>
                  </a:lnTo>
                  <a:lnTo>
                    <a:pt x="20220" y="27831"/>
                  </a:lnTo>
                  <a:cubicBezTo>
                    <a:pt x="16069" y="31967"/>
                    <a:pt x="9421" y="32170"/>
                    <a:pt x="5026" y="28295"/>
                  </a:cubicBezTo>
                  <a:cubicBezTo>
                    <a:pt x="631" y="24420"/>
                    <a:pt x="0" y="17798"/>
                    <a:pt x="3584" y="13163"/>
                  </a:cubicBezTo>
                  <a:lnTo>
                    <a:pt x="4507" y="12118"/>
                  </a:lnTo>
                  <a:lnTo>
                    <a:pt x="12285" y="433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7" name="Freeform 77"/>
            <p:cNvSpPr/>
            <p:nvPr/>
          </p:nvSpPr>
          <p:spPr>
            <a:xfrm>
              <a:off x="957262" y="5514975"/>
              <a:ext cx="66675" cy="44450"/>
            </a:xfrm>
            <a:custGeom>
              <a:avLst/>
              <a:gdLst/>
              <a:ahLst/>
              <a:cxnLst/>
              <a:rect l="l" t="t" r="r" b="b"/>
              <a:pathLst>
                <a:path w="66675" h="44450">
                  <a:moveTo>
                    <a:pt x="55563" y="0"/>
                  </a:moveTo>
                  <a:cubicBezTo>
                    <a:pt x="61700" y="0"/>
                    <a:pt x="66675" y="4975"/>
                    <a:pt x="66675" y="11112"/>
                  </a:cubicBezTo>
                  <a:cubicBezTo>
                    <a:pt x="66675" y="29524"/>
                    <a:pt x="51749" y="44450"/>
                    <a:pt x="33338" y="44450"/>
                  </a:cubicBezTo>
                  <a:cubicBezTo>
                    <a:pt x="14926" y="44450"/>
                    <a:pt x="0" y="29524"/>
                    <a:pt x="0" y="11112"/>
                  </a:cubicBezTo>
                  <a:cubicBezTo>
                    <a:pt x="1" y="5479"/>
                    <a:pt x="4217" y="737"/>
                    <a:pt x="9812" y="78"/>
                  </a:cubicBezTo>
                  <a:lnTo>
                    <a:pt x="11113" y="0"/>
                  </a:lnTo>
                  <a:lnTo>
                    <a:pt x="55563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8" name="Freeform 78"/>
            <p:cNvSpPr/>
            <p:nvPr/>
          </p:nvSpPr>
          <p:spPr>
            <a:xfrm>
              <a:off x="918271" y="5381625"/>
              <a:ext cx="144658" cy="122238"/>
            </a:xfrm>
            <a:custGeom>
              <a:avLst/>
              <a:gdLst/>
              <a:ahLst/>
              <a:cxnLst/>
              <a:rect l="l" t="t" r="r" b="b"/>
              <a:pathLst>
                <a:path w="144658" h="122238">
                  <a:moveTo>
                    <a:pt x="72329" y="0"/>
                  </a:moveTo>
                  <a:cubicBezTo>
                    <a:pt x="101028" y="0"/>
                    <a:pt x="126507" y="18364"/>
                    <a:pt x="135582" y="45591"/>
                  </a:cubicBezTo>
                  <a:cubicBezTo>
                    <a:pt x="144658" y="72817"/>
                    <a:pt x="135293" y="102796"/>
                    <a:pt x="112334" y="120015"/>
                  </a:cubicBezTo>
                  <a:cubicBezTo>
                    <a:pt x="110802" y="121165"/>
                    <a:pt x="108999" y="121900"/>
                    <a:pt x="107100" y="122149"/>
                  </a:cubicBezTo>
                  <a:lnTo>
                    <a:pt x="105666" y="122238"/>
                  </a:lnTo>
                  <a:lnTo>
                    <a:pt x="38991" y="122238"/>
                  </a:lnTo>
                  <a:cubicBezTo>
                    <a:pt x="36587" y="122238"/>
                    <a:pt x="34247" y="121458"/>
                    <a:pt x="32324" y="120015"/>
                  </a:cubicBezTo>
                  <a:cubicBezTo>
                    <a:pt x="9365" y="102796"/>
                    <a:pt x="0" y="72817"/>
                    <a:pt x="9075" y="45591"/>
                  </a:cubicBezTo>
                  <a:cubicBezTo>
                    <a:pt x="18151" y="18364"/>
                    <a:pt x="43630" y="0"/>
                    <a:pt x="72329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80" name="TextBox 80"/>
          <p:cNvSpPr txBox="1"/>
          <p:nvPr/>
        </p:nvSpPr>
        <p:spPr>
          <a:xfrm>
            <a:off x="1223010" y="53759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设计亮点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224915" y="5630228"/>
            <a:ext cx="62144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事件只决定"该不该说"和"事实是什么"；</a:t>
            </a:r>
            <a:r>
              <a:rPr lang="zh-CN" sz="10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LLM 只负责把结构化事实润色成植物口吻的一句话</a:t>
            </a:r>
          </a:p>
        </p:txBody>
      </p:sp>
      <p:sp>
        <p:nvSpPr>
          <p:cNvPr id="82" name="Freeform 82"/>
          <p:cNvSpPr/>
          <p:nvPr/>
        </p:nvSpPr>
        <p:spPr>
          <a:xfrm>
            <a:off x="571500" y="600075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381000"/>
                </a:lnTo>
                <a:cubicBezTo>
                  <a:pt x="5334000" y="433605"/>
                  <a:pt x="5291355" y="476250"/>
                  <a:pt x="5238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3" name="Freeform 83"/>
          <p:cNvSpPr/>
          <p:nvPr/>
        </p:nvSpPr>
        <p:spPr>
          <a:xfrm>
            <a:off x="571500" y="6000750"/>
            <a:ext cx="5334000" cy="476250"/>
          </a:xfrm>
          <a:custGeom>
            <a:avLst/>
            <a:gdLst/>
            <a:ahLst/>
            <a:cxnLst/>
            <a:rect l="l" t="t" r="r" b="b"/>
            <a:pathLst>
              <a:path w="5334000" h="476250">
                <a:moveTo>
                  <a:pt x="95250" y="0"/>
                </a:moveTo>
                <a:lnTo>
                  <a:pt x="5238750" y="0"/>
                </a:lnTo>
                <a:cubicBezTo>
                  <a:pt x="5291355" y="0"/>
                  <a:pt x="5334000" y="42645"/>
                  <a:pt x="5334000" y="95250"/>
                </a:cubicBezTo>
                <a:lnTo>
                  <a:pt x="5334000" y="381000"/>
                </a:lnTo>
                <a:cubicBezTo>
                  <a:pt x="5334000" y="433605"/>
                  <a:pt x="5291355" y="476250"/>
                  <a:pt x="5238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84" name="Freeform 84"/>
          <p:cNvSpPr/>
          <p:nvPr/>
        </p:nvSpPr>
        <p:spPr>
          <a:xfrm>
            <a:off x="795144" y="6129338"/>
            <a:ext cx="200218" cy="211797"/>
          </a:xfrm>
          <a:custGeom>
            <a:avLst/>
            <a:gdLst/>
            <a:ahLst/>
            <a:cxnLst/>
            <a:rect l="l" t="t" r="r" b="b"/>
            <a:pathLst>
              <a:path w="200218" h="211797">
                <a:moveTo>
                  <a:pt x="804" y="125882"/>
                </a:moveTo>
                <a:lnTo>
                  <a:pt x="604" y="124015"/>
                </a:lnTo>
                <a:lnTo>
                  <a:pt x="560" y="123538"/>
                </a:lnTo>
                <a:cubicBezTo>
                  <a:pt x="174" y="119401"/>
                  <a:pt x="0" y="115247"/>
                  <a:pt x="38" y="111092"/>
                </a:cubicBezTo>
                <a:cubicBezTo>
                  <a:pt x="238" y="41194"/>
                  <a:pt x="47710" y="0"/>
                  <a:pt x="144500" y="0"/>
                </a:cubicBezTo>
                <a:lnTo>
                  <a:pt x="189106" y="0"/>
                </a:lnTo>
                <a:cubicBezTo>
                  <a:pt x="195243" y="0"/>
                  <a:pt x="200218" y="4975"/>
                  <a:pt x="200218" y="11112"/>
                </a:cubicBezTo>
                <a:lnTo>
                  <a:pt x="200196" y="33971"/>
                </a:lnTo>
                <a:cubicBezTo>
                  <a:pt x="194662" y="130661"/>
                  <a:pt x="147523" y="177800"/>
                  <a:pt x="66868" y="177800"/>
                </a:cubicBezTo>
                <a:lnTo>
                  <a:pt x="37631" y="177800"/>
                </a:lnTo>
                <a:cubicBezTo>
                  <a:pt x="35720" y="185514"/>
                  <a:pt x="34327" y="193347"/>
                  <a:pt x="33464" y="201247"/>
                </a:cubicBezTo>
                <a:cubicBezTo>
                  <a:pt x="33027" y="205194"/>
                  <a:pt x="30518" y="208607"/>
                  <a:pt x="26882" y="210202"/>
                </a:cubicBezTo>
                <a:cubicBezTo>
                  <a:pt x="23246" y="211797"/>
                  <a:pt x="19036" y="211331"/>
                  <a:pt x="15837" y="208980"/>
                </a:cubicBezTo>
                <a:cubicBezTo>
                  <a:pt x="12637" y="206628"/>
                  <a:pt x="10936" y="202749"/>
                  <a:pt x="11372" y="198803"/>
                </a:cubicBezTo>
                <a:cubicBezTo>
                  <a:pt x="12661" y="187186"/>
                  <a:pt x="14810" y="176270"/>
                  <a:pt x="17818" y="166054"/>
                </a:cubicBezTo>
                <a:lnTo>
                  <a:pt x="16506" y="164432"/>
                </a:lnTo>
                <a:lnTo>
                  <a:pt x="14195" y="161320"/>
                </a:lnTo>
                <a:lnTo>
                  <a:pt x="12450" y="158775"/>
                </a:lnTo>
                <a:lnTo>
                  <a:pt x="10428" y="155519"/>
                </a:lnTo>
                <a:lnTo>
                  <a:pt x="9339" y="153619"/>
                </a:lnTo>
                <a:lnTo>
                  <a:pt x="8616" y="152263"/>
                </a:lnTo>
                <a:cubicBezTo>
                  <a:pt x="6851" y="148910"/>
                  <a:pt x="5375" y="145411"/>
                  <a:pt x="4205" y="141807"/>
                </a:cubicBezTo>
                <a:lnTo>
                  <a:pt x="3405" y="139173"/>
                </a:lnTo>
                <a:lnTo>
                  <a:pt x="2460" y="135539"/>
                </a:lnTo>
                <a:lnTo>
                  <a:pt x="1827" y="132561"/>
                </a:lnTo>
                <a:lnTo>
                  <a:pt x="1349" y="129872"/>
                </a:lnTo>
                <a:close/>
                <a:moveTo>
                  <a:pt x="95694" y="78743"/>
                </a:moveTo>
                <a:cubicBezTo>
                  <a:pt x="64079" y="92800"/>
                  <a:pt x="41754" y="113525"/>
                  <a:pt x="27819" y="140784"/>
                </a:cubicBezTo>
                <a:cubicBezTo>
                  <a:pt x="28545" y="142266"/>
                  <a:pt x="29352" y="143748"/>
                  <a:pt x="30241" y="145229"/>
                </a:cubicBezTo>
                <a:lnTo>
                  <a:pt x="32297" y="148352"/>
                </a:lnTo>
                <a:lnTo>
                  <a:pt x="33075" y="149430"/>
                </a:lnTo>
                <a:cubicBezTo>
                  <a:pt x="33964" y="150645"/>
                  <a:pt x="34920" y="151863"/>
                  <a:pt x="35942" y="153086"/>
                </a:cubicBezTo>
                <a:lnTo>
                  <a:pt x="38131" y="155575"/>
                </a:lnTo>
                <a:lnTo>
                  <a:pt x="45343" y="155575"/>
                </a:lnTo>
                <a:cubicBezTo>
                  <a:pt x="56867" y="130339"/>
                  <a:pt x="76203" y="111725"/>
                  <a:pt x="104717" y="99057"/>
                </a:cubicBezTo>
                <a:cubicBezTo>
                  <a:pt x="110327" y="96565"/>
                  <a:pt x="112854" y="89998"/>
                  <a:pt x="110362" y="84388"/>
                </a:cubicBezTo>
                <a:cubicBezTo>
                  <a:pt x="107871" y="78779"/>
                  <a:pt x="101303" y="76251"/>
                  <a:pt x="95694" y="78743"/>
                </a:cubicBezTo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1129665" y="6192202"/>
            <a:ext cx="37224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"今天外面下雨了，记得带伞哦～我会乖乖待在家里的"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609070" y="657034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09 / 18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329660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桌面客户端设计</a:t>
            </a:r>
          </a:p>
        </p:txBody>
      </p:sp>
      <p:sp>
        <p:nvSpPr>
          <p:cNvPr id="5" name="Freeform 5"/>
          <p:cNvSpPr/>
          <p:nvPr/>
        </p:nvSpPr>
        <p:spPr>
          <a:xfrm>
            <a:off x="571500" y="1190625"/>
            <a:ext cx="11049000" cy="428625"/>
          </a:xfrm>
          <a:custGeom>
            <a:avLst/>
            <a:gdLst/>
            <a:ahLst/>
            <a:cxnLst/>
            <a:rect l="l" t="t" r="r" b="b"/>
            <a:pathLst>
              <a:path w="11049000" h="428625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33375"/>
                </a:lnTo>
                <a:cubicBezTo>
                  <a:pt x="11049000" y="385980"/>
                  <a:pt x="11006355" y="428625"/>
                  <a:pt x="10953750" y="428625"/>
                </a:cubicBezTo>
                <a:lnTo>
                  <a:pt x="95250" y="428625"/>
                </a:lnTo>
                <a:cubicBezTo>
                  <a:pt x="42645" y="428625"/>
                  <a:pt x="0" y="385980"/>
                  <a:pt x="0" y="3333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3766671" y="1337310"/>
            <a:ext cx="46586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B6914"/>
                </a:solidFill>
                <a:latin typeface="Consolas"/>
                <a:ea typeface="Microsoft YaHei"/>
                <a:cs typeface="Consolas"/>
              </a:rPr>
              <a:t>Tauri v2 + React 18 + Vite 5 + TypeScript + Tailwind 3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7621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838200"/>
                </a:lnTo>
                <a:cubicBezTo>
                  <a:pt x="5334000" y="901326"/>
                  <a:pt x="5282826" y="952500"/>
                  <a:pt x="5219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762125"/>
            <a:ext cx="5334000" cy="952500"/>
          </a:xfrm>
          <a:custGeom>
            <a:avLst/>
            <a:gdLst/>
            <a:ahLst/>
            <a:cxnLst/>
            <a:rect l="l" t="t" r="r" b="b"/>
            <a:pathLst>
              <a:path w="5334000" h="9525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838200"/>
                </a:lnTo>
                <a:cubicBezTo>
                  <a:pt x="5334000" y="901326"/>
                  <a:pt x="5282826" y="952500"/>
                  <a:pt x="5219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14288">
            <a:solidFill>
              <a:srgbClr val="4A7C28">
                <a:alpha val="30000"/>
              </a:srgbClr>
            </a:solidFill>
          </a:ln>
        </p:spPr>
      </p:sp>
      <p:sp>
        <p:nvSpPr>
          <p:cNvPr id="9" name="Freeform 9"/>
          <p:cNvSpPr/>
          <p:nvPr/>
        </p:nvSpPr>
        <p:spPr>
          <a:xfrm>
            <a:off x="847504" y="1990725"/>
            <a:ext cx="228821" cy="242054"/>
          </a:xfrm>
          <a:custGeom>
            <a:avLst/>
            <a:gdLst/>
            <a:ahLst/>
            <a:cxnLst/>
            <a:rect l="l" t="t" r="r" b="b"/>
            <a:pathLst>
              <a:path w="228821" h="242054">
                <a:moveTo>
                  <a:pt x="919" y="143866"/>
                </a:moveTo>
                <a:lnTo>
                  <a:pt x="691" y="141732"/>
                </a:lnTo>
                <a:lnTo>
                  <a:pt x="640" y="141186"/>
                </a:lnTo>
                <a:cubicBezTo>
                  <a:pt x="199" y="136458"/>
                  <a:pt x="0" y="131710"/>
                  <a:pt x="43" y="126962"/>
                </a:cubicBezTo>
                <a:cubicBezTo>
                  <a:pt x="272" y="47079"/>
                  <a:pt x="54526" y="0"/>
                  <a:pt x="165143" y="0"/>
                </a:cubicBezTo>
                <a:lnTo>
                  <a:pt x="216121" y="0"/>
                </a:lnTo>
                <a:cubicBezTo>
                  <a:pt x="223135" y="0"/>
                  <a:pt x="228821" y="5686"/>
                  <a:pt x="228821" y="12700"/>
                </a:cubicBezTo>
                <a:lnTo>
                  <a:pt x="228795" y="38824"/>
                </a:lnTo>
                <a:cubicBezTo>
                  <a:pt x="222471" y="149327"/>
                  <a:pt x="168597" y="203200"/>
                  <a:pt x="76421" y="203200"/>
                </a:cubicBezTo>
                <a:lnTo>
                  <a:pt x="43007" y="203200"/>
                </a:lnTo>
                <a:cubicBezTo>
                  <a:pt x="40822" y="212016"/>
                  <a:pt x="39231" y="220968"/>
                  <a:pt x="38245" y="229997"/>
                </a:cubicBezTo>
                <a:cubicBezTo>
                  <a:pt x="37745" y="234507"/>
                  <a:pt x="34878" y="238408"/>
                  <a:pt x="30723" y="240231"/>
                </a:cubicBezTo>
                <a:cubicBezTo>
                  <a:pt x="26567" y="242054"/>
                  <a:pt x="21755" y="241521"/>
                  <a:pt x="18099" y="238834"/>
                </a:cubicBezTo>
                <a:cubicBezTo>
                  <a:pt x="14443" y="236147"/>
                  <a:pt x="12498" y="231713"/>
                  <a:pt x="12997" y="227203"/>
                </a:cubicBezTo>
                <a:cubicBezTo>
                  <a:pt x="14470" y="213927"/>
                  <a:pt x="16925" y="201452"/>
                  <a:pt x="20363" y="189776"/>
                </a:cubicBezTo>
                <a:lnTo>
                  <a:pt x="18864" y="187922"/>
                </a:lnTo>
                <a:lnTo>
                  <a:pt x="16223" y="184366"/>
                </a:lnTo>
                <a:lnTo>
                  <a:pt x="14229" y="181458"/>
                </a:lnTo>
                <a:lnTo>
                  <a:pt x="11917" y="177736"/>
                </a:lnTo>
                <a:lnTo>
                  <a:pt x="10673" y="175565"/>
                </a:lnTo>
                <a:lnTo>
                  <a:pt x="9847" y="174015"/>
                </a:lnTo>
                <a:cubicBezTo>
                  <a:pt x="7830" y="170182"/>
                  <a:pt x="6143" y="166184"/>
                  <a:pt x="4805" y="162065"/>
                </a:cubicBezTo>
                <a:lnTo>
                  <a:pt x="3891" y="159055"/>
                </a:lnTo>
                <a:lnTo>
                  <a:pt x="2812" y="154902"/>
                </a:lnTo>
                <a:lnTo>
                  <a:pt x="2088" y="151498"/>
                </a:lnTo>
                <a:lnTo>
                  <a:pt x="1542" y="148425"/>
                </a:lnTo>
                <a:close/>
                <a:moveTo>
                  <a:pt x="109365" y="89992"/>
                </a:moveTo>
                <a:cubicBezTo>
                  <a:pt x="73233" y="106058"/>
                  <a:pt x="47719" y="129743"/>
                  <a:pt x="31793" y="160896"/>
                </a:cubicBezTo>
                <a:cubicBezTo>
                  <a:pt x="32623" y="162590"/>
                  <a:pt x="33546" y="164283"/>
                  <a:pt x="34562" y="165976"/>
                </a:cubicBezTo>
                <a:lnTo>
                  <a:pt x="36911" y="169545"/>
                </a:lnTo>
                <a:lnTo>
                  <a:pt x="37800" y="170777"/>
                </a:lnTo>
                <a:cubicBezTo>
                  <a:pt x="38816" y="172165"/>
                  <a:pt x="39908" y="173558"/>
                  <a:pt x="41077" y="174955"/>
                </a:cubicBezTo>
                <a:lnTo>
                  <a:pt x="43579" y="177800"/>
                </a:lnTo>
                <a:lnTo>
                  <a:pt x="51821" y="177800"/>
                </a:lnTo>
                <a:cubicBezTo>
                  <a:pt x="64991" y="148958"/>
                  <a:pt x="87089" y="127686"/>
                  <a:pt x="119677" y="113208"/>
                </a:cubicBezTo>
                <a:cubicBezTo>
                  <a:pt x="126088" y="110360"/>
                  <a:pt x="128976" y="102855"/>
                  <a:pt x="126129" y="96444"/>
                </a:cubicBezTo>
                <a:cubicBezTo>
                  <a:pt x="123281" y="90033"/>
                  <a:pt x="115775" y="87145"/>
                  <a:pt x="109365" y="89992"/>
                </a:cubicBezTo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221105" y="1997392"/>
            <a:ext cx="22391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Verdant Echo 设计语言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4915" y="2267902"/>
            <a:ext cx="46119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Forest-to-Soil 配色 · Quicksand 标题 · Plus Jakarta Sans 正文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25868" y="2485549"/>
            <a:ext cx="25594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所有 token 在 tailwind.config.js 内嵌</a:t>
            </a:r>
          </a:p>
        </p:txBody>
      </p:sp>
      <p:sp>
        <p:nvSpPr>
          <p:cNvPr id="13" name="Freeform 13"/>
          <p:cNvSpPr/>
          <p:nvPr/>
        </p:nvSpPr>
        <p:spPr>
          <a:xfrm>
            <a:off x="6096000" y="1762125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838200"/>
                </a:lnTo>
                <a:cubicBezTo>
                  <a:pt x="5524500" y="901326"/>
                  <a:pt x="5473326" y="952500"/>
                  <a:pt x="54102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6096000" y="1762125"/>
            <a:ext cx="5524500" cy="952500"/>
          </a:xfrm>
          <a:custGeom>
            <a:avLst/>
            <a:gdLst/>
            <a:ahLst/>
            <a:cxnLst/>
            <a:rect l="l" t="t" r="r" b="b"/>
            <a:pathLst>
              <a:path w="5524500" h="952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838200"/>
                </a:lnTo>
                <a:cubicBezTo>
                  <a:pt x="5524500" y="901326"/>
                  <a:pt x="5473326" y="952500"/>
                  <a:pt x="54102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271260" y="1918335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配色系统</a:t>
            </a:r>
          </a:p>
        </p:txBody>
      </p:sp>
      <p:sp>
        <p:nvSpPr>
          <p:cNvPr id="16" name="Freeform 16"/>
          <p:cNvSpPr/>
          <p:nvPr/>
        </p:nvSpPr>
        <p:spPr>
          <a:xfrm>
            <a:off x="62865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2D501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365558" y="2490788"/>
            <a:ext cx="41338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#2D5016</a:t>
            </a:r>
          </a:p>
        </p:txBody>
      </p:sp>
      <p:sp>
        <p:nvSpPr>
          <p:cNvPr id="18" name="Freeform 18"/>
          <p:cNvSpPr/>
          <p:nvPr/>
        </p:nvSpPr>
        <p:spPr>
          <a:xfrm>
            <a:off x="69532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01861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#4A7C28</a:t>
            </a:r>
          </a:p>
        </p:txBody>
      </p:sp>
      <p:sp>
        <p:nvSpPr>
          <p:cNvPr id="20" name="Freeform 20"/>
          <p:cNvSpPr/>
          <p:nvPr/>
        </p:nvSpPr>
        <p:spPr>
          <a:xfrm>
            <a:off x="76200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A849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68536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#E8A849</a:t>
            </a:r>
          </a:p>
        </p:txBody>
      </p:sp>
      <p:sp>
        <p:nvSpPr>
          <p:cNvPr id="22" name="Freeform 22"/>
          <p:cNvSpPr/>
          <p:nvPr/>
        </p:nvSpPr>
        <p:spPr>
          <a:xfrm>
            <a:off x="82867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4A574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35211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#D4A574</a:t>
            </a:r>
          </a:p>
        </p:txBody>
      </p:sp>
      <p:sp>
        <p:nvSpPr>
          <p:cNvPr id="24" name="Freeform 24"/>
          <p:cNvSpPr/>
          <p:nvPr/>
        </p:nvSpPr>
        <p:spPr>
          <a:xfrm>
            <a:off x="89535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5F0E8"/>
          </a:solidFill>
          <a:ln>
            <a:noFill/>
          </a:ln>
        </p:spPr>
      </p:sp>
      <p:sp>
        <p:nvSpPr>
          <p:cNvPr id="25" name="Freeform 25"/>
          <p:cNvSpPr/>
          <p:nvPr/>
        </p:nvSpPr>
        <p:spPr>
          <a:xfrm>
            <a:off x="895350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01886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#F5F0E8</a:t>
            </a:r>
          </a:p>
        </p:txBody>
      </p:sp>
      <p:sp>
        <p:nvSpPr>
          <p:cNvPr id="27" name="Freeform 27"/>
          <p:cNvSpPr/>
          <p:nvPr/>
        </p:nvSpPr>
        <p:spPr>
          <a:xfrm>
            <a:off x="96202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9620250" y="2190750"/>
            <a:ext cx="571500" cy="285750"/>
          </a:xfrm>
          <a:custGeom>
            <a:avLst/>
            <a:gdLst/>
            <a:ahLst/>
            <a:cxnLst/>
            <a:rect l="l" t="t" r="r" b="b"/>
            <a:pathLst>
              <a:path w="571500" h="285750">
                <a:moveTo>
                  <a:pt x="57150" y="0"/>
                </a:moveTo>
                <a:lnTo>
                  <a:pt x="514350" y="0"/>
                </a:lnTo>
                <a:cubicBezTo>
                  <a:pt x="545913" y="0"/>
                  <a:pt x="571500" y="25587"/>
                  <a:pt x="571500" y="57150"/>
                </a:cubicBezTo>
                <a:lnTo>
                  <a:pt x="571500" y="228600"/>
                </a:lnTo>
                <a:cubicBezTo>
                  <a:pt x="571500" y="260163"/>
                  <a:pt x="545913" y="285750"/>
                  <a:pt x="5143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685615" y="2490788"/>
            <a:ext cx="44076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6B7B6B"/>
                </a:solidFill>
                <a:latin typeface="Consolas"/>
                <a:ea typeface="Microsoft YaHei"/>
                <a:cs typeface="Consolas"/>
              </a:rPr>
              <a:t>#FFFFFF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53962" y="2244566"/>
            <a:ext cx="4185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Forest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566011" y="2406491"/>
            <a:ext cx="3944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to Soil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2950" y="2933700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五大核心页面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71500" y="3286125"/>
            <a:ext cx="2095500" cy="1714500"/>
            <a:chOff x="571500" y="3286125"/>
            <a:chExt cx="2095500" cy="1714500"/>
          </a:xfrm>
        </p:grpSpPr>
        <p:sp>
          <p:nvSpPr>
            <p:cNvPr id="33" name="Freeform 33"/>
            <p:cNvSpPr/>
            <p:nvPr/>
          </p:nvSpPr>
          <p:spPr>
            <a:xfrm>
              <a:off x="571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571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71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" y="3533775"/>
              <a:ext cx="2095500" cy="95250"/>
            </a:xfrm>
            <a:prstGeom prst="rect">
              <a:avLst/>
            </a:pr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30215" y="3351872"/>
              <a:ext cx="196920" cy="191428"/>
            </a:xfrm>
            <a:custGeom>
              <a:avLst/>
              <a:gdLst/>
              <a:ahLst/>
              <a:cxnLst/>
              <a:rect l="l" t="t" r="r" b="b"/>
              <a:pathLst>
                <a:path w="196920" h="191428">
                  <a:moveTo>
                    <a:pt x="105194" y="3718"/>
                  </a:moveTo>
                  <a:lnTo>
                    <a:pt x="190919" y="89443"/>
                  </a:lnTo>
                  <a:cubicBezTo>
                    <a:pt x="196920" y="95444"/>
                    <a:pt x="192672" y="105703"/>
                    <a:pt x="184185" y="105703"/>
                  </a:cubicBezTo>
                  <a:lnTo>
                    <a:pt x="174660" y="105703"/>
                  </a:lnTo>
                  <a:lnTo>
                    <a:pt x="174660" y="162853"/>
                  </a:lnTo>
                  <a:cubicBezTo>
                    <a:pt x="174660" y="178634"/>
                    <a:pt x="161866" y="191428"/>
                    <a:pt x="146085" y="191428"/>
                  </a:cubicBezTo>
                  <a:lnTo>
                    <a:pt x="50835" y="191428"/>
                  </a:lnTo>
                  <a:cubicBezTo>
                    <a:pt x="35053" y="191428"/>
                    <a:pt x="22260" y="178634"/>
                    <a:pt x="22260" y="162853"/>
                  </a:cubicBezTo>
                  <a:lnTo>
                    <a:pt x="22260" y="105703"/>
                  </a:lnTo>
                  <a:lnTo>
                    <a:pt x="12735" y="105703"/>
                  </a:lnTo>
                  <a:cubicBezTo>
                    <a:pt x="4258" y="105703"/>
                    <a:pt x="0" y="95444"/>
                    <a:pt x="6001" y="89443"/>
                  </a:cubicBezTo>
                  <a:lnTo>
                    <a:pt x="91726" y="3718"/>
                  </a:lnTo>
                  <a:cubicBezTo>
                    <a:pt x="95445" y="0"/>
                    <a:pt x="101475" y="0"/>
                    <a:pt x="105194" y="3718"/>
                  </a:cubicBezTo>
                  <a:moveTo>
                    <a:pt x="112747" y="86653"/>
                  </a:moveTo>
                  <a:lnTo>
                    <a:pt x="84172" y="86653"/>
                  </a:lnTo>
                  <a:cubicBezTo>
                    <a:pt x="76282" y="86653"/>
                    <a:pt x="69885" y="93049"/>
                    <a:pt x="69885" y="100940"/>
                  </a:cubicBezTo>
                  <a:lnTo>
                    <a:pt x="69885" y="129515"/>
                  </a:lnTo>
                  <a:cubicBezTo>
                    <a:pt x="69885" y="137406"/>
                    <a:pt x="76282" y="143803"/>
                    <a:pt x="84172" y="143803"/>
                  </a:cubicBezTo>
                  <a:lnTo>
                    <a:pt x="112747" y="143803"/>
                  </a:lnTo>
                  <a:cubicBezTo>
                    <a:pt x="120638" y="143803"/>
                    <a:pt x="127035" y="137406"/>
                    <a:pt x="127035" y="129515"/>
                  </a:cubicBezTo>
                  <a:lnTo>
                    <a:pt x="127035" y="100940"/>
                  </a:lnTo>
                  <a:cubicBezTo>
                    <a:pt x="127035" y="93049"/>
                    <a:pt x="120638" y="86653"/>
                    <a:pt x="112747" y="86653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6790" y="3401378"/>
              <a:ext cx="1194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温室 Dashboard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0570" y="37604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时段问候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0570" y="39509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天气卡片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0570" y="4141470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一键浇水 (5s undo)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0570" y="43319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植物卡片网格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1522" y="4625816"/>
              <a:ext cx="4306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857500" y="3286125"/>
            <a:ext cx="2095500" cy="1714500"/>
            <a:chOff x="2857500" y="3286125"/>
            <a:chExt cx="2095500" cy="1714500"/>
          </a:xfrm>
        </p:grpSpPr>
        <p:sp>
          <p:nvSpPr>
            <p:cNvPr id="45" name="Freeform 45"/>
            <p:cNvSpPr/>
            <p:nvPr/>
          </p:nvSpPr>
          <p:spPr>
            <a:xfrm>
              <a:off x="2857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2857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2857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857500" y="3533775"/>
              <a:ext cx="2095500" cy="95250"/>
            </a:xfrm>
            <a:prstGeom prst="rect">
              <a:avLst/>
            </a:pr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3028784" y="3362325"/>
              <a:ext cx="171616" cy="181540"/>
            </a:xfrm>
            <a:custGeom>
              <a:avLst/>
              <a:gdLst/>
              <a:ahLst/>
              <a:cxnLst/>
              <a:rect l="l" t="t" r="r" b="b"/>
              <a:pathLst>
                <a:path w="171616" h="181540">
                  <a:moveTo>
                    <a:pt x="689" y="107899"/>
                  </a:moveTo>
                  <a:lnTo>
                    <a:pt x="518" y="106299"/>
                  </a:lnTo>
                  <a:lnTo>
                    <a:pt x="480" y="105889"/>
                  </a:lnTo>
                  <a:cubicBezTo>
                    <a:pt x="149" y="102343"/>
                    <a:pt x="0" y="98783"/>
                    <a:pt x="32" y="95221"/>
                  </a:cubicBezTo>
                  <a:cubicBezTo>
                    <a:pt x="204" y="35309"/>
                    <a:pt x="40894" y="0"/>
                    <a:pt x="123857" y="0"/>
                  </a:cubicBezTo>
                  <a:lnTo>
                    <a:pt x="162091" y="0"/>
                  </a:lnTo>
                  <a:cubicBezTo>
                    <a:pt x="167351" y="0"/>
                    <a:pt x="171616" y="4264"/>
                    <a:pt x="171616" y="9525"/>
                  </a:cubicBezTo>
                  <a:lnTo>
                    <a:pt x="171596" y="29118"/>
                  </a:lnTo>
                  <a:cubicBezTo>
                    <a:pt x="166853" y="111995"/>
                    <a:pt x="126448" y="152400"/>
                    <a:pt x="57316" y="152400"/>
                  </a:cubicBezTo>
                  <a:lnTo>
                    <a:pt x="32255" y="152400"/>
                  </a:lnTo>
                  <a:cubicBezTo>
                    <a:pt x="30617" y="159012"/>
                    <a:pt x="29424" y="165726"/>
                    <a:pt x="28683" y="172498"/>
                  </a:cubicBezTo>
                  <a:cubicBezTo>
                    <a:pt x="28309" y="175880"/>
                    <a:pt x="26159" y="178806"/>
                    <a:pt x="23042" y="180173"/>
                  </a:cubicBezTo>
                  <a:cubicBezTo>
                    <a:pt x="19926" y="181540"/>
                    <a:pt x="16316" y="181141"/>
                    <a:pt x="13574" y="179126"/>
                  </a:cubicBezTo>
                  <a:cubicBezTo>
                    <a:pt x="10832" y="177110"/>
                    <a:pt x="9373" y="173785"/>
                    <a:pt x="9748" y="170402"/>
                  </a:cubicBezTo>
                  <a:cubicBezTo>
                    <a:pt x="10853" y="160445"/>
                    <a:pt x="12694" y="151089"/>
                    <a:pt x="15272" y="142332"/>
                  </a:cubicBezTo>
                  <a:lnTo>
                    <a:pt x="14148" y="140941"/>
                  </a:lnTo>
                  <a:lnTo>
                    <a:pt x="12167" y="138274"/>
                  </a:lnTo>
                  <a:lnTo>
                    <a:pt x="10672" y="136093"/>
                  </a:lnTo>
                  <a:lnTo>
                    <a:pt x="8938" y="133302"/>
                  </a:lnTo>
                  <a:lnTo>
                    <a:pt x="8005" y="131674"/>
                  </a:lnTo>
                  <a:lnTo>
                    <a:pt x="7385" y="130512"/>
                  </a:lnTo>
                  <a:cubicBezTo>
                    <a:pt x="5873" y="127637"/>
                    <a:pt x="4607" y="124638"/>
                    <a:pt x="3604" y="121549"/>
                  </a:cubicBezTo>
                  <a:lnTo>
                    <a:pt x="2918" y="119291"/>
                  </a:lnTo>
                  <a:lnTo>
                    <a:pt x="2109" y="116176"/>
                  </a:lnTo>
                  <a:lnTo>
                    <a:pt x="1566" y="113624"/>
                  </a:lnTo>
                  <a:lnTo>
                    <a:pt x="1156" y="111319"/>
                  </a:lnTo>
                  <a:close/>
                  <a:moveTo>
                    <a:pt x="82023" y="67494"/>
                  </a:moveTo>
                  <a:cubicBezTo>
                    <a:pt x="54925" y="79543"/>
                    <a:pt x="35789" y="97307"/>
                    <a:pt x="23845" y="120672"/>
                  </a:cubicBezTo>
                  <a:cubicBezTo>
                    <a:pt x="24467" y="121942"/>
                    <a:pt x="25159" y="123212"/>
                    <a:pt x="25921" y="124482"/>
                  </a:cubicBezTo>
                  <a:lnTo>
                    <a:pt x="27683" y="127159"/>
                  </a:lnTo>
                  <a:lnTo>
                    <a:pt x="28350" y="128083"/>
                  </a:lnTo>
                  <a:cubicBezTo>
                    <a:pt x="29112" y="129124"/>
                    <a:pt x="29931" y="130169"/>
                    <a:pt x="30807" y="131216"/>
                  </a:cubicBezTo>
                  <a:lnTo>
                    <a:pt x="32684" y="133350"/>
                  </a:lnTo>
                  <a:lnTo>
                    <a:pt x="38866" y="133350"/>
                  </a:lnTo>
                  <a:cubicBezTo>
                    <a:pt x="48743" y="111719"/>
                    <a:pt x="65317" y="95764"/>
                    <a:pt x="89758" y="84906"/>
                  </a:cubicBezTo>
                  <a:cubicBezTo>
                    <a:pt x="94566" y="82770"/>
                    <a:pt x="96732" y="77141"/>
                    <a:pt x="94596" y="72333"/>
                  </a:cubicBezTo>
                  <a:cubicBezTo>
                    <a:pt x="92461" y="67525"/>
                    <a:pt x="86831" y="65358"/>
                    <a:pt x="82023" y="67494"/>
                  </a:cubicBezTo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272790" y="34013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植物详情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036570" y="3760470"/>
              <a:ext cx="9626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头图 + 头像编辑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36570" y="3950970"/>
              <a:ext cx="109413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状态条 · 最新读数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036570" y="4141470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读数历史 (渐变淡出)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036570" y="4331970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Care Profile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037522" y="4625816"/>
              <a:ext cx="12680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/plant/:plantId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143500" y="3286125"/>
            <a:ext cx="2095500" cy="1714500"/>
            <a:chOff x="5143500" y="3286125"/>
            <a:chExt cx="2095500" cy="1714500"/>
          </a:xfrm>
        </p:grpSpPr>
        <p:sp>
          <p:nvSpPr>
            <p:cNvPr id="57" name="Freeform 57"/>
            <p:cNvSpPr/>
            <p:nvPr/>
          </p:nvSpPr>
          <p:spPr>
            <a:xfrm>
              <a:off x="5143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5143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5143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143500" y="3533775"/>
              <a:ext cx="2095500" cy="95250"/>
            </a:xfrm>
            <a:prstGeom prst="rect">
              <a:avLst/>
            </a:pr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5295605" y="3354181"/>
              <a:ext cx="210436" cy="188414"/>
            </a:xfrm>
            <a:custGeom>
              <a:avLst/>
              <a:gdLst/>
              <a:ahLst/>
              <a:cxnLst/>
              <a:rect l="l" t="t" r="r" b="b"/>
              <a:pathLst>
                <a:path w="210436" h="188414">
                  <a:moveTo>
                    <a:pt x="46215" y="26337"/>
                  </a:moveTo>
                  <a:cubicBezTo>
                    <a:pt x="83353" y="0"/>
                    <a:pt x="136398" y="2153"/>
                    <a:pt x="170736" y="31433"/>
                  </a:cubicBezTo>
                  <a:cubicBezTo>
                    <a:pt x="205664" y="61236"/>
                    <a:pt x="210436" y="109899"/>
                    <a:pt x="181708" y="144761"/>
                  </a:cubicBezTo>
                  <a:cubicBezTo>
                    <a:pt x="154648" y="177594"/>
                    <a:pt x="105842" y="188414"/>
                    <a:pt x="65208" y="171479"/>
                  </a:cubicBezTo>
                  <a:lnTo>
                    <a:pt x="62989" y="170517"/>
                  </a:lnTo>
                  <a:lnTo>
                    <a:pt x="21326" y="179384"/>
                  </a:lnTo>
                  <a:lnTo>
                    <a:pt x="20945" y="179441"/>
                  </a:lnTo>
                  <a:lnTo>
                    <a:pt x="20612" y="179508"/>
                  </a:lnTo>
                  <a:lnTo>
                    <a:pt x="20441" y="179508"/>
                  </a:lnTo>
                  <a:lnTo>
                    <a:pt x="20231" y="179556"/>
                  </a:lnTo>
                  <a:lnTo>
                    <a:pt x="19869" y="179556"/>
                  </a:lnTo>
                  <a:lnTo>
                    <a:pt x="19555" y="179594"/>
                  </a:lnTo>
                  <a:lnTo>
                    <a:pt x="19355" y="179584"/>
                  </a:lnTo>
                  <a:lnTo>
                    <a:pt x="19136" y="179594"/>
                  </a:lnTo>
                  <a:lnTo>
                    <a:pt x="18821" y="179565"/>
                  </a:lnTo>
                  <a:lnTo>
                    <a:pt x="18488" y="179565"/>
                  </a:lnTo>
                  <a:lnTo>
                    <a:pt x="18278" y="179527"/>
                  </a:lnTo>
                  <a:lnTo>
                    <a:pt x="18069" y="179508"/>
                  </a:lnTo>
                  <a:lnTo>
                    <a:pt x="17736" y="179441"/>
                  </a:lnTo>
                  <a:lnTo>
                    <a:pt x="17412" y="179394"/>
                  </a:lnTo>
                  <a:lnTo>
                    <a:pt x="17259" y="179356"/>
                  </a:lnTo>
                  <a:lnTo>
                    <a:pt x="17031" y="179308"/>
                  </a:lnTo>
                  <a:lnTo>
                    <a:pt x="16564" y="179156"/>
                  </a:lnTo>
                  <a:lnTo>
                    <a:pt x="16335" y="179108"/>
                  </a:lnTo>
                  <a:lnTo>
                    <a:pt x="16231" y="179060"/>
                  </a:lnTo>
                  <a:lnTo>
                    <a:pt x="16021" y="178994"/>
                  </a:lnTo>
                  <a:lnTo>
                    <a:pt x="15592" y="178803"/>
                  </a:lnTo>
                  <a:lnTo>
                    <a:pt x="15307" y="178689"/>
                  </a:lnTo>
                  <a:lnTo>
                    <a:pt x="15202" y="178632"/>
                  </a:lnTo>
                  <a:lnTo>
                    <a:pt x="15069" y="178575"/>
                  </a:lnTo>
                  <a:lnTo>
                    <a:pt x="14773" y="178403"/>
                  </a:lnTo>
                  <a:lnTo>
                    <a:pt x="14345" y="178175"/>
                  </a:lnTo>
                  <a:lnTo>
                    <a:pt x="14192" y="178070"/>
                  </a:lnTo>
                  <a:lnTo>
                    <a:pt x="13840" y="177822"/>
                  </a:lnTo>
                  <a:lnTo>
                    <a:pt x="13459" y="177565"/>
                  </a:lnTo>
                  <a:lnTo>
                    <a:pt x="13440" y="177527"/>
                  </a:lnTo>
                  <a:lnTo>
                    <a:pt x="13316" y="177441"/>
                  </a:lnTo>
                  <a:lnTo>
                    <a:pt x="12906" y="177060"/>
                  </a:lnTo>
                  <a:lnTo>
                    <a:pt x="12668" y="176870"/>
                  </a:lnTo>
                  <a:lnTo>
                    <a:pt x="12611" y="176803"/>
                  </a:lnTo>
                  <a:lnTo>
                    <a:pt x="12078" y="176212"/>
                  </a:lnTo>
                  <a:lnTo>
                    <a:pt x="11954" y="176079"/>
                  </a:lnTo>
                  <a:lnTo>
                    <a:pt x="11849" y="175946"/>
                  </a:lnTo>
                  <a:lnTo>
                    <a:pt x="11478" y="175412"/>
                  </a:lnTo>
                  <a:lnTo>
                    <a:pt x="11344" y="175231"/>
                  </a:lnTo>
                  <a:lnTo>
                    <a:pt x="11297" y="175136"/>
                  </a:lnTo>
                  <a:lnTo>
                    <a:pt x="10897" y="174441"/>
                  </a:lnTo>
                  <a:lnTo>
                    <a:pt x="10830" y="174327"/>
                  </a:lnTo>
                  <a:lnTo>
                    <a:pt x="10792" y="174250"/>
                  </a:lnTo>
                  <a:lnTo>
                    <a:pt x="10725" y="174136"/>
                  </a:lnTo>
                  <a:lnTo>
                    <a:pt x="10592" y="173774"/>
                  </a:lnTo>
                  <a:lnTo>
                    <a:pt x="10401" y="173374"/>
                  </a:lnTo>
                  <a:lnTo>
                    <a:pt x="10363" y="173222"/>
                  </a:lnTo>
                  <a:lnTo>
                    <a:pt x="10325" y="173126"/>
                  </a:lnTo>
                  <a:lnTo>
                    <a:pt x="10163" y="172545"/>
                  </a:lnTo>
                  <a:lnTo>
                    <a:pt x="10096" y="172374"/>
                  </a:lnTo>
                  <a:lnTo>
                    <a:pt x="10077" y="172231"/>
                  </a:lnTo>
                  <a:lnTo>
                    <a:pt x="10030" y="172050"/>
                  </a:lnTo>
                  <a:lnTo>
                    <a:pt x="9982" y="171736"/>
                  </a:lnTo>
                  <a:lnTo>
                    <a:pt x="9906" y="171336"/>
                  </a:lnTo>
                  <a:lnTo>
                    <a:pt x="9887" y="171040"/>
                  </a:lnTo>
                  <a:lnTo>
                    <a:pt x="9858" y="170945"/>
                  </a:lnTo>
                  <a:lnTo>
                    <a:pt x="9858" y="170793"/>
                  </a:lnTo>
                  <a:lnTo>
                    <a:pt x="9820" y="170278"/>
                  </a:lnTo>
                  <a:lnTo>
                    <a:pt x="9830" y="169936"/>
                  </a:lnTo>
                  <a:lnTo>
                    <a:pt x="9839" y="169716"/>
                  </a:lnTo>
                  <a:lnTo>
                    <a:pt x="9858" y="169212"/>
                  </a:lnTo>
                  <a:lnTo>
                    <a:pt x="9896" y="168974"/>
                  </a:lnTo>
                  <a:lnTo>
                    <a:pt x="9896" y="168793"/>
                  </a:lnTo>
                  <a:lnTo>
                    <a:pt x="9973" y="168459"/>
                  </a:lnTo>
                  <a:lnTo>
                    <a:pt x="10020" y="168135"/>
                  </a:lnTo>
                  <a:lnTo>
                    <a:pt x="10068" y="167945"/>
                  </a:lnTo>
                  <a:lnTo>
                    <a:pt x="10106" y="167754"/>
                  </a:lnTo>
                  <a:lnTo>
                    <a:pt x="10277" y="167183"/>
                  </a:lnTo>
                  <a:lnTo>
                    <a:pt x="10306" y="167059"/>
                  </a:lnTo>
                  <a:lnTo>
                    <a:pt x="21260" y="134198"/>
                  </a:lnTo>
                  <a:lnTo>
                    <a:pt x="21050" y="133845"/>
                  </a:lnTo>
                  <a:cubicBezTo>
                    <a:pt x="0" y="98155"/>
                    <a:pt x="9535" y="53921"/>
                    <a:pt x="44034" y="27937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558790" y="34013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植响对话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322570" y="37604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左侧档案卡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322570" y="39509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流式回复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322570" y="4141470"/>
              <a:ext cx="8443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快捷动作 chip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322570" y="4331970"/>
              <a:ext cx="949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hover 评论按钮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323522" y="4625816"/>
              <a:ext cx="12318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/chat/:plantId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429500" y="3286125"/>
            <a:ext cx="2095500" cy="1714500"/>
            <a:chOff x="7429500" y="3286125"/>
            <a:chExt cx="2095500" cy="1714500"/>
          </a:xfrm>
        </p:grpSpPr>
        <p:sp>
          <p:nvSpPr>
            <p:cNvPr id="69" name="Freeform 69"/>
            <p:cNvSpPr/>
            <p:nvPr/>
          </p:nvSpPr>
          <p:spPr>
            <a:xfrm>
              <a:off x="7429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7429500" y="3286125"/>
              <a:ext cx="2095500" cy="1714500"/>
            </a:xfrm>
            <a:custGeom>
              <a:avLst/>
              <a:gdLst/>
              <a:ahLst/>
              <a:cxnLst/>
              <a:rect l="l" t="t" r="r" b="b"/>
              <a:pathLst>
                <a:path w="2095500" h="17145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1619250"/>
                  </a:lnTo>
                  <a:cubicBezTo>
                    <a:pt x="2095500" y="1671855"/>
                    <a:pt x="2052855" y="1714500"/>
                    <a:pt x="20002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7429500" y="3286125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95250" y="0"/>
                  </a:moveTo>
                  <a:lnTo>
                    <a:pt x="2000250" y="0"/>
                  </a:lnTo>
                  <a:cubicBezTo>
                    <a:pt x="2052855" y="0"/>
                    <a:pt x="2095500" y="42645"/>
                    <a:pt x="2095500" y="95250"/>
                  </a:cubicBezTo>
                  <a:lnTo>
                    <a:pt x="2095500" y="247650"/>
                  </a:lnTo>
                  <a:cubicBezTo>
                    <a:pt x="2095500" y="300255"/>
                    <a:pt x="2052855" y="342900"/>
                    <a:pt x="20002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429500" y="3533775"/>
              <a:ext cx="2095500" cy="95250"/>
            </a:xfrm>
            <a:prstGeom prst="rect">
              <a:avLst/>
            </a:pr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7591425" y="3365956"/>
              <a:ext cx="190500" cy="158719"/>
            </a:xfrm>
            <a:custGeom>
              <a:avLst/>
              <a:gdLst/>
              <a:ahLst/>
              <a:cxnLst/>
              <a:rect l="l" t="t" r="r" b="b"/>
              <a:pathLst>
                <a:path w="190500" h="158719">
                  <a:moveTo>
                    <a:pt x="185738" y="16695"/>
                  </a:moveTo>
                  <a:cubicBezTo>
                    <a:pt x="188339" y="18197"/>
                    <a:pt x="190079" y="20837"/>
                    <a:pt x="190433" y="23820"/>
                  </a:cubicBezTo>
                  <a:lnTo>
                    <a:pt x="190500" y="24944"/>
                  </a:lnTo>
                  <a:lnTo>
                    <a:pt x="190500" y="148769"/>
                  </a:lnTo>
                  <a:cubicBezTo>
                    <a:pt x="190500" y="152172"/>
                    <a:pt x="188684" y="155316"/>
                    <a:pt x="185737" y="157017"/>
                  </a:cubicBezTo>
                  <a:cubicBezTo>
                    <a:pt x="182790" y="158719"/>
                    <a:pt x="179160" y="158719"/>
                    <a:pt x="176213" y="157017"/>
                  </a:cubicBezTo>
                  <a:cubicBezTo>
                    <a:pt x="154298" y="144363"/>
                    <a:pt x="127531" y="143414"/>
                    <a:pt x="104775" y="154484"/>
                  </a:cubicBezTo>
                  <a:lnTo>
                    <a:pt x="104775" y="9951"/>
                  </a:lnTo>
                  <a:cubicBezTo>
                    <a:pt x="131416" y="0"/>
                    <a:pt x="161110" y="2473"/>
                    <a:pt x="185738" y="16695"/>
                  </a:cubicBezTo>
                  <a:moveTo>
                    <a:pt x="85725" y="9961"/>
                  </a:moveTo>
                  <a:lnTo>
                    <a:pt x="85735" y="154493"/>
                  </a:lnTo>
                  <a:cubicBezTo>
                    <a:pt x="63901" y="143864"/>
                    <a:pt x="38309" y="144278"/>
                    <a:pt x="16831" y="155608"/>
                  </a:cubicBezTo>
                  <a:lnTo>
                    <a:pt x="13716" y="157322"/>
                  </a:lnTo>
                  <a:lnTo>
                    <a:pt x="12735" y="157741"/>
                  </a:lnTo>
                  <a:lnTo>
                    <a:pt x="12268" y="157894"/>
                  </a:lnTo>
                  <a:lnTo>
                    <a:pt x="11220" y="158141"/>
                  </a:lnTo>
                  <a:lnTo>
                    <a:pt x="10639" y="158237"/>
                  </a:lnTo>
                  <a:lnTo>
                    <a:pt x="9525" y="158294"/>
                  </a:lnTo>
                  <a:lnTo>
                    <a:pt x="9125" y="158294"/>
                  </a:lnTo>
                  <a:lnTo>
                    <a:pt x="8077" y="158179"/>
                  </a:lnTo>
                  <a:lnTo>
                    <a:pt x="7344" y="158046"/>
                  </a:lnTo>
                  <a:lnTo>
                    <a:pt x="6315" y="157741"/>
                  </a:lnTo>
                  <a:lnTo>
                    <a:pt x="5115" y="157208"/>
                  </a:lnTo>
                  <a:lnTo>
                    <a:pt x="4210" y="156674"/>
                  </a:lnTo>
                  <a:lnTo>
                    <a:pt x="3362" y="156036"/>
                  </a:lnTo>
                  <a:lnTo>
                    <a:pt x="2791" y="155503"/>
                  </a:lnTo>
                  <a:lnTo>
                    <a:pt x="2096" y="154722"/>
                  </a:lnTo>
                  <a:lnTo>
                    <a:pt x="1486" y="153874"/>
                  </a:lnTo>
                  <a:lnTo>
                    <a:pt x="1276" y="153531"/>
                  </a:lnTo>
                  <a:lnTo>
                    <a:pt x="972" y="152960"/>
                  </a:lnTo>
                  <a:lnTo>
                    <a:pt x="552" y="151979"/>
                  </a:lnTo>
                  <a:lnTo>
                    <a:pt x="400" y="151512"/>
                  </a:lnTo>
                  <a:lnTo>
                    <a:pt x="152" y="150464"/>
                  </a:lnTo>
                  <a:lnTo>
                    <a:pt x="57" y="149883"/>
                  </a:lnTo>
                  <a:lnTo>
                    <a:pt x="19" y="149416"/>
                  </a:lnTo>
                  <a:lnTo>
                    <a:pt x="0" y="24944"/>
                  </a:lnTo>
                  <a:cubicBezTo>
                    <a:pt x="0" y="21541"/>
                    <a:pt x="1816" y="18396"/>
                    <a:pt x="4762" y="16695"/>
                  </a:cubicBezTo>
                  <a:cubicBezTo>
                    <a:pt x="29391" y="2476"/>
                    <a:pt x="59085" y="7"/>
                    <a:pt x="85725" y="9961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844790" y="34013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成长日记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608570" y="3760470"/>
              <a:ext cx="10021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Bento StatCard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08570" y="39509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里程碑时间线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608570" y="4141470"/>
              <a:ext cx="949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hover 留言功能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08570" y="4331970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空状态邀请文案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09522" y="4625816"/>
              <a:ext cx="137045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/journal/:plantId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715500" y="3286125"/>
            <a:ext cx="1905000" cy="1714500"/>
            <a:chOff x="9715500" y="3286125"/>
            <a:chExt cx="1905000" cy="1714500"/>
          </a:xfrm>
        </p:grpSpPr>
        <p:sp>
          <p:nvSpPr>
            <p:cNvPr id="81" name="Freeform 81"/>
            <p:cNvSpPr/>
            <p:nvPr/>
          </p:nvSpPr>
          <p:spPr>
            <a:xfrm>
              <a:off x="9715500" y="3286125"/>
              <a:ext cx="1905000" cy="1714500"/>
            </a:xfrm>
            <a:custGeom>
              <a:avLst/>
              <a:gdLst/>
              <a:ahLst/>
              <a:cxnLst/>
              <a:rect l="l" t="t" r="r" b="b"/>
              <a:pathLst>
                <a:path w="1905000" h="1714500">
                  <a:moveTo>
                    <a:pt x="95250" y="0"/>
                  </a:moveTo>
                  <a:lnTo>
                    <a:pt x="1809750" y="0"/>
                  </a:lnTo>
                  <a:cubicBezTo>
                    <a:pt x="1862355" y="0"/>
                    <a:pt x="1905000" y="42645"/>
                    <a:pt x="1905000" y="95250"/>
                  </a:cubicBezTo>
                  <a:lnTo>
                    <a:pt x="1905000" y="1619250"/>
                  </a:lnTo>
                  <a:cubicBezTo>
                    <a:pt x="1905000" y="1671855"/>
                    <a:pt x="1862355" y="1714500"/>
                    <a:pt x="18097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9715500" y="3286125"/>
              <a:ext cx="1905000" cy="1714500"/>
            </a:xfrm>
            <a:custGeom>
              <a:avLst/>
              <a:gdLst/>
              <a:ahLst/>
              <a:cxnLst/>
              <a:rect l="l" t="t" r="r" b="b"/>
              <a:pathLst>
                <a:path w="1905000" h="1714500">
                  <a:moveTo>
                    <a:pt x="95250" y="0"/>
                  </a:moveTo>
                  <a:lnTo>
                    <a:pt x="1809750" y="0"/>
                  </a:lnTo>
                  <a:cubicBezTo>
                    <a:pt x="1862355" y="0"/>
                    <a:pt x="1905000" y="42645"/>
                    <a:pt x="1905000" y="95250"/>
                  </a:cubicBezTo>
                  <a:lnTo>
                    <a:pt x="1905000" y="1619250"/>
                  </a:lnTo>
                  <a:cubicBezTo>
                    <a:pt x="1905000" y="1671855"/>
                    <a:pt x="1862355" y="1714500"/>
                    <a:pt x="1809750" y="1714500"/>
                  </a:cubicBezTo>
                  <a:lnTo>
                    <a:pt x="95250" y="1714500"/>
                  </a:lnTo>
                  <a:cubicBezTo>
                    <a:pt x="42645" y="1714500"/>
                    <a:pt x="0" y="1671855"/>
                    <a:pt x="0" y="1619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9715500" y="3286125"/>
              <a:ext cx="1905000" cy="342900"/>
            </a:xfrm>
            <a:custGeom>
              <a:avLst/>
              <a:gdLst/>
              <a:ahLst/>
              <a:cxnLst/>
              <a:rect l="l" t="t" r="r" b="b"/>
              <a:pathLst>
                <a:path w="1905000" h="342900">
                  <a:moveTo>
                    <a:pt x="95250" y="0"/>
                  </a:moveTo>
                  <a:lnTo>
                    <a:pt x="1809750" y="0"/>
                  </a:lnTo>
                  <a:cubicBezTo>
                    <a:pt x="1862355" y="0"/>
                    <a:pt x="1905000" y="42645"/>
                    <a:pt x="1905000" y="95250"/>
                  </a:cubicBezTo>
                  <a:lnTo>
                    <a:pt x="1905000" y="247650"/>
                  </a:lnTo>
                  <a:cubicBezTo>
                    <a:pt x="1905000" y="300255"/>
                    <a:pt x="1862355" y="342900"/>
                    <a:pt x="1809750" y="342900"/>
                  </a:cubicBezTo>
                  <a:lnTo>
                    <a:pt x="95250" y="342900"/>
                  </a:lnTo>
                  <a:cubicBezTo>
                    <a:pt x="42645" y="342900"/>
                    <a:pt x="0" y="300255"/>
                    <a:pt x="0" y="247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715500" y="3533775"/>
              <a:ext cx="1905000" cy="95250"/>
            </a:xfrm>
            <a:prstGeom prst="rect">
              <a:avLst/>
            </a:pr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9877424" y="3362322"/>
              <a:ext cx="190502" cy="171454"/>
            </a:xfrm>
            <a:custGeom>
              <a:avLst/>
              <a:gdLst/>
              <a:ahLst/>
              <a:cxnLst/>
              <a:rect l="l" t="t" r="r" b="b"/>
              <a:pathLst>
                <a:path w="190502" h="171454">
                  <a:moveTo>
                    <a:pt x="123826" y="3"/>
                  </a:moveTo>
                  <a:cubicBezTo>
                    <a:pt x="133795" y="0"/>
                    <a:pt x="142081" y="7683"/>
                    <a:pt x="142828" y="17624"/>
                  </a:cubicBezTo>
                  <a:lnTo>
                    <a:pt x="142876" y="19053"/>
                  </a:lnTo>
                  <a:cubicBezTo>
                    <a:pt x="142876" y="23882"/>
                    <a:pt x="146491" y="27946"/>
                    <a:pt x="151286" y="28511"/>
                  </a:cubicBezTo>
                  <a:lnTo>
                    <a:pt x="152401" y="28578"/>
                  </a:lnTo>
                  <a:lnTo>
                    <a:pt x="161926" y="28578"/>
                  </a:lnTo>
                  <a:cubicBezTo>
                    <a:pt x="177057" y="28577"/>
                    <a:pt x="189566" y="40372"/>
                    <a:pt x="190453" y="55477"/>
                  </a:cubicBezTo>
                  <a:lnTo>
                    <a:pt x="190501" y="57153"/>
                  </a:lnTo>
                  <a:lnTo>
                    <a:pt x="190501" y="142878"/>
                  </a:lnTo>
                  <a:cubicBezTo>
                    <a:pt x="190502" y="158009"/>
                    <a:pt x="178707" y="170518"/>
                    <a:pt x="163602" y="171406"/>
                  </a:cubicBezTo>
                  <a:lnTo>
                    <a:pt x="161926" y="171453"/>
                  </a:lnTo>
                  <a:lnTo>
                    <a:pt x="28576" y="171453"/>
                  </a:lnTo>
                  <a:cubicBezTo>
                    <a:pt x="13445" y="171454"/>
                    <a:pt x="936" y="159660"/>
                    <a:pt x="48" y="144555"/>
                  </a:cubicBezTo>
                  <a:lnTo>
                    <a:pt x="1" y="142878"/>
                  </a:lnTo>
                  <a:lnTo>
                    <a:pt x="1" y="57153"/>
                  </a:lnTo>
                  <a:cubicBezTo>
                    <a:pt x="0" y="42022"/>
                    <a:pt x="11794" y="29513"/>
                    <a:pt x="26899" y="28626"/>
                  </a:cubicBezTo>
                  <a:lnTo>
                    <a:pt x="28576" y="28578"/>
                  </a:lnTo>
                  <a:lnTo>
                    <a:pt x="38101" y="28578"/>
                  </a:lnTo>
                  <a:cubicBezTo>
                    <a:pt x="43361" y="28578"/>
                    <a:pt x="47626" y="24314"/>
                    <a:pt x="47626" y="19053"/>
                  </a:cubicBezTo>
                  <a:cubicBezTo>
                    <a:pt x="47623" y="9084"/>
                    <a:pt x="55306" y="798"/>
                    <a:pt x="65247" y="51"/>
                  </a:cubicBezTo>
                  <a:lnTo>
                    <a:pt x="66676" y="3"/>
                  </a:lnTo>
                  <a:lnTo>
                    <a:pt x="123826" y="3"/>
                  </a:lnTo>
                  <a:close/>
                  <a:moveTo>
                    <a:pt x="95251" y="66678"/>
                  </a:moveTo>
                  <a:cubicBezTo>
                    <a:pt x="80582" y="66677"/>
                    <a:pt x="68295" y="77783"/>
                    <a:pt x="66819" y="92377"/>
                  </a:cubicBezTo>
                  <a:lnTo>
                    <a:pt x="66714" y="93824"/>
                  </a:lnTo>
                  <a:lnTo>
                    <a:pt x="66676" y="95253"/>
                  </a:lnTo>
                  <a:lnTo>
                    <a:pt x="66714" y="96682"/>
                  </a:lnTo>
                  <a:cubicBezTo>
                    <a:pt x="67494" y="112258"/>
                    <a:pt x="80619" y="124333"/>
                    <a:pt x="96207" y="123812"/>
                  </a:cubicBezTo>
                  <a:cubicBezTo>
                    <a:pt x="111794" y="123292"/>
                    <a:pt x="124085" y="110369"/>
                    <a:pt x="123824" y="94775"/>
                  </a:cubicBezTo>
                  <a:cubicBezTo>
                    <a:pt x="123563" y="79181"/>
                    <a:pt x="110847" y="66677"/>
                    <a:pt x="95251" y="66678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130790" y="34013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相册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894570" y="3760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双层时间分组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894570" y="39509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按植物筛选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94570" y="41414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拖入上传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894570" y="4331970"/>
              <a:ext cx="5354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lightbox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895522" y="4625816"/>
              <a:ext cx="7559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路由: /album</a:t>
              </a:r>
            </a:p>
          </p:txBody>
        </p:sp>
      </p:grpSp>
      <p:sp>
        <p:nvSpPr>
          <p:cNvPr id="93" name="Freeform 93"/>
          <p:cNvSpPr/>
          <p:nvPr/>
        </p:nvSpPr>
        <p:spPr>
          <a:xfrm>
            <a:off x="571500" y="523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4" name="Freeform 94"/>
          <p:cNvSpPr/>
          <p:nvPr/>
        </p:nvSpPr>
        <p:spPr>
          <a:xfrm>
            <a:off x="571500" y="523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746760" y="5394960"/>
            <a:ext cx="10334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共享 UI 组件</a:t>
            </a:r>
          </a:p>
        </p:txBody>
      </p:sp>
      <p:sp>
        <p:nvSpPr>
          <p:cNvPr id="96" name="Freeform 96"/>
          <p:cNvSpPr/>
          <p:nvPr/>
        </p:nvSpPr>
        <p:spPr>
          <a:xfrm>
            <a:off x="762000" y="5667375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47625" y="0"/>
                </a:moveTo>
                <a:lnTo>
                  <a:pt x="904875" y="0"/>
                </a:lnTo>
                <a:cubicBezTo>
                  <a:pt x="931178" y="0"/>
                  <a:pt x="952500" y="21322"/>
                  <a:pt x="952500" y="47625"/>
                </a:cubicBezTo>
                <a:lnTo>
                  <a:pt x="952500" y="200025"/>
                </a:lnTo>
                <a:cubicBezTo>
                  <a:pt x="952500" y="226328"/>
                  <a:pt x="931178" y="247650"/>
                  <a:pt x="904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992815" y="5749766"/>
            <a:ext cx="4908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AppShell</a:t>
            </a:r>
          </a:p>
        </p:txBody>
      </p:sp>
      <p:sp>
        <p:nvSpPr>
          <p:cNvPr id="98" name="Freeform 98"/>
          <p:cNvSpPr/>
          <p:nvPr/>
        </p:nvSpPr>
        <p:spPr>
          <a:xfrm>
            <a:off x="1809750" y="5667375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47625" y="0"/>
                </a:moveTo>
                <a:lnTo>
                  <a:pt x="904875" y="0"/>
                </a:lnTo>
                <a:cubicBezTo>
                  <a:pt x="931178" y="0"/>
                  <a:pt x="952500" y="21322"/>
                  <a:pt x="952500" y="47625"/>
                </a:cubicBezTo>
                <a:lnTo>
                  <a:pt x="952500" y="200025"/>
                </a:lnTo>
                <a:cubicBezTo>
                  <a:pt x="952500" y="226328"/>
                  <a:pt x="931178" y="247650"/>
                  <a:pt x="904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2058638" y="5749766"/>
            <a:ext cx="4547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SideNav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2857500" y="5667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47625" y="0"/>
                </a:moveTo>
                <a:lnTo>
                  <a:pt x="714375" y="0"/>
                </a:lnTo>
                <a:cubicBezTo>
                  <a:pt x="740678" y="0"/>
                  <a:pt x="762000" y="21322"/>
                  <a:pt x="762000" y="47625"/>
                </a:cubicBezTo>
                <a:lnTo>
                  <a:pt x="762000" y="200025"/>
                </a:lnTo>
                <a:cubicBezTo>
                  <a:pt x="762000" y="226328"/>
                  <a:pt x="740678" y="247650"/>
                  <a:pt x="714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</p:sp>
      <p:sp>
        <p:nvSpPr>
          <p:cNvPr id="101" name="TextBox 101"/>
          <p:cNvSpPr txBox="1"/>
          <p:nvPr/>
        </p:nvSpPr>
        <p:spPr>
          <a:xfrm>
            <a:off x="3095482" y="5749766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Card</a:t>
            </a:r>
          </a:p>
        </p:txBody>
      </p:sp>
      <p:sp>
        <p:nvSpPr>
          <p:cNvPr id="102" name="Freeform 102"/>
          <p:cNvSpPr/>
          <p:nvPr/>
        </p:nvSpPr>
        <p:spPr>
          <a:xfrm>
            <a:off x="3714750" y="5667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47625" y="0"/>
                </a:moveTo>
                <a:lnTo>
                  <a:pt x="714375" y="0"/>
                </a:lnTo>
                <a:cubicBezTo>
                  <a:pt x="740678" y="0"/>
                  <a:pt x="762000" y="21322"/>
                  <a:pt x="762000" y="47625"/>
                </a:cubicBezTo>
                <a:lnTo>
                  <a:pt x="762000" y="200025"/>
                </a:lnTo>
                <a:cubicBezTo>
                  <a:pt x="762000" y="226328"/>
                  <a:pt x="740678" y="247650"/>
                  <a:pt x="714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</p:sp>
      <p:sp>
        <p:nvSpPr>
          <p:cNvPr id="103" name="TextBox 103"/>
          <p:cNvSpPr txBox="1"/>
          <p:nvPr/>
        </p:nvSpPr>
        <p:spPr>
          <a:xfrm>
            <a:off x="3967794" y="5749766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Chip</a:t>
            </a:r>
          </a:p>
        </p:txBody>
      </p:sp>
      <p:sp>
        <p:nvSpPr>
          <p:cNvPr id="104" name="Freeform 104"/>
          <p:cNvSpPr/>
          <p:nvPr/>
        </p:nvSpPr>
        <p:spPr>
          <a:xfrm>
            <a:off x="4572000" y="5667375"/>
            <a:ext cx="762000" cy="247650"/>
          </a:xfrm>
          <a:custGeom>
            <a:avLst/>
            <a:gdLst/>
            <a:ahLst/>
            <a:cxnLst/>
            <a:rect l="l" t="t" r="r" b="b"/>
            <a:pathLst>
              <a:path w="762000" h="247650">
                <a:moveTo>
                  <a:pt x="47625" y="0"/>
                </a:moveTo>
                <a:lnTo>
                  <a:pt x="714375" y="0"/>
                </a:lnTo>
                <a:cubicBezTo>
                  <a:pt x="740678" y="0"/>
                  <a:pt x="762000" y="21322"/>
                  <a:pt x="762000" y="47625"/>
                </a:cubicBezTo>
                <a:lnTo>
                  <a:pt x="762000" y="200025"/>
                </a:lnTo>
                <a:cubicBezTo>
                  <a:pt x="762000" y="226328"/>
                  <a:pt x="740678" y="247650"/>
                  <a:pt x="714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</p:sp>
      <p:sp>
        <p:nvSpPr>
          <p:cNvPr id="105" name="TextBox 105"/>
          <p:cNvSpPr txBox="1"/>
          <p:nvPr/>
        </p:nvSpPr>
        <p:spPr>
          <a:xfrm>
            <a:off x="4776847" y="5749766"/>
            <a:ext cx="3523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Toast</a:t>
            </a:r>
          </a:p>
        </p:txBody>
      </p:sp>
      <p:sp>
        <p:nvSpPr>
          <p:cNvPr id="106" name="Freeform 106"/>
          <p:cNvSpPr/>
          <p:nvPr/>
        </p:nvSpPr>
        <p:spPr>
          <a:xfrm>
            <a:off x="5429250" y="5667375"/>
            <a:ext cx="1143000" cy="247650"/>
          </a:xfrm>
          <a:custGeom>
            <a:avLst/>
            <a:gdLst/>
            <a:ahLst/>
            <a:cxnLst/>
            <a:rect l="l" t="t" r="r" b="b"/>
            <a:pathLst>
              <a:path w="1143000" h="247650">
                <a:moveTo>
                  <a:pt x="47625" y="0"/>
                </a:moveTo>
                <a:lnTo>
                  <a:pt x="1095375" y="0"/>
                </a:lnTo>
                <a:cubicBezTo>
                  <a:pt x="1121678" y="0"/>
                  <a:pt x="1143000" y="21322"/>
                  <a:pt x="1143000" y="47625"/>
                </a:cubicBezTo>
                <a:lnTo>
                  <a:pt x="1143000" y="200025"/>
                </a:lnTo>
                <a:cubicBezTo>
                  <a:pt x="1143000" y="226328"/>
                  <a:pt x="1121678" y="247650"/>
                  <a:pt x="10953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</p:sp>
      <p:sp>
        <p:nvSpPr>
          <p:cNvPr id="107" name="TextBox 107"/>
          <p:cNvSpPr txBox="1"/>
          <p:nvPr/>
        </p:nvSpPr>
        <p:spPr>
          <a:xfrm>
            <a:off x="5526381" y="5749766"/>
            <a:ext cx="94873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BackendConnect</a:t>
            </a:r>
          </a:p>
        </p:txBody>
      </p:sp>
      <p:sp>
        <p:nvSpPr>
          <p:cNvPr id="108" name="Freeform 108"/>
          <p:cNvSpPr/>
          <p:nvPr/>
        </p:nvSpPr>
        <p:spPr>
          <a:xfrm>
            <a:off x="6667500" y="5667375"/>
            <a:ext cx="1333500" cy="247650"/>
          </a:xfrm>
          <a:custGeom>
            <a:avLst/>
            <a:gdLst/>
            <a:ahLst/>
            <a:cxnLst/>
            <a:rect l="l" t="t" r="r" b="b"/>
            <a:pathLst>
              <a:path w="1333500" h="247650">
                <a:moveTo>
                  <a:pt x="47625" y="0"/>
                </a:moveTo>
                <a:lnTo>
                  <a:pt x="1285875" y="0"/>
                </a:lnTo>
                <a:cubicBezTo>
                  <a:pt x="1312178" y="0"/>
                  <a:pt x="1333500" y="21322"/>
                  <a:pt x="1333500" y="47625"/>
                </a:cubicBezTo>
                <a:lnTo>
                  <a:pt x="1333500" y="200025"/>
                </a:lnTo>
                <a:cubicBezTo>
                  <a:pt x="1333500" y="226328"/>
                  <a:pt x="1312178" y="247650"/>
                  <a:pt x="1285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</p:sp>
      <p:sp>
        <p:nvSpPr>
          <p:cNvPr id="109" name="TextBox 109"/>
          <p:cNvSpPr txBox="1"/>
          <p:nvPr/>
        </p:nvSpPr>
        <p:spPr>
          <a:xfrm>
            <a:off x="6874943" y="5749766"/>
            <a:ext cx="9186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PlantStatusTag</a:t>
            </a:r>
          </a:p>
        </p:txBody>
      </p:sp>
      <p:sp>
        <p:nvSpPr>
          <p:cNvPr id="110" name="Freeform 110"/>
          <p:cNvSpPr/>
          <p:nvPr/>
        </p:nvSpPr>
        <p:spPr>
          <a:xfrm>
            <a:off x="8096250" y="5667375"/>
            <a:ext cx="1428750" cy="247650"/>
          </a:xfrm>
          <a:custGeom>
            <a:avLst/>
            <a:gdLst/>
            <a:ahLst/>
            <a:cxnLst/>
            <a:rect l="l" t="t" r="r" b="b"/>
            <a:pathLst>
              <a:path w="1428750" h="247650">
                <a:moveTo>
                  <a:pt x="47625" y="0"/>
                </a:moveTo>
                <a:lnTo>
                  <a:pt x="1381125" y="0"/>
                </a:lnTo>
                <a:cubicBezTo>
                  <a:pt x="1407428" y="0"/>
                  <a:pt x="1428750" y="21322"/>
                  <a:pt x="1428750" y="47625"/>
                </a:cubicBezTo>
                <a:lnTo>
                  <a:pt x="1428750" y="200025"/>
                </a:lnTo>
                <a:cubicBezTo>
                  <a:pt x="1428750" y="226328"/>
                  <a:pt x="1407428" y="247650"/>
                  <a:pt x="138112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</p:sp>
      <p:sp>
        <p:nvSpPr>
          <p:cNvPr id="111" name="TextBox 111"/>
          <p:cNvSpPr txBox="1"/>
          <p:nvPr/>
        </p:nvSpPr>
        <p:spPr>
          <a:xfrm>
            <a:off x="8348305" y="5749766"/>
            <a:ext cx="9246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PlantReflection</a:t>
            </a:r>
          </a:p>
        </p:txBody>
      </p:sp>
      <p:sp>
        <p:nvSpPr>
          <p:cNvPr id="112" name="Freeform 112"/>
          <p:cNvSpPr/>
          <p:nvPr/>
        </p:nvSpPr>
        <p:spPr>
          <a:xfrm>
            <a:off x="9620250" y="5667375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47625" y="0"/>
                </a:moveTo>
                <a:lnTo>
                  <a:pt x="904875" y="0"/>
                </a:lnTo>
                <a:cubicBezTo>
                  <a:pt x="931178" y="0"/>
                  <a:pt x="952500" y="21322"/>
                  <a:pt x="952500" y="47625"/>
                </a:cubicBezTo>
                <a:lnTo>
                  <a:pt x="952500" y="200025"/>
                </a:lnTo>
                <a:cubicBezTo>
                  <a:pt x="952500" y="226328"/>
                  <a:pt x="931178" y="247650"/>
                  <a:pt x="904875" y="247650"/>
                </a:cubicBezTo>
                <a:lnTo>
                  <a:pt x="47625" y="247650"/>
                </a:lnTo>
                <a:cubicBezTo>
                  <a:pt x="21322" y="247650"/>
                  <a:pt x="0" y="226328"/>
                  <a:pt x="0" y="200025"/>
                </a:cubicBezTo>
                <a:lnTo>
                  <a:pt x="0" y="47625"/>
                </a:lnTo>
                <a:cubicBezTo>
                  <a:pt x="0" y="21322"/>
                  <a:pt x="21322" y="0"/>
                  <a:pt x="47625" y="0"/>
                </a:cubicBezTo>
                <a:close/>
              </a:path>
            </a:pathLst>
          </a:custGeom>
          <a:solidFill>
            <a:srgbClr val="2D5016">
              <a:alpha val="8000"/>
            </a:srgbClr>
          </a:solidFill>
          <a:ln>
            <a:noFill/>
          </a:ln>
        </p:spPr>
      </p:sp>
      <p:sp>
        <p:nvSpPr>
          <p:cNvPr id="113" name="TextBox 113"/>
          <p:cNvSpPr txBox="1"/>
          <p:nvPr/>
        </p:nvSpPr>
        <p:spPr>
          <a:xfrm>
            <a:off x="9836003" y="5749766"/>
            <a:ext cx="5209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SSE Sync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10 / 18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A7C28">
                  <a:alpha val="4000"/>
                </a:srgbClr>
              </a:gs>
              <a:gs pos="100000">
                <a:srgbClr val="4A7C2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3900" y="514350"/>
            <a:ext cx="341161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温室 Dashboard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4855" y="978218"/>
            <a:ext cx="26171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每次进入都有"被注视"的感觉</a:t>
            </a:r>
          </a:p>
        </p:txBody>
      </p:sp>
      <p:sp>
        <p:nvSpPr>
          <p:cNvPr id="7" name="Freeform 7"/>
          <p:cNvSpPr/>
          <p:nvPr/>
        </p:nvSpPr>
        <p:spPr>
          <a:xfrm>
            <a:off x="571500" y="142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28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71538" y="1614488"/>
            <a:ext cx="314325" cy="314325"/>
          </a:xfrm>
          <a:custGeom>
            <a:avLst/>
            <a:gdLst/>
            <a:ahLst/>
            <a:cxnLst/>
            <a:rect l="l" t="t" r="r" b="b"/>
            <a:pathLst>
              <a:path w="314325" h="314325">
                <a:moveTo>
                  <a:pt x="157162" y="257175"/>
                </a:moveTo>
                <a:cubicBezTo>
                  <a:pt x="165053" y="257175"/>
                  <a:pt x="171450" y="263572"/>
                  <a:pt x="171450" y="271462"/>
                </a:cubicBezTo>
                <a:lnTo>
                  <a:pt x="171450" y="300038"/>
                </a:lnTo>
                <a:cubicBezTo>
                  <a:pt x="171450" y="307928"/>
                  <a:pt x="165053" y="314325"/>
                  <a:pt x="157162" y="314325"/>
                </a:cubicBezTo>
                <a:cubicBezTo>
                  <a:pt x="149272" y="314325"/>
                  <a:pt x="142875" y="307928"/>
                  <a:pt x="142875" y="300038"/>
                </a:cubicBezTo>
                <a:lnTo>
                  <a:pt x="142875" y="271462"/>
                </a:lnTo>
                <a:cubicBezTo>
                  <a:pt x="142875" y="263572"/>
                  <a:pt x="149272" y="257175"/>
                  <a:pt x="157162" y="257175"/>
                </a:cubicBezTo>
                <a:moveTo>
                  <a:pt x="86439" y="227886"/>
                </a:moveTo>
                <a:cubicBezTo>
                  <a:pt x="92017" y="233465"/>
                  <a:pt x="92017" y="242509"/>
                  <a:pt x="86439" y="248088"/>
                </a:cubicBezTo>
                <a:lnTo>
                  <a:pt x="66237" y="268291"/>
                </a:lnTo>
                <a:cubicBezTo>
                  <a:pt x="62650" y="272005"/>
                  <a:pt x="57337" y="273494"/>
                  <a:pt x="52342" y="272187"/>
                </a:cubicBezTo>
                <a:cubicBezTo>
                  <a:pt x="47347" y="270879"/>
                  <a:pt x="43446" y="266978"/>
                  <a:pt x="42138" y="261983"/>
                </a:cubicBezTo>
                <a:cubicBezTo>
                  <a:pt x="40831" y="256988"/>
                  <a:pt x="42320" y="251675"/>
                  <a:pt x="46034" y="248088"/>
                </a:cubicBezTo>
                <a:lnTo>
                  <a:pt x="66237" y="227886"/>
                </a:lnTo>
                <a:cubicBezTo>
                  <a:pt x="71816" y="222308"/>
                  <a:pt x="80860" y="222308"/>
                  <a:pt x="86439" y="227886"/>
                </a:cubicBezTo>
                <a:moveTo>
                  <a:pt x="248088" y="227886"/>
                </a:moveTo>
                <a:lnTo>
                  <a:pt x="268291" y="248088"/>
                </a:lnTo>
                <a:cubicBezTo>
                  <a:pt x="273705" y="253694"/>
                  <a:pt x="273628" y="262605"/>
                  <a:pt x="268117" y="268117"/>
                </a:cubicBezTo>
                <a:cubicBezTo>
                  <a:pt x="262605" y="273628"/>
                  <a:pt x="253694" y="273705"/>
                  <a:pt x="248088" y="268291"/>
                </a:cubicBezTo>
                <a:lnTo>
                  <a:pt x="227886" y="248088"/>
                </a:lnTo>
                <a:cubicBezTo>
                  <a:pt x="222471" y="242482"/>
                  <a:pt x="222548" y="233571"/>
                  <a:pt x="228060" y="228060"/>
                </a:cubicBezTo>
                <a:cubicBezTo>
                  <a:pt x="233571" y="222548"/>
                  <a:pt x="242482" y="222471"/>
                  <a:pt x="248088" y="227886"/>
                </a:cubicBezTo>
                <a:moveTo>
                  <a:pt x="175951" y="87354"/>
                </a:moveTo>
                <a:cubicBezTo>
                  <a:pt x="200760" y="93710"/>
                  <a:pt x="220269" y="112860"/>
                  <a:pt x="227084" y="137547"/>
                </a:cubicBezTo>
                <a:cubicBezTo>
                  <a:pt x="233898" y="162234"/>
                  <a:pt x="226977" y="188681"/>
                  <a:pt x="208941" y="206864"/>
                </a:cubicBezTo>
                <a:cubicBezTo>
                  <a:pt x="190906" y="225047"/>
                  <a:pt x="164517" y="232184"/>
                  <a:pt x="139775" y="225571"/>
                </a:cubicBezTo>
                <a:cubicBezTo>
                  <a:pt x="101799" y="215420"/>
                  <a:pt x="79159" y="176496"/>
                  <a:pt x="89112" y="138468"/>
                </a:cubicBezTo>
                <a:cubicBezTo>
                  <a:pt x="99065" y="100440"/>
                  <a:pt x="137871" y="77598"/>
                  <a:pt x="175951" y="87354"/>
                </a:cubicBezTo>
                <a:moveTo>
                  <a:pt x="42862" y="142875"/>
                </a:moveTo>
                <a:cubicBezTo>
                  <a:pt x="50753" y="142875"/>
                  <a:pt x="57150" y="149272"/>
                  <a:pt x="57150" y="157162"/>
                </a:cubicBezTo>
                <a:cubicBezTo>
                  <a:pt x="57150" y="165053"/>
                  <a:pt x="50753" y="171450"/>
                  <a:pt x="42862" y="171450"/>
                </a:cubicBezTo>
                <a:lnTo>
                  <a:pt x="14288" y="171450"/>
                </a:lnTo>
                <a:cubicBezTo>
                  <a:pt x="6397" y="171450"/>
                  <a:pt x="0" y="165053"/>
                  <a:pt x="0" y="157162"/>
                </a:cubicBezTo>
                <a:cubicBezTo>
                  <a:pt x="0" y="149272"/>
                  <a:pt x="6397" y="142875"/>
                  <a:pt x="14288" y="142875"/>
                </a:cubicBezTo>
                <a:close/>
                <a:moveTo>
                  <a:pt x="300038" y="142875"/>
                </a:moveTo>
                <a:cubicBezTo>
                  <a:pt x="307928" y="142875"/>
                  <a:pt x="314325" y="149272"/>
                  <a:pt x="314325" y="157162"/>
                </a:cubicBezTo>
                <a:cubicBezTo>
                  <a:pt x="314325" y="165053"/>
                  <a:pt x="307928" y="171450"/>
                  <a:pt x="300038" y="171450"/>
                </a:cubicBezTo>
                <a:lnTo>
                  <a:pt x="271462" y="171450"/>
                </a:lnTo>
                <a:cubicBezTo>
                  <a:pt x="263572" y="171450"/>
                  <a:pt x="257175" y="165053"/>
                  <a:pt x="257175" y="157162"/>
                </a:cubicBezTo>
                <a:cubicBezTo>
                  <a:pt x="257175" y="149272"/>
                  <a:pt x="263572" y="142875"/>
                  <a:pt x="271462" y="142875"/>
                </a:cubicBezTo>
                <a:close/>
                <a:moveTo>
                  <a:pt x="66237" y="46034"/>
                </a:moveTo>
                <a:lnTo>
                  <a:pt x="86439" y="66237"/>
                </a:lnTo>
                <a:cubicBezTo>
                  <a:pt x="91854" y="71843"/>
                  <a:pt x="91777" y="80754"/>
                  <a:pt x="86265" y="86265"/>
                </a:cubicBezTo>
                <a:cubicBezTo>
                  <a:pt x="80754" y="91777"/>
                  <a:pt x="71843" y="91854"/>
                  <a:pt x="66237" y="86439"/>
                </a:cubicBezTo>
                <a:lnTo>
                  <a:pt x="46034" y="66237"/>
                </a:lnTo>
                <a:cubicBezTo>
                  <a:pt x="40620" y="60631"/>
                  <a:pt x="40697" y="51720"/>
                  <a:pt x="46208" y="46208"/>
                </a:cubicBezTo>
                <a:cubicBezTo>
                  <a:pt x="51720" y="40697"/>
                  <a:pt x="60631" y="40620"/>
                  <a:pt x="66237" y="46034"/>
                </a:cubicBezTo>
                <a:moveTo>
                  <a:pt x="268291" y="46034"/>
                </a:moveTo>
                <a:cubicBezTo>
                  <a:pt x="273868" y="51614"/>
                  <a:pt x="273868" y="60658"/>
                  <a:pt x="268291" y="66237"/>
                </a:cubicBezTo>
                <a:lnTo>
                  <a:pt x="248088" y="86439"/>
                </a:lnTo>
                <a:cubicBezTo>
                  <a:pt x="242482" y="91854"/>
                  <a:pt x="233571" y="91777"/>
                  <a:pt x="228060" y="86265"/>
                </a:cubicBezTo>
                <a:cubicBezTo>
                  <a:pt x="222548" y="80754"/>
                  <a:pt x="222471" y="71843"/>
                  <a:pt x="227886" y="66237"/>
                </a:cubicBezTo>
                <a:lnTo>
                  <a:pt x="248088" y="46034"/>
                </a:lnTo>
                <a:cubicBezTo>
                  <a:pt x="253667" y="40457"/>
                  <a:pt x="262711" y="40457"/>
                  <a:pt x="268291" y="46034"/>
                </a:cubicBezTo>
                <a:moveTo>
                  <a:pt x="157162" y="0"/>
                </a:moveTo>
                <a:cubicBezTo>
                  <a:pt x="165053" y="0"/>
                  <a:pt x="171450" y="6397"/>
                  <a:pt x="171450" y="14288"/>
                </a:cubicBezTo>
                <a:lnTo>
                  <a:pt x="171450" y="42862"/>
                </a:lnTo>
                <a:cubicBezTo>
                  <a:pt x="171450" y="50753"/>
                  <a:pt x="165053" y="57150"/>
                  <a:pt x="157162" y="57150"/>
                </a:cubicBezTo>
                <a:cubicBezTo>
                  <a:pt x="149272" y="57150"/>
                  <a:pt x="142875" y="50753"/>
                  <a:pt x="142875" y="42862"/>
                </a:cubicBezTo>
                <a:lnTo>
                  <a:pt x="142875" y="14288"/>
                </a:lnTo>
                <a:cubicBezTo>
                  <a:pt x="142875" y="6397"/>
                  <a:pt x="149272" y="0"/>
                  <a:pt x="157162" y="0"/>
                </a:cubicBezTo>
              </a:path>
            </a:pathLst>
          </a:custGeom>
          <a:solidFill>
            <a:srgbClr val="E8A84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310640" y="1663065"/>
            <a:ext cx="3358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下午好，欢迎回到你的温室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0165" y="1963102"/>
            <a:ext cx="34694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根据时辰自动切换：早安 / 午安 / 下午好 / 晚上好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38125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1028700"/>
                </a:lnTo>
                <a:cubicBezTo>
                  <a:pt x="2667000" y="1091826"/>
                  <a:pt x="2615826" y="1143000"/>
                  <a:pt x="2552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571500" y="2381250"/>
            <a:ext cx="2667000" cy="1143000"/>
          </a:xfrm>
          <a:custGeom>
            <a:avLst/>
            <a:gdLst/>
            <a:ahLst/>
            <a:cxnLst/>
            <a:rect l="l" t="t" r="r" b="b"/>
            <a:pathLst>
              <a:path w="2667000" h="1143000">
                <a:moveTo>
                  <a:pt x="114300" y="0"/>
                </a:moveTo>
                <a:lnTo>
                  <a:pt x="2552700" y="0"/>
                </a:lnTo>
                <a:cubicBezTo>
                  <a:pt x="2615826" y="0"/>
                  <a:pt x="2667000" y="51174"/>
                  <a:pt x="2667000" y="114300"/>
                </a:cubicBezTo>
                <a:lnTo>
                  <a:pt x="2667000" y="1028700"/>
                </a:lnTo>
                <a:cubicBezTo>
                  <a:pt x="2667000" y="1091826"/>
                  <a:pt x="2615826" y="1143000"/>
                  <a:pt x="2552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822325" y="2617953"/>
            <a:ext cx="279400" cy="195148"/>
          </a:xfrm>
          <a:custGeom>
            <a:avLst/>
            <a:gdLst/>
            <a:ahLst/>
            <a:cxnLst/>
            <a:rect l="l" t="t" r="r" b="b"/>
            <a:pathLst>
              <a:path w="279400" h="195148">
                <a:moveTo>
                  <a:pt x="114808" y="8471"/>
                </a:moveTo>
                <a:cubicBezTo>
                  <a:pt x="142685" y="0"/>
                  <a:pt x="173418" y="5626"/>
                  <a:pt x="195580" y="23406"/>
                </a:cubicBezTo>
                <a:cubicBezTo>
                  <a:pt x="213182" y="37478"/>
                  <a:pt x="223368" y="57518"/>
                  <a:pt x="224180" y="78524"/>
                </a:cubicBezTo>
                <a:lnTo>
                  <a:pt x="224219" y="81217"/>
                </a:lnTo>
                <a:lnTo>
                  <a:pt x="225374" y="81255"/>
                </a:lnTo>
                <a:cubicBezTo>
                  <a:pt x="254584" y="82614"/>
                  <a:pt x="277990" y="106159"/>
                  <a:pt x="279349" y="135484"/>
                </a:cubicBezTo>
                <a:lnTo>
                  <a:pt x="279400" y="138163"/>
                </a:lnTo>
                <a:cubicBezTo>
                  <a:pt x="279400" y="168732"/>
                  <a:pt x="255461" y="193688"/>
                  <a:pt x="225362" y="195085"/>
                </a:cubicBezTo>
                <a:lnTo>
                  <a:pt x="222695" y="195148"/>
                </a:lnTo>
                <a:lnTo>
                  <a:pt x="71844" y="195148"/>
                </a:lnTo>
                <a:lnTo>
                  <a:pt x="69025" y="195047"/>
                </a:lnTo>
                <a:cubicBezTo>
                  <a:pt x="31687" y="193650"/>
                  <a:pt x="1499" y="164579"/>
                  <a:pt x="64" y="128206"/>
                </a:cubicBezTo>
                <a:lnTo>
                  <a:pt x="0" y="125463"/>
                </a:lnTo>
                <a:cubicBezTo>
                  <a:pt x="0" y="90576"/>
                  <a:pt x="26416" y="61836"/>
                  <a:pt x="60757" y="56667"/>
                </a:cubicBezTo>
                <a:lnTo>
                  <a:pt x="62205" y="56464"/>
                </a:lnTo>
                <a:lnTo>
                  <a:pt x="63094" y="54166"/>
                </a:lnTo>
                <a:cubicBezTo>
                  <a:pt x="71514" y="33592"/>
                  <a:pt x="89205" y="17259"/>
                  <a:pt x="111722" y="9487"/>
                </a:cubicBezTo>
                <a:lnTo>
                  <a:pt x="114821" y="8471"/>
                </a:ln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23010" y="26327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今日天气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290" y="2934652"/>
            <a:ext cx="1498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多云 24°C · 湿度 65%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8195" y="31889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和风天气代理</a:t>
            </a:r>
          </a:p>
        </p:txBody>
      </p:sp>
      <p:sp>
        <p:nvSpPr>
          <p:cNvPr id="18" name="Freeform 18"/>
          <p:cNvSpPr/>
          <p:nvPr/>
        </p:nvSpPr>
        <p:spPr>
          <a:xfrm>
            <a:off x="3429000" y="2381250"/>
            <a:ext cx="1905000" cy="1143000"/>
          </a:xfrm>
          <a:custGeom>
            <a:avLst/>
            <a:gdLst/>
            <a:ahLst/>
            <a:cxnLst/>
            <a:rect l="l" t="t" r="r" b="b"/>
            <a:pathLst>
              <a:path w="1905000" h="1143000">
                <a:moveTo>
                  <a:pt x="114300" y="0"/>
                </a:moveTo>
                <a:lnTo>
                  <a:pt x="1790700" y="0"/>
                </a:lnTo>
                <a:cubicBezTo>
                  <a:pt x="1853826" y="0"/>
                  <a:pt x="1905000" y="51174"/>
                  <a:pt x="1905000" y="114300"/>
                </a:cubicBezTo>
                <a:lnTo>
                  <a:pt x="1905000" y="1028700"/>
                </a:lnTo>
                <a:cubicBezTo>
                  <a:pt x="1905000" y="1091826"/>
                  <a:pt x="1853826" y="1143000"/>
                  <a:pt x="1790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4145359" y="2579402"/>
            <a:ext cx="281781" cy="332105"/>
          </a:xfrm>
          <a:custGeom>
            <a:avLst/>
            <a:gdLst/>
            <a:ahLst/>
            <a:cxnLst/>
            <a:rect l="l" t="t" r="r" b="b"/>
            <a:pathLst>
              <a:path w="281781" h="332105">
                <a:moveTo>
                  <a:pt x="120380" y="10954"/>
                </a:moveTo>
                <a:cubicBezTo>
                  <a:pt x="115904" y="13757"/>
                  <a:pt x="112064" y="17467"/>
                  <a:pt x="109109" y="21844"/>
                </a:cubicBezTo>
                <a:lnTo>
                  <a:pt x="31448" y="137096"/>
                </a:lnTo>
                <a:cubicBezTo>
                  <a:pt x="0" y="189706"/>
                  <a:pt x="12081" y="255619"/>
                  <a:pt x="59500" y="293973"/>
                </a:cubicBezTo>
                <a:cubicBezTo>
                  <a:pt x="106632" y="332105"/>
                  <a:pt x="175165" y="332105"/>
                  <a:pt x="222282" y="293973"/>
                </a:cubicBezTo>
                <a:cubicBezTo>
                  <a:pt x="269700" y="255619"/>
                  <a:pt x="281781" y="189690"/>
                  <a:pt x="250777" y="137827"/>
                </a:cubicBezTo>
                <a:lnTo>
                  <a:pt x="172688" y="21844"/>
                </a:lnTo>
                <a:cubicBezTo>
                  <a:pt x="161227" y="4778"/>
                  <a:pt x="137890" y="0"/>
                  <a:pt x="120380" y="1095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950303" y="2997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一键浇水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916585" y="3284220"/>
            <a:ext cx="9298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5 秒撤销 toast</a:t>
            </a:r>
          </a:p>
        </p:txBody>
      </p:sp>
      <p:sp>
        <p:nvSpPr>
          <p:cNvPr id="22" name="Freeform 22"/>
          <p:cNvSpPr/>
          <p:nvPr/>
        </p:nvSpPr>
        <p:spPr>
          <a:xfrm>
            <a:off x="5715000" y="2571750"/>
            <a:ext cx="2857500" cy="476250"/>
          </a:xfrm>
          <a:custGeom>
            <a:avLst/>
            <a:gdLst/>
            <a:ahLst/>
            <a:cxnLst/>
            <a:rect l="l" t="t" r="r" b="b"/>
            <a:pathLst>
              <a:path w="2857500" h="476250">
                <a:moveTo>
                  <a:pt x="95250" y="0"/>
                </a:moveTo>
                <a:lnTo>
                  <a:pt x="2762250" y="0"/>
                </a:lnTo>
                <a:cubicBezTo>
                  <a:pt x="2814855" y="0"/>
                  <a:pt x="2857500" y="42645"/>
                  <a:pt x="2857500" y="95250"/>
                </a:cubicBezTo>
                <a:lnTo>
                  <a:pt x="2857500" y="381000"/>
                </a:lnTo>
                <a:cubicBezTo>
                  <a:pt x="2857500" y="433605"/>
                  <a:pt x="2814855" y="476250"/>
                  <a:pt x="27622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9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5892165" y="2696528"/>
            <a:ext cx="184389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📝 你为小绿记录了一次浇水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82915" y="269652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A849"/>
                </a:solidFill>
                <a:latin typeface="Arial"/>
                <a:ea typeface="Microsoft YaHei"/>
                <a:cs typeface="Arial"/>
              </a:rPr>
              <a:t>撤销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4855" y="375951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我的植物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71500" y="4048125"/>
            <a:ext cx="2476500" cy="1714500"/>
            <a:chOff x="571500" y="4048125"/>
            <a:chExt cx="2476500" cy="1714500"/>
          </a:xfrm>
        </p:grpSpPr>
        <p:sp>
          <p:nvSpPr>
            <p:cNvPr id="26" name="Freeform 26"/>
            <p:cNvSpPr/>
            <p:nvPr/>
          </p:nvSpPr>
          <p:spPr>
            <a:xfrm>
              <a:off x="571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571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04875" y="4238625"/>
              <a:ext cx="476250" cy="47625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99849" y="4333875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06855" y="43119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小绿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1618" y="45810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绿萝 · 客厅东窗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62000" y="4857750"/>
              <a:ext cx="952500" cy="228600"/>
            </a:xfrm>
            <a:custGeom>
              <a:avLst/>
              <a:gdLst/>
              <a:ahLst/>
              <a:cxnLst/>
              <a:rect l="l" t="t" r="r" b="b"/>
              <a:pathLst>
                <a:path w="952500" h="228600">
                  <a:moveTo>
                    <a:pt x="114300" y="0"/>
                  </a:moveTo>
                  <a:lnTo>
                    <a:pt x="838200" y="0"/>
                  </a:lnTo>
                  <a:cubicBezTo>
                    <a:pt x="901326" y="0"/>
                    <a:pt x="952500" y="51174"/>
                    <a:pt x="952500" y="114300"/>
                  </a:cubicBezTo>
                  <a:lnTo>
                    <a:pt x="952500" y="114300"/>
                  </a:lnTo>
                  <a:cubicBezTo>
                    <a:pt x="952500" y="177426"/>
                    <a:pt x="901326" y="228600"/>
                    <a:pt x="838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6544" y="4930616"/>
              <a:ext cx="6234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我有点渴了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1809750" y="4857750"/>
              <a:ext cx="1047750" cy="228600"/>
            </a:xfrm>
            <a:custGeom>
              <a:avLst/>
              <a:gdLst/>
              <a:ahLst/>
              <a:cxnLst/>
              <a:rect l="l" t="t" r="r" b="b"/>
              <a:pathLst>
                <a:path w="1047750" h="228600">
                  <a:moveTo>
                    <a:pt x="114300" y="0"/>
                  </a:moveTo>
                  <a:lnTo>
                    <a:pt x="933450" y="0"/>
                  </a:lnTo>
                  <a:cubicBezTo>
                    <a:pt x="996576" y="0"/>
                    <a:pt x="1047750" y="51174"/>
                    <a:pt x="1047750" y="114300"/>
                  </a:cubicBezTo>
                  <a:lnTo>
                    <a:pt x="1047750" y="114300"/>
                  </a:lnTo>
                  <a:cubicBezTo>
                    <a:pt x="1047750" y="177426"/>
                    <a:pt x="996576" y="228600"/>
                    <a:pt x="93345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082165" y="4930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光照充足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0570" y="5284470"/>
              <a:ext cx="21391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土壤 23% · 温度 24°C · 光照 850lux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0570" y="5522595"/>
              <a:ext cx="200767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"今天阳光真好，我在努力生长呢"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238500" y="4048125"/>
            <a:ext cx="2476500" cy="1714500"/>
            <a:chOff x="3238500" y="4048125"/>
            <a:chExt cx="2476500" cy="1714500"/>
          </a:xfrm>
        </p:grpSpPr>
        <p:sp>
          <p:nvSpPr>
            <p:cNvPr id="39" name="Freeform 39"/>
            <p:cNvSpPr/>
            <p:nvPr/>
          </p:nvSpPr>
          <p:spPr>
            <a:xfrm>
              <a:off x="3238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3238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3571875" y="4238625"/>
              <a:ext cx="476250" cy="47625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3651250" y="4333865"/>
              <a:ext cx="317500" cy="285760"/>
            </a:xfrm>
            <a:custGeom>
              <a:avLst/>
              <a:gdLst/>
              <a:ahLst/>
              <a:cxnLst/>
              <a:rect l="l" t="t" r="r" b="b"/>
              <a:pathLst>
                <a:path w="317500" h="285760">
                  <a:moveTo>
                    <a:pt x="63500" y="10"/>
                  </a:moveTo>
                  <a:cubicBezTo>
                    <a:pt x="119692" y="0"/>
                    <a:pt x="167048" y="41939"/>
                    <a:pt x="173831" y="97720"/>
                  </a:cubicBezTo>
                  <a:cubicBezTo>
                    <a:pt x="194748" y="75828"/>
                    <a:pt x="223722" y="63464"/>
                    <a:pt x="254000" y="63510"/>
                  </a:cubicBezTo>
                  <a:lnTo>
                    <a:pt x="301625" y="63510"/>
                  </a:lnTo>
                  <a:cubicBezTo>
                    <a:pt x="310393" y="63510"/>
                    <a:pt x="317500" y="70617"/>
                    <a:pt x="317500" y="79385"/>
                  </a:cubicBezTo>
                  <a:lnTo>
                    <a:pt x="317500" y="95260"/>
                  </a:lnTo>
                  <a:cubicBezTo>
                    <a:pt x="317500" y="156632"/>
                    <a:pt x="267748" y="206385"/>
                    <a:pt x="206375" y="206385"/>
                  </a:cubicBezTo>
                  <a:lnTo>
                    <a:pt x="174625" y="206385"/>
                  </a:lnTo>
                  <a:lnTo>
                    <a:pt x="174625" y="269885"/>
                  </a:lnTo>
                  <a:cubicBezTo>
                    <a:pt x="174625" y="278652"/>
                    <a:pt x="167518" y="285760"/>
                    <a:pt x="158750" y="285760"/>
                  </a:cubicBezTo>
                  <a:cubicBezTo>
                    <a:pt x="149982" y="285760"/>
                    <a:pt x="142875" y="278652"/>
                    <a:pt x="142875" y="269885"/>
                  </a:cubicBezTo>
                  <a:lnTo>
                    <a:pt x="142875" y="158760"/>
                  </a:lnTo>
                  <a:lnTo>
                    <a:pt x="111125" y="158760"/>
                  </a:lnTo>
                  <a:cubicBezTo>
                    <a:pt x="49752" y="158760"/>
                    <a:pt x="0" y="109007"/>
                    <a:pt x="0" y="47635"/>
                  </a:cubicBezTo>
                  <a:lnTo>
                    <a:pt x="0" y="15885"/>
                  </a:lnTo>
                  <a:cubicBezTo>
                    <a:pt x="0" y="7117"/>
                    <a:pt x="7107" y="10"/>
                    <a:pt x="15875" y="1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173855" y="43119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小金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178618" y="45810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金枝玉叶 · 阳台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429000" y="4857750"/>
              <a:ext cx="952500" cy="228600"/>
            </a:xfrm>
            <a:custGeom>
              <a:avLst/>
              <a:gdLst/>
              <a:ahLst/>
              <a:cxnLst/>
              <a:rect l="l" t="t" r="r" b="b"/>
              <a:pathLst>
                <a:path w="952500" h="228600">
                  <a:moveTo>
                    <a:pt x="114300" y="0"/>
                  </a:moveTo>
                  <a:lnTo>
                    <a:pt x="838200" y="0"/>
                  </a:lnTo>
                  <a:cubicBezTo>
                    <a:pt x="901326" y="0"/>
                    <a:pt x="952500" y="51174"/>
                    <a:pt x="952500" y="114300"/>
                  </a:cubicBezTo>
                  <a:lnTo>
                    <a:pt x="952500" y="114300"/>
                  </a:lnTo>
                  <a:cubicBezTo>
                    <a:pt x="952500" y="177426"/>
                    <a:pt x="901326" y="228600"/>
                    <a:pt x="838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>
                <a:alpha val="10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53790" y="4930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状态良好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4476750" y="4857750"/>
              <a:ext cx="1047750" cy="228600"/>
            </a:xfrm>
            <a:custGeom>
              <a:avLst/>
              <a:gdLst/>
              <a:ahLst/>
              <a:cxnLst/>
              <a:rect l="l" t="t" r="r" b="b"/>
              <a:pathLst>
                <a:path w="1047750" h="228600">
                  <a:moveTo>
                    <a:pt x="114300" y="0"/>
                  </a:moveTo>
                  <a:lnTo>
                    <a:pt x="933450" y="0"/>
                  </a:lnTo>
                  <a:cubicBezTo>
                    <a:pt x="996576" y="0"/>
                    <a:pt x="1047750" y="51174"/>
                    <a:pt x="1047750" y="114300"/>
                  </a:cubicBezTo>
                  <a:lnTo>
                    <a:pt x="1047750" y="114300"/>
                  </a:lnTo>
                  <a:cubicBezTo>
                    <a:pt x="1047750" y="177426"/>
                    <a:pt x="996576" y="228600"/>
                    <a:pt x="93345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49165" y="4930616"/>
              <a:ext cx="5029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温度偏高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417570" y="5284470"/>
              <a:ext cx="21456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土壤 68% · 温度 31°C · 光照 1200lux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417570" y="5522595"/>
              <a:ext cx="17447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"有点热，能帮我遮遮阳吗？"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905500" y="4048125"/>
            <a:ext cx="2476500" cy="1714500"/>
            <a:chOff x="5905500" y="4048125"/>
            <a:chExt cx="2476500" cy="1714500"/>
          </a:xfrm>
        </p:grpSpPr>
        <p:sp>
          <p:nvSpPr>
            <p:cNvPr id="52" name="Freeform 52"/>
            <p:cNvSpPr/>
            <p:nvPr/>
          </p:nvSpPr>
          <p:spPr>
            <a:xfrm>
              <a:off x="5905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5905500" y="4048125"/>
              <a:ext cx="2476500" cy="1714500"/>
            </a:xfrm>
            <a:custGeom>
              <a:avLst/>
              <a:gdLst/>
              <a:ahLst/>
              <a:cxnLst/>
              <a:rect l="l" t="t" r="r" b="b"/>
              <a:pathLst>
                <a:path w="2476500" h="1714500">
                  <a:moveTo>
                    <a:pt x="114300" y="0"/>
                  </a:moveTo>
                  <a:lnTo>
                    <a:pt x="2362200" y="0"/>
                  </a:lnTo>
                  <a:cubicBezTo>
                    <a:pt x="2425326" y="0"/>
                    <a:pt x="2476500" y="51174"/>
                    <a:pt x="2476500" y="114300"/>
                  </a:cubicBezTo>
                  <a:lnTo>
                    <a:pt x="2476500" y="1600200"/>
                  </a:lnTo>
                  <a:cubicBezTo>
                    <a:pt x="2476500" y="1663326"/>
                    <a:pt x="2425326" y="1714500"/>
                    <a:pt x="23622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0D8C8"/>
              </a:solidFill>
              <a:custDash>
                <a:ds d="600000" sp="400000"/>
              </a:custDash>
            </a:ln>
          </p:spPr>
        </p:sp>
        <p:sp>
          <p:nvSpPr>
            <p:cNvPr id="54" name="Ellipse 54"/>
            <p:cNvSpPr/>
            <p:nvPr/>
          </p:nvSpPr>
          <p:spPr>
            <a:xfrm>
              <a:off x="6905625" y="4476750"/>
              <a:ext cx="476250" cy="476250"/>
            </a:xfrm>
            <a:prstGeom prst="ellipse">
              <a:avLst/>
            </a:pr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7000599" y="4572000"/>
              <a:ext cx="286026" cy="302567"/>
            </a:xfrm>
            <a:custGeom>
              <a:avLst/>
              <a:gdLst/>
              <a:ahLst/>
              <a:cxnLst/>
              <a:rect l="l" t="t" r="r" b="b"/>
              <a:pathLst>
                <a:path w="286026" h="302567">
                  <a:moveTo>
                    <a:pt x="1149" y="179832"/>
                  </a:moveTo>
                  <a:lnTo>
                    <a:pt x="863" y="177165"/>
                  </a:lnTo>
                  <a:lnTo>
                    <a:pt x="800" y="176482"/>
                  </a:lnTo>
                  <a:cubicBezTo>
                    <a:pt x="249" y="170572"/>
                    <a:pt x="0" y="164638"/>
                    <a:pt x="54" y="158702"/>
                  </a:cubicBezTo>
                  <a:cubicBezTo>
                    <a:pt x="339" y="58849"/>
                    <a:pt x="68157" y="0"/>
                    <a:pt x="206429" y="0"/>
                  </a:cubicBezTo>
                  <a:lnTo>
                    <a:pt x="270151" y="0"/>
                  </a:lnTo>
                  <a:cubicBezTo>
                    <a:pt x="278918" y="0"/>
                    <a:pt x="286026" y="7107"/>
                    <a:pt x="286026" y="15875"/>
                  </a:cubicBezTo>
                  <a:lnTo>
                    <a:pt x="285994" y="48530"/>
                  </a:lnTo>
                  <a:cubicBezTo>
                    <a:pt x="278088" y="186658"/>
                    <a:pt x="210747" y="254000"/>
                    <a:pt x="95526" y="254000"/>
                  </a:cubicBezTo>
                  <a:lnTo>
                    <a:pt x="53759" y="254000"/>
                  </a:lnTo>
                  <a:cubicBezTo>
                    <a:pt x="51028" y="265020"/>
                    <a:pt x="49039" y="276210"/>
                    <a:pt x="47806" y="287496"/>
                  </a:cubicBezTo>
                  <a:cubicBezTo>
                    <a:pt x="47182" y="293134"/>
                    <a:pt x="43598" y="298010"/>
                    <a:pt x="38403" y="300289"/>
                  </a:cubicBezTo>
                  <a:cubicBezTo>
                    <a:pt x="33209" y="302567"/>
                    <a:pt x="27194" y="301902"/>
                    <a:pt x="22624" y="298543"/>
                  </a:cubicBezTo>
                  <a:cubicBezTo>
                    <a:pt x="18053" y="295183"/>
                    <a:pt x="15622" y="289641"/>
                    <a:pt x="16246" y="284004"/>
                  </a:cubicBezTo>
                  <a:cubicBezTo>
                    <a:pt x="18088" y="267409"/>
                    <a:pt x="21157" y="251815"/>
                    <a:pt x="25454" y="237220"/>
                  </a:cubicBezTo>
                  <a:lnTo>
                    <a:pt x="23580" y="234902"/>
                  </a:lnTo>
                  <a:lnTo>
                    <a:pt x="20278" y="230457"/>
                  </a:lnTo>
                  <a:lnTo>
                    <a:pt x="17786" y="226822"/>
                  </a:lnTo>
                  <a:lnTo>
                    <a:pt x="14897" y="222171"/>
                  </a:lnTo>
                  <a:lnTo>
                    <a:pt x="13341" y="219456"/>
                  </a:lnTo>
                  <a:lnTo>
                    <a:pt x="12309" y="217519"/>
                  </a:lnTo>
                  <a:cubicBezTo>
                    <a:pt x="9788" y="212728"/>
                    <a:pt x="7679" y="207730"/>
                    <a:pt x="6007" y="202581"/>
                  </a:cubicBezTo>
                  <a:lnTo>
                    <a:pt x="4864" y="198818"/>
                  </a:lnTo>
                  <a:lnTo>
                    <a:pt x="3514" y="193627"/>
                  </a:lnTo>
                  <a:lnTo>
                    <a:pt x="2610" y="189373"/>
                  </a:lnTo>
                  <a:lnTo>
                    <a:pt x="1927" y="185531"/>
                  </a:lnTo>
                  <a:close/>
                  <a:moveTo>
                    <a:pt x="136706" y="112490"/>
                  </a:moveTo>
                  <a:cubicBezTo>
                    <a:pt x="91541" y="132572"/>
                    <a:pt x="59648" y="162179"/>
                    <a:pt x="39741" y="201120"/>
                  </a:cubicBezTo>
                  <a:cubicBezTo>
                    <a:pt x="40778" y="203237"/>
                    <a:pt x="41932" y="205354"/>
                    <a:pt x="43202" y="207470"/>
                  </a:cubicBezTo>
                  <a:lnTo>
                    <a:pt x="46139" y="211931"/>
                  </a:lnTo>
                  <a:lnTo>
                    <a:pt x="47250" y="213471"/>
                  </a:lnTo>
                  <a:cubicBezTo>
                    <a:pt x="48520" y="215207"/>
                    <a:pt x="49885" y="216948"/>
                    <a:pt x="51346" y="218694"/>
                  </a:cubicBezTo>
                  <a:lnTo>
                    <a:pt x="54473" y="222250"/>
                  </a:lnTo>
                  <a:lnTo>
                    <a:pt x="64776" y="222250"/>
                  </a:lnTo>
                  <a:cubicBezTo>
                    <a:pt x="81238" y="186198"/>
                    <a:pt x="108861" y="159607"/>
                    <a:pt x="149596" y="141510"/>
                  </a:cubicBezTo>
                  <a:cubicBezTo>
                    <a:pt x="157610" y="137950"/>
                    <a:pt x="161220" y="128568"/>
                    <a:pt x="157661" y="120555"/>
                  </a:cubicBezTo>
                  <a:cubicBezTo>
                    <a:pt x="154101" y="112541"/>
                    <a:pt x="144719" y="108931"/>
                    <a:pt x="136706" y="112490"/>
                  </a:cubicBezTo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70358" y="5030152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还没有植物？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46570" y="52477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我在等你</a:t>
              </a:r>
            </a:p>
          </p:txBody>
        </p:sp>
      </p:grpSp>
      <p:sp>
        <p:nvSpPr>
          <p:cNvPr id="59" name="Freeform 59"/>
          <p:cNvSpPr/>
          <p:nvPr/>
        </p:nvSpPr>
        <p:spPr>
          <a:xfrm>
            <a:off x="571500" y="600075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885659" y="6143625"/>
            <a:ext cx="171616" cy="181540"/>
          </a:xfrm>
          <a:custGeom>
            <a:avLst/>
            <a:gdLst/>
            <a:ahLst/>
            <a:cxnLst/>
            <a:rect l="l" t="t" r="r" b="b"/>
            <a:pathLst>
              <a:path w="171616" h="181540">
                <a:moveTo>
                  <a:pt x="689" y="107899"/>
                </a:moveTo>
                <a:lnTo>
                  <a:pt x="518" y="106299"/>
                </a:lnTo>
                <a:lnTo>
                  <a:pt x="480" y="105889"/>
                </a:lnTo>
                <a:cubicBezTo>
                  <a:pt x="149" y="102343"/>
                  <a:pt x="0" y="98783"/>
                  <a:pt x="32" y="95221"/>
                </a:cubicBezTo>
                <a:cubicBezTo>
                  <a:pt x="204" y="35309"/>
                  <a:pt x="40894" y="0"/>
                  <a:pt x="123857" y="0"/>
                </a:cubicBezTo>
                <a:lnTo>
                  <a:pt x="162091" y="0"/>
                </a:lnTo>
                <a:cubicBezTo>
                  <a:pt x="167351" y="0"/>
                  <a:pt x="171616" y="4264"/>
                  <a:pt x="171616" y="9525"/>
                </a:cubicBezTo>
                <a:lnTo>
                  <a:pt x="171596" y="29118"/>
                </a:lnTo>
                <a:cubicBezTo>
                  <a:pt x="166853" y="111995"/>
                  <a:pt x="126448" y="152400"/>
                  <a:pt x="57316" y="152400"/>
                </a:cubicBezTo>
                <a:lnTo>
                  <a:pt x="32255" y="152400"/>
                </a:lnTo>
                <a:cubicBezTo>
                  <a:pt x="30617" y="159012"/>
                  <a:pt x="29424" y="165726"/>
                  <a:pt x="28683" y="172498"/>
                </a:cubicBezTo>
                <a:cubicBezTo>
                  <a:pt x="28309" y="175880"/>
                  <a:pt x="26159" y="178806"/>
                  <a:pt x="23042" y="180173"/>
                </a:cubicBezTo>
                <a:cubicBezTo>
                  <a:pt x="19926" y="181540"/>
                  <a:pt x="16316" y="181141"/>
                  <a:pt x="13574" y="179126"/>
                </a:cubicBezTo>
                <a:cubicBezTo>
                  <a:pt x="10832" y="177110"/>
                  <a:pt x="9373" y="173785"/>
                  <a:pt x="9748" y="170402"/>
                </a:cubicBezTo>
                <a:cubicBezTo>
                  <a:pt x="10853" y="160445"/>
                  <a:pt x="12694" y="151089"/>
                  <a:pt x="15272" y="142332"/>
                </a:cubicBezTo>
                <a:lnTo>
                  <a:pt x="14148" y="140941"/>
                </a:lnTo>
                <a:lnTo>
                  <a:pt x="12167" y="138274"/>
                </a:lnTo>
                <a:lnTo>
                  <a:pt x="10672" y="136093"/>
                </a:lnTo>
                <a:lnTo>
                  <a:pt x="8938" y="133302"/>
                </a:lnTo>
                <a:lnTo>
                  <a:pt x="8005" y="131674"/>
                </a:lnTo>
                <a:lnTo>
                  <a:pt x="7385" y="130512"/>
                </a:lnTo>
                <a:cubicBezTo>
                  <a:pt x="5873" y="127637"/>
                  <a:pt x="4607" y="124638"/>
                  <a:pt x="3604" y="121549"/>
                </a:cubicBezTo>
                <a:lnTo>
                  <a:pt x="2918" y="119291"/>
                </a:lnTo>
                <a:lnTo>
                  <a:pt x="2109" y="116176"/>
                </a:lnTo>
                <a:lnTo>
                  <a:pt x="1566" y="113624"/>
                </a:lnTo>
                <a:lnTo>
                  <a:pt x="1156" y="111319"/>
                </a:lnTo>
                <a:close/>
                <a:moveTo>
                  <a:pt x="82023" y="67494"/>
                </a:moveTo>
                <a:cubicBezTo>
                  <a:pt x="54925" y="79543"/>
                  <a:pt x="35789" y="97307"/>
                  <a:pt x="23845" y="120672"/>
                </a:cubicBezTo>
                <a:cubicBezTo>
                  <a:pt x="24467" y="121942"/>
                  <a:pt x="25159" y="123212"/>
                  <a:pt x="25921" y="124482"/>
                </a:cubicBezTo>
                <a:lnTo>
                  <a:pt x="27683" y="127159"/>
                </a:lnTo>
                <a:lnTo>
                  <a:pt x="28350" y="128083"/>
                </a:lnTo>
                <a:cubicBezTo>
                  <a:pt x="29112" y="129124"/>
                  <a:pt x="29931" y="130169"/>
                  <a:pt x="30807" y="131216"/>
                </a:cubicBezTo>
                <a:lnTo>
                  <a:pt x="32684" y="133350"/>
                </a:lnTo>
                <a:lnTo>
                  <a:pt x="38866" y="133350"/>
                </a:lnTo>
                <a:cubicBezTo>
                  <a:pt x="48743" y="111719"/>
                  <a:pt x="65317" y="95764"/>
                  <a:pt x="89758" y="84906"/>
                </a:cubicBezTo>
                <a:cubicBezTo>
                  <a:pt x="94566" y="82770"/>
                  <a:pt x="96732" y="77141"/>
                  <a:pt x="94596" y="72333"/>
                </a:cubicBezTo>
                <a:cubicBezTo>
                  <a:pt x="92461" y="67525"/>
                  <a:pt x="86831" y="65358"/>
                  <a:pt x="82023" y="67494"/>
                </a:cubicBezTo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77290" y="6192202"/>
            <a:ext cx="36381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i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小绿说："今天已经是第 15 天了，谢谢你一直陪着我"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466070" y="6208395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PlantReflectionFooter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609070" y="657034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11 / 18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428572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植响对话 &amp; 成长日记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2950" y="1266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植响对话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619250"/>
            <a:ext cx="5524500" cy="4000500"/>
          </a:xfrm>
          <a:custGeom>
            <a:avLst/>
            <a:gdLst/>
            <a:ahLst/>
            <a:cxnLst/>
            <a:rect l="l" t="t" r="r" b="b"/>
            <a:pathLst>
              <a:path w="5524500" h="4000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3886200"/>
                </a:lnTo>
                <a:cubicBezTo>
                  <a:pt x="5524500" y="3949326"/>
                  <a:pt x="5473326" y="4000500"/>
                  <a:pt x="5410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619250"/>
            <a:ext cx="5524500" cy="4000500"/>
          </a:xfrm>
          <a:custGeom>
            <a:avLst/>
            <a:gdLst/>
            <a:ahLst/>
            <a:cxnLst/>
            <a:rect l="l" t="t" r="r" b="b"/>
            <a:pathLst>
              <a:path w="5524500" h="400050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3886200"/>
                </a:lnTo>
                <a:cubicBezTo>
                  <a:pt x="5524500" y="3949326"/>
                  <a:pt x="5473326" y="4000500"/>
                  <a:pt x="5410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71500" y="1619250"/>
            <a:ext cx="5524500" cy="476250"/>
          </a:xfrm>
          <a:custGeom>
            <a:avLst/>
            <a:gdLst/>
            <a:ahLst/>
            <a:cxnLst/>
            <a:rect l="l" t="t" r="r" b="b"/>
            <a:pathLst>
              <a:path w="5524500" h="476250">
                <a:moveTo>
                  <a:pt x="114300" y="0"/>
                </a:moveTo>
                <a:lnTo>
                  <a:pt x="5410200" y="0"/>
                </a:lnTo>
                <a:cubicBezTo>
                  <a:pt x="5473326" y="0"/>
                  <a:pt x="5524500" y="51174"/>
                  <a:pt x="5524500" y="114300"/>
                </a:cubicBezTo>
                <a:lnTo>
                  <a:pt x="5524500" y="361950"/>
                </a:lnTo>
                <a:cubicBezTo>
                  <a:pt x="5524500" y="425076"/>
                  <a:pt x="5473326" y="476250"/>
                  <a:pt x="5410200" y="476250"/>
                </a:cubicBezTo>
                <a:lnTo>
                  <a:pt x="114300" y="476250"/>
                </a:lnTo>
                <a:cubicBezTo>
                  <a:pt x="51174" y="476250"/>
                  <a:pt x="0" y="425076"/>
                  <a:pt x="0" y="36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000250"/>
            <a:ext cx="5524500" cy="95250"/>
          </a:xfrm>
          <a:prstGeom prst="rect">
            <a:avLst/>
          </a:prstGeom>
          <a:solidFill>
            <a:srgbClr val="4A7C28">
              <a:alpha val="6000"/>
            </a:srgbClr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795144" y="1747838"/>
            <a:ext cx="200218" cy="211797"/>
          </a:xfrm>
          <a:custGeom>
            <a:avLst/>
            <a:gdLst/>
            <a:ahLst/>
            <a:cxnLst/>
            <a:rect l="l" t="t" r="r" b="b"/>
            <a:pathLst>
              <a:path w="200218" h="211797">
                <a:moveTo>
                  <a:pt x="804" y="125882"/>
                </a:moveTo>
                <a:lnTo>
                  <a:pt x="604" y="124016"/>
                </a:lnTo>
                <a:lnTo>
                  <a:pt x="560" y="123538"/>
                </a:lnTo>
                <a:cubicBezTo>
                  <a:pt x="174" y="119401"/>
                  <a:pt x="0" y="115247"/>
                  <a:pt x="38" y="111092"/>
                </a:cubicBezTo>
                <a:cubicBezTo>
                  <a:pt x="238" y="41194"/>
                  <a:pt x="47710" y="0"/>
                  <a:pt x="144500" y="0"/>
                </a:cubicBezTo>
                <a:lnTo>
                  <a:pt x="189106" y="0"/>
                </a:lnTo>
                <a:cubicBezTo>
                  <a:pt x="195243" y="0"/>
                  <a:pt x="200218" y="4975"/>
                  <a:pt x="200218" y="11112"/>
                </a:cubicBezTo>
                <a:lnTo>
                  <a:pt x="200196" y="33971"/>
                </a:lnTo>
                <a:cubicBezTo>
                  <a:pt x="194662" y="130661"/>
                  <a:pt x="147523" y="177800"/>
                  <a:pt x="66868" y="177800"/>
                </a:cubicBezTo>
                <a:lnTo>
                  <a:pt x="37631" y="177800"/>
                </a:lnTo>
                <a:cubicBezTo>
                  <a:pt x="35720" y="185514"/>
                  <a:pt x="34327" y="193347"/>
                  <a:pt x="33464" y="201247"/>
                </a:cubicBezTo>
                <a:cubicBezTo>
                  <a:pt x="33027" y="205194"/>
                  <a:pt x="30518" y="208607"/>
                  <a:pt x="26882" y="210202"/>
                </a:cubicBezTo>
                <a:cubicBezTo>
                  <a:pt x="23246" y="211797"/>
                  <a:pt x="19036" y="211331"/>
                  <a:pt x="15837" y="208980"/>
                </a:cubicBezTo>
                <a:cubicBezTo>
                  <a:pt x="12637" y="206628"/>
                  <a:pt x="10936" y="202749"/>
                  <a:pt x="11372" y="198803"/>
                </a:cubicBezTo>
                <a:cubicBezTo>
                  <a:pt x="12661" y="187186"/>
                  <a:pt x="14810" y="176270"/>
                  <a:pt x="17818" y="166054"/>
                </a:cubicBezTo>
                <a:lnTo>
                  <a:pt x="16506" y="164432"/>
                </a:lnTo>
                <a:lnTo>
                  <a:pt x="14195" y="161320"/>
                </a:lnTo>
                <a:lnTo>
                  <a:pt x="12450" y="158775"/>
                </a:lnTo>
                <a:lnTo>
                  <a:pt x="10428" y="155519"/>
                </a:lnTo>
                <a:lnTo>
                  <a:pt x="9339" y="153619"/>
                </a:lnTo>
                <a:lnTo>
                  <a:pt x="8616" y="152263"/>
                </a:lnTo>
                <a:cubicBezTo>
                  <a:pt x="6851" y="148910"/>
                  <a:pt x="5375" y="145411"/>
                  <a:pt x="4205" y="141807"/>
                </a:cubicBezTo>
                <a:lnTo>
                  <a:pt x="3405" y="139173"/>
                </a:lnTo>
                <a:lnTo>
                  <a:pt x="2460" y="135539"/>
                </a:lnTo>
                <a:lnTo>
                  <a:pt x="1827" y="132561"/>
                </a:lnTo>
                <a:lnTo>
                  <a:pt x="1349" y="129872"/>
                </a:lnTo>
                <a:close/>
                <a:moveTo>
                  <a:pt x="95694" y="78743"/>
                </a:moveTo>
                <a:cubicBezTo>
                  <a:pt x="64079" y="92800"/>
                  <a:pt x="41754" y="113525"/>
                  <a:pt x="27819" y="140784"/>
                </a:cubicBezTo>
                <a:cubicBezTo>
                  <a:pt x="28545" y="142266"/>
                  <a:pt x="29352" y="143748"/>
                  <a:pt x="30241" y="145229"/>
                </a:cubicBezTo>
                <a:lnTo>
                  <a:pt x="32297" y="148352"/>
                </a:lnTo>
                <a:lnTo>
                  <a:pt x="33075" y="149430"/>
                </a:lnTo>
                <a:cubicBezTo>
                  <a:pt x="33964" y="150645"/>
                  <a:pt x="34920" y="151863"/>
                  <a:pt x="35942" y="153086"/>
                </a:cubicBezTo>
                <a:lnTo>
                  <a:pt x="38131" y="155575"/>
                </a:lnTo>
                <a:lnTo>
                  <a:pt x="45343" y="155575"/>
                </a:lnTo>
                <a:cubicBezTo>
                  <a:pt x="56867" y="130339"/>
                  <a:pt x="76203" y="111725"/>
                  <a:pt x="104717" y="99057"/>
                </a:cubicBezTo>
                <a:cubicBezTo>
                  <a:pt x="110327" y="96565"/>
                  <a:pt x="112854" y="89998"/>
                  <a:pt x="110362" y="84388"/>
                </a:cubicBezTo>
                <a:cubicBezTo>
                  <a:pt x="107871" y="78779"/>
                  <a:pt x="101303" y="76251"/>
                  <a:pt x="95694" y="78743"/>
                </a:cubicBezTo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80135" y="1775460"/>
            <a:ext cx="3985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小绿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4898" y="1968341"/>
            <a:ext cx="12439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在线 · 正在光合作用中</a:t>
            </a:r>
          </a:p>
        </p:txBody>
      </p:sp>
      <p:sp>
        <p:nvSpPr>
          <p:cNvPr id="13" name="Freeform 13"/>
          <p:cNvSpPr/>
          <p:nvPr/>
        </p:nvSpPr>
        <p:spPr>
          <a:xfrm>
            <a:off x="3810000" y="2286000"/>
            <a:ext cx="2095500" cy="419100"/>
          </a:xfrm>
          <a:custGeom>
            <a:avLst/>
            <a:gdLst/>
            <a:ahLst/>
            <a:cxnLst/>
            <a:rect l="l" t="t" r="r" b="b"/>
            <a:pathLst>
              <a:path w="2095500" h="419100">
                <a:moveTo>
                  <a:pt x="114300" y="0"/>
                </a:moveTo>
                <a:lnTo>
                  <a:pt x="1981200" y="0"/>
                </a:lnTo>
                <a:cubicBezTo>
                  <a:pt x="2044326" y="0"/>
                  <a:pt x="2095500" y="51174"/>
                  <a:pt x="2095500" y="114300"/>
                </a:cubicBezTo>
                <a:lnTo>
                  <a:pt x="2095500" y="304800"/>
                </a:lnTo>
                <a:cubicBezTo>
                  <a:pt x="2095500" y="367926"/>
                  <a:pt x="2044326" y="419100"/>
                  <a:pt x="1981200" y="419100"/>
                </a:cubicBezTo>
                <a:lnTo>
                  <a:pt x="114300" y="419100"/>
                </a:lnTo>
                <a:cubicBezTo>
                  <a:pt x="51174" y="419100"/>
                  <a:pt x="0" y="367926"/>
                  <a:pt x="0" y="304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077652" y="2382202"/>
            <a:ext cx="15601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你今天看起来怎么样？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11303" y="2566988"/>
            <a:ext cx="2928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14:32</a:t>
            </a:r>
          </a:p>
        </p:txBody>
      </p:sp>
      <p:sp>
        <p:nvSpPr>
          <p:cNvPr id="16" name="Freeform 16"/>
          <p:cNvSpPr/>
          <p:nvPr/>
        </p:nvSpPr>
        <p:spPr>
          <a:xfrm>
            <a:off x="762000" y="2857500"/>
            <a:ext cx="2857500" cy="571500"/>
          </a:xfrm>
          <a:custGeom>
            <a:avLst/>
            <a:gdLst/>
            <a:ahLst/>
            <a:cxnLst/>
            <a:rect l="l" t="t" r="r" b="b"/>
            <a:pathLst>
              <a:path w="2857500" h="571500">
                <a:moveTo>
                  <a:pt x="114300" y="0"/>
                </a:moveTo>
                <a:lnTo>
                  <a:pt x="2743200" y="0"/>
                </a:lnTo>
                <a:cubicBezTo>
                  <a:pt x="2806326" y="0"/>
                  <a:pt x="2857500" y="51174"/>
                  <a:pt x="2857500" y="114300"/>
                </a:cubicBezTo>
                <a:lnTo>
                  <a:pt x="2857500" y="457200"/>
                </a:lnTo>
                <a:cubicBezTo>
                  <a:pt x="2857500" y="520326"/>
                  <a:pt x="2806326" y="571500"/>
                  <a:pt x="2743200" y="571500"/>
                </a:cubicBezTo>
                <a:lnTo>
                  <a:pt x="114300" y="571500"/>
                </a:lnTo>
                <a:cubicBezTo>
                  <a:pt x="51174" y="571500"/>
                  <a:pt x="0" y="520326"/>
                  <a:pt x="0" y="457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0E8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928550" y="2995612"/>
            <a:ext cx="143013" cy="151284"/>
          </a:xfrm>
          <a:custGeom>
            <a:avLst/>
            <a:gdLst/>
            <a:ahLst/>
            <a:cxnLst/>
            <a:rect l="l" t="t" r="r" b="b"/>
            <a:pathLst>
              <a:path w="143013" h="151284">
                <a:moveTo>
                  <a:pt x="575" y="89916"/>
                </a:moveTo>
                <a:lnTo>
                  <a:pt x="432" y="88583"/>
                </a:lnTo>
                <a:lnTo>
                  <a:pt x="400" y="88241"/>
                </a:lnTo>
                <a:cubicBezTo>
                  <a:pt x="125" y="85286"/>
                  <a:pt x="0" y="82319"/>
                  <a:pt x="27" y="79351"/>
                </a:cubicBezTo>
                <a:cubicBezTo>
                  <a:pt x="170" y="29424"/>
                  <a:pt x="34079" y="0"/>
                  <a:pt x="103214" y="0"/>
                </a:cubicBezTo>
                <a:lnTo>
                  <a:pt x="135075" y="0"/>
                </a:lnTo>
                <a:cubicBezTo>
                  <a:pt x="139459" y="0"/>
                  <a:pt x="143013" y="3554"/>
                  <a:pt x="143013" y="7937"/>
                </a:cubicBezTo>
                <a:lnTo>
                  <a:pt x="142997" y="24265"/>
                </a:lnTo>
                <a:cubicBezTo>
                  <a:pt x="139044" y="93329"/>
                  <a:pt x="105373" y="127000"/>
                  <a:pt x="47763" y="127000"/>
                </a:cubicBezTo>
                <a:lnTo>
                  <a:pt x="26879" y="127000"/>
                </a:lnTo>
                <a:cubicBezTo>
                  <a:pt x="25514" y="132510"/>
                  <a:pt x="24520" y="138105"/>
                  <a:pt x="23903" y="143748"/>
                </a:cubicBezTo>
                <a:cubicBezTo>
                  <a:pt x="23591" y="146567"/>
                  <a:pt x="21799" y="149005"/>
                  <a:pt x="19202" y="150144"/>
                </a:cubicBezTo>
                <a:cubicBezTo>
                  <a:pt x="16605" y="151284"/>
                  <a:pt x="13597" y="150951"/>
                  <a:pt x="11312" y="149271"/>
                </a:cubicBezTo>
                <a:cubicBezTo>
                  <a:pt x="9027" y="147592"/>
                  <a:pt x="7811" y="144821"/>
                  <a:pt x="8123" y="142002"/>
                </a:cubicBezTo>
                <a:cubicBezTo>
                  <a:pt x="9044" y="133705"/>
                  <a:pt x="10578" y="125907"/>
                  <a:pt x="12727" y="118610"/>
                </a:cubicBezTo>
                <a:lnTo>
                  <a:pt x="11790" y="117451"/>
                </a:lnTo>
                <a:lnTo>
                  <a:pt x="10139" y="115229"/>
                </a:lnTo>
                <a:lnTo>
                  <a:pt x="8893" y="113411"/>
                </a:lnTo>
                <a:lnTo>
                  <a:pt x="7448" y="111085"/>
                </a:lnTo>
                <a:lnTo>
                  <a:pt x="6671" y="109728"/>
                </a:lnTo>
                <a:lnTo>
                  <a:pt x="6155" y="108760"/>
                </a:lnTo>
                <a:cubicBezTo>
                  <a:pt x="4894" y="106364"/>
                  <a:pt x="3840" y="103865"/>
                  <a:pt x="3003" y="101290"/>
                </a:cubicBezTo>
                <a:lnTo>
                  <a:pt x="2432" y="99409"/>
                </a:lnTo>
                <a:lnTo>
                  <a:pt x="1757" y="96814"/>
                </a:lnTo>
                <a:lnTo>
                  <a:pt x="1305" y="94686"/>
                </a:lnTo>
                <a:lnTo>
                  <a:pt x="963" y="92766"/>
                </a:lnTo>
                <a:close/>
                <a:moveTo>
                  <a:pt x="68353" y="56245"/>
                </a:moveTo>
                <a:cubicBezTo>
                  <a:pt x="45771" y="66286"/>
                  <a:pt x="29824" y="81089"/>
                  <a:pt x="19871" y="100560"/>
                </a:cubicBezTo>
                <a:cubicBezTo>
                  <a:pt x="20389" y="101619"/>
                  <a:pt x="20966" y="102677"/>
                  <a:pt x="21601" y="103735"/>
                </a:cubicBezTo>
                <a:lnTo>
                  <a:pt x="23069" y="105966"/>
                </a:lnTo>
                <a:lnTo>
                  <a:pt x="23625" y="106736"/>
                </a:lnTo>
                <a:cubicBezTo>
                  <a:pt x="24260" y="107603"/>
                  <a:pt x="24943" y="108474"/>
                  <a:pt x="25673" y="109347"/>
                </a:cubicBezTo>
                <a:lnTo>
                  <a:pt x="27237" y="111125"/>
                </a:lnTo>
                <a:lnTo>
                  <a:pt x="32388" y="111125"/>
                </a:lnTo>
                <a:cubicBezTo>
                  <a:pt x="40619" y="93099"/>
                  <a:pt x="54430" y="79804"/>
                  <a:pt x="74798" y="70755"/>
                </a:cubicBezTo>
                <a:cubicBezTo>
                  <a:pt x="78805" y="68975"/>
                  <a:pt x="80610" y="64284"/>
                  <a:pt x="78830" y="60277"/>
                </a:cubicBezTo>
                <a:cubicBezTo>
                  <a:pt x="77051" y="56271"/>
                  <a:pt x="72360" y="54465"/>
                  <a:pt x="68353" y="56245"/>
                </a:cubicBezTo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29665" y="30108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今天阳光真好！我刚喝完水，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9665" y="3201352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B2B2B"/>
                </a:solidFill>
                <a:latin typeface="Arial"/>
                <a:ea typeface="Microsoft YaHei"/>
                <a:cs typeface="Arial"/>
              </a:rPr>
              <a:t>叶子都舒展开了呢～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14725" y="3252788"/>
            <a:ext cx="29289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14:32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570" y="36652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快捷动作</a:t>
            </a:r>
          </a:p>
        </p:txBody>
      </p:sp>
      <p:sp>
        <p:nvSpPr>
          <p:cNvPr id="22" name="Freeform 22"/>
          <p:cNvSpPr/>
          <p:nvPr/>
        </p:nvSpPr>
        <p:spPr>
          <a:xfrm>
            <a:off x="762000" y="38576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547" y="0"/>
                  <a:pt x="857250" y="59703"/>
                  <a:pt x="857250" y="133350"/>
                </a:cubicBezTo>
                <a:lnTo>
                  <a:pt x="857250" y="133350"/>
                </a:lnTo>
                <a:cubicBezTo>
                  <a:pt x="857250" y="206997"/>
                  <a:pt x="797547" y="266700"/>
                  <a:pt x="723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4A7C28">
              <a:alpha val="10000"/>
            </a:srgbClr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82028" y="394144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已浇水</a:t>
            </a:r>
          </a:p>
        </p:txBody>
      </p:sp>
      <p:sp>
        <p:nvSpPr>
          <p:cNvPr id="24" name="Freeform 24"/>
          <p:cNvSpPr/>
          <p:nvPr/>
        </p:nvSpPr>
        <p:spPr>
          <a:xfrm>
            <a:off x="1714500" y="3857625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547" y="0"/>
                  <a:pt x="857250" y="59703"/>
                  <a:pt x="857250" y="133350"/>
                </a:cubicBezTo>
                <a:lnTo>
                  <a:pt x="857250" y="133350"/>
                </a:lnTo>
                <a:cubicBezTo>
                  <a:pt x="857250" y="206997"/>
                  <a:pt x="797547" y="266700"/>
                  <a:pt x="72390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8A849">
              <a:alpha val="10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934528" y="394144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晒太阳</a:t>
            </a:r>
          </a:p>
        </p:txBody>
      </p:sp>
      <p:sp>
        <p:nvSpPr>
          <p:cNvPr id="26" name="Freeform 26"/>
          <p:cNvSpPr/>
          <p:nvPr/>
        </p:nvSpPr>
        <p:spPr>
          <a:xfrm>
            <a:off x="2667000" y="3857625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97" y="0"/>
                  <a:pt x="1143000" y="59703"/>
                  <a:pt x="1143000" y="133350"/>
                </a:cubicBezTo>
                <a:lnTo>
                  <a:pt x="1143000" y="133350"/>
                </a:lnTo>
                <a:cubicBezTo>
                  <a:pt x="1143000" y="206997"/>
                  <a:pt x="1083297" y="266700"/>
                  <a:pt x="10096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D4A574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898458" y="39414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换了新位置</a:t>
            </a:r>
          </a:p>
        </p:txBody>
      </p:sp>
      <p:sp>
        <p:nvSpPr>
          <p:cNvPr id="28" name="Freeform 28"/>
          <p:cNvSpPr/>
          <p:nvPr/>
        </p:nvSpPr>
        <p:spPr>
          <a:xfrm>
            <a:off x="762000" y="4238625"/>
            <a:ext cx="5143500" cy="342900"/>
          </a:xfrm>
          <a:custGeom>
            <a:avLst/>
            <a:gdLst/>
            <a:ahLst/>
            <a:cxnLst/>
            <a:rect l="l" t="t" r="r" b="b"/>
            <a:pathLst>
              <a:path w="5143500" h="3429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266700"/>
                </a:lnTo>
                <a:cubicBezTo>
                  <a:pt x="5143500" y="308784"/>
                  <a:pt x="5109384" y="342900"/>
                  <a:pt x="506730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A849">
              <a:alpha val="6000"/>
            </a:srgbClr>
          </a:solidFill>
          <a:ln>
            <a:noFill/>
          </a:ln>
        </p:spPr>
      </p:sp>
      <p:sp>
        <p:nvSpPr>
          <p:cNvPr id="29" name="Freeform 29"/>
          <p:cNvSpPr/>
          <p:nvPr/>
        </p:nvSpPr>
        <p:spPr>
          <a:xfrm>
            <a:off x="920750" y="4332139"/>
            <a:ext cx="158750" cy="132266"/>
          </a:xfrm>
          <a:custGeom>
            <a:avLst/>
            <a:gdLst/>
            <a:ahLst/>
            <a:cxnLst/>
            <a:rect l="l" t="t" r="r" b="b"/>
            <a:pathLst>
              <a:path w="158750" h="132266">
                <a:moveTo>
                  <a:pt x="154781" y="13913"/>
                </a:moveTo>
                <a:cubicBezTo>
                  <a:pt x="156949" y="15164"/>
                  <a:pt x="158399" y="17364"/>
                  <a:pt x="158694" y="19850"/>
                </a:cubicBezTo>
                <a:lnTo>
                  <a:pt x="158750" y="20786"/>
                </a:lnTo>
                <a:lnTo>
                  <a:pt x="158750" y="123974"/>
                </a:lnTo>
                <a:cubicBezTo>
                  <a:pt x="158750" y="126810"/>
                  <a:pt x="157237" y="129430"/>
                  <a:pt x="154781" y="130848"/>
                </a:cubicBezTo>
                <a:cubicBezTo>
                  <a:pt x="152325" y="132266"/>
                  <a:pt x="149300" y="132266"/>
                  <a:pt x="146844" y="130848"/>
                </a:cubicBezTo>
                <a:cubicBezTo>
                  <a:pt x="128582" y="120303"/>
                  <a:pt x="106276" y="119512"/>
                  <a:pt x="87312" y="128736"/>
                </a:cubicBezTo>
                <a:lnTo>
                  <a:pt x="87312" y="8293"/>
                </a:lnTo>
                <a:cubicBezTo>
                  <a:pt x="109513" y="0"/>
                  <a:pt x="134258" y="2061"/>
                  <a:pt x="154781" y="13913"/>
                </a:cubicBezTo>
                <a:moveTo>
                  <a:pt x="71438" y="8301"/>
                </a:moveTo>
                <a:lnTo>
                  <a:pt x="71445" y="128744"/>
                </a:lnTo>
                <a:cubicBezTo>
                  <a:pt x="53251" y="119887"/>
                  <a:pt x="31924" y="120232"/>
                  <a:pt x="14026" y="129673"/>
                </a:cubicBezTo>
                <a:lnTo>
                  <a:pt x="11430" y="131102"/>
                </a:lnTo>
                <a:lnTo>
                  <a:pt x="10612" y="131451"/>
                </a:lnTo>
                <a:lnTo>
                  <a:pt x="10223" y="131578"/>
                </a:lnTo>
                <a:lnTo>
                  <a:pt x="9350" y="131784"/>
                </a:lnTo>
                <a:lnTo>
                  <a:pt x="8866" y="131864"/>
                </a:lnTo>
                <a:lnTo>
                  <a:pt x="7937" y="131911"/>
                </a:lnTo>
                <a:lnTo>
                  <a:pt x="7604" y="131911"/>
                </a:lnTo>
                <a:lnTo>
                  <a:pt x="6731" y="131816"/>
                </a:lnTo>
                <a:lnTo>
                  <a:pt x="6120" y="131705"/>
                </a:lnTo>
                <a:lnTo>
                  <a:pt x="5263" y="131451"/>
                </a:lnTo>
                <a:lnTo>
                  <a:pt x="4262" y="131007"/>
                </a:lnTo>
                <a:lnTo>
                  <a:pt x="3508" y="130562"/>
                </a:lnTo>
                <a:lnTo>
                  <a:pt x="2802" y="130030"/>
                </a:lnTo>
                <a:lnTo>
                  <a:pt x="2326" y="129586"/>
                </a:lnTo>
                <a:lnTo>
                  <a:pt x="1746" y="128935"/>
                </a:lnTo>
                <a:lnTo>
                  <a:pt x="1238" y="128228"/>
                </a:lnTo>
                <a:lnTo>
                  <a:pt x="1064" y="127943"/>
                </a:lnTo>
                <a:lnTo>
                  <a:pt x="810" y="127466"/>
                </a:lnTo>
                <a:lnTo>
                  <a:pt x="460" y="126649"/>
                </a:lnTo>
                <a:lnTo>
                  <a:pt x="333" y="126260"/>
                </a:lnTo>
                <a:lnTo>
                  <a:pt x="127" y="125387"/>
                </a:lnTo>
                <a:lnTo>
                  <a:pt x="48" y="124903"/>
                </a:lnTo>
                <a:lnTo>
                  <a:pt x="16" y="124514"/>
                </a:lnTo>
                <a:lnTo>
                  <a:pt x="0" y="20786"/>
                </a:lnTo>
                <a:cubicBezTo>
                  <a:pt x="0" y="17951"/>
                  <a:pt x="1513" y="15330"/>
                  <a:pt x="3969" y="13913"/>
                </a:cubicBezTo>
                <a:cubicBezTo>
                  <a:pt x="24493" y="2064"/>
                  <a:pt x="49238" y="6"/>
                  <a:pt x="71438" y="8301"/>
                </a:cubicBezTo>
              </a:path>
            </a:pathLst>
          </a:custGeom>
          <a:solidFill>
            <a:srgbClr val="E8A849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31570" y="4379595"/>
            <a:ext cx="346014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B6914"/>
                </a:solidFill>
                <a:latin typeface="Arial"/>
                <a:ea typeface="Microsoft YaHei"/>
                <a:cs typeface="Arial"/>
              </a:rPr>
              <a:t>引用记忆: "从客厅搬到了东窗边" · 5月20日 · 相关度 0.91</a:t>
            </a:r>
          </a:p>
        </p:txBody>
      </p:sp>
      <p:sp>
        <p:nvSpPr>
          <p:cNvPr id="31" name="Freeform 31"/>
          <p:cNvSpPr/>
          <p:nvPr/>
        </p:nvSpPr>
        <p:spPr>
          <a:xfrm>
            <a:off x="762000" y="4714875"/>
            <a:ext cx="5143500" cy="476250"/>
          </a:xfrm>
          <a:custGeom>
            <a:avLst/>
            <a:gdLst/>
            <a:ahLst/>
            <a:cxnLst/>
            <a:rect l="l" t="t" r="r" b="b"/>
            <a:pathLst>
              <a:path w="5143500" h="47625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400050"/>
                </a:lnTo>
                <a:cubicBezTo>
                  <a:pt x="5143500" y="442134"/>
                  <a:pt x="5109384" y="476250"/>
                  <a:pt x="50673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</p:sp>
      <p:sp>
        <p:nvSpPr>
          <p:cNvPr id="32" name="Freeform 32"/>
          <p:cNvSpPr/>
          <p:nvPr/>
        </p:nvSpPr>
        <p:spPr>
          <a:xfrm>
            <a:off x="912566" y="4827151"/>
            <a:ext cx="175363" cy="157012"/>
          </a:xfrm>
          <a:custGeom>
            <a:avLst/>
            <a:gdLst/>
            <a:ahLst/>
            <a:cxnLst/>
            <a:rect l="l" t="t" r="r" b="b"/>
            <a:pathLst>
              <a:path w="175363" h="157012">
                <a:moveTo>
                  <a:pt x="38513" y="21947"/>
                </a:moveTo>
                <a:cubicBezTo>
                  <a:pt x="69461" y="0"/>
                  <a:pt x="113665" y="1794"/>
                  <a:pt x="142280" y="26194"/>
                </a:cubicBezTo>
                <a:cubicBezTo>
                  <a:pt x="171386" y="51030"/>
                  <a:pt x="175363" y="91583"/>
                  <a:pt x="151424" y="120634"/>
                </a:cubicBezTo>
                <a:cubicBezTo>
                  <a:pt x="128873" y="147995"/>
                  <a:pt x="88201" y="157012"/>
                  <a:pt x="54340" y="142899"/>
                </a:cubicBezTo>
                <a:lnTo>
                  <a:pt x="52491" y="142097"/>
                </a:lnTo>
                <a:lnTo>
                  <a:pt x="17772" y="149487"/>
                </a:lnTo>
                <a:lnTo>
                  <a:pt x="17455" y="149535"/>
                </a:lnTo>
                <a:lnTo>
                  <a:pt x="17177" y="149590"/>
                </a:lnTo>
                <a:lnTo>
                  <a:pt x="17034" y="149590"/>
                </a:lnTo>
                <a:lnTo>
                  <a:pt x="16859" y="149630"/>
                </a:lnTo>
                <a:lnTo>
                  <a:pt x="16558" y="149630"/>
                </a:lnTo>
                <a:lnTo>
                  <a:pt x="16296" y="149662"/>
                </a:lnTo>
                <a:lnTo>
                  <a:pt x="16129" y="149654"/>
                </a:lnTo>
                <a:lnTo>
                  <a:pt x="15946" y="149662"/>
                </a:lnTo>
                <a:lnTo>
                  <a:pt x="15684" y="149638"/>
                </a:lnTo>
                <a:lnTo>
                  <a:pt x="15407" y="149638"/>
                </a:lnTo>
                <a:lnTo>
                  <a:pt x="15232" y="149606"/>
                </a:lnTo>
                <a:lnTo>
                  <a:pt x="15057" y="149590"/>
                </a:lnTo>
                <a:lnTo>
                  <a:pt x="14780" y="149535"/>
                </a:lnTo>
                <a:lnTo>
                  <a:pt x="14510" y="149495"/>
                </a:lnTo>
                <a:lnTo>
                  <a:pt x="14383" y="149463"/>
                </a:lnTo>
                <a:lnTo>
                  <a:pt x="14192" y="149423"/>
                </a:lnTo>
                <a:lnTo>
                  <a:pt x="13803" y="149296"/>
                </a:lnTo>
                <a:lnTo>
                  <a:pt x="13613" y="149257"/>
                </a:lnTo>
                <a:lnTo>
                  <a:pt x="13526" y="149217"/>
                </a:lnTo>
                <a:lnTo>
                  <a:pt x="13351" y="149161"/>
                </a:lnTo>
                <a:lnTo>
                  <a:pt x="12994" y="149003"/>
                </a:lnTo>
                <a:lnTo>
                  <a:pt x="12756" y="148907"/>
                </a:lnTo>
                <a:lnTo>
                  <a:pt x="12668" y="148860"/>
                </a:lnTo>
                <a:lnTo>
                  <a:pt x="12557" y="148812"/>
                </a:lnTo>
                <a:lnTo>
                  <a:pt x="12311" y="148669"/>
                </a:lnTo>
                <a:lnTo>
                  <a:pt x="11954" y="148479"/>
                </a:lnTo>
                <a:lnTo>
                  <a:pt x="11827" y="148392"/>
                </a:lnTo>
                <a:lnTo>
                  <a:pt x="11533" y="148185"/>
                </a:lnTo>
                <a:lnTo>
                  <a:pt x="11216" y="147971"/>
                </a:lnTo>
                <a:lnTo>
                  <a:pt x="11200" y="147939"/>
                </a:lnTo>
                <a:lnTo>
                  <a:pt x="11097" y="147868"/>
                </a:lnTo>
                <a:lnTo>
                  <a:pt x="10755" y="147550"/>
                </a:lnTo>
                <a:lnTo>
                  <a:pt x="10557" y="147391"/>
                </a:lnTo>
                <a:lnTo>
                  <a:pt x="10509" y="147336"/>
                </a:lnTo>
                <a:lnTo>
                  <a:pt x="10065" y="146844"/>
                </a:lnTo>
                <a:lnTo>
                  <a:pt x="9962" y="146733"/>
                </a:lnTo>
                <a:lnTo>
                  <a:pt x="9874" y="146621"/>
                </a:lnTo>
                <a:lnTo>
                  <a:pt x="9565" y="146177"/>
                </a:lnTo>
                <a:lnTo>
                  <a:pt x="9454" y="146026"/>
                </a:lnTo>
                <a:lnTo>
                  <a:pt x="9414" y="145947"/>
                </a:lnTo>
                <a:lnTo>
                  <a:pt x="9080" y="145367"/>
                </a:lnTo>
                <a:lnTo>
                  <a:pt x="9025" y="145272"/>
                </a:lnTo>
                <a:lnTo>
                  <a:pt x="8993" y="145209"/>
                </a:lnTo>
                <a:lnTo>
                  <a:pt x="8938" y="145113"/>
                </a:lnTo>
                <a:lnTo>
                  <a:pt x="8826" y="144812"/>
                </a:lnTo>
                <a:lnTo>
                  <a:pt x="8668" y="144478"/>
                </a:lnTo>
                <a:lnTo>
                  <a:pt x="8636" y="144351"/>
                </a:lnTo>
                <a:lnTo>
                  <a:pt x="8604" y="144272"/>
                </a:lnTo>
                <a:lnTo>
                  <a:pt x="8469" y="143788"/>
                </a:lnTo>
                <a:lnTo>
                  <a:pt x="8414" y="143645"/>
                </a:lnTo>
                <a:lnTo>
                  <a:pt x="8398" y="143526"/>
                </a:lnTo>
                <a:lnTo>
                  <a:pt x="8358" y="143375"/>
                </a:lnTo>
                <a:lnTo>
                  <a:pt x="8319" y="143113"/>
                </a:lnTo>
                <a:lnTo>
                  <a:pt x="8255" y="142780"/>
                </a:lnTo>
                <a:lnTo>
                  <a:pt x="8239" y="142534"/>
                </a:lnTo>
                <a:lnTo>
                  <a:pt x="8215" y="142454"/>
                </a:lnTo>
                <a:lnTo>
                  <a:pt x="8215" y="142327"/>
                </a:lnTo>
                <a:lnTo>
                  <a:pt x="8184" y="141899"/>
                </a:lnTo>
                <a:lnTo>
                  <a:pt x="8191" y="141613"/>
                </a:lnTo>
                <a:lnTo>
                  <a:pt x="8199" y="141430"/>
                </a:lnTo>
                <a:lnTo>
                  <a:pt x="8215" y="141010"/>
                </a:lnTo>
                <a:lnTo>
                  <a:pt x="8247" y="140811"/>
                </a:lnTo>
                <a:lnTo>
                  <a:pt x="8247" y="140660"/>
                </a:lnTo>
                <a:lnTo>
                  <a:pt x="8311" y="140383"/>
                </a:lnTo>
                <a:lnTo>
                  <a:pt x="8350" y="140113"/>
                </a:lnTo>
                <a:lnTo>
                  <a:pt x="8390" y="139954"/>
                </a:lnTo>
                <a:lnTo>
                  <a:pt x="8422" y="139795"/>
                </a:lnTo>
                <a:lnTo>
                  <a:pt x="8565" y="139319"/>
                </a:lnTo>
                <a:lnTo>
                  <a:pt x="8588" y="139216"/>
                </a:lnTo>
                <a:lnTo>
                  <a:pt x="17716" y="111831"/>
                </a:lnTo>
                <a:lnTo>
                  <a:pt x="17542" y="111538"/>
                </a:lnTo>
                <a:cubicBezTo>
                  <a:pt x="0" y="81796"/>
                  <a:pt x="7945" y="44934"/>
                  <a:pt x="36695" y="23281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30618" y="4895374"/>
            <a:ext cx="33355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快捷动作渲染为</a:t>
            </a:r>
            <a:r>
              <a:rPr lang="zh-CN" sz="975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系统操作 chip</a:t>
            </a:r>
            <a:r>
              <a:rPr lang="zh-CN" sz="975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，不是伪装成用户消息</a:t>
            </a:r>
          </a:p>
        </p:txBody>
      </p:sp>
      <p:sp>
        <p:nvSpPr>
          <p:cNvPr id="34" name="Freeform 34"/>
          <p:cNvSpPr/>
          <p:nvPr/>
        </p:nvSpPr>
        <p:spPr>
          <a:xfrm>
            <a:off x="762000" y="5286375"/>
            <a:ext cx="5143500" cy="342900"/>
          </a:xfrm>
          <a:custGeom>
            <a:avLst/>
            <a:gdLst/>
            <a:ahLst/>
            <a:cxnLst/>
            <a:rect l="l" t="t" r="r" b="b"/>
            <a:pathLst>
              <a:path w="5143500" h="342900">
                <a:moveTo>
                  <a:pt x="76200" y="0"/>
                </a:moveTo>
                <a:lnTo>
                  <a:pt x="5067300" y="0"/>
                </a:lnTo>
                <a:cubicBezTo>
                  <a:pt x="5109384" y="0"/>
                  <a:pt x="5143500" y="34116"/>
                  <a:pt x="5143500" y="76200"/>
                </a:cubicBezTo>
                <a:lnTo>
                  <a:pt x="5143500" y="266700"/>
                </a:lnTo>
                <a:cubicBezTo>
                  <a:pt x="5143500" y="308784"/>
                  <a:pt x="5109384" y="342900"/>
                  <a:pt x="5067300" y="342900"/>
                </a:cubicBezTo>
                <a:lnTo>
                  <a:pt x="76200" y="342900"/>
                </a:lnTo>
                <a:cubicBezTo>
                  <a:pt x="34116" y="342900"/>
                  <a:pt x="0" y="308784"/>
                  <a:pt x="0" y="2667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C45A28">
              <a:alpha val="6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41070" y="5417820"/>
            <a:ext cx="27634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45A28"/>
                </a:solidFill>
                <a:latin typeface="Arial"/>
                <a:ea typeface="Microsoft YaHei"/>
                <a:cs typeface="Arial"/>
              </a:rPr>
              <a:t>⚠ PlantEcho 此刻无法联网，回复来自本地预设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48450" y="12668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成长日记</a:t>
            </a:r>
          </a:p>
        </p:txBody>
      </p:sp>
      <p:sp>
        <p:nvSpPr>
          <p:cNvPr id="37" name="Freeform 37"/>
          <p:cNvSpPr/>
          <p:nvPr/>
        </p:nvSpPr>
        <p:spPr>
          <a:xfrm>
            <a:off x="6477000" y="1619250"/>
            <a:ext cx="5143500" cy="4000500"/>
          </a:xfrm>
          <a:custGeom>
            <a:avLst/>
            <a:gdLst/>
            <a:ahLst/>
            <a:cxnLst/>
            <a:rect l="l" t="t" r="r" b="b"/>
            <a:pathLst>
              <a:path w="5143500" h="4000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3886200"/>
                </a:lnTo>
                <a:cubicBezTo>
                  <a:pt x="5143500" y="3949326"/>
                  <a:pt x="5092326" y="4000500"/>
                  <a:pt x="5029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6477000" y="1619250"/>
            <a:ext cx="5143500" cy="4000500"/>
          </a:xfrm>
          <a:custGeom>
            <a:avLst/>
            <a:gdLst/>
            <a:ahLst/>
            <a:cxnLst/>
            <a:rect l="l" t="t" r="r" b="b"/>
            <a:pathLst>
              <a:path w="5143500" h="400050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3886200"/>
                </a:lnTo>
                <a:cubicBezTo>
                  <a:pt x="5143500" y="3949326"/>
                  <a:pt x="5092326" y="4000500"/>
                  <a:pt x="50292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654165" y="1791652"/>
            <a:ext cx="122627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Bento StatCard</a:t>
            </a:r>
          </a:p>
        </p:txBody>
      </p:sp>
      <p:sp>
        <p:nvSpPr>
          <p:cNvPr id="40" name="Freeform 40"/>
          <p:cNvSpPr/>
          <p:nvPr/>
        </p:nvSpPr>
        <p:spPr>
          <a:xfrm>
            <a:off x="6667500" y="204787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76200" y="0"/>
                </a:moveTo>
                <a:lnTo>
                  <a:pt x="1066800" y="0"/>
                </a:lnTo>
                <a:cubicBezTo>
                  <a:pt x="1108884" y="0"/>
                  <a:pt x="1143000" y="34116"/>
                  <a:pt x="1143000" y="76200"/>
                </a:cubicBezTo>
                <a:lnTo>
                  <a:pt x="1143000" y="495300"/>
                </a:lnTo>
                <a:cubicBezTo>
                  <a:pt x="1143000" y="537384"/>
                  <a:pt x="1108884" y="571500"/>
                  <a:pt x="106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7C28">
              <a:alpha val="8000"/>
            </a:srgbClr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110507" y="2107882"/>
            <a:ext cx="2569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7786" y="24064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天陪伴</a:t>
            </a:r>
          </a:p>
        </p:txBody>
      </p:sp>
      <p:sp>
        <p:nvSpPr>
          <p:cNvPr id="43" name="Freeform 43"/>
          <p:cNvSpPr/>
          <p:nvPr/>
        </p:nvSpPr>
        <p:spPr>
          <a:xfrm>
            <a:off x="7905750" y="204787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76200" y="0"/>
                </a:moveTo>
                <a:lnTo>
                  <a:pt x="1066800" y="0"/>
                </a:lnTo>
                <a:cubicBezTo>
                  <a:pt x="1108884" y="0"/>
                  <a:pt x="1143000" y="34116"/>
                  <a:pt x="1143000" y="76200"/>
                </a:cubicBezTo>
                <a:lnTo>
                  <a:pt x="1143000" y="495300"/>
                </a:lnTo>
                <a:cubicBezTo>
                  <a:pt x="1143000" y="537384"/>
                  <a:pt x="1108884" y="571500"/>
                  <a:pt x="106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8A849">
              <a:alpha val="8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386711" y="210788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A849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25790" y="2406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次里程碑</a:t>
            </a:r>
          </a:p>
        </p:txBody>
      </p:sp>
      <p:sp>
        <p:nvSpPr>
          <p:cNvPr id="46" name="Freeform 46"/>
          <p:cNvSpPr/>
          <p:nvPr/>
        </p:nvSpPr>
        <p:spPr>
          <a:xfrm>
            <a:off x="9144000" y="2047875"/>
            <a:ext cx="1143000" cy="571500"/>
          </a:xfrm>
          <a:custGeom>
            <a:avLst/>
            <a:gdLst/>
            <a:ahLst/>
            <a:cxnLst/>
            <a:rect l="l" t="t" r="r" b="b"/>
            <a:pathLst>
              <a:path w="1143000" h="571500">
                <a:moveTo>
                  <a:pt x="76200" y="0"/>
                </a:moveTo>
                <a:lnTo>
                  <a:pt x="1066800" y="0"/>
                </a:lnTo>
                <a:cubicBezTo>
                  <a:pt x="1108884" y="0"/>
                  <a:pt x="1143000" y="34116"/>
                  <a:pt x="1143000" y="76200"/>
                </a:cubicBezTo>
                <a:lnTo>
                  <a:pt x="1143000" y="495300"/>
                </a:lnTo>
                <a:cubicBezTo>
                  <a:pt x="1143000" y="537384"/>
                  <a:pt x="1108884" y="571500"/>
                  <a:pt x="1066800" y="571500"/>
                </a:cubicBezTo>
                <a:lnTo>
                  <a:pt x="76200" y="571500"/>
                </a:lnTo>
                <a:cubicBezTo>
                  <a:pt x="34116" y="571500"/>
                  <a:pt x="0" y="537384"/>
                  <a:pt x="0" y="495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4A574">
              <a:alpha val="8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587007" y="2107882"/>
            <a:ext cx="25698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D4A574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524286" y="2406491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张照片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165" y="28394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里程碑时间线</a:t>
            </a:r>
          </a:p>
        </p:txBody>
      </p:sp>
      <p:sp>
        <p:nvSpPr>
          <p:cNvPr id="50" name="Line 50"/>
          <p:cNvSpPr/>
          <p:nvPr/>
        </p:nvSpPr>
        <p:spPr>
          <a:xfrm>
            <a:off x="6953250" y="3143250"/>
            <a:ext cx="9525" cy="2190750"/>
          </a:xfrm>
          <a:custGeom>
            <a:avLst/>
            <a:gdLst/>
            <a:ahLst/>
            <a:cxnLst/>
            <a:rect l="l" t="t" r="r" b="b"/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/>
          <a:ln w="19050">
            <a:solidFill>
              <a:srgbClr val="E0D8C8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6877050" y="3257550"/>
            <a:ext cx="152400" cy="152400"/>
          </a:xfrm>
          <a:prstGeom prst="ellipse">
            <a:avLst/>
          </a:prstGeom>
          <a:solidFill>
            <a:srgbClr val="E8A849"/>
          </a:solidFill>
          <a:ln>
            <a:noFill/>
          </a:ln>
        </p:spPr>
      </p:sp>
      <p:sp>
        <p:nvSpPr>
          <p:cNvPr id="52" name="Freeform 52"/>
          <p:cNvSpPr/>
          <p:nvPr/>
        </p:nvSpPr>
        <p:spPr>
          <a:xfrm>
            <a:off x="6883070" y="3263913"/>
            <a:ext cx="140291" cy="133708"/>
          </a:xfrm>
          <a:custGeom>
            <a:avLst/>
            <a:gdLst/>
            <a:ahLst/>
            <a:cxnLst/>
            <a:rect l="l" t="t" r="r" b="b"/>
            <a:pathLst>
              <a:path w="140291" h="133708">
                <a:moveTo>
                  <a:pt x="46323" y="40246"/>
                </a:moveTo>
                <a:lnTo>
                  <a:pt x="5810" y="46120"/>
                </a:lnTo>
                <a:lnTo>
                  <a:pt x="5093" y="46266"/>
                </a:lnTo>
                <a:cubicBezTo>
                  <a:pt x="2881" y="46853"/>
                  <a:pt x="1157" y="48584"/>
                  <a:pt x="578" y="50798"/>
                </a:cubicBezTo>
                <a:cubicBezTo>
                  <a:pt x="0" y="53012"/>
                  <a:pt x="657" y="55366"/>
                  <a:pt x="2299" y="56959"/>
                </a:cubicBezTo>
                <a:lnTo>
                  <a:pt x="31649" y="85528"/>
                </a:lnTo>
                <a:lnTo>
                  <a:pt x="24727" y="125882"/>
                </a:lnTo>
                <a:lnTo>
                  <a:pt x="24645" y="126581"/>
                </a:lnTo>
                <a:cubicBezTo>
                  <a:pt x="24509" y="128868"/>
                  <a:pt x="25617" y="131051"/>
                  <a:pt x="27542" y="132293"/>
                </a:cubicBezTo>
                <a:cubicBezTo>
                  <a:pt x="29468" y="133534"/>
                  <a:pt x="31913" y="133642"/>
                  <a:pt x="33941" y="132575"/>
                </a:cubicBezTo>
                <a:lnTo>
                  <a:pt x="70174" y="113525"/>
                </a:lnTo>
                <a:lnTo>
                  <a:pt x="106325" y="132575"/>
                </a:lnTo>
                <a:lnTo>
                  <a:pt x="106960" y="132867"/>
                </a:lnTo>
                <a:cubicBezTo>
                  <a:pt x="109094" y="133708"/>
                  <a:pt x="111515" y="133332"/>
                  <a:pt x="113294" y="131885"/>
                </a:cubicBezTo>
                <a:cubicBezTo>
                  <a:pt x="115073" y="130437"/>
                  <a:pt x="115934" y="128143"/>
                  <a:pt x="115545" y="125882"/>
                </a:cubicBezTo>
                <a:lnTo>
                  <a:pt x="108617" y="85528"/>
                </a:lnTo>
                <a:lnTo>
                  <a:pt x="137979" y="56953"/>
                </a:lnTo>
                <a:lnTo>
                  <a:pt x="138475" y="56413"/>
                </a:lnTo>
                <a:cubicBezTo>
                  <a:pt x="139915" y="54639"/>
                  <a:pt x="140291" y="52228"/>
                  <a:pt x="139459" y="50100"/>
                </a:cubicBezTo>
                <a:cubicBezTo>
                  <a:pt x="138628" y="47971"/>
                  <a:pt x="136717" y="46454"/>
                  <a:pt x="134455" y="46126"/>
                </a:cubicBezTo>
                <a:lnTo>
                  <a:pt x="93942" y="40246"/>
                </a:lnTo>
                <a:lnTo>
                  <a:pt x="75832" y="3543"/>
                </a:lnTo>
                <a:cubicBezTo>
                  <a:pt x="74763" y="1374"/>
                  <a:pt x="72554" y="0"/>
                  <a:pt x="70136" y="0"/>
                </a:cubicBezTo>
                <a:cubicBezTo>
                  <a:pt x="67717" y="0"/>
                  <a:pt x="65509" y="1374"/>
                  <a:pt x="64440" y="3543"/>
                </a:cubicBezTo>
                <a:lnTo>
                  <a:pt x="46323" y="4024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7178040" y="317277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第一次发新芽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179945" y="3379470"/>
            <a:ext cx="14096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5月15日 · 你给它留了言</a:t>
            </a:r>
          </a:p>
        </p:txBody>
      </p:sp>
      <p:sp>
        <p:nvSpPr>
          <p:cNvPr id="55" name="Ellipse 55"/>
          <p:cNvSpPr/>
          <p:nvPr/>
        </p:nvSpPr>
        <p:spPr>
          <a:xfrm>
            <a:off x="6877050" y="3829050"/>
            <a:ext cx="152400" cy="152400"/>
          </a:xfrm>
          <a:prstGeom prst="ellipse">
            <a:avLst/>
          </a:prstGeom>
          <a:solidFill>
            <a:srgbClr val="4A7C28"/>
          </a:solidFill>
          <a:ln>
            <a:noFill/>
          </a:ln>
        </p:spPr>
      </p:sp>
      <p:sp>
        <p:nvSpPr>
          <p:cNvPr id="56" name="Freeform 56"/>
          <p:cNvSpPr/>
          <p:nvPr/>
        </p:nvSpPr>
        <p:spPr>
          <a:xfrm>
            <a:off x="6887129" y="3846630"/>
            <a:ext cx="132071" cy="116392"/>
          </a:xfrm>
          <a:custGeom>
            <a:avLst/>
            <a:gdLst/>
            <a:ahLst/>
            <a:cxnLst/>
            <a:rect l="l" t="t" r="r" b="b"/>
            <a:pathLst>
              <a:path w="132071" h="116392">
                <a:moveTo>
                  <a:pt x="34238" y="1940"/>
                </a:moveTo>
                <a:cubicBezTo>
                  <a:pt x="45621" y="0"/>
                  <a:pt x="57270" y="3328"/>
                  <a:pt x="65912" y="10988"/>
                </a:cubicBezTo>
                <a:lnTo>
                  <a:pt x="66146" y="11198"/>
                </a:lnTo>
                <a:lnTo>
                  <a:pt x="66362" y="11007"/>
                </a:lnTo>
                <a:cubicBezTo>
                  <a:pt x="74599" y="3779"/>
                  <a:pt x="85550" y="447"/>
                  <a:pt x="96417" y="1863"/>
                </a:cubicBezTo>
                <a:lnTo>
                  <a:pt x="97979" y="2092"/>
                </a:lnTo>
                <a:cubicBezTo>
                  <a:pt x="111773" y="4474"/>
                  <a:pt x="123151" y="14228"/>
                  <a:pt x="127611" y="27497"/>
                </a:cubicBezTo>
                <a:cubicBezTo>
                  <a:pt x="132071" y="40766"/>
                  <a:pt x="128896" y="55413"/>
                  <a:pt x="119340" y="65643"/>
                </a:cubicBezTo>
                <a:lnTo>
                  <a:pt x="118197" y="66818"/>
                </a:lnTo>
                <a:lnTo>
                  <a:pt x="117893" y="67078"/>
                </a:lnTo>
                <a:lnTo>
                  <a:pt x="70585" y="113935"/>
                </a:lnTo>
                <a:cubicBezTo>
                  <a:pt x="68327" y="116169"/>
                  <a:pt x="64766" y="116392"/>
                  <a:pt x="62248" y="114455"/>
                </a:cubicBezTo>
                <a:lnTo>
                  <a:pt x="61651" y="113935"/>
                </a:lnTo>
                <a:lnTo>
                  <a:pt x="14070" y="66805"/>
                </a:lnTo>
                <a:cubicBezTo>
                  <a:pt x="3792" y="56804"/>
                  <a:pt x="0" y="41880"/>
                  <a:pt x="4258" y="28186"/>
                </a:cubicBezTo>
                <a:cubicBezTo>
                  <a:pt x="8515" y="14492"/>
                  <a:pt x="20101" y="4349"/>
                  <a:pt x="34238" y="194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178040" y="3744278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搬到了东窗边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179945" y="3950970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5月20日 · 光照明显改善</a:t>
            </a:r>
          </a:p>
        </p:txBody>
      </p:sp>
      <p:sp>
        <p:nvSpPr>
          <p:cNvPr id="59" name="Ellipse 59"/>
          <p:cNvSpPr/>
          <p:nvPr/>
        </p:nvSpPr>
        <p:spPr>
          <a:xfrm>
            <a:off x="6877050" y="4400550"/>
            <a:ext cx="152400" cy="1524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6889750" y="4419596"/>
            <a:ext cx="127000" cy="114304"/>
          </a:xfrm>
          <a:custGeom>
            <a:avLst/>
            <a:gdLst/>
            <a:ahLst/>
            <a:cxnLst/>
            <a:rect l="l" t="t" r="r" b="b"/>
            <a:pathLst>
              <a:path w="127000" h="114304">
                <a:moveTo>
                  <a:pt x="25400" y="4"/>
                </a:moveTo>
                <a:cubicBezTo>
                  <a:pt x="47877" y="0"/>
                  <a:pt x="66819" y="16776"/>
                  <a:pt x="69532" y="39088"/>
                </a:cubicBezTo>
                <a:cubicBezTo>
                  <a:pt x="77899" y="30331"/>
                  <a:pt x="89489" y="25386"/>
                  <a:pt x="101600" y="25404"/>
                </a:cubicBezTo>
                <a:lnTo>
                  <a:pt x="120650" y="25404"/>
                </a:lnTo>
                <a:cubicBezTo>
                  <a:pt x="124157" y="25404"/>
                  <a:pt x="127000" y="28247"/>
                  <a:pt x="127000" y="31754"/>
                </a:cubicBezTo>
                <a:lnTo>
                  <a:pt x="127000" y="38104"/>
                </a:lnTo>
                <a:cubicBezTo>
                  <a:pt x="127000" y="62653"/>
                  <a:pt x="107099" y="82554"/>
                  <a:pt x="82550" y="82554"/>
                </a:cubicBezTo>
                <a:lnTo>
                  <a:pt x="69850" y="82554"/>
                </a:lnTo>
                <a:lnTo>
                  <a:pt x="69850" y="107954"/>
                </a:lnTo>
                <a:cubicBezTo>
                  <a:pt x="69850" y="111461"/>
                  <a:pt x="67007" y="114304"/>
                  <a:pt x="63500" y="114304"/>
                </a:cubicBezTo>
                <a:cubicBezTo>
                  <a:pt x="59993" y="114304"/>
                  <a:pt x="57150" y="111461"/>
                  <a:pt x="57150" y="107954"/>
                </a:cubicBezTo>
                <a:lnTo>
                  <a:pt x="57150" y="63504"/>
                </a:lnTo>
                <a:lnTo>
                  <a:pt x="44450" y="63504"/>
                </a:lnTo>
                <a:cubicBezTo>
                  <a:pt x="19901" y="63504"/>
                  <a:pt x="0" y="43603"/>
                  <a:pt x="0" y="19054"/>
                </a:cubicBezTo>
                <a:lnTo>
                  <a:pt x="0" y="6354"/>
                </a:lnTo>
                <a:cubicBezTo>
                  <a:pt x="0" y="2847"/>
                  <a:pt x="2843" y="4"/>
                  <a:pt x="6350" y="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7178040" y="4315778"/>
            <a:ext cx="9203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连续7天健康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179945" y="4522470"/>
            <a:ext cx="14424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5月25日 · 系统自动庆祝</a:t>
            </a:r>
          </a:p>
        </p:txBody>
      </p:sp>
      <p:sp>
        <p:nvSpPr>
          <p:cNvPr id="63" name="Freeform 63"/>
          <p:cNvSpPr/>
          <p:nvPr/>
        </p:nvSpPr>
        <p:spPr>
          <a:xfrm>
            <a:off x="7191375" y="4762500"/>
            <a:ext cx="1905000" cy="266700"/>
          </a:xfrm>
          <a:custGeom>
            <a:avLst/>
            <a:gdLst/>
            <a:ahLst/>
            <a:cxnLst/>
            <a:rect l="l" t="t" r="r" b="b"/>
            <a:pathLst>
              <a:path w="1905000" h="266700">
                <a:moveTo>
                  <a:pt x="57150" y="0"/>
                </a:moveTo>
                <a:lnTo>
                  <a:pt x="1847850" y="0"/>
                </a:lnTo>
                <a:cubicBezTo>
                  <a:pt x="1879413" y="0"/>
                  <a:pt x="1905000" y="25587"/>
                  <a:pt x="1905000" y="57150"/>
                </a:cubicBezTo>
                <a:lnTo>
                  <a:pt x="1905000" y="209550"/>
                </a:lnTo>
                <a:cubicBezTo>
                  <a:pt x="1905000" y="241113"/>
                  <a:pt x="1879413" y="266700"/>
                  <a:pt x="1847850" y="266700"/>
                </a:cubicBezTo>
                <a:lnTo>
                  <a:pt x="57150" y="266700"/>
                </a:lnTo>
                <a:cubicBezTo>
                  <a:pt x="25587" y="266700"/>
                  <a:pt x="0" y="241113"/>
                  <a:pt x="0" y="2095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7C28">
              <a:alpha val="6000"/>
            </a:srgbClr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323772" y="4854416"/>
            <a:ext cx="13523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hover 里程碑可直接留言</a:t>
            </a:r>
          </a:p>
        </p:txBody>
      </p:sp>
      <p:sp>
        <p:nvSpPr>
          <p:cNvPr id="65" name="Freeform 65"/>
          <p:cNvSpPr/>
          <p:nvPr/>
        </p:nvSpPr>
        <p:spPr>
          <a:xfrm>
            <a:off x="571500" y="581025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476250"/>
                </a:lnTo>
                <a:cubicBezTo>
                  <a:pt x="11049000" y="528855"/>
                  <a:pt x="11006355" y="571500"/>
                  <a:pt x="10953750" y="571500"/>
                </a:cubicBezTo>
                <a:lnTo>
                  <a:pt x="95250" y="571500"/>
                </a:lnTo>
                <a:cubicBezTo>
                  <a:pt x="42645" y="571500"/>
                  <a:pt x="0" y="528855"/>
                  <a:pt x="0" y="476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</p:sp>
      <p:grpSp>
        <p:nvGrpSpPr>
          <p:cNvPr id="73" name="Group 73"/>
          <p:cNvGrpSpPr/>
          <p:nvPr/>
        </p:nvGrpSpPr>
        <p:grpSpPr>
          <a:xfrm>
            <a:off x="876032" y="5972175"/>
            <a:ext cx="191037" cy="190500"/>
            <a:chOff x="876032" y="5972175"/>
            <a:chExt cx="191037" cy="190500"/>
          </a:xfrm>
        </p:grpSpPr>
        <p:sp>
          <p:nvSpPr>
            <p:cNvPr id="66" name="Freeform 66"/>
            <p:cNvSpPr/>
            <p:nvPr/>
          </p:nvSpPr>
          <p:spPr>
            <a:xfrm>
              <a:off x="876032" y="6057900"/>
              <a:ext cx="29112" cy="19050"/>
            </a:xfrm>
            <a:custGeom>
              <a:avLst/>
              <a:gdLst/>
              <a:ahLst/>
              <a:cxnLst/>
              <a:rect l="l" t="t" r="r" b="b"/>
              <a:pathLst>
                <a:path w="29112" h="19050">
                  <a:moveTo>
                    <a:pt x="19318" y="0"/>
                  </a:moveTo>
                  <a:cubicBezTo>
                    <a:pt x="24358" y="6"/>
                    <a:pt x="28521" y="3936"/>
                    <a:pt x="28816" y="8967"/>
                  </a:cubicBezTo>
                  <a:cubicBezTo>
                    <a:pt x="29112" y="13998"/>
                    <a:pt x="25437" y="18388"/>
                    <a:pt x="20433" y="18983"/>
                  </a:cubicBezTo>
                  <a:lnTo>
                    <a:pt x="19318" y="19050"/>
                  </a:lnTo>
                  <a:lnTo>
                    <a:pt x="9793" y="19050"/>
                  </a:lnTo>
                  <a:cubicBezTo>
                    <a:pt x="4754" y="19044"/>
                    <a:pt x="591" y="15114"/>
                    <a:pt x="295" y="10083"/>
                  </a:cubicBezTo>
                  <a:cubicBezTo>
                    <a:pt x="0" y="5052"/>
                    <a:pt x="3675" y="662"/>
                    <a:pt x="8679" y="67"/>
                  </a:cubicBezTo>
                  <a:lnTo>
                    <a:pt x="9793" y="0"/>
                  </a:lnTo>
                  <a:lnTo>
                    <a:pt x="1931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62025" y="5972175"/>
              <a:ext cx="19050" cy="28843"/>
            </a:xfrm>
            <a:custGeom>
              <a:avLst/>
              <a:gdLst/>
              <a:ahLst/>
              <a:cxnLst/>
              <a:rect l="l" t="t" r="r" b="b"/>
              <a:pathLst>
                <a:path w="19050" h="28843">
                  <a:moveTo>
                    <a:pt x="9525" y="0"/>
                  </a:moveTo>
                  <a:cubicBezTo>
                    <a:pt x="14354" y="1"/>
                    <a:pt x="18418" y="3615"/>
                    <a:pt x="18983" y="8411"/>
                  </a:cubicBezTo>
                  <a:lnTo>
                    <a:pt x="19050" y="9525"/>
                  </a:lnTo>
                  <a:lnTo>
                    <a:pt x="19050" y="19050"/>
                  </a:lnTo>
                  <a:cubicBezTo>
                    <a:pt x="19044" y="24090"/>
                    <a:pt x="15114" y="28253"/>
                    <a:pt x="10083" y="28548"/>
                  </a:cubicBezTo>
                  <a:cubicBezTo>
                    <a:pt x="5052" y="28843"/>
                    <a:pt x="662" y="25169"/>
                    <a:pt x="67" y="20164"/>
                  </a:cubicBezTo>
                  <a:lnTo>
                    <a:pt x="0" y="19050"/>
                  </a:lnTo>
                  <a:lnTo>
                    <a:pt x="0" y="9525"/>
                  </a:lnTo>
                  <a:cubicBezTo>
                    <a:pt x="0" y="4264"/>
                    <a:pt x="4264" y="0"/>
                    <a:pt x="9525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1037957" y="6057900"/>
              <a:ext cx="29112" cy="19050"/>
            </a:xfrm>
            <a:custGeom>
              <a:avLst/>
              <a:gdLst/>
              <a:ahLst/>
              <a:cxnLst/>
              <a:rect l="l" t="t" r="r" b="b"/>
              <a:pathLst>
                <a:path w="29112" h="19050">
                  <a:moveTo>
                    <a:pt x="19318" y="0"/>
                  </a:moveTo>
                  <a:cubicBezTo>
                    <a:pt x="24358" y="6"/>
                    <a:pt x="28521" y="3936"/>
                    <a:pt x="28816" y="8967"/>
                  </a:cubicBezTo>
                  <a:cubicBezTo>
                    <a:pt x="29112" y="13998"/>
                    <a:pt x="25437" y="18388"/>
                    <a:pt x="20433" y="18983"/>
                  </a:cubicBezTo>
                  <a:lnTo>
                    <a:pt x="19318" y="19050"/>
                  </a:lnTo>
                  <a:lnTo>
                    <a:pt x="9793" y="19050"/>
                  </a:lnTo>
                  <a:cubicBezTo>
                    <a:pt x="4754" y="19044"/>
                    <a:pt x="591" y="15114"/>
                    <a:pt x="295" y="10083"/>
                  </a:cubicBezTo>
                  <a:cubicBezTo>
                    <a:pt x="0" y="5052"/>
                    <a:pt x="3675" y="662"/>
                    <a:pt x="8679" y="67"/>
                  </a:cubicBezTo>
                  <a:lnTo>
                    <a:pt x="9793" y="0"/>
                  </a:lnTo>
                  <a:lnTo>
                    <a:pt x="19318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900137" y="5995999"/>
              <a:ext cx="27574" cy="27730"/>
            </a:xfrm>
            <a:custGeom>
              <a:avLst/>
              <a:gdLst/>
              <a:ahLst/>
              <a:cxnLst/>
              <a:rect l="l" t="t" r="r" b="b"/>
              <a:pathLst>
                <a:path w="27574" h="27730">
                  <a:moveTo>
                    <a:pt x="3718" y="3732"/>
                  </a:moveTo>
                  <a:cubicBezTo>
                    <a:pt x="7112" y="339"/>
                    <a:pt x="12500" y="0"/>
                    <a:pt x="16291" y="2941"/>
                  </a:cubicBezTo>
                  <a:lnTo>
                    <a:pt x="17187" y="3732"/>
                  </a:lnTo>
                  <a:lnTo>
                    <a:pt x="23854" y="10399"/>
                  </a:lnTo>
                  <a:cubicBezTo>
                    <a:pt x="27400" y="13957"/>
                    <a:pt x="27574" y="19656"/>
                    <a:pt x="24252" y="23423"/>
                  </a:cubicBezTo>
                  <a:cubicBezTo>
                    <a:pt x="20930" y="27190"/>
                    <a:pt x="15254" y="27730"/>
                    <a:pt x="11281" y="24658"/>
                  </a:cubicBezTo>
                  <a:lnTo>
                    <a:pt x="10386" y="23868"/>
                  </a:lnTo>
                  <a:lnTo>
                    <a:pt x="3718" y="17200"/>
                  </a:lnTo>
                  <a:cubicBezTo>
                    <a:pt x="0" y="13481"/>
                    <a:pt x="0" y="7451"/>
                    <a:pt x="3718" y="3732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1015246" y="5996011"/>
              <a:ext cx="27861" cy="27575"/>
            </a:xfrm>
            <a:custGeom>
              <a:avLst/>
              <a:gdLst/>
              <a:ahLst/>
              <a:cxnLst/>
              <a:rect l="l" t="t" r="r" b="b"/>
              <a:pathLst>
                <a:path w="27861" h="27575">
                  <a:moveTo>
                    <a:pt x="10530" y="3719"/>
                  </a:moveTo>
                  <a:cubicBezTo>
                    <a:pt x="14088" y="174"/>
                    <a:pt x="19786" y="0"/>
                    <a:pt x="23554" y="3322"/>
                  </a:cubicBezTo>
                  <a:cubicBezTo>
                    <a:pt x="27321" y="6643"/>
                    <a:pt x="27861" y="12319"/>
                    <a:pt x="24789" y="16292"/>
                  </a:cubicBezTo>
                  <a:lnTo>
                    <a:pt x="23999" y="17188"/>
                  </a:lnTo>
                  <a:lnTo>
                    <a:pt x="17331" y="23855"/>
                  </a:lnTo>
                  <a:cubicBezTo>
                    <a:pt x="13774" y="27400"/>
                    <a:pt x="8075" y="27575"/>
                    <a:pt x="4308" y="24253"/>
                  </a:cubicBezTo>
                  <a:cubicBezTo>
                    <a:pt x="541" y="20931"/>
                    <a:pt x="0" y="15255"/>
                    <a:pt x="3072" y="11282"/>
                  </a:cubicBezTo>
                  <a:lnTo>
                    <a:pt x="3863" y="10387"/>
                  </a:lnTo>
                  <a:lnTo>
                    <a:pt x="10530" y="3719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942975" y="6124575"/>
              <a:ext cx="57150" cy="38100"/>
            </a:xfrm>
            <a:custGeom>
              <a:avLst/>
              <a:gdLst/>
              <a:ahLst/>
              <a:cxnLst/>
              <a:rect l="l" t="t" r="r" b="b"/>
              <a:pathLst>
                <a:path w="57150" h="38100">
                  <a:moveTo>
                    <a:pt x="47625" y="0"/>
                  </a:moveTo>
                  <a:cubicBezTo>
                    <a:pt x="52886" y="0"/>
                    <a:pt x="57150" y="4264"/>
                    <a:pt x="57150" y="9525"/>
                  </a:cubicBezTo>
                  <a:cubicBezTo>
                    <a:pt x="57150" y="25307"/>
                    <a:pt x="44357" y="38100"/>
                    <a:pt x="28575" y="38100"/>
                  </a:cubicBezTo>
                  <a:cubicBezTo>
                    <a:pt x="12793" y="38100"/>
                    <a:pt x="0" y="25307"/>
                    <a:pt x="0" y="9525"/>
                  </a:cubicBezTo>
                  <a:cubicBezTo>
                    <a:pt x="1" y="4696"/>
                    <a:pt x="3615" y="632"/>
                    <a:pt x="8411" y="67"/>
                  </a:cubicBezTo>
                  <a:lnTo>
                    <a:pt x="9525" y="0"/>
                  </a:lnTo>
                  <a:lnTo>
                    <a:pt x="47625" y="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909554" y="6010275"/>
              <a:ext cx="123992" cy="104775"/>
            </a:xfrm>
            <a:custGeom>
              <a:avLst/>
              <a:gdLst/>
              <a:ahLst/>
              <a:cxnLst/>
              <a:rect l="l" t="t" r="r" b="b"/>
              <a:pathLst>
                <a:path w="123992" h="104775">
                  <a:moveTo>
                    <a:pt x="61996" y="0"/>
                  </a:moveTo>
                  <a:cubicBezTo>
                    <a:pt x="86595" y="0"/>
                    <a:pt x="108435" y="15741"/>
                    <a:pt x="116213" y="39078"/>
                  </a:cubicBezTo>
                  <a:cubicBezTo>
                    <a:pt x="123992" y="62414"/>
                    <a:pt x="115965" y="88111"/>
                    <a:pt x="96286" y="102870"/>
                  </a:cubicBezTo>
                  <a:cubicBezTo>
                    <a:pt x="94973" y="103856"/>
                    <a:pt x="93428" y="104486"/>
                    <a:pt x="91800" y="104699"/>
                  </a:cubicBezTo>
                  <a:lnTo>
                    <a:pt x="90571" y="104775"/>
                  </a:lnTo>
                  <a:lnTo>
                    <a:pt x="33421" y="104775"/>
                  </a:lnTo>
                  <a:cubicBezTo>
                    <a:pt x="31360" y="104775"/>
                    <a:pt x="29355" y="104107"/>
                    <a:pt x="27706" y="102870"/>
                  </a:cubicBezTo>
                  <a:cubicBezTo>
                    <a:pt x="8027" y="88111"/>
                    <a:pt x="0" y="62414"/>
                    <a:pt x="7779" y="39078"/>
                  </a:cubicBezTo>
                  <a:cubicBezTo>
                    <a:pt x="15558" y="15741"/>
                    <a:pt x="37397" y="0"/>
                    <a:pt x="61996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</p:grpSp>
      <p:sp>
        <p:nvSpPr>
          <p:cNvPr id="74" name="TextBox 74"/>
          <p:cNvSpPr txBox="1"/>
          <p:nvPr/>
        </p:nvSpPr>
        <p:spPr>
          <a:xfrm>
            <a:off x="1177290" y="6049328"/>
            <a:ext cx="4565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"看见"和"被看见"形成闭环 ——</a:t>
            </a:r>
            <a:r>
              <a:rPr lang="zh-CN" sz="1050" b="1" dirty="0">
                <a:solidFill>
                  <a:srgbClr val="4A7C28"/>
                </a:solidFill>
                <a:latin typeface="Arial"/>
                <a:ea typeface="Microsoft YaHei"/>
                <a:cs typeface="Arial"/>
              </a:rPr>
              <a:t>里程碑可被回应，让互动不只是单向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12 / 18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技术亮点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238250"/>
            <a:ext cx="3524250" cy="1714500"/>
            <a:chOff x="571500" y="1238250"/>
            <a:chExt cx="3524250" cy="1714500"/>
          </a:xfrm>
        </p:grpSpPr>
        <p:sp>
          <p:nvSpPr>
            <p:cNvPr id="5" name="Freeform 5"/>
            <p:cNvSpPr/>
            <p:nvPr/>
          </p:nvSpPr>
          <p:spPr>
            <a:xfrm>
              <a:off x="57150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9050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5340" y="1691640"/>
              <a:ext cx="107064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81200" y="1885950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检索准确率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3915" y="2220278"/>
              <a:ext cx="20125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Top-1 / Top-3 / MRR 均 100%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4868" y="2447449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120 条记忆 + 48 个查询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5820" y="2665095"/>
              <a:ext cx="1311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Rerank 组合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286250" y="1238250"/>
            <a:ext cx="3524250" cy="1714500"/>
            <a:chOff x="4286250" y="1238250"/>
            <a:chExt cx="3524250" cy="1714500"/>
          </a:xfrm>
        </p:grpSpPr>
        <p:sp>
          <p:nvSpPr>
            <p:cNvPr id="13" name="Freeform 13"/>
            <p:cNvSpPr/>
            <p:nvPr/>
          </p:nvSpPr>
          <p:spPr>
            <a:xfrm>
              <a:off x="428625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4286250" y="1238250"/>
              <a:ext cx="3524250" cy="1714500"/>
            </a:xfrm>
            <a:custGeom>
              <a:avLst/>
              <a:gdLst/>
              <a:ahLst/>
              <a:cxnLst/>
              <a:rect l="l" t="t" r="r" b="b"/>
              <a:pathLst>
                <a:path w="3524250" h="17145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1581150"/>
                  </a:lnTo>
                  <a:cubicBezTo>
                    <a:pt x="3524250" y="1654797"/>
                    <a:pt x="3464547" y="1714500"/>
                    <a:pt x="339090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9050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628503" y="1504950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45330" y="1821180"/>
              <a:ext cx="106776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Qwen3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97855" y="1902142"/>
              <a:ext cx="12271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Reranker-8B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58665" y="2220278"/>
              <a:ext cx="24649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可选 rerank 层，显著提升排序质量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59618" y="2447449"/>
              <a:ext cx="17976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自动从主 LLM 连接派生配置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0570" y="2665095"/>
              <a:ext cx="1987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支持 SiliconFlow / DashScope 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001000" y="1238250"/>
            <a:ext cx="3619500" cy="1714500"/>
            <a:chOff x="8001000" y="1238250"/>
            <a:chExt cx="3619500" cy="1714500"/>
          </a:xfrm>
        </p:grpSpPr>
        <p:sp>
          <p:nvSpPr>
            <p:cNvPr id="22" name="Freeform 22"/>
            <p:cNvSpPr/>
            <p:nvPr/>
          </p:nvSpPr>
          <p:spPr>
            <a:xfrm>
              <a:off x="8001000" y="1238250"/>
              <a:ext cx="3619500" cy="1714500"/>
            </a:xfrm>
            <a:custGeom>
              <a:avLst/>
              <a:gdLst/>
              <a:ahLst/>
              <a:cxnLst/>
              <a:rect l="l" t="t" r="r" b="b"/>
              <a:pathLst>
                <a:path w="3619500" h="17145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1581150"/>
                  </a:lnTo>
                  <a:cubicBezTo>
                    <a:pt x="3619500" y="1654797"/>
                    <a:pt x="3559797" y="1714500"/>
                    <a:pt x="348615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001000" y="1238250"/>
              <a:ext cx="3619500" cy="1714500"/>
            </a:xfrm>
            <a:custGeom>
              <a:avLst/>
              <a:gdLst/>
              <a:ahLst/>
              <a:cxnLst/>
              <a:rect l="l" t="t" r="r" b="b"/>
              <a:pathLst>
                <a:path w="3619500" h="17145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1581150"/>
                  </a:lnTo>
                  <a:cubicBezTo>
                    <a:pt x="3619500" y="1654797"/>
                    <a:pt x="3559797" y="1714500"/>
                    <a:pt x="3486150" y="1714500"/>
                  </a:cubicBezTo>
                  <a:lnTo>
                    <a:pt x="133350" y="1714500"/>
                  </a:lnTo>
                  <a:cubicBezTo>
                    <a:pt x="59703" y="1714500"/>
                    <a:pt x="0" y="1654797"/>
                    <a:pt x="0" y="15811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9050">
              <a:solidFill>
                <a:srgbClr val="D4A574">
                  <a:alpha val="30000"/>
                </a:srgbClr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352940" y="1488634"/>
              <a:ext cx="222668" cy="302469"/>
              <a:chOff x="8352940" y="1488634"/>
              <a:chExt cx="222668" cy="302469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372475" y="1533523"/>
                <a:ext cx="143438" cy="143978"/>
              </a:xfrm>
              <a:custGeom>
                <a:avLst/>
                <a:gdLst/>
                <a:ahLst/>
                <a:cxnLst/>
                <a:rect l="l" t="t" r="r" b="b"/>
                <a:pathLst>
                  <a:path w="143438" h="143978">
                    <a:moveTo>
                      <a:pt x="71438" y="2"/>
                    </a:moveTo>
                    <a:cubicBezTo>
                      <a:pt x="110489" y="0"/>
                      <a:pt x="142305" y="31356"/>
                      <a:pt x="142872" y="70403"/>
                    </a:cubicBezTo>
                    <a:cubicBezTo>
                      <a:pt x="143438" y="109450"/>
                      <a:pt x="112545" y="141716"/>
                      <a:pt x="73510" y="142847"/>
                    </a:cubicBezTo>
                    <a:cubicBezTo>
                      <a:pt x="34475" y="143978"/>
                      <a:pt x="1766" y="113555"/>
                      <a:pt x="71" y="74540"/>
                    </a:cubicBezTo>
                    <a:lnTo>
                      <a:pt x="0" y="71440"/>
                    </a:lnTo>
                    <a:lnTo>
                      <a:pt x="71" y="68339"/>
                    </a:lnTo>
                    <a:cubicBezTo>
                      <a:pt x="1731" y="30129"/>
                      <a:pt x="33191" y="4"/>
                      <a:pt x="71438" y="2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52940" y="1488634"/>
                <a:ext cx="222668" cy="253331"/>
              </a:xfrm>
              <a:custGeom>
                <a:avLst/>
                <a:gdLst/>
                <a:ahLst/>
                <a:cxnLst/>
                <a:rect l="l" t="t" r="r" b="b"/>
                <a:pathLst>
                  <a:path w="222668" h="253331">
                    <a:moveTo>
                      <a:pt x="135736" y="9200"/>
                    </a:moveTo>
                    <a:cubicBezTo>
                      <a:pt x="139666" y="2360"/>
                      <a:pt x="148396" y="0"/>
                      <a:pt x="155238" y="3928"/>
                    </a:cubicBezTo>
                    <a:cubicBezTo>
                      <a:pt x="197719" y="28345"/>
                      <a:pt x="222668" y="74750"/>
                      <a:pt x="219604" y="123653"/>
                    </a:cubicBezTo>
                    <a:cubicBezTo>
                      <a:pt x="216541" y="172555"/>
                      <a:pt x="185995" y="215484"/>
                      <a:pt x="140799" y="234407"/>
                    </a:cubicBezTo>
                    <a:cubicBezTo>
                      <a:pt x="95602" y="253331"/>
                      <a:pt x="43583" y="244971"/>
                      <a:pt x="6591" y="212840"/>
                    </a:cubicBezTo>
                    <a:cubicBezTo>
                      <a:pt x="633" y="207664"/>
                      <a:pt x="0" y="198638"/>
                      <a:pt x="5176" y="192680"/>
                    </a:cubicBezTo>
                    <a:cubicBezTo>
                      <a:pt x="10353" y="186723"/>
                      <a:pt x="19378" y="186090"/>
                      <a:pt x="25336" y="191266"/>
                    </a:cubicBezTo>
                    <a:cubicBezTo>
                      <a:pt x="54121" y="216268"/>
                      <a:pt x="94599" y="222773"/>
                      <a:pt x="129768" y="208048"/>
                    </a:cubicBezTo>
                    <a:cubicBezTo>
                      <a:pt x="164938" y="193323"/>
                      <a:pt x="188706" y="159919"/>
                      <a:pt x="191091" y="121866"/>
                    </a:cubicBezTo>
                    <a:cubicBezTo>
                      <a:pt x="193476" y="83813"/>
                      <a:pt x="174063" y="47703"/>
                      <a:pt x="141008" y="28703"/>
                    </a:cubicBezTo>
                    <a:cubicBezTo>
                      <a:pt x="134167" y="24772"/>
                      <a:pt x="131807" y="16042"/>
                      <a:pt x="135736" y="9200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429625" y="1704975"/>
                <a:ext cx="28575" cy="8612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8612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71438"/>
                    </a:lnTo>
                    <a:cubicBezTo>
                      <a:pt x="28567" y="78997"/>
                      <a:pt x="22671" y="85242"/>
                      <a:pt x="15125" y="85685"/>
                    </a:cubicBezTo>
                    <a:cubicBezTo>
                      <a:pt x="7578" y="86128"/>
                      <a:pt x="993" y="80616"/>
                      <a:pt x="100" y="73109"/>
                    </a:cubicBez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72072" y="1762125"/>
                <a:ext cx="1436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3680" h="28575">
                    <a:moveTo>
                      <a:pt x="128990" y="0"/>
                    </a:moveTo>
                    <a:cubicBezTo>
                      <a:pt x="136550" y="8"/>
                      <a:pt x="142794" y="5904"/>
                      <a:pt x="143237" y="13450"/>
                    </a:cubicBezTo>
                    <a:cubicBezTo>
                      <a:pt x="143680" y="20997"/>
                      <a:pt x="138168" y="27582"/>
                      <a:pt x="130662" y="28475"/>
                    </a:cubicBezTo>
                    <a:lnTo>
                      <a:pt x="128990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128990" y="0"/>
                    </a:lnTo>
                    <a:close/>
                  </a:path>
                </a:pathLst>
              </a:custGeom>
              <a:solidFill>
                <a:srgbClr val="D4A574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263890" y="1853565"/>
              <a:ext cx="9428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OpenAI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12605" y="1902142"/>
              <a:ext cx="10595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Compatible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73415" y="2220278"/>
              <a:ext cx="16292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/v1/chat/completions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73415" y="2439352"/>
              <a:ext cx="8241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/v1/models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75320" y="266509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通过植物名标签路由对话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3238500"/>
            <a:ext cx="5334000" cy="952500"/>
            <a:chOff x="571500" y="3238500"/>
            <a:chExt cx="5334000" cy="952500"/>
          </a:xfrm>
        </p:grpSpPr>
        <p:sp>
          <p:nvSpPr>
            <p:cNvPr id="35" name="Freeform 35"/>
            <p:cNvSpPr/>
            <p:nvPr/>
          </p:nvSpPr>
          <p:spPr>
            <a:xfrm>
              <a:off x="571500" y="3238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1500" y="3238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4A7C28">
                  <a:alpha val="20000"/>
                </a:srgbClr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90575" y="3505200"/>
              <a:ext cx="419100" cy="4191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94865" y="3555559"/>
              <a:ext cx="222668" cy="302469"/>
              <a:chOff x="894865" y="3555559"/>
              <a:chExt cx="222668" cy="30246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14400" y="3600448"/>
                <a:ext cx="143438" cy="143978"/>
              </a:xfrm>
              <a:custGeom>
                <a:avLst/>
                <a:gdLst/>
                <a:ahLst/>
                <a:cxnLst/>
                <a:rect l="l" t="t" r="r" b="b"/>
                <a:pathLst>
                  <a:path w="143438" h="143978">
                    <a:moveTo>
                      <a:pt x="71438" y="2"/>
                    </a:moveTo>
                    <a:cubicBezTo>
                      <a:pt x="110489" y="0"/>
                      <a:pt x="142305" y="31356"/>
                      <a:pt x="142872" y="70403"/>
                    </a:cubicBezTo>
                    <a:cubicBezTo>
                      <a:pt x="143438" y="109450"/>
                      <a:pt x="112545" y="141716"/>
                      <a:pt x="73510" y="142847"/>
                    </a:cubicBezTo>
                    <a:cubicBezTo>
                      <a:pt x="34475" y="143978"/>
                      <a:pt x="1766" y="113555"/>
                      <a:pt x="71" y="74540"/>
                    </a:cubicBezTo>
                    <a:lnTo>
                      <a:pt x="0" y="71440"/>
                    </a:lnTo>
                    <a:lnTo>
                      <a:pt x="71" y="68339"/>
                    </a:lnTo>
                    <a:cubicBezTo>
                      <a:pt x="1731" y="30129"/>
                      <a:pt x="33191" y="4"/>
                      <a:pt x="71437" y="2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94865" y="3555559"/>
                <a:ext cx="222668" cy="253331"/>
              </a:xfrm>
              <a:custGeom>
                <a:avLst/>
                <a:gdLst/>
                <a:ahLst/>
                <a:cxnLst/>
                <a:rect l="l" t="t" r="r" b="b"/>
                <a:pathLst>
                  <a:path w="222668" h="253331">
                    <a:moveTo>
                      <a:pt x="135736" y="9200"/>
                    </a:moveTo>
                    <a:cubicBezTo>
                      <a:pt x="139666" y="2360"/>
                      <a:pt x="148396" y="0"/>
                      <a:pt x="155238" y="3928"/>
                    </a:cubicBezTo>
                    <a:cubicBezTo>
                      <a:pt x="197719" y="28345"/>
                      <a:pt x="222668" y="74750"/>
                      <a:pt x="219604" y="123653"/>
                    </a:cubicBezTo>
                    <a:cubicBezTo>
                      <a:pt x="216541" y="172555"/>
                      <a:pt x="185995" y="215484"/>
                      <a:pt x="140799" y="234407"/>
                    </a:cubicBezTo>
                    <a:cubicBezTo>
                      <a:pt x="95602" y="253331"/>
                      <a:pt x="43583" y="244971"/>
                      <a:pt x="6591" y="212840"/>
                    </a:cubicBezTo>
                    <a:cubicBezTo>
                      <a:pt x="633" y="207664"/>
                      <a:pt x="0" y="198638"/>
                      <a:pt x="5176" y="192680"/>
                    </a:cubicBezTo>
                    <a:cubicBezTo>
                      <a:pt x="10353" y="186723"/>
                      <a:pt x="19378" y="186090"/>
                      <a:pt x="25336" y="191266"/>
                    </a:cubicBezTo>
                    <a:cubicBezTo>
                      <a:pt x="54121" y="216268"/>
                      <a:pt x="94599" y="222773"/>
                      <a:pt x="129768" y="208048"/>
                    </a:cubicBezTo>
                    <a:cubicBezTo>
                      <a:pt x="164938" y="193323"/>
                      <a:pt x="188706" y="159919"/>
                      <a:pt x="191091" y="121866"/>
                    </a:cubicBezTo>
                    <a:cubicBezTo>
                      <a:pt x="193476" y="83813"/>
                      <a:pt x="174063" y="47703"/>
                      <a:pt x="141008" y="28703"/>
                    </a:cubicBezTo>
                    <a:cubicBezTo>
                      <a:pt x="134167" y="24772"/>
                      <a:pt x="131807" y="16042"/>
                      <a:pt x="135736" y="920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71550" y="3771900"/>
                <a:ext cx="28575" cy="86128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86128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71438"/>
                    </a:lnTo>
                    <a:cubicBezTo>
                      <a:pt x="28567" y="78997"/>
                      <a:pt x="22671" y="85242"/>
                      <a:pt x="15125" y="85685"/>
                    </a:cubicBezTo>
                    <a:cubicBezTo>
                      <a:pt x="7578" y="86128"/>
                      <a:pt x="993" y="80616"/>
                      <a:pt x="100" y="73109"/>
                    </a:cubicBez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13997" y="3829050"/>
                <a:ext cx="14368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43680" h="28575">
                    <a:moveTo>
                      <a:pt x="128990" y="0"/>
                    </a:moveTo>
                    <a:cubicBezTo>
                      <a:pt x="136550" y="8"/>
                      <a:pt x="142794" y="5904"/>
                      <a:pt x="143237" y="13450"/>
                    </a:cubicBezTo>
                    <a:cubicBezTo>
                      <a:pt x="143680" y="20997"/>
                      <a:pt x="138168" y="27582"/>
                      <a:pt x="130662" y="28475"/>
                    </a:cubicBezTo>
                    <a:lnTo>
                      <a:pt x="128990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128990" y="0"/>
                    </a:ln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363980" y="3492818"/>
              <a:ext cx="14420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实时同步 · SSE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367790" y="3772852"/>
              <a:ext cx="22809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SQLite sync_events + SSE 推送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68742" y="3971449"/>
              <a:ext cx="28229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多端实时刷新 · 按 resource + plantId 重拉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0" y="3238500"/>
            <a:ext cx="5524500" cy="952500"/>
            <a:chOff x="6096000" y="3238500"/>
            <a:chExt cx="5524500" cy="952500"/>
          </a:xfrm>
        </p:grpSpPr>
        <p:sp>
          <p:nvSpPr>
            <p:cNvPr id="47" name="Freeform 47"/>
            <p:cNvSpPr/>
            <p:nvPr/>
          </p:nvSpPr>
          <p:spPr>
            <a:xfrm>
              <a:off x="6096000" y="3238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6096000" y="3238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E8A849">
                  <a:alpha val="20000"/>
                </a:srgbClr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315075" y="3505200"/>
              <a:ext cx="419100" cy="419100"/>
            </a:xfrm>
            <a:prstGeom prst="ellipse">
              <a:avLst/>
            </a:prstGeom>
            <a:solidFill>
              <a:srgbClr val="E8A849">
                <a:alpha val="10000"/>
              </a:srgbClr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375281" y="3571875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202322" y="104199"/>
                  </a:moveTo>
                  <a:cubicBezTo>
                    <a:pt x="199642" y="101516"/>
                    <a:pt x="196006" y="100008"/>
                    <a:pt x="192214" y="100008"/>
                  </a:cubicBezTo>
                  <a:cubicBezTo>
                    <a:pt x="188422" y="100008"/>
                    <a:pt x="184785" y="101516"/>
                    <a:pt x="182106" y="104199"/>
                  </a:cubicBezTo>
                  <a:lnTo>
                    <a:pt x="135057" y="151233"/>
                  </a:lnTo>
                  <a:lnTo>
                    <a:pt x="116583" y="132774"/>
                  </a:lnTo>
                  <a:lnTo>
                    <a:pt x="115240" y="131588"/>
                  </a:lnTo>
                  <a:cubicBezTo>
                    <a:pt x="109280" y="126980"/>
                    <a:pt x="100766" y="127791"/>
                    <a:pt x="95784" y="133441"/>
                  </a:cubicBezTo>
                  <a:cubicBezTo>
                    <a:pt x="90802" y="139092"/>
                    <a:pt x="91063" y="147640"/>
                    <a:pt x="96381" y="152976"/>
                  </a:cubicBezTo>
                  <a:lnTo>
                    <a:pt x="124956" y="181551"/>
                  </a:lnTo>
                  <a:lnTo>
                    <a:pt x="126299" y="182737"/>
                  </a:lnTo>
                  <a:cubicBezTo>
                    <a:pt x="131986" y="187149"/>
                    <a:pt x="140068" y="186641"/>
                    <a:pt x="145158" y="181551"/>
                  </a:cubicBezTo>
                  <a:lnTo>
                    <a:pt x="202308" y="124401"/>
                  </a:lnTo>
                  <a:lnTo>
                    <a:pt x="203494" y="123058"/>
                  </a:lnTo>
                  <a:cubicBezTo>
                    <a:pt x="207906" y="117371"/>
                    <a:pt x="207398" y="109289"/>
                    <a:pt x="202308" y="104199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88480" y="3492818"/>
              <a:ext cx="18768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MQTT 自动密钥下发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92290" y="3772852"/>
              <a:ext cx="27026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认领设备后通过 config topic 自动下发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93242" y="3971449"/>
              <a:ext cx="1733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离线设备保留手动填写兜底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4381500"/>
            <a:ext cx="5334000" cy="952500"/>
            <a:chOff x="571500" y="4381500"/>
            <a:chExt cx="5334000" cy="952500"/>
          </a:xfrm>
        </p:grpSpPr>
        <p:sp>
          <p:nvSpPr>
            <p:cNvPr id="55" name="Freeform 55"/>
            <p:cNvSpPr/>
            <p:nvPr/>
          </p:nvSpPr>
          <p:spPr>
            <a:xfrm>
              <a:off x="571500" y="4381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571500" y="438150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D4A574">
                  <a:alpha val="20000"/>
                </a:srgbClr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790575" y="4648200"/>
              <a:ext cx="419100" cy="419100"/>
            </a:xfrm>
            <a:prstGeom prst="ellipse">
              <a:avLst/>
            </a:prstGeom>
            <a:solidFill>
              <a:srgbClr val="D4A574">
                <a:alpha val="10000"/>
              </a:srgbClr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85178" y="471487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363980" y="4635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主动发言引擎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67790" y="4915852"/>
              <a:ext cx="22196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传感器 + 天气 + 用户提醒三触发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68742" y="5114449"/>
              <a:ext cx="20824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冷却去重 · LLM 润色 · 植物口吻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096000" y="4381500"/>
            <a:ext cx="5524500" cy="952500"/>
            <a:chOff x="6096000" y="4381500"/>
            <a:chExt cx="5524500" cy="952500"/>
          </a:xfrm>
        </p:grpSpPr>
        <p:sp>
          <p:nvSpPr>
            <p:cNvPr id="63" name="Freeform 63"/>
            <p:cNvSpPr/>
            <p:nvPr/>
          </p:nvSpPr>
          <p:spPr>
            <a:xfrm>
              <a:off x="6096000" y="4381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6096000" y="438150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rgbClr val="4A7C28">
                  <a:alpha val="20000"/>
                </a:srgbClr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6315075" y="4648200"/>
              <a:ext cx="419100" cy="419100"/>
            </a:xfrm>
            <a:prstGeom prst="ellipse">
              <a:avLst/>
            </a:prstGeom>
            <a:solidFill>
              <a:srgbClr val="4A7C28">
                <a:alpha val="10000"/>
              </a:srgbClr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396036" y="4714875"/>
              <a:ext cx="257177" cy="285750"/>
              <a:chOff x="6396036" y="4714875"/>
              <a:chExt cx="257177" cy="28575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6396038" y="4911057"/>
                <a:ext cx="257175" cy="8956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89568">
                    <a:moveTo>
                      <a:pt x="0" y="0"/>
                    </a:moveTo>
                    <a:cubicBezTo>
                      <a:pt x="28118" y="21531"/>
                      <a:pt x="74781" y="32418"/>
                      <a:pt x="128588" y="32418"/>
                    </a:cubicBezTo>
                    <a:cubicBezTo>
                      <a:pt x="182308" y="32418"/>
                      <a:pt x="228957" y="21560"/>
                      <a:pt x="257175" y="243"/>
                    </a:cubicBezTo>
                    <a:lnTo>
                      <a:pt x="257175" y="32418"/>
                    </a:lnTo>
                    <a:cubicBezTo>
                      <a:pt x="257175" y="67066"/>
                      <a:pt x="201525" y="88654"/>
                      <a:pt x="132974" y="89540"/>
                    </a:cubicBezTo>
                    <a:lnTo>
                      <a:pt x="128588" y="89568"/>
                    </a:lnTo>
                    <a:cubicBezTo>
                      <a:pt x="58036" y="89568"/>
                      <a:pt x="0" y="67808"/>
                      <a:pt x="0" y="32418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396038" y="4825332"/>
                <a:ext cx="257175" cy="8956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89568">
                    <a:moveTo>
                      <a:pt x="0" y="0"/>
                    </a:moveTo>
                    <a:cubicBezTo>
                      <a:pt x="28118" y="21531"/>
                      <a:pt x="74781" y="32418"/>
                      <a:pt x="128588" y="32418"/>
                    </a:cubicBezTo>
                    <a:cubicBezTo>
                      <a:pt x="182308" y="32418"/>
                      <a:pt x="228957" y="21560"/>
                      <a:pt x="257175" y="243"/>
                    </a:cubicBezTo>
                    <a:lnTo>
                      <a:pt x="257175" y="32418"/>
                    </a:lnTo>
                    <a:cubicBezTo>
                      <a:pt x="257175" y="67808"/>
                      <a:pt x="199139" y="89568"/>
                      <a:pt x="128588" y="89568"/>
                    </a:cubicBezTo>
                    <a:cubicBezTo>
                      <a:pt x="60036" y="89568"/>
                      <a:pt x="3286" y="69023"/>
                      <a:pt x="300" y="35347"/>
                    </a:cubicBezTo>
                    <a:lnTo>
                      <a:pt x="71" y="33904"/>
                    </a:lnTo>
                    <a:lnTo>
                      <a:pt x="0" y="32418"/>
                    </a:ln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396036" y="4714875"/>
                <a:ext cx="257176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6" h="114300">
                    <a:moveTo>
                      <a:pt x="128589" y="0"/>
                    </a:moveTo>
                    <a:cubicBezTo>
                      <a:pt x="143462" y="0"/>
                      <a:pt x="157792" y="972"/>
                      <a:pt x="171123" y="2829"/>
                    </a:cubicBezTo>
                    <a:lnTo>
                      <a:pt x="177823" y="3843"/>
                    </a:lnTo>
                    <a:cubicBezTo>
                      <a:pt x="185824" y="5177"/>
                      <a:pt x="193378" y="6834"/>
                      <a:pt x="200483" y="8815"/>
                    </a:cubicBezTo>
                    <a:lnTo>
                      <a:pt x="206770" y="10687"/>
                    </a:lnTo>
                    <a:lnTo>
                      <a:pt x="207841" y="11030"/>
                    </a:lnTo>
                    <a:cubicBezTo>
                      <a:pt x="211730" y="12308"/>
                      <a:pt x="215566" y="13738"/>
                      <a:pt x="219343" y="15316"/>
                    </a:cubicBezTo>
                    <a:lnTo>
                      <a:pt x="222186" y="16545"/>
                    </a:lnTo>
                    <a:cubicBezTo>
                      <a:pt x="227282" y="18850"/>
                      <a:pt x="231887" y="21374"/>
                      <a:pt x="236002" y="24117"/>
                    </a:cubicBezTo>
                    <a:cubicBezTo>
                      <a:pt x="237574" y="25165"/>
                      <a:pt x="239064" y="26237"/>
                      <a:pt x="240474" y="27332"/>
                    </a:cubicBezTo>
                    <a:cubicBezTo>
                      <a:pt x="244045" y="30103"/>
                      <a:pt x="247256" y="33309"/>
                      <a:pt x="250032" y="36876"/>
                    </a:cubicBezTo>
                    <a:lnTo>
                      <a:pt x="251333" y="38705"/>
                    </a:lnTo>
                    <a:cubicBezTo>
                      <a:pt x="251999" y="39705"/>
                      <a:pt x="252614" y="40710"/>
                      <a:pt x="253176" y="41719"/>
                    </a:cubicBezTo>
                    <a:lnTo>
                      <a:pt x="254176" y="43705"/>
                    </a:lnTo>
                    <a:cubicBezTo>
                      <a:pt x="255728" y="47039"/>
                      <a:pt x="256681" y="50516"/>
                      <a:pt x="257033" y="54135"/>
                    </a:cubicBezTo>
                    <a:lnTo>
                      <a:pt x="257176" y="57150"/>
                    </a:lnTo>
                    <a:cubicBezTo>
                      <a:pt x="257176" y="92540"/>
                      <a:pt x="199140" y="114300"/>
                      <a:pt x="128589" y="114300"/>
                    </a:cubicBezTo>
                    <a:cubicBezTo>
                      <a:pt x="60037" y="114300"/>
                      <a:pt x="3287" y="93755"/>
                      <a:pt x="301" y="60079"/>
                    </a:cubicBezTo>
                    <a:cubicBezTo>
                      <a:pt x="101" y="59116"/>
                      <a:pt x="0" y="58134"/>
                      <a:pt x="1" y="57150"/>
                    </a:cubicBezTo>
                    <a:lnTo>
                      <a:pt x="73" y="55664"/>
                    </a:lnTo>
                    <a:lnTo>
                      <a:pt x="301" y="54235"/>
                    </a:lnTo>
                    <a:cubicBezTo>
                      <a:pt x="3230" y="21288"/>
                      <a:pt x="57594" y="900"/>
                      <a:pt x="124131" y="29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888480" y="46358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混合记忆检索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92290" y="4915852"/>
              <a:ext cx="314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FTS5/BM25 + sqlite-vec 向量 + 可选 rerank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893242" y="5114449"/>
              <a:ext cx="29937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embedding 可选 · 无 embedding 时 BM25 兜底</a:t>
              </a:r>
            </a:p>
          </p:txBody>
        </p:sp>
      </p:grpSp>
      <p:sp>
        <p:nvSpPr>
          <p:cNvPr id="74" name="Freeform 74"/>
          <p:cNvSpPr/>
          <p:nvPr/>
        </p:nvSpPr>
        <p:spPr>
          <a:xfrm>
            <a:off x="571500" y="5619750"/>
            <a:ext cx="11049000" cy="762000"/>
          </a:xfrm>
          <a:custGeom>
            <a:avLst/>
            <a:gdLst/>
            <a:ahLst/>
            <a:cxnLst/>
            <a:rect l="l" t="t" r="r" b="b"/>
            <a:pathLst>
              <a:path w="11049000" h="762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647700"/>
                </a:lnTo>
                <a:cubicBezTo>
                  <a:pt x="11049000" y="710826"/>
                  <a:pt x="10997826" y="762000"/>
                  <a:pt x="10934700" y="762000"/>
                </a:cubicBezTo>
                <a:lnTo>
                  <a:pt x="114300" y="762000"/>
                </a:lnTo>
                <a:cubicBezTo>
                  <a:pt x="51174" y="762000"/>
                  <a:pt x="0" y="710826"/>
                  <a:pt x="0" y="647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3727894" y="5823585"/>
            <a:ext cx="47362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6 项核心技术突破</a:t>
            </a:r>
            <a:r>
              <a:rPr lang="zh-CN" sz="12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· 全部经过真实验证 · 测试覆盖率持续提升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779615" y="6105049"/>
            <a:ext cx="86327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smoke:device-claim · smoke:memory-chat · smoke:memory-citation · smoke:rerank · evaluate:retrieval · Docker 部署验证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13 / 18</a:t>
            </a:r>
          </a:p>
        </p:txBody>
      </p:sp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28365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工程化与部署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71500" y="1238250"/>
            <a:ext cx="3524250" cy="4572000"/>
            <a:chOff x="571500" y="1238250"/>
            <a:chExt cx="3524250" cy="4572000"/>
          </a:xfrm>
        </p:grpSpPr>
        <p:sp>
          <p:nvSpPr>
            <p:cNvPr id="5" name="Freeform 5"/>
            <p:cNvSpPr/>
            <p:nvPr/>
          </p:nvSpPr>
          <p:spPr>
            <a:xfrm>
              <a:off x="57150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rgbClr val="4A7C28">
                  <a:alpha val="3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238250"/>
              <a:ext cx="3524250" cy="476250"/>
            </a:xfrm>
            <a:custGeom>
              <a:avLst/>
              <a:gdLst/>
              <a:ahLst/>
              <a:cxnLst/>
              <a:rect l="l" t="t" r="r" b="b"/>
              <a:pathLst>
                <a:path w="3524250" h="47625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342900"/>
                  </a:lnTo>
                  <a:cubicBezTo>
                    <a:pt x="3524250" y="416547"/>
                    <a:pt x="3464547" y="476250"/>
                    <a:pt x="3390900" y="476250"/>
                  </a:cubicBezTo>
                  <a:lnTo>
                    <a:pt x="133350" y="476250"/>
                  </a:lnTo>
                  <a:cubicBezTo>
                    <a:pt x="59703" y="476250"/>
                    <a:pt x="0" y="416547"/>
                    <a:pt x="0" y="342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619250"/>
              <a:ext cx="3524250" cy="95250"/>
            </a:xfrm>
            <a:prstGeom prst="rect">
              <a:avLst/>
            </a:prstGeom>
            <a:solidFill>
              <a:srgbClr val="4A7C28">
                <a:alpha val="8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831850" y="1355725"/>
              <a:ext cx="222250" cy="222250"/>
              <a:chOff x="831850" y="1355725"/>
              <a:chExt cx="222250" cy="2222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76300" y="1355725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40750"/>
                    </a:moveTo>
                    <a:cubicBezTo>
                      <a:pt x="0" y="18244"/>
                      <a:pt x="18244" y="0"/>
                      <a:pt x="40750" y="0"/>
                    </a:cubicBezTo>
                    <a:lnTo>
                      <a:pt x="137050" y="0"/>
                    </a:lnTo>
                    <a:cubicBezTo>
                      <a:pt x="147858" y="0"/>
                      <a:pt x="158223" y="4293"/>
                      <a:pt x="165865" y="11935"/>
                    </a:cubicBezTo>
                    <a:cubicBezTo>
                      <a:pt x="173507" y="19577"/>
                      <a:pt x="177800" y="29942"/>
                      <a:pt x="177800" y="40750"/>
                    </a:cubicBezTo>
                    <a:lnTo>
                      <a:pt x="177800" y="137050"/>
                    </a:lnTo>
                    <a:cubicBezTo>
                      <a:pt x="177800" y="147858"/>
                      <a:pt x="173507" y="158223"/>
                      <a:pt x="165865" y="165865"/>
                    </a:cubicBezTo>
                    <a:cubicBezTo>
                      <a:pt x="158223" y="173507"/>
                      <a:pt x="147858" y="177800"/>
                      <a:pt x="137050" y="177800"/>
                    </a:cubicBezTo>
                    <a:lnTo>
                      <a:pt x="40750" y="177800"/>
                    </a:lnTo>
                    <a:cubicBezTo>
                      <a:pt x="18244" y="177800"/>
                      <a:pt x="0" y="159556"/>
                      <a:pt x="0" y="137050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1850" y="1404149"/>
                <a:ext cx="175387" cy="173826"/>
              </a:xfrm>
              <a:custGeom>
                <a:avLst/>
                <a:gdLst/>
                <a:ahLst/>
                <a:cxnLst/>
                <a:rect l="l" t="t" r="r" b="b"/>
                <a:pathLst>
                  <a:path w="175387" h="173826">
                    <a:moveTo>
                      <a:pt x="0" y="29364"/>
                    </a:moveTo>
                    <a:cubicBezTo>
                      <a:pt x="0" y="17207"/>
                      <a:pt x="5923" y="9050"/>
                      <a:pt x="16824" y="2983"/>
                    </a:cubicBezTo>
                    <a:cubicBezTo>
                      <a:pt x="22188" y="0"/>
                      <a:pt x="28955" y="1930"/>
                      <a:pt x="31937" y="7294"/>
                    </a:cubicBezTo>
                    <a:cubicBezTo>
                      <a:pt x="34920" y="12658"/>
                      <a:pt x="32990" y="19425"/>
                      <a:pt x="27626" y="22407"/>
                    </a:cubicBezTo>
                    <a:cubicBezTo>
                      <a:pt x="23203" y="24863"/>
                      <a:pt x="22225" y="26208"/>
                      <a:pt x="22225" y="29364"/>
                    </a:cubicBezTo>
                    <a:lnTo>
                      <a:pt x="22225" y="140489"/>
                    </a:lnTo>
                    <a:cubicBezTo>
                      <a:pt x="22225" y="146578"/>
                      <a:pt x="27248" y="151601"/>
                      <a:pt x="33338" y="151601"/>
                    </a:cubicBezTo>
                    <a:lnTo>
                      <a:pt x="144440" y="151601"/>
                    </a:lnTo>
                    <a:cubicBezTo>
                      <a:pt x="147996" y="151601"/>
                      <a:pt x="151308" y="149890"/>
                      <a:pt x="153386" y="147078"/>
                    </a:cubicBezTo>
                    <a:lnTo>
                      <a:pt x="154108" y="145967"/>
                    </a:lnTo>
                    <a:cubicBezTo>
                      <a:pt x="156073" y="142517"/>
                      <a:pt x="159730" y="140378"/>
                      <a:pt x="163700" y="140355"/>
                    </a:cubicBezTo>
                    <a:cubicBezTo>
                      <a:pt x="167671" y="140331"/>
                      <a:pt x="171352" y="142428"/>
                      <a:pt x="173357" y="145855"/>
                    </a:cubicBezTo>
                    <a:cubicBezTo>
                      <a:pt x="175362" y="149282"/>
                      <a:pt x="175387" y="153519"/>
                      <a:pt x="173422" y="156969"/>
                    </a:cubicBezTo>
                    <a:cubicBezTo>
                      <a:pt x="167499" y="167383"/>
                      <a:pt x="156443" y="173819"/>
                      <a:pt x="144463" y="173826"/>
                    </a:cubicBezTo>
                    <a:lnTo>
                      <a:pt x="33338" y="173826"/>
                    </a:lnTo>
                    <a:cubicBezTo>
                      <a:pt x="14980" y="173826"/>
                      <a:pt x="0" y="158847"/>
                      <a:pt x="0" y="140489"/>
                    </a:cubicBezTo>
                    <a:close/>
                  </a:path>
                </a:pathLst>
              </a:custGeom>
              <a:solidFill>
                <a:srgbClr val="4A7C28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123950" y="1381125"/>
              <a:ext cx="155629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容器化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338" y="18788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多阶段构建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8195" y="2141220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FROM node:24-bookworm-slim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8195" y="2331720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AS build → AS runtime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09625" y="2619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5338" y="2736056"/>
              <a:ext cx="9343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Hub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7242" y="2990374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ccckfg/dyn:latest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7242" y="3180874"/>
              <a:ext cx="1320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7C28"/>
                  </a:solidFill>
                  <a:latin typeface="Consolas"/>
                  <a:ea typeface="Microsoft YaHei"/>
                  <a:cs typeface="Consolas"/>
                </a:rPr>
                <a:t>ccckfg/dyn:v0.1.0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09625" y="3476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5338" y="3593306"/>
              <a:ext cx="1348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Compose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7242" y="3847624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单实例灰度部署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7242" y="4038124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端口: 8787 (HTTP) + 1883 (MQTT)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7242" y="4228624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数据卷: ./data:/app/data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09625" y="4524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5338" y="4641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验证状态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23912" y="49164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35368" y="4962049"/>
              <a:ext cx="11497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/health 端点正常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23912" y="515458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35368" y="5200174"/>
              <a:ext cx="14487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APP_ACCESS_KEY 鉴权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23912" y="5392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35368" y="54382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设备认领全流程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286250" y="1238250"/>
            <a:ext cx="3524250" cy="4572000"/>
            <a:chOff x="4286250" y="1238250"/>
            <a:chExt cx="3524250" cy="4572000"/>
          </a:xfrm>
        </p:grpSpPr>
        <p:sp>
          <p:nvSpPr>
            <p:cNvPr id="34" name="Freeform 34"/>
            <p:cNvSpPr/>
            <p:nvPr/>
          </p:nvSpPr>
          <p:spPr>
            <a:xfrm>
              <a:off x="428625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4286250" y="1238250"/>
              <a:ext cx="3524250" cy="4572000"/>
            </a:xfrm>
            <a:custGeom>
              <a:avLst/>
              <a:gdLst/>
              <a:ahLst/>
              <a:cxnLst/>
              <a:rect l="l" t="t" r="r" b="b"/>
              <a:pathLst>
                <a:path w="3524250" h="457200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4438650"/>
                  </a:lnTo>
                  <a:cubicBezTo>
                    <a:pt x="3524250" y="4512297"/>
                    <a:pt x="3464547" y="4572000"/>
                    <a:pt x="339090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rgbClr val="E8A849">
                  <a:alpha val="30000"/>
                </a:srgbClr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286250" y="1238250"/>
              <a:ext cx="3524250" cy="476250"/>
            </a:xfrm>
            <a:custGeom>
              <a:avLst/>
              <a:gdLst/>
              <a:ahLst/>
              <a:cxnLst/>
              <a:rect l="l" t="t" r="r" b="b"/>
              <a:pathLst>
                <a:path w="3524250" h="476250">
                  <a:moveTo>
                    <a:pt x="133350" y="0"/>
                  </a:moveTo>
                  <a:lnTo>
                    <a:pt x="3390900" y="0"/>
                  </a:lnTo>
                  <a:cubicBezTo>
                    <a:pt x="3464547" y="0"/>
                    <a:pt x="3524250" y="59703"/>
                    <a:pt x="3524250" y="133350"/>
                  </a:cubicBezTo>
                  <a:lnTo>
                    <a:pt x="3524250" y="342900"/>
                  </a:lnTo>
                  <a:cubicBezTo>
                    <a:pt x="3524250" y="416547"/>
                    <a:pt x="3464547" y="476250"/>
                    <a:pt x="3390900" y="476250"/>
                  </a:cubicBezTo>
                  <a:lnTo>
                    <a:pt x="133350" y="476250"/>
                  </a:lnTo>
                  <a:cubicBezTo>
                    <a:pt x="59703" y="476250"/>
                    <a:pt x="0" y="416547"/>
                    <a:pt x="0" y="342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286250" y="1619250"/>
              <a:ext cx="3524250" cy="95250"/>
            </a:xfrm>
            <a:prstGeom prst="rect">
              <a:avLst/>
            </a:prstGeom>
            <a:solidFill>
              <a:srgbClr val="E8A849">
                <a:alpha val="8000"/>
              </a:srgbClr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546600" y="1355725"/>
              <a:ext cx="222250" cy="222250"/>
              <a:chOff x="4546600" y="1355725"/>
              <a:chExt cx="222250" cy="22225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591050" y="1355725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40750"/>
                    </a:moveTo>
                    <a:cubicBezTo>
                      <a:pt x="0" y="18244"/>
                      <a:pt x="18244" y="0"/>
                      <a:pt x="40750" y="0"/>
                    </a:cubicBezTo>
                    <a:lnTo>
                      <a:pt x="137050" y="0"/>
                    </a:lnTo>
                    <a:cubicBezTo>
                      <a:pt x="147858" y="0"/>
                      <a:pt x="158223" y="4293"/>
                      <a:pt x="165865" y="11935"/>
                    </a:cubicBezTo>
                    <a:cubicBezTo>
                      <a:pt x="173507" y="19577"/>
                      <a:pt x="177800" y="29942"/>
                      <a:pt x="177800" y="40750"/>
                    </a:cubicBezTo>
                    <a:lnTo>
                      <a:pt x="177800" y="137050"/>
                    </a:lnTo>
                    <a:cubicBezTo>
                      <a:pt x="177800" y="147858"/>
                      <a:pt x="173507" y="158223"/>
                      <a:pt x="165865" y="165865"/>
                    </a:cubicBezTo>
                    <a:cubicBezTo>
                      <a:pt x="158223" y="173507"/>
                      <a:pt x="147858" y="177800"/>
                      <a:pt x="137050" y="177800"/>
                    </a:cubicBezTo>
                    <a:lnTo>
                      <a:pt x="40750" y="177800"/>
                    </a:lnTo>
                    <a:cubicBezTo>
                      <a:pt x="18244" y="177800"/>
                      <a:pt x="0" y="159556"/>
                      <a:pt x="0" y="137050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546600" y="1404149"/>
                <a:ext cx="175387" cy="173826"/>
              </a:xfrm>
              <a:custGeom>
                <a:avLst/>
                <a:gdLst/>
                <a:ahLst/>
                <a:cxnLst/>
                <a:rect l="l" t="t" r="r" b="b"/>
                <a:pathLst>
                  <a:path w="175387" h="173826">
                    <a:moveTo>
                      <a:pt x="0" y="29364"/>
                    </a:moveTo>
                    <a:cubicBezTo>
                      <a:pt x="0" y="17207"/>
                      <a:pt x="5923" y="9050"/>
                      <a:pt x="16824" y="2983"/>
                    </a:cubicBezTo>
                    <a:cubicBezTo>
                      <a:pt x="22188" y="0"/>
                      <a:pt x="28955" y="1930"/>
                      <a:pt x="31937" y="7294"/>
                    </a:cubicBezTo>
                    <a:cubicBezTo>
                      <a:pt x="34920" y="12658"/>
                      <a:pt x="32990" y="19425"/>
                      <a:pt x="27626" y="22407"/>
                    </a:cubicBezTo>
                    <a:cubicBezTo>
                      <a:pt x="23203" y="24863"/>
                      <a:pt x="22225" y="26208"/>
                      <a:pt x="22225" y="29364"/>
                    </a:cubicBezTo>
                    <a:lnTo>
                      <a:pt x="22225" y="140489"/>
                    </a:lnTo>
                    <a:cubicBezTo>
                      <a:pt x="22225" y="146578"/>
                      <a:pt x="27248" y="151601"/>
                      <a:pt x="33338" y="151601"/>
                    </a:cubicBezTo>
                    <a:lnTo>
                      <a:pt x="144440" y="151601"/>
                    </a:lnTo>
                    <a:cubicBezTo>
                      <a:pt x="147996" y="151601"/>
                      <a:pt x="151308" y="149890"/>
                      <a:pt x="153386" y="147078"/>
                    </a:cubicBezTo>
                    <a:lnTo>
                      <a:pt x="154108" y="145967"/>
                    </a:lnTo>
                    <a:cubicBezTo>
                      <a:pt x="156073" y="142517"/>
                      <a:pt x="159730" y="140378"/>
                      <a:pt x="163700" y="140355"/>
                    </a:cubicBezTo>
                    <a:cubicBezTo>
                      <a:pt x="167671" y="140331"/>
                      <a:pt x="171352" y="142428"/>
                      <a:pt x="173357" y="145855"/>
                    </a:cubicBezTo>
                    <a:cubicBezTo>
                      <a:pt x="175362" y="149282"/>
                      <a:pt x="175387" y="153519"/>
                      <a:pt x="173422" y="156969"/>
                    </a:cubicBezTo>
                    <a:cubicBezTo>
                      <a:pt x="167499" y="167383"/>
                      <a:pt x="156443" y="173819"/>
                      <a:pt x="144463" y="173826"/>
                    </a:cubicBezTo>
                    <a:lnTo>
                      <a:pt x="33338" y="173826"/>
                    </a:lnTo>
                    <a:cubicBezTo>
                      <a:pt x="14980" y="173826"/>
                      <a:pt x="0" y="158847"/>
                      <a:pt x="0" y="140489"/>
                    </a:cubicBezTo>
                    <a:close/>
                  </a:path>
                </a:pathLst>
              </a:custGeom>
              <a:solidFill>
                <a:srgbClr val="E8A849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4838700" y="1381125"/>
              <a:ext cx="162529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Monorepo 架构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10088" y="1878806"/>
              <a:ext cx="13828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npm Workspaces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4524375" y="2143125"/>
              <a:ext cx="3048000" cy="342900"/>
            </a:xfrm>
            <a:custGeom>
              <a:avLst/>
              <a:gdLst/>
              <a:ahLst/>
              <a:cxnLst/>
              <a:rect l="l" t="t" r="r" b="b"/>
              <a:pathLst>
                <a:path w="3048000" h="3429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285750"/>
                  </a:lnTo>
                  <a:cubicBezTo>
                    <a:pt x="3048000" y="317313"/>
                    <a:pt x="3022413" y="342900"/>
                    <a:pt x="2990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6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02492" y="2266474"/>
              <a:ext cx="1199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5016"/>
                  </a:solidFill>
                  <a:latin typeface="Consolas"/>
                  <a:ea typeface="Microsoft YaHei"/>
                  <a:cs typeface="Consolas"/>
                </a:rPr>
                <a:t>packages/shared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5570" y="2274570"/>
              <a:ext cx="7852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共享 schema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4524375" y="2571750"/>
              <a:ext cx="3048000" cy="342900"/>
            </a:xfrm>
            <a:custGeom>
              <a:avLst/>
              <a:gdLst/>
              <a:ahLst/>
              <a:cxnLst/>
              <a:rect l="l" t="t" r="r" b="b"/>
              <a:pathLst>
                <a:path w="3048000" h="3429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285750"/>
                  </a:lnTo>
                  <a:cubicBezTo>
                    <a:pt x="3048000" y="317313"/>
                    <a:pt x="3022413" y="342900"/>
                    <a:pt x="2990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6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702492" y="2695099"/>
              <a:ext cx="8862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Consolas"/>
                  <a:ea typeface="Microsoft YaHei"/>
                  <a:cs typeface="Consolas"/>
                </a:rPr>
                <a:t>apps/server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5570" y="270319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核心后端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4524375" y="3000375"/>
              <a:ext cx="3048000" cy="342900"/>
            </a:xfrm>
            <a:custGeom>
              <a:avLst/>
              <a:gdLst/>
              <a:ahLst/>
              <a:cxnLst/>
              <a:rect l="l" t="t" r="r" b="b"/>
              <a:pathLst>
                <a:path w="3048000" h="342900">
                  <a:moveTo>
                    <a:pt x="57150" y="0"/>
                  </a:moveTo>
                  <a:lnTo>
                    <a:pt x="2990850" y="0"/>
                  </a:lnTo>
                  <a:cubicBezTo>
                    <a:pt x="3022413" y="0"/>
                    <a:pt x="3048000" y="25587"/>
                    <a:pt x="3048000" y="57150"/>
                  </a:cubicBezTo>
                  <a:lnTo>
                    <a:pt x="3048000" y="285750"/>
                  </a:lnTo>
                  <a:cubicBezTo>
                    <a:pt x="3048000" y="317313"/>
                    <a:pt x="3022413" y="342900"/>
                    <a:pt x="29908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6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02492" y="3123724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Consolas"/>
                  <a:ea typeface="Microsoft YaHei"/>
                  <a:cs typeface="Consolas"/>
                </a:rPr>
                <a:t>apps/desktop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65570" y="3131820"/>
              <a:ext cx="7852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Tauri 桌面端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4524375" y="3476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510088" y="3593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构建命令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12945" y="3855720"/>
              <a:ext cx="8575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npm run build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512945" y="4046220"/>
              <a:ext cx="14358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npm run build:desktop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12945" y="4236720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B6B"/>
                  </a:solidFill>
                  <a:latin typeface="Consolas"/>
                  <a:ea typeface="Microsoft YaHei"/>
                  <a:cs typeface="Consolas"/>
                </a:rPr>
                <a:t>npm run tauri:build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4524375" y="452437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510088" y="46410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工程规范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11992" y="4895374"/>
              <a:ext cx="10357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单文件 ≤ 300 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11992" y="5085874"/>
              <a:ext cx="22034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pages/ 装配 · components/ 复用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511992" y="52763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lib/ 派生逻辑分离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511992" y="5466874"/>
              <a:ext cx="11639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Python 工具用 uv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8001000" y="1238250"/>
            <a:ext cx="3619500" cy="4683919"/>
            <a:chOff x="8001000" y="1238250"/>
            <a:chExt cx="3619500" cy="4683919"/>
          </a:xfrm>
        </p:grpSpPr>
        <p:sp>
          <p:nvSpPr>
            <p:cNvPr id="64" name="Freeform 64"/>
            <p:cNvSpPr/>
            <p:nvPr/>
          </p:nvSpPr>
          <p:spPr>
            <a:xfrm>
              <a:off x="8001000" y="1238250"/>
              <a:ext cx="3619500" cy="4572000"/>
            </a:xfrm>
            <a:custGeom>
              <a:avLst/>
              <a:gdLst/>
              <a:ahLst/>
              <a:cxnLst/>
              <a:rect l="l" t="t" r="r" b="b"/>
              <a:pathLst>
                <a:path w="3619500" h="45720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4438650"/>
                  </a:lnTo>
                  <a:cubicBezTo>
                    <a:pt x="3619500" y="4512297"/>
                    <a:pt x="3559797" y="4572000"/>
                    <a:pt x="348615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8001000" y="1238250"/>
              <a:ext cx="3619500" cy="4572000"/>
            </a:xfrm>
            <a:custGeom>
              <a:avLst/>
              <a:gdLst/>
              <a:ahLst/>
              <a:cxnLst/>
              <a:rect l="l" t="t" r="r" b="b"/>
              <a:pathLst>
                <a:path w="3619500" h="457200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4438650"/>
                  </a:lnTo>
                  <a:cubicBezTo>
                    <a:pt x="3619500" y="4512297"/>
                    <a:pt x="3559797" y="4572000"/>
                    <a:pt x="3486150" y="4572000"/>
                  </a:cubicBezTo>
                  <a:lnTo>
                    <a:pt x="133350" y="4572000"/>
                  </a:lnTo>
                  <a:cubicBezTo>
                    <a:pt x="59703" y="4572000"/>
                    <a:pt x="0" y="4512297"/>
                    <a:pt x="0" y="44386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rgbClr val="D4A574">
                  <a:alpha val="30000"/>
                </a:srgbClr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001000" y="1238250"/>
              <a:ext cx="3619500" cy="476250"/>
            </a:xfrm>
            <a:custGeom>
              <a:avLst/>
              <a:gdLst/>
              <a:ahLst/>
              <a:cxnLst/>
              <a:rect l="l" t="t" r="r" b="b"/>
              <a:pathLst>
                <a:path w="3619500" h="476250">
                  <a:moveTo>
                    <a:pt x="133350" y="0"/>
                  </a:moveTo>
                  <a:lnTo>
                    <a:pt x="3486150" y="0"/>
                  </a:lnTo>
                  <a:cubicBezTo>
                    <a:pt x="3559797" y="0"/>
                    <a:pt x="3619500" y="59703"/>
                    <a:pt x="3619500" y="133350"/>
                  </a:cubicBezTo>
                  <a:lnTo>
                    <a:pt x="3619500" y="342900"/>
                  </a:lnTo>
                  <a:cubicBezTo>
                    <a:pt x="3619500" y="416547"/>
                    <a:pt x="3559797" y="476250"/>
                    <a:pt x="3486150" y="476250"/>
                  </a:cubicBezTo>
                  <a:lnTo>
                    <a:pt x="133350" y="476250"/>
                  </a:lnTo>
                  <a:cubicBezTo>
                    <a:pt x="59703" y="476250"/>
                    <a:pt x="0" y="416547"/>
                    <a:pt x="0" y="3429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01000" y="1619250"/>
              <a:ext cx="3619500" cy="95250"/>
            </a:xfrm>
            <a:prstGeom prst="rect">
              <a:avLst/>
            </a:pr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256318" y="1355725"/>
              <a:ext cx="232303" cy="222369"/>
            </a:xfrm>
            <a:custGeom>
              <a:avLst/>
              <a:gdLst/>
              <a:ahLst/>
              <a:cxnLst/>
              <a:rect l="l" t="t" r="r" b="b"/>
              <a:pathLst>
                <a:path w="232303" h="222369">
                  <a:moveTo>
                    <a:pt x="116134" y="0"/>
                  </a:moveTo>
                  <a:lnTo>
                    <a:pt x="117446" y="78"/>
                  </a:lnTo>
                  <a:lnTo>
                    <a:pt x="118101" y="167"/>
                  </a:lnTo>
                  <a:lnTo>
                    <a:pt x="118779" y="311"/>
                  </a:lnTo>
                  <a:lnTo>
                    <a:pt x="120013" y="689"/>
                  </a:lnTo>
                  <a:cubicBezTo>
                    <a:pt x="120865" y="1003"/>
                    <a:pt x="121675" y="1421"/>
                    <a:pt x="122424" y="1934"/>
                  </a:cubicBezTo>
                  <a:lnTo>
                    <a:pt x="123580" y="2845"/>
                  </a:lnTo>
                  <a:lnTo>
                    <a:pt x="126414" y="5267"/>
                  </a:lnTo>
                  <a:cubicBezTo>
                    <a:pt x="148831" y="23887"/>
                    <a:pt x="177163" y="33885"/>
                    <a:pt x="206301" y="33460"/>
                  </a:cubicBezTo>
                  <a:lnTo>
                    <a:pt x="210102" y="33349"/>
                  </a:lnTo>
                  <a:cubicBezTo>
                    <a:pt x="215215" y="33115"/>
                    <a:pt x="219827" y="36405"/>
                    <a:pt x="221270" y="41316"/>
                  </a:cubicBezTo>
                  <a:cubicBezTo>
                    <a:pt x="232303" y="78846"/>
                    <a:pt x="227644" y="119246"/>
                    <a:pt x="208359" y="153280"/>
                  </a:cubicBezTo>
                  <a:cubicBezTo>
                    <a:pt x="189074" y="187314"/>
                    <a:pt x="156811" y="212072"/>
                    <a:pt x="118946" y="221894"/>
                  </a:cubicBezTo>
                  <a:cubicBezTo>
                    <a:pt x="117117" y="222369"/>
                    <a:pt x="115197" y="222369"/>
                    <a:pt x="113367" y="221894"/>
                  </a:cubicBezTo>
                  <a:cubicBezTo>
                    <a:pt x="75501" y="212074"/>
                    <a:pt x="43235" y="187317"/>
                    <a:pt x="23948" y="153283"/>
                  </a:cubicBezTo>
                  <a:cubicBezTo>
                    <a:pt x="4660" y="119249"/>
                    <a:pt x="0" y="78848"/>
                    <a:pt x="11032" y="41316"/>
                  </a:cubicBezTo>
                  <a:cubicBezTo>
                    <a:pt x="12476" y="36405"/>
                    <a:pt x="17087" y="33115"/>
                    <a:pt x="22200" y="33349"/>
                  </a:cubicBezTo>
                  <a:cubicBezTo>
                    <a:pt x="52621" y="34739"/>
                    <a:pt x="82464" y="24725"/>
                    <a:pt x="105889" y="5267"/>
                  </a:cubicBezTo>
                  <a:lnTo>
                    <a:pt x="108811" y="2767"/>
                  </a:lnTo>
                  <a:lnTo>
                    <a:pt x="109878" y="1934"/>
                  </a:lnTo>
                  <a:cubicBezTo>
                    <a:pt x="110628" y="1421"/>
                    <a:pt x="111438" y="1003"/>
                    <a:pt x="112290" y="689"/>
                  </a:cubicBezTo>
                  <a:lnTo>
                    <a:pt x="113534" y="311"/>
                  </a:lnTo>
                  <a:cubicBezTo>
                    <a:pt x="113970" y="206"/>
                    <a:pt x="114411" y="128"/>
                    <a:pt x="114857" y="78"/>
                  </a:cubicBezTo>
                  <a:lnTo>
                    <a:pt x="116134" y="0"/>
                  </a:lnTo>
                  <a:close/>
                  <a:moveTo>
                    <a:pt x="157362" y="81043"/>
                  </a:moveTo>
                  <a:cubicBezTo>
                    <a:pt x="155277" y="78957"/>
                    <a:pt x="152449" y="77784"/>
                    <a:pt x="149500" y="77784"/>
                  </a:cubicBezTo>
                  <a:cubicBezTo>
                    <a:pt x="146550" y="77784"/>
                    <a:pt x="143722" y="78957"/>
                    <a:pt x="141638" y="81043"/>
                  </a:cubicBezTo>
                  <a:lnTo>
                    <a:pt x="105044" y="117626"/>
                  </a:lnTo>
                  <a:lnTo>
                    <a:pt x="90676" y="103268"/>
                  </a:lnTo>
                  <a:lnTo>
                    <a:pt x="89631" y="102346"/>
                  </a:lnTo>
                  <a:cubicBezTo>
                    <a:pt x="84996" y="98762"/>
                    <a:pt x="78374" y="99393"/>
                    <a:pt x="74499" y="103788"/>
                  </a:cubicBezTo>
                  <a:cubicBezTo>
                    <a:pt x="70623" y="108183"/>
                    <a:pt x="70826" y="114831"/>
                    <a:pt x="74963" y="118982"/>
                  </a:cubicBezTo>
                  <a:lnTo>
                    <a:pt x="97188" y="141207"/>
                  </a:lnTo>
                  <a:lnTo>
                    <a:pt x="98232" y="142129"/>
                  </a:lnTo>
                  <a:cubicBezTo>
                    <a:pt x="102656" y="145560"/>
                    <a:pt x="108942" y="145165"/>
                    <a:pt x="112901" y="141207"/>
                  </a:cubicBezTo>
                  <a:lnTo>
                    <a:pt x="157351" y="96757"/>
                  </a:lnTo>
                  <a:lnTo>
                    <a:pt x="158273" y="95712"/>
                  </a:lnTo>
                  <a:cubicBezTo>
                    <a:pt x="161705" y="91288"/>
                    <a:pt x="161309" y="85002"/>
                    <a:pt x="157351" y="81043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553450" y="13811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测试与验证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224838" y="18788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服务端测试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8253412" y="21542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463915" y="2191702"/>
              <a:ext cx="1268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25</a:t>
              </a:r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个测试全部通过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8239125" y="24765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24838" y="2593181"/>
              <a:ext cx="9343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Smoke 测试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8253412" y="286858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464868" y="2914174"/>
              <a:ext cx="138467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smoke:device-claim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8253412" y="3106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464868" y="315229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smoke:memory-chat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8253412" y="33448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464868" y="3390424"/>
              <a:ext cx="16837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smoke:memory-citation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8253412" y="35829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464868" y="3628549"/>
              <a:ext cx="9930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smoke:rerank</a:t>
              </a:r>
            </a:p>
          </p:txBody>
        </p:sp>
        <p:sp>
          <p:nvSpPr>
            <p:cNvPr id="83" name="Line 83"/>
            <p:cNvSpPr/>
            <p:nvPr/>
          </p:nvSpPr>
          <p:spPr>
            <a:xfrm>
              <a:off x="8239125" y="39052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224838" y="40219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检索评估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8253412" y="42973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463915" y="4334828"/>
              <a:ext cx="1429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evaluate:retrieval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464868" y="4561999"/>
              <a:ext cx="1484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120 条记忆 + 48 个查询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464868" y="4752499"/>
              <a:ext cx="15626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rerank 全满分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8239125" y="50482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0D8C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224838" y="5164931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桌面端</a:t>
              </a:r>
            </a:p>
          </p:txBody>
        </p:sp>
        <p:sp>
          <p:nvSpPr>
            <p:cNvPr id="91" name="Freeform 91"/>
            <p:cNvSpPr/>
            <p:nvPr/>
          </p:nvSpPr>
          <p:spPr>
            <a:xfrm>
              <a:off x="8253412" y="54403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464868" y="54859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msi + nsis 安装包构建</a:t>
              </a:r>
            </a:p>
          </p:txBody>
        </p:sp>
        <p:sp>
          <p:nvSpPr>
            <p:cNvPr id="93" name="Freeform 93"/>
            <p:cNvSpPr/>
            <p:nvPr/>
          </p:nvSpPr>
          <p:spPr>
            <a:xfrm>
              <a:off x="8253412" y="56784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464868" y="5724049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TS/TSX 无超过 300 行文件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14 / 18</a:t>
            </a:r>
          </a:p>
        </p:txBody>
      </p:sp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验证状态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4855" y="978218"/>
            <a:ext cx="39776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B6B"/>
                </a:solidFill>
                <a:latin typeface="Arial"/>
                <a:ea typeface="Microsoft YaHei"/>
                <a:cs typeface="Arial"/>
              </a:rPr>
              <a:t>全链路真实验证，不把未完成能力写成已完成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1428750"/>
            <a:ext cx="3524250" cy="1524000"/>
            <a:chOff x="571500" y="1428750"/>
            <a:chExt cx="3524250" cy="152400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09625" y="1619250"/>
              <a:ext cx="381000" cy="3810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873125" y="16770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6355" y="17116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后端测试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667000" y="163830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974705" y="17140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全部通过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2955" y="1964055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25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5385" y="20612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个测试用例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7242" y="2371249"/>
              <a:ext cx="22248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npm run test · 最近一次全部绿色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8195" y="2617470"/>
              <a:ext cx="21522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覆盖设备/植物/聊天/记忆/主动发言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286250" y="1428750"/>
            <a:ext cx="3524250" cy="1524000"/>
            <a:chOff x="4286250" y="1428750"/>
            <a:chExt cx="3524250" cy="1524000"/>
          </a:xfrm>
        </p:grpSpPr>
        <p:sp>
          <p:nvSpPr>
            <p:cNvPr id="18" name="Freeform 18"/>
            <p:cNvSpPr/>
            <p:nvPr/>
          </p:nvSpPr>
          <p:spPr>
            <a:xfrm>
              <a:off x="428625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286250" y="1428750"/>
              <a:ext cx="3524250" cy="1524000"/>
            </a:xfrm>
            <a:custGeom>
              <a:avLst/>
              <a:gdLst/>
              <a:ahLst/>
              <a:cxnLst/>
              <a:rect l="l" t="t" r="r" b="b"/>
              <a:pathLst>
                <a:path w="3524250" h="152400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1409700"/>
                  </a:lnTo>
                  <a:cubicBezTo>
                    <a:pt x="3524250" y="1472826"/>
                    <a:pt x="3473076" y="1524000"/>
                    <a:pt x="340995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524375" y="1619250"/>
              <a:ext cx="381000" cy="3810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587875" y="16770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031105" y="17116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检索评估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6381750" y="163830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70765" y="1714024"/>
              <a:ext cx="6602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100% 准确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97705" y="1964055"/>
              <a:ext cx="50419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120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85385" y="2061210"/>
              <a:ext cx="15289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条记忆 + 48 个查询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1992" y="2371249"/>
              <a:ext cx="18688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Top-1 / Top-3 / MRR 均 100%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12945" y="2617470"/>
              <a:ext cx="18565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Hybrid + Qwen3-Reranker-8B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01000" y="1428750"/>
            <a:ext cx="3619500" cy="1524000"/>
            <a:chOff x="8001000" y="1428750"/>
            <a:chExt cx="3619500" cy="1524000"/>
          </a:xfrm>
        </p:grpSpPr>
        <p:sp>
          <p:nvSpPr>
            <p:cNvPr id="30" name="Freeform 30"/>
            <p:cNvSpPr/>
            <p:nvPr/>
          </p:nvSpPr>
          <p:spPr>
            <a:xfrm>
              <a:off x="8001000" y="1428750"/>
              <a:ext cx="3619500" cy="1524000"/>
            </a:xfrm>
            <a:custGeom>
              <a:avLst/>
              <a:gdLst/>
              <a:ahLst/>
              <a:cxnLst/>
              <a:rect l="l" t="t" r="r" b="b"/>
              <a:pathLst>
                <a:path w="3619500" h="1524000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1409700"/>
                  </a:lnTo>
                  <a:cubicBezTo>
                    <a:pt x="3619500" y="1472826"/>
                    <a:pt x="3568326" y="1524000"/>
                    <a:pt x="3505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001000" y="1428750"/>
              <a:ext cx="3619500" cy="1524000"/>
            </a:xfrm>
            <a:custGeom>
              <a:avLst/>
              <a:gdLst/>
              <a:ahLst/>
              <a:cxnLst/>
              <a:rect l="l" t="t" r="r" b="b"/>
              <a:pathLst>
                <a:path w="3619500" h="1524000">
                  <a:moveTo>
                    <a:pt x="114300" y="0"/>
                  </a:moveTo>
                  <a:lnTo>
                    <a:pt x="3505200" y="0"/>
                  </a:lnTo>
                  <a:cubicBezTo>
                    <a:pt x="3568326" y="0"/>
                    <a:pt x="3619500" y="51174"/>
                    <a:pt x="3619500" y="114300"/>
                  </a:cubicBezTo>
                  <a:lnTo>
                    <a:pt x="3619500" y="1409700"/>
                  </a:lnTo>
                  <a:cubicBezTo>
                    <a:pt x="3619500" y="1472826"/>
                    <a:pt x="3568326" y="1524000"/>
                    <a:pt x="3505200" y="1524000"/>
                  </a:cubicBezTo>
                  <a:lnTo>
                    <a:pt x="114300" y="1524000"/>
                  </a:lnTo>
                  <a:cubicBezTo>
                    <a:pt x="51174" y="1524000"/>
                    <a:pt x="0" y="1472826"/>
                    <a:pt x="0" y="1409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239125" y="1619250"/>
              <a:ext cx="381000" cy="381000"/>
            </a:xfrm>
            <a:prstGeom prst="ellipse">
              <a:avLst/>
            </a:pr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302625" y="16770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45855" y="1711642"/>
              <a:ext cx="1193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Docker 部署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0096500" y="1638300"/>
              <a:ext cx="1333500" cy="266700"/>
            </a:xfrm>
            <a:custGeom>
              <a:avLst/>
              <a:gdLst/>
              <a:ahLst/>
              <a:cxnLst/>
              <a:rect l="l" t="t" r="r" b="b"/>
              <a:pathLst>
                <a:path w="1333500" h="266700">
                  <a:moveTo>
                    <a:pt x="133350" y="0"/>
                  </a:moveTo>
                  <a:lnTo>
                    <a:pt x="1200150" y="0"/>
                  </a:lnTo>
                  <a:cubicBezTo>
                    <a:pt x="1273797" y="0"/>
                    <a:pt x="1333500" y="59703"/>
                    <a:pt x="1333500" y="133350"/>
                  </a:cubicBezTo>
                  <a:lnTo>
                    <a:pt x="1333500" y="133350"/>
                  </a:lnTo>
                  <a:cubicBezTo>
                    <a:pt x="1333500" y="206997"/>
                    <a:pt x="1273797" y="266700"/>
                    <a:pt x="12001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D4A574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51830" y="17140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验证通过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25790" y="2077402"/>
              <a:ext cx="17365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本地镜像构建 + 容器验证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5790" y="2315528"/>
              <a:ext cx="14911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Docker Hub 推送完成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6742" y="2561749"/>
              <a:ext cx="18830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/health · 鉴权 · 认领 · 上报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7695" y="2760345"/>
              <a:ext cx="104813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2026-05-28 验证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71500" y="3238500"/>
            <a:ext cx="5334000" cy="1357312"/>
            <a:chOff x="571500" y="3238500"/>
            <a:chExt cx="5334000" cy="1357312"/>
          </a:xfrm>
        </p:grpSpPr>
        <p:sp>
          <p:nvSpPr>
            <p:cNvPr id="42" name="Freeform 42"/>
            <p:cNvSpPr/>
            <p:nvPr/>
          </p:nvSpPr>
          <p:spPr>
            <a:xfrm>
              <a:off x="571500" y="3238500"/>
              <a:ext cx="5334000" cy="1333500"/>
            </a:xfrm>
            <a:custGeom>
              <a:avLst/>
              <a:gdLst/>
              <a:ahLst/>
              <a:cxnLst/>
              <a:rect l="l" t="t" r="r" b="b"/>
              <a:pathLst>
                <a:path w="5334000" h="1333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219200"/>
                  </a:lnTo>
                  <a:cubicBezTo>
                    <a:pt x="5334000" y="1282326"/>
                    <a:pt x="5282826" y="1333500"/>
                    <a:pt x="52197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571500" y="3238500"/>
              <a:ext cx="5334000" cy="1333500"/>
            </a:xfrm>
            <a:custGeom>
              <a:avLst/>
              <a:gdLst/>
              <a:ahLst/>
              <a:cxnLst/>
              <a:rect l="l" t="t" r="r" b="b"/>
              <a:pathLst>
                <a:path w="5334000" h="1333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219200"/>
                  </a:lnTo>
                  <a:cubicBezTo>
                    <a:pt x="5334000" y="1282326"/>
                    <a:pt x="5282826" y="1333500"/>
                    <a:pt x="52197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809625" y="3429000"/>
              <a:ext cx="381000" cy="381000"/>
            </a:xfrm>
            <a:prstGeom prst="ellipse">
              <a:avLst/>
            </a:pr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73125" y="3505200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63500" y="228600"/>
                  </a:moveTo>
                  <a:cubicBezTo>
                    <a:pt x="56486" y="228600"/>
                    <a:pt x="50800" y="222914"/>
                    <a:pt x="50800" y="215900"/>
                  </a:cubicBezTo>
                  <a:cubicBezTo>
                    <a:pt x="50800" y="208886"/>
                    <a:pt x="56486" y="203200"/>
                    <a:pt x="63500" y="203200"/>
                  </a:cubicBezTo>
                  <a:lnTo>
                    <a:pt x="76200" y="203200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152400"/>
                  </a:lnTo>
                  <a:cubicBezTo>
                    <a:pt x="254000" y="166428"/>
                    <a:pt x="242628" y="177800"/>
                    <a:pt x="228600" y="177800"/>
                  </a:cubicBezTo>
                  <a:lnTo>
                    <a:pt x="177800" y="177800"/>
                  </a:lnTo>
                  <a:lnTo>
                    <a:pt x="177800" y="203200"/>
                  </a:lnTo>
                  <a:lnTo>
                    <a:pt x="190500" y="203200"/>
                  </a:lnTo>
                  <a:cubicBezTo>
                    <a:pt x="197514" y="203200"/>
                    <a:pt x="203200" y="208886"/>
                    <a:pt x="203200" y="215900"/>
                  </a:cubicBezTo>
                  <a:cubicBezTo>
                    <a:pt x="203200" y="222914"/>
                    <a:pt x="197514" y="228600"/>
                    <a:pt x="190500" y="228600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200"/>
                  </a:lnTo>
                  <a:lnTo>
                    <a:pt x="152400" y="203200"/>
                  </a:ln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16355" y="352139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桌面客户端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2952750" y="344805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4A7C28">
                <a:alpha val="12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335214" y="3523774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已构建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823912" y="3868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34415" y="3906202"/>
              <a:ext cx="20815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Tauri v2.11.2 + Rust release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823912" y="41068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34415" y="41443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msi + nsis 安装包产出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823912" y="43449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4415" y="43824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多植物路由跳转统一编码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096000" y="3238500"/>
            <a:ext cx="5524500" cy="1357312"/>
            <a:chOff x="6096000" y="3238500"/>
            <a:chExt cx="5524500" cy="1357312"/>
          </a:xfrm>
        </p:grpSpPr>
        <p:sp>
          <p:nvSpPr>
            <p:cNvPr id="56" name="Freeform 56"/>
            <p:cNvSpPr/>
            <p:nvPr/>
          </p:nvSpPr>
          <p:spPr>
            <a:xfrm>
              <a:off x="6096000" y="3238500"/>
              <a:ext cx="5524500" cy="1333500"/>
            </a:xfrm>
            <a:custGeom>
              <a:avLst/>
              <a:gdLst/>
              <a:ahLst/>
              <a:cxnLst/>
              <a:rect l="l" t="t" r="r" b="b"/>
              <a:pathLst>
                <a:path w="5524500" h="1333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1219200"/>
                  </a:lnTo>
                  <a:cubicBezTo>
                    <a:pt x="5524500" y="1282326"/>
                    <a:pt x="5473326" y="1333500"/>
                    <a:pt x="54102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6096000" y="3238500"/>
              <a:ext cx="5524500" cy="1333500"/>
            </a:xfrm>
            <a:custGeom>
              <a:avLst/>
              <a:gdLst/>
              <a:ahLst/>
              <a:cxnLst/>
              <a:rect l="l" t="t" r="r" b="b"/>
              <a:pathLst>
                <a:path w="5524500" h="1333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1219200"/>
                  </a:lnTo>
                  <a:cubicBezTo>
                    <a:pt x="5524500" y="1282326"/>
                    <a:pt x="5473326" y="1333500"/>
                    <a:pt x="5410200" y="1333500"/>
                  </a:cubicBezTo>
                  <a:lnTo>
                    <a:pt x="114300" y="1333500"/>
                  </a:lnTo>
                  <a:cubicBezTo>
                    <a:pt x="51174" y="1333500"/>
                    <a:pt x="0" y="1282326"/>
                    <a:pt x="0" y="1219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334125" y="3429000"/>
              <a:ext cx="381000" cy="381000"/>
            </a:xfrm>
            <a:prstGeom prst="ellipse">
              <a:avLst/>
            </a:pr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6397625" y="3505200"/>
              <a:ext cx="254000" cy="228600"/>
            </a:xfrm>
            <a:custGeom>
              <a:avLst/>
              <a:gdLst/>
              <a:ahLst/>
              <a:cxnLst/>
              <a:rect l="l" t="t" r="r" b="b"/>
              <a:pathLst>
                <a:path w="254000" h="228600">
                  <a:moveTo>
                    <a:pt x="63500" y="228600"/>
                  </a:moveTo>
                  <a:cubicBezTo>
                    <a:pt x="56486" y="228600"/>
                    <a:pt x="50800" y="222914"/>
                    <a:pt x="50800" y="215900"/>
                  </a:cubicBezTo>
                  <a:cubicBezTo>
                    <a:pt x="50800" y="208886"/>
                    <a:pt x="56486" y="203200"/>
                    <a:pt x="63500" y="203200"/>
                  </a:cubicBezTo>
                  <a:lnTo>
                    <a:pt x="76200" y="203200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600" y="0"/>
                  </a:lnTo>
                  <a:cubicBezTo>
                    <a:pt x="242628" y="0"/>
                    <a:pt x="254000" y="11372"/>
                    <a:pt x="254000" y="25400"/>
                  </a:cubicBezTo>
                  <a:lnTo>
                    <a:pt x="254000" y="152400"/>
                  </a:lnTo>
                  <a:cubicBezTo>
                    <a:pt x="254000" y="166428"/>
                    <a:pt x="242628" y="177800"/>
                    <a:pt x="228600" y="177800"/>
                  </a:cubicBezTo>
                  <a:lnTo>
                    <a:pt x="177800" y="177800"/>
                  </a:lnTo>
                  <a:lnTo>
                    <a:pt x="177800" y="203200"/>
                  </a:lnTo>
                  <a:lnTo>
                    <a:pt x="190500" y="203200"/>
                  </a:lnTo>
                  <a:cubicBezTo>
                    <a:pt x="197514" y="203200"/>
                    <a:pt x="203200" y="208886"/>
                    <a:pt x="203200" y="215900"/>
                  </a:cubicBezTo>
                  <a:cubicBezTo>
                    <a:pt x="203200" y="222914"/>
                    <a:pt x="197514" y="228600"/>
                    <a:pt x="190500" y="228600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200"/>
                  </a:lnTo>
                  <a:lnTo>
                    <a:pt x="152400" y="203200"/>
                  </a:ln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40855" y="3521392"/>
              <a:ext cx="1493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真实硬件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8572500" y="3448050"/>
              <a:ext cx="1238250" cy="266700"/>
            </a:xfrm>
            <a:custGeom>
              <a:avLst/>
              <a:gdLst/>
              <a:ahLst/>
              <a:cxnLst/>
              <a:rect l="l" t="t" r="r" b="b"/>
              <a:pathLst>
                <a:path w="1238250" h="266700">
                  <a:moveTo>
                    <a:pt x="133350" y="0"/>
                  </a:moveTo>
                  <a:lnTo>
                    <a:pt x="1104900" y="0"/>
                  </a:lnTo>
                  <a:cubicBezTo>
                    <a:pt x="1178547" y="0"/>
                    <a:pt x="1238250" y="59703"/>
                    <a:pt x="1238250" y="133350"/>
                  </a:cubicBezTo>
                  <a:lnTo>
                    <a:pt x="1238250" y="133350"/>
                  </a:lnTo>
                  <a:cubicBezTo>
                    <a:pt x="1238250" y="206997"/>
                    <a:pt x="1178547" y="266700"/>
                    <a:pt x="110490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8A849">
                <a:alpha val="12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880205" y="352377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实测通过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6348412" y="386871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58915" y="3906202"/>
              <a:ext cx="31167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OLED / SHT40 / GY-302 / 土壤 ADC 实测可用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6348412" y="4106838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58915" y="4144328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HTTP 上传 · MQTT 1秒级上报 · 断线重连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6348412" y="4344963"/>
              <a:ext cx="150233" cy="150479"/>
            </a:xfrm>
            <a:custGeom>
              <a:avLst/>
              <a:gdLst/>
              <a:ahLst/>
              <a:cxnLst/>
              <a:rect l="l" t="t" r="r" b="b"/>
              <a:pathLst>
                <a:path w="150233" h="150479">
                  <a:moveTo>
                    <a:pt x="107156" y="12773"/>
                  </a:moveTo>
                  <a:cubicBezTo>
                    <a:pt x="136927" y="29962"/>
                    <a:pt x="150233" y="65918"/>
                    <a:pt x="138824" y="98346"/>
                  </a:cubicBezTo>
                  <a:cubicBezTo>
                    <a:pt x="127416" y="130775"/>
                    <a:pt x="94528" y="150479"/>
                    <a:pt x="60552" y="145242"/>
                  </a:cubicBezTo>
                  <a:cubicBezTo>
                    <a:pt x="26577" y="140004"/>
                    <a:pt x="1149" y="111311"/>
                    <a:pt x="36" y="76952"/>
                  </a:cubicBezTo>
                  <a:lnTo>
                    <a:pt x="0" y="74637"/>
                  </a:lnTo>
                  <a:lnTo>
                    <a:pt x="36" y="72323"/>
                  </a:lnTo>
                  <a:cubicBezTo>
                    <a:pt x="850" y="47227"/>
                    <a:pt x="14779" y="24400"/>
                    <a:pt x="36725" y="12200"/>
                  </a:cubicBezTo>
                  <a:cubicBezTo>
                    <a:pt x="58671" y="0"/>
                    <a:pt x="85411" y="217"/>
                    <a:pt x="107156" y="12773"/>
                  </a:cubicBezTo>
                  <a:close/>
                  <a:moveTo>
                    <a:pt x="97919" y="55299"/>
                  </a:moveTo>
                  <a:cubicBezTo>
                    <a:pt x="95374" y="52754"/>
                    <a:pt x="91333" y="52500"/>
                    <a:pt x="88490" y="54706"/>
                  </a:cubicBezTo>
                  <a:lnTo>
                    <a:pt x="87818" y="55299"/>
                  </a:lnTo>
                  <a:lnTo>
                    <a:pt x="64294" y="78817"/>
                  </a:lnTo>
                  <a:lnTo>
                    <a:pt x="55057" y="69587"/>
                  </a:lnTo>
                  <a:lnTo>
                    <a:pt x="54385" y="68994"/>
                  </a:lnTo>
                  <a:cubicBezTo>
                    <a:pt x="51541" y="66790"/>
                    <a:pt x="47502" y="67044"/>
                    <a:pt x="44957" y="69589"/>
                  </a:cubicBezTo>
                  <a:cubicBezTo>
                    <a:pt x="42413" y="72133"/>
                    <a:pt x="42158" y="76173"/>
                    <a:pt x="44363" y="79017"/>
                  </a:cubicBezTo>
                  <a:lnTo>
                    <a:pt x="44956" y="79688"/>
                  </a:lnTo>
                  <a:lnTo>
                    <a:pt x="59243" y="93976"/>
                  </a:lnTo>
                  <a:lnTo>
                    <a:pt x="59915" y="94569"/>
                  </a:lnTo>
                  <a:cubicBezTo>
                    <a:pt x="62492" y="96568"/>
                    <a:pt x="66096" y="96568"/>
                    <a:pt x="68673" y="94569"/>
                  </a:cubicBezTo>
                  <a:lnTo>
                    <a:pt x="69344" y="93976"/>
                  </a:lnTo>
                  <a:lnTo>
                    <a:pt x="97919" y="65401"/>
                  </a:lnTo>
                  <a:lnTo>
                    <a:pt x="98512" y="64729"/>
                  </a:lnTo>
                  <a:cubicBezTo>
                    <a:pt x="100718" y="61885"/>
                    <a:pt x="100464" y="57844"/>
                    <a:pt x="97919" y="55299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58915" y="4382452"/>
              <a:ext cx="2748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SoftAP 配网 · OTA · 设备密钥自动接收</a:t>
              </a:r>
            </a:p>
          </p:txBody>
        </p:sp>
      </p:grpSp>
      <p:sp>
        <p:nvSpPr>
          <p:cNvPr id="70" name="Freeform 70"/>
          <p:cNvSpPr/>
          <p:nvPr/>
        </p:nvSpPr>
        <p:spPr>
          <a:xfrm>
            <a:off x="571500" y="4857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838200"/>
                </a:lnTo>
                <a:cubicBezTo>
                  <a:pt x="11049000" y="901326"/>
                  <a:pt x="10997826" y="952500"/>
                  <a:pt x="10934700" y="952500"/>
                </a:cubicBezTo>
                <a:lnTo>
                  <a:pt x="114300" y="952500"/>
                </a:lnTo>
                <a:cubicBezTo>
                  <a:pt x="51174" y="952500"/>
                  <a:pt x="0" y="901326"/>
                  <a:pt x="0" y="838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744855" y="4997768"/>
            <a:ext cx="15352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Smoke 测试闭环</a:t>
            </a:r>
          </a:p>
        </p:txBody>
      </p:sp>
      <p:grpSp>
        <p:nvGrpSpPr>
          <p:cNvPr id="84" name="Group 84"/>
          <p:cNvGrpSpPr/>
          <p:nvPr/>
        </p:nvGrpSpPr>
        <p:grpSpPr>
          <a:xfrm>
            <a:off x="762000" y="5286375"/>
            <a:ext cx="10382250" cy="342900"/>
            <a:chOff x="762000" y="5286375"/>
            <a:chExt cx="10382250" cy="342900"/>
          </a:xfrm>
        </p:grpSpPr>
        <p:sp>
          <p:nvSpPr>
            <p:cNvPr id="72" name="Freeform 72"/>
            <p:cNvSpPr/>
            <p:nvPr/>
          </p:nvSpPr>
          <p:spPr>
            <a:xfrm>
              <a:off x="762000" y="5286375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76200" y="0"/>
                  </a:move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266700"/>
                  </a:lnTo>
                  <a:cubicBezTo>
                    <a:pt x="2381250" y="308784"/>
                    <a:pt x="2347134" y="342900"/>
                    <a:pt x="23050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73" name="Freeform 73"/>
            <p:cNvSpPr/>
            <p:nvPr/>
          </p:nvSpPr>
          <p:spPr>
            <a:xfrm>
              <a:off x="92075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30618" y="5409724"/>
              <a:ext cx="25737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device-claim: unknown → claim → auth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3333750" y="5286375"/>
              <a:ext cx="2476500" cy="342900"/>
            </a:xfrm>
            <a:custGeom>
              <a:avLst/>
              <a:gdLst/>
              <a:ahLst/>
              <a:cxnLst/>
              <a:rect l="l" t="t" r="r" b="b"/>
              <a:pathLst>
                <a:path w="2476500" h="34290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34116"/>
                    <a:pt x="2476500" y="76200"/>
                  </a:cubicBezTo>
                  <a:lnTo>
                    <a:pt x="2476500" y="266700"/>
                  </a:lnTo>
                  <a:cubicBezTo>
                    <a:pt x="2476500" y="308784"/>
                    <a:pt x="2442384" y="342900"/>
                    <a:pt x="240030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76" name="Freeform 76"/>
            <p:cNvSpPr/>
            <p:nvPr/>
          </p:nvSpPr>
          <p:spPr>
            <a:xfrm>
              <a:off x="349250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702368" y="5409724"/>
              <a:ext cx="24241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memory-chat: 3轮对话生成长期记忆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6000750" y="5286375"/>
              <a:ext cx="2571750" cy="342900"/>
            </a:xfrm>
            <a:custGeom>
              <a:avLst/>
              <a:gdLst/>
              <a:ahLst/>
              <a:cxnLst/>
              <a:rect l="l" t="t" r="r" b="b"/>
              <a:pathLst>
                <a:path w="2571750" h="342900">
                  <a:moveTo>
                    <a:pt x="76200" y="0"/>
                  </a:moveTo>
                  <a:lnTo>
                    <a:pt x="2495550" y="0"/>
                  </a:lnTo>
                  <a:cubicBezTo>
                    <a:pt x="2537634" y="0"/>
                    <a:pt x="2571750" y="34116"/>
                    <a:pt x="2571750" y="76200"/>
                  </a:cubicBezTo>
                  <a:lnTo>
                    <a:pt x="2571750" y="266700"/>
                  </a:lnTo>
                  <a:cubicBezTo>
                    <a:pt x="2571750" y="308784"/>
                    <a:pt x="2537634" y="342900"/>
                    <a:pt x="24955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615950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69368" y="540972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memory-citation: 正确引用不过度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8763000" y="5286375"/>
              <a:ext cx="2381250" cy="342900"/>
            </a:xfrm>
            <a:custGeom>
              <a:avLst/>
              <a:gdLst/>
              <a:ahLst/>
              <a:cxnLst/>
              <a:rect l="l" t="t" r="r" b="b"/>
              <a:pathLst>
                <a:path w="2381250" h="342900">
                  <a:moveTo>
                    <a:pt x="76200" y="0"/>
                  </a:moveTo>
                  <a:lnTo>
                    <a:pt x="2305050" y="0"/>
                  </a:lnTo>
                  <a:cubicBezTo>
                    <a:pt x="2347134" y="0"/>
                    <a:pt x="2381250" y="34116"/>
                    <a:pt x="2381250" y="76200"/>
                  </a:cubicBezTo>
                  <a:lnTo>
                    <a:pt x="2381250" y="266700"/>
                  </a:lnTo>
                  <a:cubicBezTo>
                    <a:pt x="2381250" y="308784"/>
                    <a:pt x="2347134" y="342900"/>
                    <a:pt x="2305050" y="342900"/>
                  </a:cubicBezTo>
                  <a:lnTo>
                    <a:pt x="76200" y="342900"/>
                  </a:lnTo>
                  <a:cubicBezTo>
                    <a:pt x="34116" y="342900"/>
                    <a:pt x="0" y="308784"/>
                    <a:pt x="0" y="2667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82" name="Freeform 82"/>
            <p:cNvSpPr/>
            <p:nvPr/>
          </p:nvSpPr>
          <p:spPr>
            <a:xfrm>
              <a:off x="8921750" y="5365369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108799" y="61444"/>
                  </a:moveTo>
                  <a:cubicBezTo>
                    <a:pt x="105971" y="58616"/>
                    <a:pt x="101482" y="58334"/>
                    <a:pt x="98322" y="60785"/>
                  </a:cubicBezTo>
                  <a:lnTo>
                    <a:pt x="97576" y="61444"/>
                  </a:lnTo>
                  <a:lnTo>
                    <a:pt x="71438" y="87574"/>
                  </a:lnTo>
                  <a:lnTo>
                    <a:pt x="61174" y="77319"/>
                  </a:lnTo>
                  <a:lnTo>
                    <a:pt x="60428" y="76660"/>
                  </a:lnTo>
                  <a:cubicBezTo>
                    <a:pt x="57268" y="74211"/>
                    <a:pt x="52780" y="74494"/>
                    <a:pt x="49953" y="77321"/>
                  </a:cubicBezTo>
                  <a:cubicBezTo>
                    <a:pt x="47126" y="80148"/>
                    <a:pt x="46843" y="84636"/>
                    <a:pt x="49292" y="87796"/>
                  </a:cubicBezTo>
                  <a:lnTo>
                    <a:pt x="49951" y="88542"/>
                  </a:lnTo>
                  <a:lnTo>
                    <a:pt x="65826" y="104417"/>
                  </a:lnTo>
                  <a:lnTo>
                    <a:pt x="66572" y="105076"/>
                  </a:lnTo>
                  <a:cubicBezTo>
                    <a:pt x="69435" y="107298"/>
                    <a:pt x="73440" y="107298"/>
                    <a:pt x="76303" y="105076"/>
                  </a:cubicBezTo>
                  <a:lnTo>
                    <a:pt x="77049" y="104417"/>
                  </a:lnTo>
                  <a:lnTo>
                    <a:pt x="108799" y="72667"/>
                  </a:lnTo>
                  <a:lnTo>
                    <a:pt x="109458" y="71921"/>
                  </a:lnTo>
                  <a:cubicBezTo>
                    <a:pt x="111909" y="68761"/>
                    <a:pt x="111627" y="64272"/>
                    <a:pt x="108799" y="61444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131618" y="5409724"/>
              <a:ext cx="20041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rerank: Qwen3-Reranker-8B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15 / 18</a:t>
            </a:r>
          </a:p>
        </p:txBody>
      </p:sp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完成度总览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333500"/>
            <a:ext cx="11049000" cy="762000"/>
            <a:chOff x="571500" y="1333500"/>
            <a:chExt cx="11049000" cy="762000"/>
          </a:xfrm>
        </p:grpSpPr>
        <p:sp>
          <p:nvSpPr>
            <p:cNvPr id="5" name="Freeform 5"/>
            <p:cNvSpPr/>
            <p:nvPr/>
          </p:nvSpPr>
          <p:spPr>
            <a:xfrm>
              <a:off x="571500" y="133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33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0105" y="1492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整体后端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4868" y="1780699"/>
              <a:ext cx="27517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Node.js + TypeScript + Fastify + SQLite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333750" y="1600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3333750" y="1600200"/>
              <a:ext cx="6000750" cy="228600"/>
            </a:xfrm>
            <a:custGeom>
              <a:avLst/>
              <a:gdLst/>
              <a:ahLst/>
              <a:cxnLst/>
              <a:rect l="l" t="t" r="r" b="b"/>
              <a:pathLst>
                <a:path w="6000750" h="228600">
                  <a:moveTo>
                    <a:pt x="114300" y="0"/>
                  </a:moveTo>
                  <a:lnTo>
                    <a:pt x="5886450" y="0"/>
                  </a:lnTo>
                  <a:cubicBezTo>
                    <a:pt x="5949576" y="0"/>
                    <a:pt x="6000750" y="51174"/>
                    <a:pt x="6000750" y="114300"/>
                  </a:cubicBezTo>
                  <a:lnTo>
                    <a:pt x="6000750" y="114300"/>
                  </a:lnTo>
                  <a:cubicBezTo>
                    <a:pt x="6000750" y="177426"/>
                    <a:pt x="5949576" y="228600"/>
                    <a:pt x="588645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987710" y="1603058"/>
              <a:ext cx="5985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~90%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286000"/>
            <a:ext cx="11049000" cy="762000"/>
            <a:chOff x="571500" y="2286000"/>
            <a:chExt cx="11049000" cy="762000"/>
          </a:xfrm>
        </p:grpSpPr>
        <p:sp>
          <p:nvSpPr>
            <p:cNvPr id="13" name="Freeform 13"/>
            <p:cNvSpPr/>
            <p:nvPr/>
          </p:nvSpPr>
          <p:spPr>
            <a:xfrm>
              <a:off x="571500" y="2286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571500" y="2286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0105" y="24450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桌面客户端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4868" y="2733199"/>
              <a:ext cx="27730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Tauri v2 + React 18 + Vite 5 + TypeScript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333750" y="25527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333750" y="2552700"/>
              <a:ext cx="5800725" cy="228600"/>
            </a:xfrm>
            <a:custGeom>
              <a:avLst/>
              <a:gdLst/>
              <a:ahLst/>
              <a:cxnLst/>
              <a:rect l="l" t="t" r="r" b="b"/>
              <a:pathLst>
                <a:path w="5800725" h="228600">
                  <a:moveTo>
                    <a:pt x="114300" y="0"/>
                  </a:moveTo>
                  <a:lnTo>
                    <a:pt x="5686425" y="0"/>
                  </a:lnTo>
                  <a:cubicBezTo>
                    <a:pt x="5749551" y="0"/>
                    <a:pt x="5800725" y="51174"/>
                    <a:pt x="5800725" y="114300"/>
                  </a:cubicBezTo>
                  <a:lnTo>
                    <a:pt x="5800725" y="114300"/>
                  </a:lnTo>
                  <a:cubicBezTo>
                    <a:pt x="5800725" y="177426"/>
                    <a:pt x="5749551" y="228600"/>
                    <a:pt x="5686425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87710" y="2555558"/>
              <a:ext cx="5985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~87%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3238500"/>
            <a:ext cx="11049000" cy="762000"/>
            <a:chOff x="571500" y="3238500"/>
            <a:chExt cx="11049000" cy="762000"/>
          </a:xfrm>
        </p:grpSpPr>
        <p:sp>
          <p:nvSpPr>
            <p:cNvPr id="21" name="Freeform 21"/>
            <p:cNvSpPr/>
            <p:nvPr/>
          </p:nvSpPr>
          <p:spPr>
            <a:xfrm>
              <a:off x="571500" y="3238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71500" y="3238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0105" y="33975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硬件数据接入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4868" y="3685699"/>
              <a:ext cx="20112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ESP32 + MQTT + SoftAP + OTA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333750" y="3505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333750" y="3505200"/>
              <a:ext cx="6134100" cy="228600"/>
            </a:xfrm>
            <a:custGeom>
              <a:avLst/>
              <a:gdLst/>
              <a:ahLst/>
              <a:cxnLst/>
              <a:rect l="l" t="t" r="r" b="b"/>
              <a:pathLst>
                <a:path w="6134100" h="228600">
                  <a:moveTo>
                    <a:pt x="114300" y="0"/>
                  </a:moveTo>
                  <a:lnTo>
                    <a:pt x="6019800" y="0"/>
                  </a:lnTo>
                  <a:cubicBezTo>
                    <a:pt x="6082926" y="0"/>
                    <a:pt x="6134100" y="51174"/>
                    <a:pt x="6134100" y="114300"/>
                  </a:cubicBezTo>
                  <a:lnTo>
                    <a:pt x="6134100" y="114300"/>
                  </a:lnTo>
                  <a:cubicBezTo>
                    <a:pt x="6134100" y="177426"/>
                    <a:pt x="6082926" y="228600"/>
                    <a:pt x="60198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D4A57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057294" y="3508058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D4A574"/>
                  </a:solidFill>
                  <a:latin typeface="Arial"/>
                  <a:ea typeface="Microsoft YaHei"/>
                  <a:cs typeface="Arial"/>
                </a:rPr>
                <a:t>92%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191000"/>
            <a:ext cx="11049000" cy="762000"/>
            <a:chOff x="571500" y="4191000"/>
            <a:chExt cx="11049000" cy="762000"/>
          </a:xfrm>
        </p:grpSpPr>
        <p:sp>
          <p:nvSpPr>
            <p:cNvPr id="29" name="Freeform 29"/>
            <p:cNvSpPr/>
            <p:nvPr/>
          </p:nvSpPr>
          <p:spPr>
            <a:xfrm>
              <a:off x="571500" y="4191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571500" y="41910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0105" y="43500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记忆系统架构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4868" y="4638199"/>
              <a:ext cx="25950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AgentGal 生命周期 + 混合检索 + Rerank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333750" y="44577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333750" y="4457700"/>
              <a:ext cx="5667375" cy="228600"/>
            </a:xfrm>
            <a:custGeom>
              <a:avLst/>
              <a:gdLst/>
              <a:ahLst/>
              <a:cxnLst/>
              <a:rect l="l" t="t" r="r" b="b"/>
              <a:pathLst>
                <a:path w="5667375" h="228600">
                  <a:moveTo>
                    <a:pt x="114300" y="0"/>
                  </a:moveTo>
                  <a:lnTo>
                    <a:pt x="5553075" y="0"/>
                  </a:lnTo>
                  <a:cubicBezTo>
                    <a:pt x="5616201" y="0"/>
                    <a:pt x="5667375" y="51174"/>
                    <a:pt x="5667375" y="114300"/>
                  </a:cubicBezTo>
                  <a:lnTo>
                    <a:pt x="5667375" y="114300"/>
                  </a:lnTo>
                  <a:cubicBezTo>
                    <a:pt x="5667375" y="177426"/>
                    <a:pt x="5616201" y="228600"/>
                    <a:pt x="5553075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4A7C2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057294" y="4460558"/>
              <a:ext cx="4594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A7C28"/>
                  </a:solidFill>
                  <a:latin typeface="Arial"/>
                  <a:ea typeface="Microsoft YaHei"/>
                  <a:cs typeface="Arial"/>
                </a:rPr>
                <a:t>85%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5143500"/>
            <a:ext cx="11049000" cy="762000"/>
            <a:chOff x="571500" y="5143500"/>
            <a:chExt cx="11049000" cy="762000"/>
          </a:xfrm>
        </p:grpSpPr>
        <p:sp>
          <p:nvSpPr>
            <p:cNvPr id="37" name="Freeform 37"/>
            <p:cNvSpPr/>
            <p:nvPr/>
          </p:nvSpPr>
          <p:spPr>
            <a:xfrm>
              <a:off x="571500" y="514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71500" y="5143500"/>
              <a:ext cx="11049000" cy="762000"/>
            </a:xfrm>
            <a:custGeom>
              <a:avLst/>
              <a:gdLst/>
              <a:ahLst/>
              <a:cxnLst/>
              <a:rect l="l" t="t" r="r" b="b"/>
              <a:pathLst>
                <a:path w="11049000" h="7620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647700"/>
                  </a:lnTo>
                  <a:cubicBezTo>
                    <a:pt x="11049000" y="710826"/>
                    <a:pt x="10997826" y="762000"/>
                    <a:pt x="10934700" y="762000"/>
                  </a:cubicBezTo>
                  <a:lnTo>
                    <a:pt x="114300" y="762000"/>
                  </a:lnTo>
                  <a:cubicBezTo>
                    <a:pt x="51174" y="762000"/>
                    <a:pt x="0" y="710826"/>
                    <a:pt x="0" y="647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0105" y="53025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设计稿落地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868" y="5590699"/>
              <a:ext cx="30863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Verdant Echo · 5 页完整设计 · 人文关怀五原则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333750" y="5410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D8C8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3333750" y="5410200"/>
              <a:ext cx="6667500" cy="228600"/>
            </a:xfrm>
            <a:custGeom>
              <a:avLst/>
              <a:gdLst/>
              <a:ahLst/>
              <a:cxnLst/>
              <a:rect l="l" t="t" r="r" b="b"/>
              <a:pathLst>
                <a:path w="6667500" h="2286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114300"/>
                  </a:lnTo>
                  <a:cubicBezTo>
                    <a:pt x="6667500" y="177426"/>
                    <a:pt x="6616326" y="228600"/>
                    <a:pt x="6553200" y="228600"/>
                  </a:cubicBezTo>
                  <a:lnTo>
                    <a:pt x="114300" y="228600"/>
                  </a:lnTo>
                  <a:cubicBezTo>
                    <a:pt x="51174" y="228600"/>
                    <a:pt x="0" y="177426"/>
                    <a:pt x="0" y="114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8A84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019339" y="5413058"/>
              <a:ext cx="5353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A849"/>
                  </a:solidFill>
                  <a:latin typeface="Arial"/>
                  <a:ea typeface="Microsoft YaHei"/>
                  <a:cs typeface="Arial"/>
                </a:rPr>
                <a:t>100%</a:t>
              </a:r>
            </a:p>
          </p:txBody>
        </p:sp>
      </p:grpSp>
      <p:sp>
        <p:nvSpPr>
          <p:cNvPr id="45" name="Freeform 45"/>
          <p:cNvSpPr/>
          <p:nvPr/>
        </p:nvSpPr>
        <p:spPr>
          <a:xfrm>
            <a:off x="571500" y="6096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6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4052125" y="6271260"/>
            <a:ext cx="40877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MVP 阶段完成度高</a:t>
            </a:r>
            <a:r>
              <a:rPr lang="zh-CN" sz="120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· 核心功能闭环 · 全链路真实验证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16 / 18</a:t>
            </a:r>
          </a:p>
        </p:txBody>
      </p:sp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571500" y="476250"/>
            <a:ext cx="38100" cy="571500"/>
          </a:xfrm>
          <a:custGeom>
            <a:avLst/>
            <a:gdLst/>
            <a:ahLst/>
            <a:cxnLst/>
            <a:rect l="l" t="t" r="r" b="b"/>
            <a:pathLst>
              <a:path w="38100" h="5715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552450"/>
                </a:lnTo>
                <a:cubicBezTo>
                  <a:pt x="38100" y="562971"/>
                  <a:pt x="29571" y="571500"/>
                  <a:pt x="19050" y="571500"/>
                </a:cubicBezTo>
                <a:lnTo>
                  <a:pt x="19050" y="571500"/>
                </a:lnTo>
                <a:cubicBezTo>
                  <a:pt x="8529" y="571500"/>
                  <a:pt x="0" y="562971"/>
                  <a:pt x="0" y="5524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3900" y="514350"/>
            <a:ext cx="2376487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下一步计划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238250"/>
            <a:ext cx="5334000" cy="952500"/>
            <a:chOff x="571500" y="1238250"/>
            <a:chExt cx="5334000" cy="952500"/>
          </a:xfrm>
        </p:grpSpPr>
        <p:sp>
          <p:nvSpPr>
            <p:cNvPr id="5" name="Freeform 5"/>
            <p:cNvSpPr/>
            <p:nvPr/>
          </p:nvSpPr>
          <p:spPr>
            <a:xfrm>
              <a:off x="571500" y="1238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71500" y="1238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524000"/>
              <a:ext cx="381000" cy="381000"/>
            </a:xfrm>
            <a:prstGeom prst="ellipse">
              <a:avLst/>
            </a:prstGeom>
            <a:solidFill>
              <a:srgbClr val="4A7C2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9657" y="1651635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68730" y="14925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设备管理闭环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2540" y="1772602"/>
              <a:ext cx="36841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设备删除/停用 · 批量管理 · 历史无密钥设备强制迁移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4445" y="1998345"/>
              <a:ext cx="94954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后端 92% → 100%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0" y="1238250"/>
            <a:ext cx="5524500" cy="952500"/>
            <a:chOff x="6096000" y="1238250"/>
            <a:chExt cx="5524500" cy="952500"/>
          </a:xfrm>
        </p:grpSpPr>
        <p:sp>
          <p:nvSpPr>
            <p:cNvPr id="13" name="Freeform 13"/>
            <p:cNvSpPr/>
            <p:nvPr/>
          </p:nvSpPr>
          <p:spPr>
            <a:xfrm>
              <a:off x="6096000" y="1238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6096000" y="1238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0" y="1524000"/>
              <a:ext cx="381000" cy="381000"/>
            </a:xfrm>
            <a:prstGeom prst="ellipse">
              <a:avLst/>
            </a:prstGeom>
            <a:solidFill>
              <a:srgbClr val="E8A84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1154" y="1651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93230" y="1492568"/>
              <a:ext cx="13696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深度 LLM 联调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97040" y="1772602"/>
              <a:ext cx="33697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更自然的语料压测 closure / generator prompt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98945" y="1998345"/>
              <a:ext cx="10744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提升记忆生成质量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381250"/>
            <a:ext cx="5334000" cy="952500"/>
            <a:chOff x="571500" y="2381250"/>
            <a:chExt cx="5334000" cy="952500"/>
          </a:xfrm>
        </p:grpSpPr>
        <p:sp>
          <p:nvSpPr>
            <p:cNvPr id="21" name="Freeform 21"/>
            <p:cNvSpPr/>
            <p:nvPr/>
          </p:nvSpPr>
          <p:spPr>
            <a:xfrm>
              <a:off x="571500" y="2381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71500" y="2381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762000" y="2667000"/>
              <a:ext cx="381000" cy="381000"/>
            </a:xfrm>
            <a:prstGeom prst="ellipse">
              <a:avLst/>
            </a:prstGeom>
            <a:solidFill>
              <a:srgbClr val="D4A57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6654" y="2794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68730" y="2635568"/>
              <a:ext cx="1493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ESP32 现场验证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2540" y="2915602"/>
              <a:ext cx="26873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MQTT 长跑 · OTA 升级演练 · 土壤校准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4445" y="31413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真实环境稳定性验证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0" y="2381250"/>
            <a:ext cx="5524500" cy="952500"/>
            <a:chOff x="6096000" y="2381250"/>
            <a:chExt cx="5524500" cy="952500"/>
          </a:xfrm>
        </p:grpSpPr>
        <p:sp>
          <p:nvSpPr>
            <p:cNvPr id="29" name="Freeform 29"/>
            <p:cNvSpPr/>
            <p:nvPr/>
          </p:nvSpPr>
          <p:spPr>
            <a:xfrm>
              <a:off x="6096000" y="2381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096000" y="2381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4A7C2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286500" y="2667000"/>
              <a:ext cx="381000" cy="381000"/>
            </a:xfrm>
            <a:prstGeom prst="ellipse">
              <a:avLst/>
            </a:prstGeom>
            <a:solidFill>
              <a:srgbClr val="4A7C2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11154" y="2794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93230" y="2635568"/>
              <a:ext cx="16801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数据库 Migration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7040" y="2915602"/>
              <a:ext cx="32087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新增 schema 走递增 migration · 补备份/回滚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98945" y="3141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工程化规范化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3524250"/>
            <a:ext cx="5334000" cy="952500"/>
            <a:chOff x="571500" y="3524250"/>
            <a:chExt cx="5334000" cy="952500"/>
          </a:xfrm>
        </p:grpSpPr>
        <p:sp>
          <p:nvSpPr>
            <p:cNvPr id="37" name="Freeform 37"/>
            <p:cNvSpPr/>
            <p:nvPr/>
          </p:nvSpPr>
          <p:spPr>
            <a:xfrm>
              <a:off x="571500" y="3524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571500" y="3524250"/>
              <a:ext cx="5334000" cy="952500"/>
            </a:xfrm>
            <a:custGeom>
              <a:avLst/>
              <a:gdLst/>
              <a:ahLst/>
              <a:cxnLst/>
              <a:rect l="l" t="t" r="r" b="b"/>
              <a:pathLst>
                <a:path w="5334000" h="952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838200"/>
                  </a:lnTo>
                  <a:cubicBezTo>
                    <a:pt x="5334000" y="901326"/>
                    <a:pt x="5282826" y="952500"/>
                    <a:pt x="52197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E8A849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762000" y="3810000"/>
              <a:ext cx="381000" cy="381000"/>
            </a:xfrm>
            <a:prstGeom prst="ellipse">
              <a:avLst/>
            </a:prstGeom>
            <a:solidFill>
              <a:srgbClr val="E8A84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6654" y="3937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68730" y="377856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端到端测试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272540" y="4058602"/>
              <a:ext cx="33697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background_jobs 重试 · sync_events 断线补收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74445" y="4284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全链路覆盖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096000" y="3524250"/>
            <a:ext cx="5524500" cy="952500"/>
            <a:chOff x="6096000" y="3524250"/>
            <a:chExt cx="5524500" cy="952500"/>
          </a:xfrm>
        </p:grpSpPr>
        <p:sp>
          <p:nvSpPr>
            <p:cNvPr id="45" name="Freeform 45"/>
            <p:cNvSpPr/>
            <p:nvPr/>
          </p:nvSpPr>
          <p:spPr>
            <a:xfrm>
              <a:off x="6096000" y="3524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6096000" y="3524250"/>
              <a:ext cx="5524500" cy="952500"/>
            </a:xfrm>
            <a:custGeom>
              <a:avLst/>
              <a:gdLst/>
              <a:ahLst/>
              <a:cxnLst/>
              <a:rect l="l" t="t" r="r" b="b"/>
              <a:pathLst>
                <a:path w="5524500" h="952500">
                  <a:moveTo>
                    <a:pt x="114300" y="0"/>
                  </a:moveTo>
                  <a:lnTo>
                    <a:pt x="5410200" y="0"/>
                  </a:lnTo>
                  <a:cubicBezTo>
                    <a:pt x="5473326" y="0"/>
                    <a:pt x="5524500" y="51174"/>
                    <a:pt x="5524500" y="114300"/>
                  </a:cubicBezTo>
                  <a:lnTo>
                    <a:pt x="5524500" y="838200"/>
                  </a:lnTo>
                  <a:cubicBezTo>
                    <a:pt x="5524500" y="901326"/>
                    <a:pt x="5473326" y="952500"/>
                    <a:pt x="541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14288">
              <a:solidFill>
                <a:srgbClr val="D4A574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286500" y="3810000"/>
              <a:ext cx="381000" cy="381000"/>
            </a:xfrm>
            <a:prstGeom prst="ellipse">
              <a:avLst/>
            </a:prstGeom>
            <a:solidFill>
              <a:srgbClr val="D4A57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11154" y="393763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93230" y="3778568"/>
              <a:ext cx="16904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桌面客户端二阶段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97040" y="4058602"/>
              <a:ext cx="28560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B6B"/>
                  </a:solidFill>
                  <a:latin typeface="Arial"/>
                  <a:ea typeface="Microsoft YaHei"/>
                  <a:cs typeface="Arial"/>
                </a:rPr>
                <a:t>档案表单 · 趋势图 · 提醒管理 · 深色模式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98945" y="42843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B8B7B"/>
                  </a:solidFill>
                  <a:latin typeface="Arial"/>
                  <a:ea typeface="Microsoft YaHei"/>
                  <a:cs typeface="Arial"/>
                </a:rPr>
                <a:t>用户体验提升</a:t>
              </a:r>
            </a:p>
          </p:txBody>
        </p:sp>
      </p:grpSp>
      <p:sp>
        <p:nvSpPr>
          <p:cNvPr id="53" name="Freeform 53"/>
          <p:cNvSpPr/>
          <p:nvPr/>
        </p:nvSpPr>
        <p:spPr>
          <a:xfrm>
            <a:off x="571500" y="4762500"/>
            <a:ext cx="11049000" cy="1143000"/>
          </a:xfrm>
          <a:custGeom>
            <a:avLst/>
            <a:gdLst/>
            <a:ahLst/>
            <a:cxnLst/>
            <a:rect l="l" t="t" r="r" b="b"/>
            <a:pathLst>
              <a:path w="11049000" h="1143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028700"/>
                </a:lnTo>
                <a:cubicBezTo>
                  <a:pt x="11049000" y="1091826"/>
                  <a:pt x="10997826" y="1143000"/>
                  <a:pt x="10934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" name="Freeform 54"/>
          <p:cNvSpPr/>
          <p:nvPr/>
        </p:nvSpPr>
        <p:spPr>
          <a:xfrm>
            <a:off x="571500" y="4762500"/>
            <a:ext cx="11049000" cy="1143000"/>
          </a:xfrm>
          <a:custGeom>
            <a:avLst/>
            <a:gdLst/>
            <a:ahLst/>
            <a:cxnLst/>
            <a:rect l="l" t="t" r="r" b="b"/>
            <a:pathLst>
              <a:path w="11049000" h="114300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028700"/>
                </a:lnTo>
                <a:cubicBezTo>
                  <a:pt x="11049000" y="1091826"/>
                  <a:pt x="10997826" y="1143000"/>
                  <a:pt x="10934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noFill/>
          <a:ln w="9525">
            <a:solidFill>
              <a:srgbClr val="E0D8C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46760" y="4918710"/>
            <a:ext cx="22387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桌面客户端二阶段详细规划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762000" y="5191125"/>
            <a:ext cx="10572750" cy="285750"/>
            <a:chOff x="762000" y="5191125"/>
            <a:chExt cx="10572750" cy="285750"/>
          </a:xfrm>
        </p:grpSpPr>
        <p:sp>
          <p:nvSpPr>
            <p:cNvPr id="56" name="Freeform 56"/>
            <p:cNvSpPr/>
            <p:nvPr/>
          </p:nvSpPr>
          <p:spPr>
            <a:xfrm>
              <a:off x="76200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70610" y="5284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编辑档案表单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2333625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707958" y="52844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读数趋势图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390525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269724" y="5284470"/>
              <a:ext cx="6998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提醒管理 UI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5476875" y="5191125"/>
              <a:ext cx="1143000" cy="285750"/>
            </a:xfrm>
            <a:custGeom>
              <a:avLst/>
              <a:gdLst/>
              <a:ahLst/>
              <a:cxnLst/>
              <a:rect l="l" t="t" r="r" b="b"/>
              <a:pathLst>
                <a:path w="1143000" h="285750">
                  <a:moveTo>
                    <a:pt x="57150" y="0"/>
                  </a:moveTo>
                  <a:lnTo>
                    <a:pt x="1085850" y="0"/>
                  </a:lnTo>
                  <a:cubicBezTo>
                    <a:pt x="1117413" y="0"/>
                    <a:pt x="1143000" y="25587"/>
                    <a:pt x="1143000" y="57150"/>
                  </a:cubicBezTo>
                  <a:lnTo>
                    <a:pt x="1143000" y="228600"/>
                  </a:lnTo>
                  <a:cubicBezTo>
                    <a:pt x="1143000" y="260163"/>
                    <a:pt x="1117413" y="285750"/>
                    <a:pt x="108585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D5016">
                <a:alpha val="8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774055" y="5284470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深色模式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676275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4A7C28">
                <a:alpha val="8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071360" y="5284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5016"/>
                  </a:solidFill>
                  <a:latin typeface="Arial"/>
                  <a:ea typeface="Microsoft YaHei"/>
                  <a:cs typeface="Arial"/>
                </a:rPr>
                <a:t>头像裁剪工具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8334375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8A849">
                <a:alpha val="8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642985" y="5284470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相册编辑功能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9906000" y="5191125"/>
              <a:ext cx="1428750" cy="285750"/>
            </a:xfrm>
            <a:custGeom>
              <a:avLst/>
              <a:gdLst/>
              <a:ahLst/>
              <a:cxnLst/>
              <a:rect l="l" t="t" r="r" b="b"/>
              <a:pathLst>
                <a:path w="1428750" h="285750">
                  <a:moveTo>
                    <a:pt x="57150" y="0"/>
                  </a:moveTo>
                  <a:lnTo>
                    <a:pt x="1371600" y="0"/>
                  </a:lnTo>
                  <a:cubicBezTo>
                    <a:pt x="1403163" y="0"/>
                    <a:pt x="1428750" y="25587"/>
                    <a:pt x="1428750" y="57150"/>
                  </a:cubicBezTo>
                  <a:lnTo>
                    <a:pt x="1428750" y="228600"/>
                  </a:lnTo>
                  <a:cubicBezTo>
                    <a:pt x="1428750" y="260163"/>
                    <a:pt x="1403163" y="285750"/>
                    <a:pt x="1371600" y="285750"/>
                  </a:cubicBezTo>
                  <a:lnTo>
                    <a:pt x="57150" y="285750"/>
                  </a:lnTo>
                  <a:cubicBezTo>
                    <a:pt x="25587" y="285750"/>
                    <a:pt x="0" y="260163"/>
                    <a:pt x="0" y="228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D4A574">
                <a:alpha val="8000"/>
              </a:srgbClr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280332" y="5284470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8B6914"/>
                  </a:solidFill>
                  <a:latin typeface="Arial"/>
                  <a:ea typeface="Microsoft YaHei"/>
                  <a:cs typeface="Arial"/>
                </a:rPr>
                <a:t>多用户体系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49618" y="5657374"/>
            <a:ext cx="34708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目标：从"可用"到"好用"，让每个功能都体现人文关怀</a:t>
            </a:r>
          </a:p>
        </p:txBody>
      </p:sp>
      <p:sp>
        <p:nvSpPr>
          <p:cNvPr id="72" name="Freeform 72"/>
          <p:cNvSpPr/>
          <p:nvPr/>
        </p:nvSpPr>
        <p:spPr>
          <a:xfrm>
            <a:off x="571500" y="60960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381000"/>
                </a:lnTo>
                <a:cubicBezTo>
                  <a:pt x="11049000" y="433605"/>
                  <a:pt x="11006355" y="476250"/>
                  <a:pt x="10953750" y="476250"/>
                </a:cubicBezTo>
                <a:lnTo>
                  <a:pt x="95250" y="476250"/>
                </a:lnTo>
                <a:cubicBezTo>
                  <a:pt x="42645" y="476250"/>
                  <a:pt x="0" y="433605"/>
                  <a:pt x="0" y="381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D5016">
              <a:alpha val="4000"/>
            </a:srgbClr>
          </a:solidFill>
          <a:ln>
            <a:noFill/>
          </a:ln>
        </p:spPr>
      </p:sp>
      <p:sp>
        <p:nvSpPr>
          <p:cNvPr id="73" name="Freeform 73"/>
          <p:cNvSpPr/>
          <p:nvPr/>
        </p:nvSpPr>
        <p:spPr>
          <a:xfrm>
            <a:off x="876300" y="6238869"/>
            <a:ext cx="190500" cy="171456"/>
          </a:xfrm>
          <a:custGeom>
            <a:avLst/>
            <a:gdLst/>
            <a:ahLst/>
            <a:cxnLst/>
            <a:rect l="l" t="t" r="r" b="b"/>
            <a:pathLst>
              <a:path w="190500" h="171456">
                <a:moveTo>
                  <a:pt x="38100" y="6"/>
                </a:moveTo>
                <a:cubicBezTo>
                  <a:pt x="71815" y="0"/>
                  <a:pt x="100229" y="25164"/>
                  <a:pt x="104299" y="58632"/>
                </a:cubicBezTo>
                <a:cubicBezTo>
                  <a:pt x="116849" y="45497"/>
                  <a:pt x="134233" y="38078"/>
                  <a:pt x="152400" y="38106"/>
                </a:cubicBezTo>
                <a:lnTo>
                  <a:pt x="180975" y="38106"/>
                </a:lnTo>
                <a:cubicBezTo>
                  <a:pt x="186236" y="38106"/>
                  <a:pt x="190500" y="42370"/>
                  <a:pt x="190500" y="47631"/>
                </a:cubicBezTo>
                <a:lnTo>
                  <a:pt x="190500" y="57156"/>
                </a:lnTo>
                <a:cubicBezTo>
                  <a:pt x="190500" y="93979"/>
                  <a:pt x="160649" y="123831"/>
                  <a:pt x="123825" y="123831"/>
                </a:cubicBezTo>
                <a:lnTo>
                  <a:pt x="104775" y="123831"/>
                </a:lnTo>
                <a:lnTo>
                  <a:pt x="104775" y="161931"/>
                </a:lnTo>
                <a:cubicBezTo>
                  <a:pt x="104775" y="167191"/>
                  <a:pt x="100511" y="171456"/>
                  <a:pt x="95250" y="171456"/>
                </a:cubicBezTo>
                <a:cubicBezTo>
                  <a:pt x="89989" y="171456"/>
                  <a:pt x="85725" y="167191"/>
                  <a:pt x="85725" y="161931"/>
                </a:cubicBezTo>
                <a:lnTo>
                  <a:pt x="85725" y="95256"/>
                </a:lnTo>
                <a:lnTo>
                  <a:pt x="66675" y="95256"/>
                </a:lnTo>
                <a:cubicBezTo>
                  <a:pt x="29851" y="95256"/>
                  <a:pt x="0" y="65404"/>
                  <a:pt x="0" y="28581"/>
                </a:cubicBezTo>
                <a:lnTo>
                  <a:pt x="0" y="9531"/>
                </a:lnTo>
                <a:cubicBezTo>
                  <a:pt x="0" y="4270"/>
                  <a:pt x="4264" y="6"/>
                  <a:pt x="9525" y="6"/>
                </a:cubicBezTo>
                <a:close/>
              </a:path>
            </a:pathLst>
          </a:custGeom>
          <a:solidFill>
            <a:srgbClr val="4A7C28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1177290" y="6287452"/>
            <a:ext cx="34004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持续迭代</a:t>
            </a:r>
            <a:r>
              <a:rPr lang="zh-CN" sz="1050" dirty="0">
                <a:solidFill>
                  <a:srgbClr val="2D5016"/>
                </a:solidFill>
                <a:latin typeface="Arial"/>
                <a:ea typeface="Microsoft YaHei"/>
                <a:cs typeface="Arial"/>
              </a:rPr>
              <a:t>· 以植物的节奏成长 · 以用户的需求驱动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609070" y="6570345"/>
            <a:ext cx="3974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B8B7B"/>
                </a:solidFill>
                <a:latin typeface="Arial"/>
                <a:ea typeface="Microsoft YaHei"/>
                <a:cs typeface="Arial"/>
              </a:rPr>
              <a:t>17 / 18</a:t>
            </a:r>
          </a:p>
        </p:txBody>
      </p:sp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D5016"/>
              </a:gs>
              <a:gs pos="50000">
                <a:srgbClr val="3A6520"/>
              </a:gs>
              <a:gs pos="100000">
                <a:srgbClr val="4A7C28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A849">
                  <a:alpha val="12000"/>
                </a:srgbClr>
              </a:gs>
              <a:gs pos="100000">
                <a:srgbClr val="E8A84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6B9B37">
                  <a:alpha val="15000"/>
                </a:srgbClr>
              </a:gs>
              <a:gs pos="100000">
                <a:srgbClr val="6B9B3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428750" y="952500"/>
            <a:ext cx="952500" cy="952500"/>
          </a:xfrm>
          <a:prstGeom prst="ellipse">
            <a:avLst/>
          </a:prstGeom>
          <a:solidFill>
            <a:srgbClr val="6B9B37">
              <a:alpha val="8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2286000" y="1619250"/>
            <a:ext cx="571500" cy="571500"/>
          </a:xfrm>
          <a:prstGeom prst="ellipse">
            <a:avLst/>
          </a:prstGeom>
          <a:solidFill>
            <a:srgbClr val="8BBF4A">
              <a:alpha val="6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9429750" y="4667250"/>
            <a:ext cx="1143000" cy="1143000"/>
          </a:xfrm>
          <a:prstGeom prst="ellipse">
            <a:avLst/>
          </a:prstGeom>
          <a:solidFill>
            <a:srgbClr val="6B9B37">
              <a:alpha val="7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10144125" y="4429125"/>
            <a:ext cx="666750" cy="666750"/>
          </a:xfrm>
          <a:prstGeom prst="ellipse">
            <a:avLst/>
          </a:prstGeom>
          <a:solidFill>
            <a:srgbClr val="8BBF4A">
              <a:alpha val="5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1066800" y="2143125"/>
            <a:ext cx="152400" cy="476250"/>
          </a:xfrm>
          <a:prstGeom prst="ellipse">
            <a:avLst/>
          </a:prstGeom>
          <a:solidFill>
            <a:srgbClr val="6B9B37">
              <a:alpha val="10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953750" y="4000500"/>
            <a:ext cx="190500" cy="571500"/>
          </a:xfrm>
          <a:prstGeom prst="ellipse">
            <a:avLst/>
          </a:prstGeom>
          <a:solidFill>
            <a:srgbClr val="6B9B37">
              <a:alpha val="8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5655026" y="1585531"/>
            <a:ext cx="462249" cy="407370"/>
          </a:xfrm>
          <a:custGeom>
            <a:avLst/>
            <a:gdLst/>
            <a:ahLst/>
            <a:cxnLst/>
            <a:rect l="l" t="t" r="r" b="b"/>
            <a:pathLst>
              <a:path w="462249" h="407370">
                <a:moveTo>
                  <a:pt x="119832" y="6789"/>
                </a:moveTo>
                <a:cubicBezTo>
                  <a:pt x="159675" y="0"/>
                  <a:pt x="200447" y="11648"/>
                  <a:pt x="230690" y="38459"/>
                </a:cubicBezTo>
                <a:lnTo>
                  <a:pt x="231513" y="39193"/>
                </a:lnTo>
                <a:lnTo>
                  <a:pt x="232268" y="38526"/>
                </a:lnTo>
                <a:cubicBezTo>
                  <a:pt x="261097" y="13226"/>
                  <a:pt x="299425" y="1565"/>
                  <a:pt x="337459" y="6522"/>
                </a:cubicBezTo>
                <a:lnTo>
                  <a:pt x="342927" y="7322"/>
                </a:lnTo>
                <a:cubicBezTo>
                  <a:pt x="391207" y="15658"/>
                  <a:pt x="431028" y="49799"/>
                  <a:pt x="446638" y="96241"/>
                </a:cubicBezTo>
                <a:cubicBezTo>
                  <a:pt x="462249" y="142682"/>
                  <a:pt x="451134" y="193944"/>
                  <a:pt x="417691" y="229750"/>
                </a:cubicBezTo>
                <a:lnTo>
                  <a:pt x="413691" y="233861"/>
                </a:lnTo>
                <a:lnTo>
                  <a:pt x="412624" y="234773"/>
                </a:lnTo>
                <a:lnTo>
                  <a:pt x="247048" y="398771"/>
                </a:lnTo>
                <a:cubicBezTo>
                  <a:pt x="239146" y="406592"/>
                  <a:pt x="226680" y="407370"/>
                  <a:pt x="217867" y="400593"/>
                </a:cubicBezTo>
                <a:lnTo>
                  <a:pt x="215777" y="398771"/>
                </a:lnTo>
                <a:lnTo>
                  <a:pt x="49245" y="233817"/>
                </a:lnTo>
                <a:cubicBezTo>
                  <a:pt x="13272" y="198816"/>
                  <a:pt x="0" y="146580"/>
                  <a:pt x="14902" y="98652"/>
                </a:cubicBezTo>
                <a:cubicBezTo>
                  <a:pt x="29803" y="50723"/>
                  <a:pt x="70354" y="15222"/>
                  <a:pt x="119832" y="6789"/>
                </a:cubicBezTo>
                <a:close/>
              </a:path>
            </a:pathLst>
          </a:custGeom>
          <a:solidFill>
            <a:srgbClr val="E8A849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118038" y="2183130"/>
            <a:ext cx="395592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和植物一起呼吸</a:t>
            </a:r>
          </a:p>
        </p:txBody>
      </p:sp>
      <p:sp>
        <p:nvSpPr>
          <p:cNvPr id="13" name="Line 13"/>
          <p:cNvSpPr/>
          <p:nvPr/>
        </p:nvSpPr>
        <p:spPr>
          <a:xfrm>
            <a:off x="4762500" y="28575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9050">
            <a:solidFill>
              <a:srgbClr val="E8A849">
                <a:alpha val="50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267676" y="3108008"/>
            <a:ext cx="365664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D4E8C0"/>
                </a:solidFill>
                <a:latin typeface="Arial"/>
                <a:ea typeface="Microsoft YaHei"/>
                <a:cs typeface="Arial"/>
              </a:rPr>
              <a:t>让每一株植物，都有被听见的权利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14261" y="3521392"/>
            <a:ext cx="49634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B8D4A0"/>
                </a:solidFill>
                <a:latin typeface="Arial"/>
                <a:ea typeface="Microsoft YaHei"/>
                <a:cs typeface="Arial"/>
              </a:rPr>
              <a:t>不是高效的传感器看板，而是和植物一起呼吸的陪伴软件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33606" y="409003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E8A849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17" name="Freeform 17"/>
          <p:cNvSpPr/>
          <p:nvPr/>
        </p:nvSpPr>
        <p:spPr>
          <a:xfrm>
            <a:off x="3619500" y="47625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1028700"/>
                </a:lnTo>
                <a:cubicBezTo>
                  <a:pt x="4953000" y="1091826"/>
                  <a:pt x="4901826" y="1143000"/>
                  <a:pt x="4838700" y="1143000"/>
                </a:cubicBezTo>
                <a:lnTo>
                  <a:pt x="114300" y="1143000"/>
                </a:lnTo>
                <a:cubicBezTo>
                  <a:pt x="51174" y="1143000"/>
                  <a:pt x="0" y="1091826"/>
                  <a:pt x="0" y="102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8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69917" y="4966335"/>
            <a:ext cx="28521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4E8C0"/>
                </a:solidFill>
                <a:latin typeface="Arial"/>
                <a:ea typeface="Microsoft YaHei"/>
                <a:cs typeface="Arial"/>
              </a:rPr>
              <a:t>DYN Plant Echo · 智能植物陪伴系统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60321" y="5268278"/>
            <a:ext cx="28713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BBF80"/>
                </a:solidFill>
                <a:latin typeface="Arial"/>
                <a:ea typeface="Microsoft YaHei"/>
                <a:cs typeface="Arial"/>
              </a:rPr>
              <a:t>ESP32 · Node.js · Tauri · SQLite · LLM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162550" y="55540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BBF80"/>
                </a:solidFill>
                <a:latin typeface="Arial"/>
                <a:ea typeface="Microsoft YaHei"/>
                <a:cs typeface="Arial"/>
              </a:rPr>
              <a:t>2026年5月28日 · 期末汇报</a:t>
            </a:r>
          </a:p>
        </p:txBody>
      </p:sp>
      <p:sp>
        <p:nvSpPr>
          <p:cNvPr id="21" name="Freeform 21"/>
          <p:cNvSpPr/>
          <p:nvPr/>
        </p:nvSpPr>
        <p:spPr>
          <a:xfrm>
            <a:off x="5895754" y="6134100"/>
            <a:ext cx="228821" cy="242054"/>
          </a:xfrm>
          <a:custGeom>
            <a:avLst/>
            <a:gdLst/>
            <a:ahLst/>
            <a:cxnLst/>
            <a:rect l="l" t="t" r="r" b="b"/>
            <a:pathLst>
              <a:path w="228821" h="242054">
                <a:moveTo>
                  <a:pt x="919" y="143866"/>
                </a:moveTo>
                <a:lnTo>
                  <a:pt x="691" y="141732"/>
                </a:lnTo>
                <a:lnTo>
                  <a:pt x="640" y="141186"/>
                </a:lnTo>
                <a:cubicBezTo>
                  <a:pt x="199" y="136458"/>
                  <a:pt x="0" y="131710"/>
                  <a:pt x="43" y="126962"/>
                </a:cubicBezTo>
                <a:cubicBezTo>
                  <a:pt x="272" y="47079"/>
                  <a:pt x="54526" y="0"/>
                  <a:pt x="165143" y="0"/>
                </a:cubicBezTo>
                <a:lnTo>
                  <a:pt x="216121" y="0"/>
                </a:lnTo>
                <a:cubicBezTo>
                  <a:pt x="223135" y="0"/>
                  <a:pt x="228821" y="5686"/>
                  <a:pt x="228821" y="12700"/>
                </a:cubicBezTo>
                <a:lnTo>
                  <a:pt x="228795" y="38824"/>
                </a:lnTo>
                <a:cubicBezTo>
                  <a:pt x="222471" y="149327"/>
                  <a:pt x="168597" y="203200"/>
                  <a:pt x="76421" y="203200"/>
                </a:cubicBezTo>
                <a:lnTo>
                  <a:pt x="43007" y="203200"/>
                </a:lnTo>
                <a:cubicBezTo>
                  <a:pt x="40822" y="212016"/>
                  <a:pt x="39231" y="220968"/>
                  <a:pt x="38245" y="229997"/>
                </a:cubicBezTo>
                <a:cubicBezTo>
                  <a:pt x="37745" y="234507"/>
                  <a:pt x="34878" y="238408"/>
                  <a:pt x="30723" y="240231"/>
                </a:cubicBezTo>
                <a:cubicBezTo>
                  <a:pt x="26567" y="242054"/>
                  <a:pt x="21755" y="241521"/>
                  <a:pt x="18099" y="238834"/>
                </a:cubicBezTo>
                <a:cubicBezTo>
                  <a:pt x="14443" y="236147"/>
                  <a:pt x="12498" y="231713"/>
                  <a:pt x="12997" y="227203"/>
                </a:cubicBezTo>
                <a:cubicBezTo>
                  <a:pt x="14470" y="213927"/>
                  <a:pt x="16925" y="201452"/>
                  <a:pt x="20363" y="189776"/>
                </a:cubicBezTo>
                <a:lnTo>
                  <a:pt x="18864" y="187922"/>
                </a:lnTo>
                <a:lnTo>
                  <a:pt x="16223" y="184366"/>
                </a:lnTo>
                <a:lnTo>
                  <a:pt x="14229" y="181458"/>
                </a:lnTo>
                <a:lnTo>
                  <a:pt x="11917" y="177736"/>
                </a:lnTo>
                <a:lnTo>
                  <a:pt x="10673" y="175565"/>
                </a:lnTo>
                <a:lnTo>
                  <a:pt x="9847" y="174015"/>
                </a:lnTo>
                <a:cubicBezTo>
                  <a:pt x="7830" y="170182"/>
                  <a:pt x="6143" y="166184"/>
                  <a:pt x="4805" y="162065"/>
                </a:cubicBezTo>
                <a:lnTo>
                  <a:pt x="3891" y="159055"/>
                </a:lnTo>
                <a:lnTo>
                  <a:pt x="2812" y="154902"/>
                </a:lnTo>
                <a:lnTo>
                  <a:pt x="2088" y="151498"/>
                </a:lnTo>
                <a:lnTo>
                  <a:pt x="1542" y="148425"/>
                </a:lnTo>
                <a:close/>
                <a:moveTo>
                  <a:pt x="109365" y="89992"/>
                </a:moveTo>
                <a:cubicBezTo>
                  <a:pt x="73233" y="106058"/>
                  <a:pt x="47719" y="129743"/>
                  <a:pt x="31793" y="160896"/>
                </a:cubicBezTo>
                <a:cubicBezTo>
                  <a:pt x="32623" y="162590"/>
                  <a:pt x="33546" y="164283"/>
                  <a:pt x="34562" y="165976"/>
                </a:cubicBezTo>
                <a:lnTo>
                  <a:pt x="36911" y="169545"/>
                </a:lnTo>
                <a:lnTo>
                  <a:pt x="37800" y="170777"/>
                </a:lnTo>
                <a:cubicBezTo>
                  <a:pt x="38816" y="172165"/>
                  <a:pt x="39908" y="173558"/>
                  <a:pt x="41077" y="174955"/>
                </a:cubicBezTo>
                <a:lnTo>
                  <a:pt x="43579" y="177800"/>
                </a:lnTo>
                <a:lnTo>
                  <a:pt x="51821" y="177800"/>
                </a:lnTo>
                <a:cubicBezTo>
                  <a:pt x="64991" y="148958"/>
                  <a:pt x="87089" y="127686"/>
                  <a:pt x="119677" y="113208"/>
                </a:cubicBezTo>
                <a:cubicBezTo>
                  <a:pt x="126088" y="110360"/>
                  <a:pt x="128976" y="102855"/>
                  <a:pt x="126129" y="96444"/>
                </a:cubicBezTo>
                <a:cubicBezTo>
                  <a:pt x="123281" y="90033"/>
                  <a:pt x="115775" y="87145"/>
                  <a:pt x="109365" y="89992"/>
                </a:cubicBezTo>
              </a:path>
            </a:pathLst>
          </a:custGeom>
          <a:solidFill>
            <a:srgbClr val="6B9B37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1A3A0E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