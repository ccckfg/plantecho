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svg" ContentType="image/sv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[停顿] 各位老师，大家下午好。今天非常高兴代表我们小组，向大家汇报我们的期末项目——《与植物一起呼吸的陪伴：DYN Plant Pal 智能植物陪伴系统》。</a:t>
            </a:r>
          </a:p>
          <a:p>
            <a:endParaRPr lang="zh-CN" dirty="0"/>
          </a:p>
          <a:p>
            <a:r>
              <a:rPr lang="zh-CN" dirty="0"/>
              <a:t>[停顿] 在这个项目中，我们试图挑战并颠覆一个行业共识：为什么智能硬件看板只能是冷冰冰的数据图表？我们希望利用 ESP32 的物联感知能力，结合前沿的大语言模型长期记忆系统，为用户在养护植物的过程中，带来真正的生命温度与共情陪伴。</a:t>
            </a:r>
          </a:p>
          <a:p>
            <a:endParaRPr lang="zh-CN" dirty="0"/>
          </a:p>
          <a:p>
            <a:r>
              <a:rPr lang="zh-CN" dirty="0"/>
              <a:t>要点：① 介绍项目名称与软硬件定位；② 明确项目的核心人文亮点——陪伴感；③ 树立期末完美交付的汇报基调。</a:t>
            </a:r>
          </a:p>
          <a:p>
            <a:r>
              <a:rPr lang="zh-CN" dirty="0"/>
              <a:t>时长：1.0 分钟</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在进入系统演示之前，我想先和大家分享一下我们的初心，以及对当前传统智能养护看板的痛点思考。</a:t>
            </a:r>
          </a:p>
          <a:p>
            <a:endParaRPr lang="zh-CN" dirty="0"/>
          </a:p>
          <a:p>
            <a:r>
              <a:rPr lang="zh-CN" dirty="0"/>
              <a:t>大家可以看到右侧这幅由冷峻红色网格笼罩的数据图表。[停顿] 传统的智能养护总是充满着冰冷与说理。满屏冷漠的“水分：23%”并没有让用户产生真正的关怀欲望；更致命的是，传感器数值并不等于心情，缺乏语境的单一报警极易引发用户的养护焦虑；同时，传统的单向数据上报使得人与植物之间毫无羁绊，缺乏反馈。这促使我们思考：如何将物理数值转化为真正“说人话、带温度”的情感数字生命？</a:t>
            </a:r>
          </a:p>
          <a:p>
            <a:endParaRPr lang="zh-CN" dirty="0"/>
          </a:p>
          <a:p>
            <a:r>
              <a:rPr lang="zh-CN" dirty="0"/>
              <a:t>要点：① 痛陈传统养护系统冷冰冰的数据孤岛与单向通信弊端；② 阐明由此引发的用户焦虑感；③ 抛出如何让人机交互拥有温度的思考。</a:t>
            </a:r>
          </a:p>
          <a:p>
            <a:r>
              <a:rPr lang="zh-CN" dirty="0"/>
              <a:t>时长：1.5 分钟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正是为了解决这些“冷冰冰”的痛点，我们为 DYN Plant Pal 确立了灵魂——“人文关怀”五大设计原则，并将它们严密地贯彻到了前后端与硬件的每一行代码中。</a:t>
            </a:r>
          </a:p>
          <a:p>
            <a:endParaRPr lang="zh-CN" dirty="0"/>
          </a:p>
          <a:p>
            <a:r>
              <a:rPr lang="zh-CN" dirty="0"/>
              <a:t>首先，是“系统说人话”。我们用第一人称植物视角进行转译，把“否定句”转化为“邀请句”。[停顿] 其次，“尊重用户的节奏”，提供 5 秒宽容的“撤销 Toast”而不是强行抢焦点的模态弹窗，并且界面采用 380ms 呼吸感缓动。最后是“操作信任与诚实”，本地兜底如实告知，绝不在对话流中伪造消息，把真正的控制权还给用户。这三大原则重塑了人机交互的信赖基底。</a:t>
            </a:r>
          </a:p>
          <a:p>
            <a:endParaRPr lang="zh-CN" dirty="0"/>
          </a:p>
          <a:p>
            <a:r>
              <a:rPr lang="zh-CN" dirty="0"/>
              <a:t>要点：① 阐述系统说人话的第一人称转译；② 介绍 5 秒撤销与 380ms 呼吸缓动等慢节奏设计；③ 强调对用户的诚实优先与信任建立。</a:t>
            </a:r>
          </a:p>
          <a:p>
            <a:r>
              <a:rPr lang="zh-CN" dirty="0"/>
              <a:t>时长：1.5 分钟</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有了宏观的设计哲学指引，如何保证这套系统的高可用与工程落地呢？接下来，请看我们的系统整体架构拓扑。</a:t>
            </a:r>
          </a:p>
          <a:p>
            <a:endParaRPr lang="zh-CN" dirty="0"/>
          </a:p>
          <a:p>
            <a:r>
              <a:rPr lang="zh-CN" dirty="0"/>
              <a:t>我们的系统采用「硬件物理感知 + 云端思考中枢 + 终端情感展现」三层深度互联架构。底端的 ESP32 进行毫秒级的高频传感捕获；通过低开销的 MQTT readings 主题上报至 Fastify 后端；后端不仅负责数据持久化，更集成了 sqlite-vec 向量记忆系统；最顶层则是 Tauri v2 客户端，通过 sync-SSE 实时变更长连接通道，达成多端数据的静默、增量高一致性实时同步。</a:t>
            </a:r>
          </a:p>
          <a:p>
            <a:endParaRPr lang="zh-CN" dirty="0"/>
          </a:p>
          <a:p>
            <a:r>
              <a:rPr lang="zh-CN" dirty="0"/>
              <a:t>要点：① 介绍硬件、云端与多终端三层物联拓扑结构；② 阐明 MQTT 与 HTTP 并行的双通信机制；③ 解释 SQLite sync-SSE 增量同步对前端体验的支撑。</a:t>
            </a:r>
          </a:p>
          <a:p>
            <a:r>
              <a:rPr lang="zh-CN" dirty="0"/>
              <a:t>时长：1.5 分钟</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接下来，我们逐层剖析。首先来看我们投入了大量心血、从零摸索的硬件物理感知端。</a:t>
            </a:r>
          </a:p>
          <a:p>
            <a:endParaRPr lang="zh-CN" dirty="0"/>
          </a:p>
          <a:p>
            <a:r>
              <a:rPr lang="zh-CN" dirty="0"/>
              <a:t>我们的 ESP32 核心板卡挂载了多路高精度传感器总线。包括用于获取土壤湿度的电容式传感器，用于获取空气温湿度的瑞士 SHT40 芯片，以及用于环境光照的 BH1750。固件内部，我们开发了秒级高频 MQTT 主动推流，将环境指标打包为标准的 JSON 载荷。[停顿] 同时为了让普通用户免于繁琐的代码烧录，我们实现了长按 BOOT 键 3 秒进入 SoftAP 小白配网热点的流程，极大地降低了门槛。</a:t>
            </a:r>
          </a:p>
          <a:p>
            <a:endParaRPr lang="zh-CN" dirty="0"/>
          </a:p>
          <a:p>
            <a:r>
              <a:rPr lang="zh-CN" dirty="0"/>
              <a:t>要点：① 介绍土壤、温湿度与光照多源传感器接入；② 解释固件内部 JSON 打包与 MQTT readings 主题通信；③ 介绍 SoftAP 零门槛网页配网机制。</a:t>
            </a:r>
          </a:p>
          <a:p>
            <a:r>
              <a:rPr lang="zh-CN" dirty="0"/>
              <a:t>时长：1.5 分钟</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作为一款物理物联设备，如何在复杂的外部网络环境下保证其生命的弹性与稳定性？我们设计了强悍的固件自我守护防线。</a:t>
            </a:r>
          </a:p>
          <a:p>
            <a:endParaRPr lang="zh-CN" dirty="0"/>
          </a:p>
          <a:p>
            <a:r>
              <a:rPr lang="zh-CN" dirty="0"/>
              <a:t>在配网成功后，后端会通过 MQTT config 主题自动下发该设备的专属 API Key 鉴权密钥，并被 ESP32 自动下写写入 NVS 芯片持久区。不仅如此，系统具备了全自动的 OTA 在线无感更新机制。通过在云端宣告 JSON 格式的 manifest 宣告版本，固件会自动下载 bin 文件、在硬件端执行 MD5 完整性校验，并利用 ESP32 的双 OTA 备份分区进行热切换，哪怕断电重启也能在备用区失败回滚，绝不变砖。</a:t>
            </a:r>
          </a:p>
          <a:p>
            <a:endParaRPr lang="zh-CN" dirty="0"/>
          </a:p>
          <a:p>
            <a:r>
              <a:rPr lang="zh-CN" dirty="0"/>
              <a:t>要点：① 讲解设备认领密钥自动下发与 NVS 持久化保护；② 详细解构 OTA manifest 校验与空中 MD5 防护；③ 介绍双分区热备份与失败回滚的安全高可用防线。</a:t>
            </a:r>
          </a:p>
          <a:p>
            <a:r>
              <a:rPr lang="zh-CN" dirty="0"/>
              <a:t>时长：1.5 分钟</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穿过硬件层的物理感知，我们来到了系统的核心——云端大脑层。这也是我们全栈交付中完成度达 90% 的云中枢。</a:t>
            </a:r>
          </a:p>
          <a:p>
            <a:endParaRPr lang="zh-CN" dirty="0"/>
          </a:p>
          <a:p>
            <a:r>
              <a:rPr lang="zh-CN" dirty="0"/>
              <a:t>我们选用了基于 Node.js 与 TypeScript 的 Fastify 高并发框架，内置严格的 Zod Schema 输入模式校验，确保鉴权安全性。在数据存储上，我们采用了极轻量的嵌入式 SQLite 数据库，并创新性地开启了 WAL 模式，达成超高强度的多线程读写并行。同时，基于 SQLite 的 sync_events 审计表配合 Server-Sent Events (SSE) 实时长连接流，实现了数据的高效、增量、实时反向推送。</a:t>
            </a:r>
          </a:p>
          <a:p>
            <a:endParaRPr lang="zh-CN" dirty="0"/>
          </a:p>
          <a:p>
            <a:r>
              <a:rPr lang="zh-CN" dirty="0"/>
              <a:t>要点：① 介绍 TypeScript + Fastify 高并发模块化分层后端；② 阐述 SQLite 数据库 WAL 模式对硬件高频推流的读写性能加持；③ 介绍基于 sync_events 与 SSE 的长连接增量同步。</a:t>
            </a:r>
          </a:p>
          <a:p>
            <a:r>
              <a:rPr lang="zh-CN" dirty="0"/>
              <a:t>时长：1.5 分钟</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在解决了数据存储与同步后，我们迎来了本项目的最大亮点与核心创新——植物长期记忆系统的降维落地。</a:t>
            </a:r>
          </a:p>
          <a:p>
            <a:endParaRPr lang="zh-CN" dirty="0"/>
          </a:p>
          <a:p>
            <a:r>
              <a:rPr lang="zh-CN" dirty="0"/>
              <a:t>我们自主实现了参考 AgentGal 生命周期模型的长期记忆循环。读数和对话首先作为 Drafts 草稿被快速记录；后台异步 Consolidation 任务定时唤醒，将数据提炼为具有前因后果的 Episode 生命片段（如：“主人为干枯的我浇了一次水”）；随后，利用嵌入式向量 sqlite-vec 库进行向量化，结合 BM25 进行 Hybrid 混合检索；最终引入 Reranker 精准重排，永久沉淀为植物底层的 Understanding 认知世界。</a:t>
            </a:r>
          </a:p>
          <a:p>
            <a:endParaRPr lang="zh-CN" dirty="0"/>
          </a:p>
          <a:p>
            <a:r>
              <a:rPr lang="zh-CN" dirty="0"/>
              <a:t>要点：① 介绍参考 AgentGal 模型的 Drafts -&gt; Consolidation -&gt; Episode -&gt; Understanding 记忆流动生命周期；② 详细解构 sqlite-vec 本地向量混合检索对大模型幻觉的阻断；③ 解释 Reranker 对检索精度的 100% 优化。</a:t>
            </a:r>
          </a:p>
          <a:p>
            <a:r>
              <a:rPr lang="zh-CN" dirty="0"/>
              <a:t>时长：2.0 分钟</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拥有了长期生命片段和深度认知的植物，该如何打破以往单调一问一答的被动模式，主动向人类表达爱意与关怀呢？</a:t>
            </a:r>
          </a:p>
          <a:p>
            <a:endParaRPr lang="zh-CN" dirty="0"/>
          </a:p>
          <a:p>
            <a:r>
              <a:rPr lang="zh-CN" dirty="0"/>
              <a:t>我们为植物设计了“主动发言 Engine”与“和风天气代理”。当后台监听到严重缺水、降温，或者通过 QWeather 天气 API 监测到即将降雨时，Engine 会自动产生事件事实。经过严苛的发言冷却保护锁过滤后，大模型会结合植物的主观 Episode 长期记忆，润色为极具情感、调皮而真诚的人文视角第一人称问候。[停顿] 比如右侧展示的雨前俏皮提醒，让枯燥的数据变成了充满爱的情感共鸣。</a:t>
            </a:r>
          </a:p>
          <a:p>
            <a:endParaRPr lang="zh-CN" dirty="0"/>
          </a:p>
          <a:p>
            <a:r>
              <a:rPr lang="zh-CN" dirty="0"/>
              <a:t>要点：① 介绍监听严重读数与天气降雨预警的主动发言引擎；② 解释发言冷却阀门对用户打扰的规避；③ 对比物理阈值警报与 LLM 人文视角润色后的巨大情感体验跨越。</a:t>
            </a:r>
          </a:p>
          <a:p>
            <a:r>
              <a:rPr lang="zh-CN" dirty="0"/>
              <a:t>时长：1.5 分钟</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穿过物理端与云端的漫长数据链路，我们来到了最终呈现温润陪伴的终端——Tauri v2 桌面客户端。</a:t>
            </a:r>
          </a:p>
          <a:p>
            <a:endParaRPr lang="zh-CN" dirty="0"/>
          </a:p>
          <a:p>
            <a:r>
              <a:rPr lang="zh-CN" dirty="0"/>
              <a:t>我们的客户端摒弃了多余的系统内存开销，选用 Tauri v2 + Rust 构建底层骨架，相比传统的 Electron 架构，冷启动时间与内存开销几乎可以忽略不计。视觉上，我们严密落地了 Verdant Echo 的配色与字体系统。首创的“温温室主页 Dashboard”将时段问候、QWeather 代理以及多植物 Bento 栅格巧妙地排布在一起，卡片四周均使用渐变遮罩虚化硬边缘，营造大自然的呼吸流动感。</a:t>
            </a:r>
          </a:p>
          <a:p>
            <a:endParaRPr lang="zh-CN" dirty="0"/>
          </a:p>
          <a:p>
            <a:r>
              <a:rPr lang="zh-CN" dirty="0"/>
              <a:t>要点：① 介绍 Tauri v2 + Rust 的轻量化和极致冷启动内存开销；② 阐述 Verdant Echo 配色与字体的严密内嵌；③ 展示温室 Dashboard、多植物 Bento 栅格及边缘虚化融色细节。</a:t>
            </a:r>
          </a:p>
          <a:p>
            <a:r>
              <a:rPr lang="zh-CN" dirty="0"/>
              <a:t>时长：1.5 分钟</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在客户端的诸多页面中，最能展现情感双向闭环的，当属我们的植响对话室与成长日记。</a:t>
            </a:r>
          </a:p>
          <a:p>
            <a:endParaRPr lang="zh-CN" dirty="0"/>
          </a:p>
          <a:p>
            <a:r>
              <a:rPr lang="zh-CN" dirty="0"/>
              <a:t>我们的植响聊天框中，严格禁绝了伪造用户身份发送的虚假消息，完全用右下角精致居中的“系统已浇水 Chip 气泡”进行代替，给用户最纯粹的控制信任。在日记中，我们独创了里程碑时间轴。当发生有价值的 Episode 时，时间轴会进行金色高亮庆祝；用户只要悬停在里程碑卡片上，即可对植物进行“空中寄语”双向写留言，留言会自动沉淀为植物的新一轮 Episode 记忆。</a:t>
            </a:r>
          </a:p>
          <a:p>
            <a:endParaRPr lang="zh-CN" dirty="0"/>
          </a:p>
          <a:p>
            <a:r>
              <a:rPr lang="zh-CN" dirty="0"/>
              <a:t>要点：① 介绍支持流式与非流式切换的植响对话交互框；② 解释“系统已浇水 Chip 气泡”对人机操作信任的维护；③ 介绍日记里程碑时间线高亮庆祝与悬停留言的双向情感闭环。</a:t>
            </a:r>
          </a:p>
          <a:p>
            <a:r>
              <a:rPr lang="zh-CN" dirty="0"/>
              <a:t>时长：1.5 分钟</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除了这些核心功能页面，我们在整个界面的交互动效上，更是对每一像素的“呼吸感”与“慢手感”进行了匠人般的雕琢。</a:t>
            </a:r>
          </a:p>
          <a:p>
            <a:endParaRPr lang="zh-CN" dirty="0"/>
          </a:p>
          <a:p>
            <a:r>
              <a:rPr lang="zh-CN" dirty="0"/>
              <a:t>大家可以看到右侧这幅非常温暖的植物花盆微笑插图。在我们的客户端中，所有的滚动列表两端都进行了 alpha 渐变软过渡淡出；路由的切换与抽屉弹出均固定在 380ms 弹性过渡与 8px 的向上微推；所有可交互元素默认附加 active-scale 缩放回弹手感。我们甚至禁绝了所有刺激性的红色警告，统一使用暖琥珀色作为过渡。让植物的世界，没有无退路的“立刻不可逆”。</a:t>
            </a:r>
          </a:p>
          <a:p>
            <a:endParaRPr lang="zh-CN" dirty="0"/>
          </a:p>
          <a:p>
            <a:r>
              <a:rPr lang="zh-CN" dirty="0"/>
              <a:t>要点：① 展示精心剪裁的 human_care 氛围插画；② 介绍 alpha 渐变淡出、380ms 缓动上推及 scale 缩放手感等呼吸交互细节；③ 总结禁绝红色、统一琥珀色与“没有立刻不可逆”的慢节奏哲学。</a:t>
            </a:r>
          </a:p>
          <a:p>
            <a:r>
              <a:rPr lang="zh-CN" dirty="0"/>
              <a:t>时长：1.5 分钟</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介绍完系统的完整技术实现，我们想回过头来，向大家展示我们这 2 个多月来、一段几乎可以说是工程史诗般的蜕变历程。</a:t>
            </a:r>
          </a:p>
          <a:p>
            <a:endParaRPr lang="zh-CN" dirty="0"/>
          </a:p>
          <a:p>
            <a:r>
              <a:rPr lang="zh-CN" dirty="0"/>
              <a:t>大家可以看到横跨页面的这条虚线时间轴。[停顿] 在期中汇报时，我们手无寸铁，核心代码完全为 0 行，硬件甚至刚买到手，对 ESP32 一无所知，完全停留在纸上谈兵。而今天在期末交付现场，我们后端完成了 90%，客户端完成了 87%，硬件端 OLED/传感/配网/OTA 全部真机落成，甚至完成了 Smoke 全链路压测和官方 Docker 镜像发布。这对比见证了我们踏实、不妥协的严谨工程态度。</a:t>
            </a:r>
          </a:p>
          <a:p>
            <a:endParaRPr lang="zh-CN" dirty="0"/>
          </a:p>
          <a:p>
            <a:r>
              <a:rPr lang="zh-CN" dirty="0"/>
              <a:t>要点：① 对比期中汇报时的零行代码、硬件陌生与空头纸面阶段；② 展现期末高完成度后端、客户端及硬件真机落成的史诗跃升；③ 阐明踏实、严谨的工程落地态度。</a:t>
            </a:r>
          </a:p>
          <a:p>
            <a:r>
              <a:rPr lang="zh-CN" dirty="0"/>
              <a:t>时长：1.5 分钟</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在这 2 个多月的高强度交付中，如何保障庞大系统的鲁棒性与代码质量？我们构筑了严密的技术验证防线。</a:t>
            </a:r>
          </a:p>
          <a:p>
            <a:endParaRPr lang="zh-CN" dirty="0"/>
          </a:p>
          <a:p>
            <a:r>
              <a:rPr lang="zh-CN" dirty="0"/>
              <a:t>首先，我们在 Fastify 后端编写了 25 个涵盖核心路由与 schema 校验的单元测试。其次，我们自主开发了 claims、memory-chat、citation 引用回溯和 Reranker 的四大全链路 Smoke 压测套件，全部 100% 跑通。评估表明， sqlite-vec 混合混合检索的精准度召回率在 120 条真实语料下为 100%。[停顿] 更值得骄傲的是，我们恪守代码自律，全模块 TypeScript 文件行数均严格控制在 300 行以内，彻底践行职责分离。</a:t>
            </a:r>
          </a:p>
          <a:p>
            <a:endParaRPr lang="zh-CN" dirty="0"/>
          </a:p>
          <a:p>
            <a:r>
              <a:rPr lang="zh-CN" dirty="0"/>
              <a:t>要点：① 介绍 25 个 Fastify 后端核心单元测试的保障；② 阐述四大核心全链路 Smoke 压力测试的通过；③ 介绍 RAG 检索 MRR 100% 精度与文件代码量自律（少于300行）。</a:t>
            </a:r>
          </a:p>
          <a:p>
            <a:r>
              <a:rPr lang="zh-CN" dirty="0"/>
              <a:t>时长：1.5 分钟</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我们的工程收口阶段，是彻底实现容器化云端交付。这是我们面向生产级发布的最后闭环。</a:t>
            </a:r>
          </a:p>
          <a:p>
            <a:endParaRPr lang="zh-CN" dirty="0"/>
          </a:p>
          <a:p>
            <a:r>
              <a:rPr lang="zh-CN" dirty="0"/>
              <a:t>我们编写了极其规范的多阶段构建 Dockerfile，极大地压缩了镜像层数并清空冗余缓存。目前，官方 Docker 镜像已推送至 Docker Hub，包名为 `ccckfg/dyn:latest`。为了能让服务器一键部署，我们封装了 `docker-compose.yml` 配置，在服务器端只需运行极简的 compose up 命令即可拉起后台运行。在推送前，我们在本地对容器进行了健康自检和权限收口测试，验证无残留后全部清理，符合最高标准。</a:t>
            </a:r>
          </a:p>
          <a:p>
            <a:endParaRPr lang="zh-CN" dirty="0"/>
          </a:p>
          <a:p>
            <a:r>
              <a:rPr lang="zh-CN" dirty="0"/>
              <a:t>要点：① 介绍分阶段压缩的 Dockerfile 与镜像发布至 Docker Hub；② 介绍封装的 docker-compose 极简一键部署方案；③ 介绍本地容器灰度安全验证与残留清理。</a:t>
            </a:r>
          </a:p>
          <a:p>
            <a:r>
              <a:rPr lang="zh-CN" dirty="0"/>
              <a:t>时长：1.5 分钟</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尽管我们在期末已经交付了一个闭环且功能完善的陪伴系统，但小绿的生命仍在继续，我们的探索亦然。</a:t>
            </a:r>
          </a:p>
          <a:p>
            <a:endParaRPr lang="zh-CN" dirty="0"/>
          </a:p>
          <a:p>
            <a:r>
              <a:rPr lang="zh-CN" dirty="0"/>
              <a:t>下一步，在硬件端二期，我们将引入干土/湿土现场精密校准算法，并展开长达半年的真实 MQTT 运行稳定性耐久观察。在客户端，我们将进一步补齐更舒适的深色模式、传感器趋势折线图、头像精细裁剪以及提醒管理 UI。在记忆引擎上，我们计划在边缘计算端尝试部署本地轻量 LLM，提供无网状态下的高可用陪伴。</a:t>
            </a:r>
          </a:p>
          <a:p>
            <a:endParaRPr lang="zh-CN" dirty="0"/>
          </a:p>
          <a:p>
            <a:r>
              <a:rPr lang="zh-CN" dirty="0"/>
              <a:t>要点：① 介绍硬件二期的湿度物理校准与耐久观察；② 介绍客户端深色模式与趋势折线图规划；③ 介绍本地轻量级端侧大模型的研发路线。</a:t>
            </a:r>
          </a:p>
          <a:p>
            <a:r>
              <a:rPr lang="zh-CN" dirty="0"/>
              <a:t>时长：1.5 分钟</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[停顿] 回首这两个多月的旅程，从对硬件一无所知的迷茫，到今天全栈容器化交付的踏实，每一个深夜的 Bug 调试，都在为这盆会说话的植物注入灵魂。</a:t>
            </a:r>
          </a:p>
          <a:p>
            <a:endParaRPr lang="zh-CN" dirty="0"/>
          </a:p>
          <a:p>
            <a:r>
              <a:rPr lang="zh-CN" dirty="0"/>
              <a:t>[停顿] 与植物一起，静静呼吸。DYN Plant Pal 智能植物陪伴系统凝聚了我们对大自然生命和人机情感交互最深切的关怀，感谢评审组老师的聆听与指导，我们非常高兴回答老师们的任何提问，谢谢大家！</a:t>
            </a:r>
          </a:p>
          <a:p>
            <a:endParaRPr lang="zh-CN" dirty="0"/>
          </a:p>
          <a:p>
            <a:r>
              <a:rPr lang="zh-CN" dirty="0"/>
              <a:t>要点：① 总结从零开始到完美交付的心路历程；② 点亮主题 Leaf 图标与“与植物一起，静静呼吸”终章宣示；③ 优雅谢幕，引导 Q&amp;A 提问阶段。</a:t>
            </a:r>
          </a:p>
          <a:p>
            <a:r>
              <a:rPr lang="zh-CN" dirty="0"/>
              <a:t>时长：1.5 分钟</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sv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sv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sv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sv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sv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sv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sv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sv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sv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0.sv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1.sv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2.sv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3.sv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4.sv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5.sv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6.sv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7.svg"/>
  <Relationship Id="rId3" Type="http://schemas.openxmlformats.org/officeDocument/2006/relationships/notesSlide" Target="../notesSlides/notesSlide1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