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[停顿] 各位老师，大家下午好。今天非常高兴代表我们小组，向大家汇报我们的期末项目——《与植物一起呼吸的陪伴：DYN Plant Pal 智能植物陪伴系统》。</a:t>
            </a:r>
          </a:p>
          <a:p>
            <a:endParaRPr lang="zh-CN" dirty="0"/>
          </a:p>
          <a:p>
            <a:r>
              <a:rPr lang="zh-CN" dirty="0"/>
              <a:t>[停顿] 在这个项目中，我们试图挑战并颠覆一个行业共识：为什么智能硬件看板只能是冷冰冰的数据图表？我们希望利用 ESP32 的物联感知能力，结合前沿的大语言模型长期记忆系统，为用户在养护植物的过程中，带来真正的生命温度与共情陪伴。</a:t>
            </a:r>
          </a:p>
          <a:p>
            <a:endParaRPr lang="zh-CN" dirty="0"/>
          </a:p>
          <a:p>
            <a:r>
              <a:rPr lang="zh-CN" dirty="0"/>
              <a:t>要点：① 介绍项目名称与软硬件定位；② 明确项目的核心人文亮点——陪伴感；③ 树立期末完美交付的汇报基调。</a:t>
            </a:r>
          </a:p>
          <a:p>
            <a:r>
              <a:rPr lang="zh-CN" dirty="0"/>
              <a:t>时长：1.0 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在进入系统演示之前，我想先和大家分享一下我们的初心，以及对当前传统智能养护看板的痛点思考。</a:t>
            </a:r>
          </a:p>
          <a:p>
            <a:endParaRPr lang="zh-CN" dirty="0"/>
          </a:p>
          <a:p>
            <a:r>
              <a:rPr lang="zh-CN" dirty="0"/>
              <a:t>大家可以看到右侧这幅由冷峻红色网格笼罩的数据图表。[停顿] 传统的智能养护总是充满着冰冷与说理。满屏冷漠的“水分：23%”并没有让用户产生真正的关怀欲望；更致命的是，传感器数值并不等于心情，缺乏语境的单一报警极易引发用户的养护焦虑；同时，传统的单向数据上报使得人与植物之间毫无羁绊，缺乏反馈。这促使我们思考：如何将物理数值转化为真正“说人话、带温度”的情感数字生命？</a:t>
            </a:r>
          </a:p>
          <a:p>
            <a:endParaRPr lang="zh-CN" dirty="0"/>
          </a:p>
          <a:p>
            <a:r>
              <a:rPr lang="zh-CN" dirty="0"/>
              <a:t>要点：① 痛陈传统养护系统冷冰冰的数据孤岛与单向通信弊端；② 阐明由此引发的用户焦虑感；③ 抛出如何让人机交互拥有温度的思考。</a:t>
            </a:r>
          </a:p>
          <a:p>
            <a:r>
              <a:rPr lang="zh-CN" dirty="0"/>
              <a:t>时长：1.5 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正是为了解决这些“冷冰冰”的痛点，我们为 DYN Plant Pal 确立了灵魂——“人文关怀”五大设计原则，并将它们严密地贯彻到了前后端与硬件的每一行代码中。</a:t>
            </a:r>
          </a:p>
          <a:p>
            <a:endParaRPr lang="zh-CN" dirty="0"/>
          </a:p>
          <a:p>
            <a:r>
              <a:rPr lang="zh-CN" dirty="0"/>
              <a:t>首先，是“系统说人话”。我们用第一人称植物视角进行转译，把“否定句”转化为“邀请句”。[停顿] 其次，“尊重用户的节奏”，提供 5 秒宽容的“撤销 Toast”而不是强行抢焦点的模态弹窗，并且界面采用 380ms 呼吸感缓动。最后是“操作信任与诚实”，本地兜底如实告知，绝不在对话流中伪造消息，把真正的控制权还给用户。这三大原则重塑了人机交互的信赖基底。</a:t>
            </a:r>
          </a:p>
          <a:p>
            <a:endParaRPr lang="zh-CN" dirty="0"/>
          </a:p>
          <a:p>
            <a:r>
              <a:rPr lang="zh-CN" dirty="0"/>
              <a:t>要点：① 阐述系统说人话的第一人称转译；② 介绍 5 秒撤销与 380ms 呼吸缓动等慢节奏设计；③ 强调对用户的诚实优先与信任建立。</a:t>
            </a:r>
          </a:p>
          <a:p>
            <a:r>
              <a:rPr lang="zh-CN" dirty="0"/>
              <a:t>时长：1.5 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有了宏观的设计哲学指引，如何保证这套系统的高可用与工程落地呢？接下来，请看我们的系统整体架构拓扑。</a:t>
            </a:r>
          </a:p>
          <a:p>
            <a:endParaRPr lang="zh-CN" dirty="0"/>
          </a:p>
          <a:p>
            <a:r>
              <a:rPr lang="zh-CN" dirty="0"/>
              <a:t>我们的系统采用「硬件物理感知 + 云端思考中枢 + 终端情感展现」三层深度互联架构。底端的 ESP32 进行毫秒级的高频传感捕获；通过低开销的 MQTT readings 主题上报至 Fastify 后端；后端不仅负责数据持久化，更集成了 sqlite-vec 向量记忆系统；最顶层则是 Tauri v2 客户端，通过 sync-SSE 实时变更长连接通道，达成多端数据的静默、增量高一致性实时同步。</a:t>
            </a:r>
          </a:p>
          <a:p>
            <a:endParaRPr lang="zh-CN" dirty="0"/>
          </a:p>
          <a:p>
            <a:r>
              <a:rPr lang="zh-CN" dirty="0"/>
              <a:t>要点：① 介绍硬件、云端与多终端三层物联拓扑结构；② 阐明 MQTT 与 HTTP 并行的双通信机制；③ 解释 SQLite sync-SSE 增量同步对前端体验的支撑。</a:t>
            </a:r>
          </a:p>
          <a:p>
            <a:r>
              <a:rPr lang="zh-CN" dirty="0"/>
              <a:t>时长：1.5 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接下来，我们逐层剖析。首先来看我们投入了大量心血、从零摸索的硬件物理感知端。</a:t>
            </a:r>
          </a:p>
          <a:p>
            <a:endParaRPr lang="zh-CN" dirty="0"/>
          </a:p>
          <a:p>
            <a:r>
              <a:rPr lang="zh-CN" dirty="0"/>
              <a:t>我们的 ESP32 核心板卡挂载了多路高精度传感器总线。包括用于获取土壤湿度的电容式传感器，用于获取空气温湿度的瑞士 SHT40 芯片，以及用于环境光照的 BH1750。固件内部，我们开发了秒级高频 MQTT 主动推流，将环境指标打包为标准的 JSON 载荷。[停顿] 同时为了让普通用户免于繁琐的代码烧录，我们实现了长按 BOOT 键 3 秒进入 SoftAP 小白配网热点的流程，极大地降低了门槛。</a:t>
            </a:r>
          </a:p>
          <a:p>
            <a:endParaRPr lang="zh-CN" dirty="0"/>
          </a:p>
          <a:p>
            <a:r>
              <a:rPr lang="zh-CN" dirty="0"/>
              <a:t>要点：① 介绍土壤、温湿度与光照多源传感器接入；② 解释固件内部 JSON 打包与 MQTT readings 主题通信；③ 介绍 SoftAP 零门槛网页配网机制。</a:t>
            </a:r>
          </a:p>
          <a:p>
            <a:r>
              <a:rPr lang="zh-CN" dirty="0"/>
              <a:t>时长：1.5 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作为一款物理物联设备，如何在复杂的外部网络环境下保证其生命的弹性与稳定性？我们设计了强悍的固件自我守护防线。</a:t>
            </a:r>
          </a:p>
          <a:p>
            <a:endParaRPr lang="zh-CN" dirty="0"/>
          </a:p>
          <a:p>
            <a:r>
              <a:rPr lang="zh-CN" dirty="0"/>
              <a:t>在配网成功后，后端会通过 MQTT config 主题自动下发该设备的专属 API Key 鉴权密钥，并被 ESP32 自动下写写入 NVS 芯片持久区。不仅如此，系统具备了全自动的 OTA 在线无感更新机制。通过在云端宣告 JSON 格式的 manifest 宣告版本，固件会自动下载 bin 文件、在硬件端执行 MD5 完整性校验，并利用 ESP32 的双 OTA 备份分区进行热切换，哪怕断电重启也能在备用区失败回滚，绝不变砖。</a:t>
            </a:r>
          </a:p>
          <a:p>
            <a:endParaRPr lang="zh-CN" dirty="0"/>
          </a:p>
          <a:p>
            <a:r>
              <a:rPr lang="zh-CN" dirty="0"/>
              <a:t>要点：① 讲解设备认领密钥自动下发与 NVS 持久化保护；② 详细解构 OTA manifest 校验与空中 MD5 防护；③ 介绍双分区热备份与失败回滚的安全高可用防线。</a:t>
            </a:r>
          </a:p>
          <a:p>
            <a:r>
              <a:rPr lang="zh-CN" dirty="0"/>
              <a:t>时长：1.5 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穿过硬件层的物理感知，我们来到了系统的核心——云端大脑层。这也是我们全栈交付中完成度达 90% 的云中枢。</a:t>
            </a:r>
          </a:p>
          <a:p>
            <a:endParaRPr lang="zh-CN" dirty="0"/>
          </a:p>
          <a:p>
            <a:r>
              <a:rPr lang="zh-CN" dirty="0"/>
              <a:t>我们选用了基于 Node.js 与 TypeScript 的 Fastify 高并发框架，内置严格的 Zod Schema 输入模式校验，确保鉴权安全性。在数据存储上，我们采用了极轻量的嵌入式 SQLite 数据库，并创新性地开启了 WAL 模式，达成超高强度的多线程读写并行。同时，基于 SQLite 的 sync_events 审计表配合 Server-Sent Events (SSE) 实时长连接流，实现了数据的高效、增量、实时反向推送。</a:t>
            </a:r>
          </a:p>
          <a:p>
            <a:endParaRPr lang="zh-CN" dirty="0"/>
          </a:p>
          <a:p>
            <a:r>
              <a:rPr lang="zh-CN" dirty="0"/>
              <a:t>要点：① 介绍 TypeScript + Fastify 高并发模块化分层后端；② 阐述 SQLite 数据库 WAL 模式对硬件高频推流的读写性能加持；③ 介绍基于 sync_events 与 SSE 的长连接增量同步。</a:t>
            </a:r>
          </a:p>
          <a:p>
            <a:r>
              <a:rPr lang="zh-CN" dirty="0"/>
              <a:t>时长：1.5 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在解决了数据存储与同步后，我们迎来了本项目的最大亮点与核心创新——植物长期记忆系统的降维落地。</a:t>
            </a:r>
          </a:p>
          <a:p>
            <a:endParaRPr lang="zh-CN" dirty="0"/>
          </a:p>
          <a:p>
            <a:r>
              <a:rPr lang="zh-CN" dirty="0"/>
              <a:t>我们自主实现了参考 AgentGal 生命周期模型的长期记忆循环。读数和对话首先作为 Drafts 草稿被快速记录；后台异步 Consolidation 任务定时唤醒，将数据提炼为具有前因后果的 Episode 生命片段（如：“主人为干枯的我浇了一次水”）；随后，利用嵌入式向量 sqlite-vec 库进行向量化，结合 BM25 进行 Hybrid 混合检索；最终引入 Reranker 精准重排，永久沉淀为植物底层的 Understanding 认知世界。</a:t>
            </a:r>
          </a:p>
          <a:p>
            <a:endParaRPr lang="zh-CN" dirty="0"/>
          </a:p>
          <a:p>
            <a:r>
              <a:rPr lang="zh-CN" dirty="0"/>
              <a:t>要点：① 介绍参考 AgentGal 模型的 Drafts -&gt; Consolidation -&gt; Episode -&gt; Understanding 记忆流动生命周期；② 详细解构 sqlite-vec 本地向量混合检索对大模型幻觉的阻断；③ 解释 Reranker 对检索精度的 100% 优化。</a:t>
            </a:r>
          </a:p>
          <a:p>
            <a:r>
              <a:rPr lang="zh-CN" dirty="0"/>
              <a:t>时长：2.0 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拥有了长期生命片段和深度认知的植物，该如何打破以往单调一问一答的被动模式，主动向人类表达爱意与关怀呢？</a:t>
            </a:r>
          </a:p>
          <a:p>
            <a:endParaRPr lang="zh-CN" dirty="0"/>
          </a:p>
          <a:p>
            <a:r>
              <a:rPr lang="zh-CN" dirty="0"/>
              <a:t>我们为植物设计了“主动发言 Engine”与“和风天气代理”。当后台监听到严重缺水、降温，或者通过 QWeather 天气 API 监测到即将降雨时，Engine 会自动产生事件事实。经过严苛的发言冷却保护锁过滤后，大模型会结合植物的主观 Episode 长期记忆，润色为极具情感、调皮而真诚的人文视角第一人称问候。[停顿] 比如右侧展示的雨前俏皮提醒，让枯燥的数据变成了充满爱的情感共鸣。</a:t>
            </a:r>
          </a:p>
          <a:p>
            <a:endParaRPr lang="zh-CN" dirty="0"/>
          </a:p>
          <a:p>
            <a:r>
              <a:rPr lang="zh-CN" dirty="0"/>
              <a:t>要点：① 介绍监听严重读数与天气降雨预警的主动发言引擎；② 解释发言冷却阀门对用户打扰的规避；③ 对比物理阈值警报与 LLM 人文视角润色后的巨大情感体验跨越。</a:t>
            </a:r>
          </a:p>
          <a:p>
            <a:r>
              <a:rPr lang="zh-CN" dirty="0"/>
              <a:t>时长：1.5 分钟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穿过物理端与云端的漫长数据链路，我们来到了最终呈现温润陪伴的终端——Tauri v2 桌面客户端。</a:t>
            </a:r>
          </a:p>
          <a:p>
            <a:endParaRPr lang="zh-CN" dirty="0"/>
          </a:p>
          <a:p>
            <a:r>
              <a:rPr lang="zh-CN" dirty="0"/>
              <a:t>我们的客户端摒弃了多余的系统内存开销，选用 Tauri v2 + Rust 构建底层骨架，相比传统的 Electron 架构，冷启动时间与内存开销几乎可以忽略不计。视觉上，我们严密落地了 Verdant Echo 的配色与字体系统。首创的“温温室主页 Dashboard”将时段问候、QWeather 代理以及多植物 Bento 栅格巧妙地排布在一起，卡片四周均使用渐变遮罩虚化硬边缘，营造大自然的呼吸流动感。</a:t>
            </a:r>
          </a:p>
          <a:p>
            <a:endParaRPr lang="zh-CN" dirty="0"/>
          </a:p>
          <a:p>
            <a:r>
              <a:rPr lang="zh-CN" dirty="0"/>
              <a:t>要点：① 介绍 Tauri v2 + Rust 的轻量化和极致冷启动内存开销；② 阐述 Verdant Echo 配色与字体的严密内嵌；③ 展示温室 Dashboard、多植物 Bento 栅格及边缘虚化融色细节。</a:t>
            </a:r>
          </a:p>
          <a:p>
            <a:r>
              <a:rPr lang="zh-CN" dirty="0"/>
              <a:t>时长：1.5 分钟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在客户端的诸多页面中，最能展现情感双向闭环的，当属我们的植响对话室与成长日记。</a:t>
            </a:r>
          </a:p>
          <a:p>
            <a:endParaRPr lang="zh-CN" dirty="0"/>
          </a:p>
          <a:p>
            <a:r>
              <a:rPr lang="zh-CN" dirty="0"/>
              <a:t>我们的植响聊天框中，严格禁绝了伪造用户身份发送的虚假消息，完全用右下角精致居中的“系统已浇水 Chip 气泡”进行代替，给用户最纯粹的控制信任。在日记中，我们独创了里程碑时间轴。当发生有价值的 Episode 时，时间轴会进行金色高亮庆祝；用户只要悬停在里程碑卡片上，即可对植物进行“空中寄语”双向写留言，留言会自动沉淀为植物的新一轮 Episode 记忆。</a:t>
            </a:r>
          </a:p>
          <a:p>
            <a:endParaRPr lang="zh-CN" dirty="0"/>
          </a:p>
          <a:p>
            <a:r>
              <a:rPr lang="zh-CN" dirty="0"/>
              <a:t>要点：① 介绍支持流式与非流式切换的植响对话交互框；② 解释“系统已浇水 Chip 气泡”对人机操作信任的维护；③ 介绍日记里程碑时间线高亮庆祝与悬停留言的双向情感闭环。</a:t>
            </a:r>
          </a:p>
          <a:p>
            <a:r>
              <a:rPr lang="zh-CN" dirty="0"/>
              <a:t>时长：1.5 分钟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除了这些核心功能页面，我们在整个界面的交互动效上，更是对每一像素的“呼吸感”与“慢手感”进行了匠人般的雕琢。</a:t>
            </a:r>
          </a:p>
          <a:p>
            <a:endParaRPr lang="zh-CN" dirty="0"/>
          </a:p>
          <a:p>
            <a:r>
              <a:rPr lang="zh-CN" dirty="0"/>
              <a:t>大家可以看到右侧这幅非常温暖的植物花盆微笑插图。在我们的客户端中，所有的滚动列表两端都进行了 alpha 渐变软过渡淡出；路由的切换与抽屉弹出均固定在 380ms 弹性过渡与 8px 的向上微推；所有可交互元素默认附加 active-scale 缩放回弹手感。我们甚至禁绝了所有刺激性的红色警告，统一使用暖琥珀色作为过渡。让植物的世界，没有无退路的“立刻不可逆”。</a:t>
            </a:r>
          </a:p>
          <a:p>
            <a:endParaRPr lang="zh-CN" dirty="0"/>
          </a:p>
          <a:p>
            <a:r>
              <a:rPr lang="zh-CN" dirty="0"/>
              <a:t>要点：① 展示精心剪裁的 human_care 氛围插画；② 介绍 alpha 渐变淡出、380ms 缓动上推及 scale 缩放手感等呼吸交互细节；③ 总结禁绝红色、统一琥珀色与“没有立刻不可逆”的慢节奏哲学。</a:t>
            </a:r>
          </a:p>
          <a:p>
            <a:r>
              <a:rPr lang="zh-CN" dirty="0"/>
              <a:t>时长：1.5 分钟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介绍完系统的完整技术实现，我们想回过头来，向大家展示我们这 2 个多月来、一段几乎可以说是工程史诗般的蜕变历程。</a:t>
            </a:r>
          </a:p>
          <a:p>
            <a:endParaRPr lang="zh-CN" dirty="0"/>
          </a:p>
          <a:p>
            <a:r>
              <a:rPr lang="zh-CN" dirty="0"/>
              <a:t>大家可以看到横跨页面的这条虚线时间轴。[停顿] 在期中汇报时，我们手无寸铁，核心代码完全为 0 行，硬件甚至刚买到手，对 ESP32 一无所知，完全停留在纸上谈兵。而今天在期末交付现场，我们后端完成了 90%，客户端完成了 87%，硬件端 OLED/传感/配网/OTA 全部真机落成，甚至完成了 Smoke 全链路压测和官方 Docker 镜像发布。这对比见证了我们踏实、不妥协的严谨工程态度。</a:t>
            </a:r>
          </a:p>
          <a:p>
            <a:endParaRPr lang="zh-CN" dirty="0"/>
          </a:p>
          <a:p>
            <a:r>
              <a:rPr lang="zh-CN" dirty="0"/>
              <a:t>要点：① 对比期中汇报时的零行代码、硬件陌生与空头纸面阶段；② 展现期末高完成度后端、客户端及硬件真机落成的史诗跃升；③ 阐明踏实、严谨的工程落地态度。</a:t>
            </a:r>
          </a:p>
          <a:p>
            <a:r>
              <a:rPr lang="zh-CN" dirty="0"/>
              <a:t>时长：1.5 分钟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在这 2 个多月的高强度交付中，如何保障庞大系统的鲁棒性与代码质量？我们构筑了严密的技术验证防线。</a:t>
            </a:r>
          </a:p>
          <a:p>
            <a:endParaRPr lang="zh-CN" dirty="0"/>
          </a:p>
          <a:p>
            <a:r>
              <a:rPr lang="zh-CN" dirty="0"/>
              <a:t>首先，我们在 Fastify 后端编写了 25 个涵盖核心路由与 schema 校验的单元测试。其次，我们自主开发了 claims、memory-chat、citation 引用回溯和 Reranker 的四大全链路 Smoke 压测套件，全部 100% 跑通。评估表明， sqlite-vec 混合混合检索的精准度召回率在 120 条真实语料下为 100%。[停顿] 更值得骄傲的是，我们恪守代码自律，全模块 TypeScript 文件行数均严格控制在 300 行以内，彻底践行职责分离。</a:t>
            </a:r>
          </a:p>
          <a:p>
            <a:endParaRPr lang="zh-CN" dirty="0"/>
          </a:p>
          <a:p>
            <a:r>
              <a:rPr lang="zh-CN" dirty="0"/>
              <a:t>要点：① 介绍 25 个 Fastify 后端核心单元测试的保障；② 阐述四大核心全链路 Smoke 压力测试的通过；③ 介绍 RAG 检索 MRR 100% 精度与文件代码量自律（少于300行）。</a:t>
            </a:r>
          </a:p>
          <a:p>
            <a:r>
              <a:rPr lang="zh-CN" dirty="0"/>
              <a:t>时长：1.5 分钟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我们的工程收口阶段，是彻底实现容器化云端交付。这是我们面向生产级发布的最后闭环。</a:t>
            </a:r>
          </a:p>
          <a:p>
            <a:endParaRPr lang="zh-CN" dirty="0"/>
          </a:p>
          <a:p>
            <a:r>
              <a:rPr lang="zh-CN" dirty="0"/>
              <a:t>我们编写了极其规范的多阶段构建 Dockerfile，极大地压缩了镜像层数并清空冗余缓存。目前，官方 Docker 镜像已推送至 Docker Hub，包名为 `ccckfg/dyn:latest`。为了能让服务器一键部署，我们封装了 `docker-compose.yml` 配置，在服务器端只需运行极简的 compose up 命令即可拉起后台运行。在推送前，我们在本地对容器进行了健康自检和权限收口测试，验证无残留后全部清理，符合最高标准。</a:t>
            </a:r>
          </a:p>
          <a:p>
            <a:endParaRPr lang="zh-CN" dirty="0"/>
          </a:p>
          <a:p>
            <a:r>
              <a:rPr lang="zh-CN" dirty="0"/>
              <a:t>要点：① 介绍分阶段压缩的 Dockerfile 与镜像发布至 Docker Hub；② 介绍封装的 docker-compose 极简一键部署方案；③ 介绍本地容器灰度安全验证与残留清理。</a:t>
            </a:r>
          </a:p>
          <a:p>
            <a:r>
              <a:rPr lang="zh-CN" dirty="0"/>
              <a:t>时长：1.5 分钟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尽管我们在期末已经交付了一个闭环且功能完善的陪伴系统，但小绿的生命仍在继续，我们的探索亦然。</a:t>
            </a:r>
          </a:p>
          <a:p>
            <a:endParaRPr lang="zh-CN" dirty="0"/>
          </a:p>
          <a:p>
            <a:r>
              <a:rPr lang="zh-CN" dirty="0"/>
              <a:t>下一步，在硬件端二期，我们将引入干土/湿土现场精密校准算法，并展开长达半年的真实 MQTT 运行稳定性耐久观察。在客户端，我们将进一步补齐更舒适的深色模式、传感器趋势折线图、头像精细裁剪以及提醒管理 UI。在记忆引擎上，我们计划在边缘计算端尝试部署本地轻量 LLM，提供无网状态下的高可用陪伴。</a:t>
            </a:r>
          </a:p>
          <a:p>
            <a:endParaRPr lang="zh-CN" dirty="0"/>
          </a:p>
          <a:p>
            <a:r>
              <a:rPr lang="zh-CN" dirty="0"/>
              <a:t>要点：① 介绍硬件二期的湿度物理校准与耐久观察；② 介绍客户端深色模式与趋势折线图规划；③ 介绍本地轻量级端侧大模型的研发路线。</a:t>
            </a:r>
          </a:p>
          <a:p>
            <a:r>
              <a:rPr lang="zh-CN" dirty="0"/>
              <a:t>时长：1.5 分钟</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[停顿] 回首这两个多月的旅程，从对硬件一无所知的迷茫，到今天全栈容器化交付的踏实，每一个深夜的 Bug 调试，都在为这盆会说话的植物注入灵魂。</a:t>
            </a:r>
          </a:p>
          <a:p>
            <a:endParaRPr lang="zh-CN" dirty="0"/>
          </a:p>
          <a:p>
            <a:r>
              <a:rPr lang="zh-CN" dirty="0"/>
              <a:t>[停顿] 与植物一起，静静呼吸。DYN Plant Pal 智能植物陪伴系统凝聚了我们对大自然生命和人机情感交互最深切的关怀，感谢评审组老师的聆听与指导，我们非常高兴回答老师们的任何提问，谢谢大家！</a:t>
            </a:r>
          </a:p>
          <a:p>
            <a:endParaRPr lang="zh-CN" dirty="0"/>
          </a:p>
          <a:p>
            <a:r>
              <a:rPr lang="zh-CN" dirty="0"/>
              <a:t>要点：① 总结从零开始到完美交付的心路历程；② 点亮主题 Leaf 图标与“与植物一起，静静呼吸”终章宣示；③ 优雅谢幕，引导 Q&amp;A 提问阶段。</a:t>
            </a:r>
          </a:p>
          <a:p>
            <a:r>
              <a:rPr lang="zh-CN" dirty="0"/>
              <a:t>时长：1.5 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1_img1.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2_img1.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12_img1.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3C6D52"/>
              </a:gs>
              <a:gs pos="60000">
                <a:srgbClr val="2B583E"/>
              </a:gs>
              <a:gs pos="100000">
                <a:srgbClr val="1A3E2A"/>
              </a:gs>
            </a:gsLst>
            <a:path path="circle">
              <a:fillToRect l="50000" t="50000" r="50000" b="50000"/>
            </a:path>
          </a:gradFill>
          <a:ln>
            <a:noFill/>
          </a:ln>
        </p:spPr>
      </p:sp>
      <p:grpSp>
        <p:nvGrpSpPr>
          <p:cNvPr id="5" name="Group 5"/>
          <p:cNvGrpSpPr/>
          <p:nvPr/>
        </p:nvGrpSpPr>
        <p:grpSpPr>
          <a:xfrm>
            <a:off x="5334000" y="0"/>
            <a:ext cx="6858000" cy="6858000"/>
            <a:chOff x="5334000" y="0"/>
            <a:chExt cx="6858000" cy="6858000"/>
          </a:xfrm>
        </p:grpSpPr>
        <p:pic>
          <p:nvPicPr>
            <p:cNvPr id="3" name="Image 3"/>
            <p:cNvPicPr>
              <a:picLocks noChangeAspect="1"/>
            </p:cNvPicPr>
            <p:nvPr/>
          </p:nvPicPr>
          <p:blipFill>
            <a:blip r:embed="rId2"/>
            <a:stretch>
              <a:fillRect/>
            </a:stretch>
          </p:blipFill>
          <p:spPr>
            <a:xfrm>
              <a:off x="5334000" y="0"/>
              <a:ext cx="6858000" cy="6858000"/>
            </a:xfrm>
            <a:prstGeom prst="rect">
              <a:avLst/>
            </a:prstGeom>
          </p:spPr>
        </p:pic>
        <p:sp>
          <p:nvSpPr>
            <p:cNvPr id="4" name="Rectangle 4"/>
            <p:cNvSpPr/>
            <p:nvPr/>
          </p:nvSpPr>
          <p:spPr>
            <a:xfrm>
              <a:off x="5334000" y="0"/>
              <a:ext cx="6858000" cy="6858000"/>
            </a:xfrm>
            <a:prstGeom prst="rect">
              <a:avLst/>
            </a:prstGeom>
            <a:gradFill>
              <a:gsLst>
                <a:gs pos="0">
                  <a:srgbClr val="2B583E"/>
                </a:gs>
                <a:gs pos="25000">
                  <a:srgbClr val="2B583E">
                    <a:alpha val="85000"/>
                  </a:srgbClr>
                </a:gs>
                <a:gs pos="70000">
                  <a:srgbClr val="2B583E">
                    <a:alpha val="30000"/>
                  </a:srgbClr>
                </a:gs>
                <a:gs pos="100000">
                  <a:srgbClr val="2B583E">
                    <a:alpha val="0"/>
                  </a:srgbClr>
                </a:gs>
              </a:gsLst>
              <a:lin ang="0" scaled="1"/>
            </a:gradFill>
            <a:ln>
              <a:noFill/>
            </a:ln>
          </p:spPr>
        </p:sp>
      </p:grpSp>
      <p:grpSp>
        <p:nvGrpSpPr>
          <p:cNvPr id="17" name="Group 17"/>
          <p:cNvGrpSpPr/>
          <p:nvPr/>
        </p:nvGrpSpPr>
        <p:grpSpPr>
          <a:xfrm>
            <a:off x="514350" y="1333500"/>
            <a:ext cx="7015162" cy="4095750"/>
            <a:chOff x="514350" y="1333500"/>
            <a:chExt cx="7015162" cy="4095750"/>
          </a:xfrm>
        </p:grpSpPr>
        <p:sp>
          <p:nvSpPr>
            <p:cNvPr id="6" name="Freeform 6"/>
            <p:cNvSpPr/>
            <p:nvPr/>
          </p:nvSpPr>
          <p:spPr>
            <a:xfrm>
              <a:off x="571500" y="1333500"/>
              <a:ext cx="1285875" cy="304800"/>
            </a:xfrm>
            <a:custGeom>
              <a:avLst/>
              <a:gdLst/>
              <a:ahLst/>
              <a:cxnLst/>
              <a:rect l="l" t="t" r="r" b="b"/>
              <a:pathLst>
                <a:path w="1285875" h="304800">
                  <a:moveTo>
                    <a:pt x="152400" y="0"/>
                  </a:moveTo>
                  <a:lnTo>
                    <a:pt x="1133475" y="0"/>
                  </a:lnTo>
                  <a:cubicBezTo>
                    <a:pt x="1217643" y="0"/>
                    <a:pt x="1285875" y="68232"/>
                    <a:pt x="1285875" y="152400"/>
                  </a:cubicBezTo>
                  <a:lnTo>
                    <a:pt x="1285875" y="152400"/>
                  </a:lnTo>
                  <a:cubicBezTo>
                    <a:pt x="1285875" y="236568"/>
                    <a:pt x="1217643" y="304800"/>
                    <a:pt x="1133475" y="304800"/>
                  </a:cubicBezTo>
                  <a:lnTo>
                    <a:pt x="152400" y="304800"/>
                  </a:lnTo>
                  <a:cubicBezTo>
                    <a:pt x="68232" y="304800"/>
                    <a:pt x="0" y="236568"/>
                    <a:pt x="0" y="152400"/>
                  </a:cubicBezTo>
                  <a:lnTo>
                    <a:pt x="0" y="152400"/>
                  </a:lnTo>
                  <a:cubicBezTo>
                    <a:pt x="0" y="68232"/>
                    <a:pt x="68232" y="0"/>
                    <a:pt x="152400" y="0"/>
                  </a:cubicBezTo>
                  <a:close/>
                </a:path>
              </a:pathLst>
            </a:custGeom>
            <a:solidFill>
              <a:srgbClr val="F2C165">
                <a:alpha val="15000"/>
              </a:srgbClr>
            </a:solidFill>
            <a:ln>
              <a:noFill/>
            </a:ln>
          </p:spPr>
        </p:sp>
        <p:sp>
          <p:nvSpPr>
            <p:cNvPr id="7" name="Freeform 7"/>
            <p:cNvSpPr/>
            <p:nvPr/>
          </p:nvSpPr>
          <p:spPr>
            <a:xfrm>
              <a:off x="709475" y="1414462"/>
              <a:ext cx="143013" cy="151284"/>
            </a:xfrm>
            <a:custGeom>
              <a:avLst/>
              <a:gdLst/>
              <a:ahLst/>
              <a:cxnLst/>
              <a:rect l="l" t="t" r="r" b="b"/>
              <a:pathLst>
                <a:path w="143013" h="151284">
                  <a:moveTo>
                    <a:pt x="575" y="89916"/>
                  </a:moveTo>
                  <a:lnTo>
                    <a:pt x="432" y="88583"/>
                  </a:lnTo>
                  <a:lnTo>
                    <a:pt x="400" y="88241"/>
                  </a:lnTo>
                  <a:cubicBezTo>
                    <a:pt x="125" y="85286"/>
                    <a:pt x="0" y="82319"/>
                    <a:pt x="27" y="79351"/>
                  </a:cubicBezTo>
                  <a:cubicBezTo>
                    <a:pt x="170" y="29424"/>
                    <a:pt x="34079" y="0"/>
                    <a:pt x="103214" y="0"/>
                  </a:cubicBezTo>
                  <a:lnTo>
                    <a:pt x="135075" y="0"/>
                  </a:lnTo>
                  <a:cubicBezTo>
                    <a:pt x="139459" y="0"/>
                    <a:pt x="143013" y="3554"/>
                    <a:pt x="143013" y="7938"/>
                  </a:cubicBezTo>
                  <a:lnTo>
                    <a:pt x="142997" y="24265"/>
                  </a:lnTo>
                  <a:cubicBezTo>
                    <a:pt x="139044" y="93329"/>
                    <a:pt x="105373" y="127000"/>
                    <a:pt x="47763" y="127000"/>
                  </a:cubicBezTo>
                  <a:lnTo>
                    <a:pt x="26879" y="127000"/>
                  </a:lnTo>
                  <a:cubicBezTo>
                    <a:pt x="25514" y="132510"/>
                    <a:pt x="24520" y="138105"/>
                    <a:pt x="23903" y="143748"/>
                  </a:cubicBezTo>
                  <a:cubicBezTo>
                    <a:pt x="23591" y="146567"/>
                    <a:pt x="21799" y="149005"/>
                    <a:pt x="19202" y="150144"/>
                  </a:cubicBezTo>
                  <a:cubicBezTo>
                    <a:pt x="16605" y="151284"/>
                    <a:pt x="13597" y="150951"/>
                    <a:pt x="11312" y="149271"/>
                  </a:cubicBezTo>
                  <a:cubicBezTo>
                    <a:pt x="9027" y="147592"/>
                    <a:pt x="7811" y="144821"/>
                    <a:pt x="8123" y="142002"/>
                  </a:cubicBezTo>
                  <a:cubicBezTo>
                    <a:pt x="9044" y="133705"/>
                    <a:pt x="10578" y="125907"/>
                    <a:pt x="12727" y="118610"/>
                  </a:cubicBezTo>
                  <a:lnTo>
                    <a:pt x="11790" y="117451"/>
                  </a:lnTo>
                  <a:lnTo>
                    <a:pt x="10139" y="115229"/>
                  </a:lnTo>
                  <a:lnTo>
                    <a:pt x="8893" y="113411"/>
                  </a:lnTo>
                  <a:lnTo>
                    <a:pt x="7448" y="111085"/>
                  </a:lnTo>
                  <a:lnTo>
                    <a:pt x="6671" y="109728"/>
                  </a:lnTo>
                  <a:lnTo>
                    <a:pt x="6155" y="108760"/>
                  </a:lnTo>
                  <a:cubicBezTo>
                    <a:pt x="4894" y="106364"/>
                    <a:pt x="3840" y="103865"/>
                    <a:pt x="3003" y="101290"/>
                  </a:cubicBezTo>
                  <a:lnTo>
                    <a:pt x="2432" y="99409"/>
                  </a:lnTo>
                  <a:lnTo>
                    <a:pt x="1757" y="96814"/>
                  </a:lnTo>
                  <a:lnTo>
                    <a:pt x="1305" y="94686"/>
                  </a:lnTo>
                  <a:lnTo>
                    <a:pt x="963" y="92766"/>
                  </a:lnTo>
                  <a:close/>
                  <a:moveTo>
                    <a:pt x="68353" y="56245"/>
                  </a:moveTo>
                  <a:cubicBezTo>
                    <a:pt x="45771" y="66286"/>
                    <a:pt x="29824" y="81089"/>
                    <a:pt x="19871" y="100560"/>
                  </a:cubicBezTo>
                  <a:cubicBezTo>
                    <a:pt x="20389" y="101619"/>
                    <a:pt x="20966" y="102677"/>
                    <a:pt x="21601" y="103735"/>
                  </a:cubicBezTo>
                  <a:lnTo>
                    <a:pt x="23069" y="105966"/>
                  </a:lnTo>
                  <a:lnTo>
                    <a:pt x="23625" y="106736"/>
                  </a:lnTo>
                  <a:cubicBezTo>
                    <a:pt x="24260" y="107603"/>
                    <a:pt x="24943" y="108474"/>
                    <a:pt x="25673" y="109347"/>
                  </a:cubicBezTo>
                  <a:lnTo>
                    <a:pt x="27237" y="111125"/>
                  </a:lnTo>
                  <a:lnTo>
                    <a:pt x="32388" y="111125"/>
                  </a:lnTo>
                  <a:cubicBezTo>
                    <a:pt x="40619" y="93099"/>
                    <a:pt x="54430" y="79804"/>
                    <a:pt x="74798" y="70755"/>
                  </a:cubicBezTo>
                  <a:cubicBezTo>
                    <a:pt x="78805" y="68975"/>
                    <a:pt x="80610" y="64284"/>
                    <a:pt x="78830" y="60277"/>
                  </a:cubicBezTo>
                  <a:cubicBezTo>
                    <a:pt x="77051" y="56271"/>
                    <a:pt x="72360" y="54465"/>
                    <a:pt x="68353" y="56245"/>
                  </a:cubicBezTo>
                </a:path>
              </a:pathLst>
            </a:custGeom>
            <a:solidFill>
              <a:srgbClr val="F2C165"/>
            </a:solidFill>
            <a:ln>
              <a:noFill/>
            </a:ln>
          </p:spPr>
        </p:sp>
        <p:sp>
          <p:nvSpPr>
            <p:cNvPr id="8" name="TextBox 8"/>
            <p:cNvSpPr txBox="1"/>
            <p:nvPr/>
          </p:nvSpPr>
          <p:spPr>
            <a:xfrm>
              <a:off x="920115" y="1429702"/>
              <a:ext cx="1016944" cy="213360"/>
            </a:xfrm>
            <a:prstGeom prst="rect">
              <a:avLst/>
            </a:prstGeom>
            <a:noFill/>
            <a:ln>
              <a:noFill/>
            </a:ln>
          </p:spPr>
          <p:txBody>
            <a:bodyPr wrap="none" lIns="0" tIns="0" rIns="0" bIns="0" anchor="t" anchorCtr="0">
              <a:spAutoFit/>
            </a:bodyPr>
            <a:lstStyle/>
            <a:p>
              <a:pPr algn="l"/>
              <a:r>
                <a:rPr lang="zh-CN" sz="1050" b="1" dirty="0">
                  <a:solidFill>
                    <a:srgbClr val="F2C165"/>
                  </a:solidFill>
                  <a:latin typeface="Quicksand"/>
                  <a:ea typeface="Microsoft YaHei"/>
                  <a:cs typeface="Quicksand"/>
                </a:rPr>
                <a:t>DYN Plant Pal</a:t>
              </a:r>
            </a:p>
          </p:txBody>
        </p:sp>
        <p:sp>
          <p:nvSpPr>
            <p:cNvPr id="9" name="TextBox 9"/>
            <p:cNvSpPr txBox="1"/>
            <p:nvPr/>
          </p:nvSpPr>
          <p:spPr>
            <a:xfrm>
              <a:off x="514350" y="2085975"/>
              <a:ext cx="7015162" cy="914400"/>
            </a:xfrm>
            <a:prstGeom prst="rect">
              <a:avLst/>
            </a:prstGeom>
            <a:noFill/>
            <a:ln>
              <a:noFill/>
            </a:ln>
          </p:spPr>
          <p:txBody>
            <a:bodyPr wrap="none" lIns="0" tIns="0" rIns="0" bIns="0" anchor="t" anchorCtr="0">
              <a:spAutoFit/>
            </a:bodyPr>
            <a:lstStyle/>
            <a:p>
              <a:pPr algn="l"/>
              <a:r>
                <a:rPr lang="zh-CN" sz="4500" b="1" dirty="0">
                  <a:solidFill>
                    <a:srgbClr val="FFFFFF"/>
                  </a:solidFill>
                  <a:latin typeface="Quicksand"/>
                  <a:ea typeface="Microsoft YaHei"/>
                  <a:cs typeface="Quicksand"/>
                </a:rPr>
                <a:t>与植物一起呼吸的陪伴</a:t>
              </a:r>
            </a:p>
          </p:txBody>
        </p:sp>
        <p:sp>
          <p:nvSpPr>
            <p:cNvPr id="10" name="Line 10"/>
            <p:cNvSpPr/>
            <p:nvPr/>
          </p:nvSpPr>
          <p:spPr>
            <a:xfrm>
              <a:off x="571500" y="3000375"/>
              <a:ext cx="2857500" cy="9525"/>
            </a:xfrm>
            <a:custGeom>
              <a:avLst/>
              <a:gdLst/>
              <a:ahLst/>
              <a:cxnLst/>
              <a:rect l="l" t="t" r="r" b="b"/>
              <a:pathLst>
                <a:path w="2857500" h="9525">
                  <a:moveTo>
                    <a:pt x="0" y="0"/>
                  </a:moveTo>
                  <a:lnTo>
                    <a:pt x="2857500" y="0"/>
                  </a:lnTo>
                </a:path>
              </a:pathLst>
            </a:custGeom>
            <a:noFill/>
            <a:ln w="38100">
              <a:solidFill>
                <a:srgbClr val="F2C165">
                  <a:alpha val="80000"/>
                </a:srgbClr>
              </a:solidFill>
            </a:ln>
          </p:spPr>
        </p:sp>
        <p:sp>
          <p:nvSpPr>
            <p:cNvPr id="11" name="TextBox 11"/>
            <p:cNvSpPr txBox="1"/>
            <p:nvPr/>
          </p:nvSpPr>
          <p:spPr>
            <a:xfrm>
              <a:off x="548640" y="3377565"/>
              <a:ext cx="5663022" cy="365760"/>
            </a:xfrm>
            <a:prstGeom prst="rect">
              <a:avLst/>
            </a:prstGeom>
            <a:noFill/>
            <a:ln>
              <a:noFill/>
            </a:ln>
          </p:spPr>
          <p:txBody>
            <a:bodyPr wrap="none" lIns="0" tIns="0" rIns="0" bIns="0" anchor="t" anchorCtr="0">
              <a:spAutoFit/>
            </a:bodyPr>
            <a:lstStyle/>
            <a:p>
              <a:pPr algn="l"/>
              <a:r>
                <a:rPr lang="zh-CN" sz="1800" b="1" dirty="0">
                  <a:solidFill>
                    <a:srgbClr val="D1DAD4"/>
                  </a:solidFill>
                  <a:latin typeface="Plus Jakarta Sans"/>
                  <a:ea typeface="Microsoft YaHei"/>
                  <a:cs typeface="Plus Jakarta Sans"/>
                </a:rPr>
                <a:t>基于 ESP32 与大语言模型的智能植物陪伴系统</a:t>
              </a:r>
            </a:p>
          </p:txBody>
        </p:sp>
        <p:grpSp>
          <p:nvGrpSpPr>
            <p:cNvPr id="16" name="Group 16"/>
            <p:cNvGrpSpPr/>
            <p:nvPr/>
          </p:nvGrpSpPr>
          <p:grpSpPr>
            <a:xfrm>
              <a:off x="571500" y="4476750"/>
              <a:ext cx="4381500" cy="952500"/>
              <a:chOff x="571500" y="4476750"/>
              <a:chExt cx="4381500" cy="952500"/>
            </a:xfrm>
          </p:grpSpPr>
          <p:sp>
            <p:nvSpPr>
              <p:cNvPr id="12" name="Freeform 12"/>
              <p:cNvSpPr/>
              <p:nvPr/>
            </p:nvSpPr>
            <p:spPr>
              <a:xfrm>
                <a:off x="571500" y="4476750"/>
                <a:ext cx="4381500" cy="952500"/>
              </a:xfrm>
              <a:custGeom>
                <a:avLst/>
                <a:gdLst/>
                <a:ahLst/>
                <a:cxnLst/>
                <a:rect l="l" t="t" r="r" b="b"/>
                <a:pathLst>
                  <a:path w="4381500" h="952500">
                    <a:moveTo>
                      <a:pt x="114300" y="0"/>
                    </a:moveTo>
                    <a:lnTo>
                      <a:pt x="4267200" y="0"/>
                    </a:lnTo>
                    <a:cubicBezTo>
                      <a:pt x="4330326" y="0"/>
                      <a:pt x="4381500" y="51174"/>
                      <a:pt x="4381500" y="114300"/>
                    </a:cubicBezTo>
                    <a:lnTo>
                      <a:pt x="4381500" y="838200"/>
                    </a:lnTo>
                    <a:cubicBezTo>
                      <a:pt x="4381500" y="901326"/>
                      <a:pt x="4330326" y="952500"/>
                      <a:pt x="4267200" y="952500"/>
                    </a:cubicBezTo>
                    <a:lnTo>
                      <a:pt x="114300" y="952500"/>
                    </a:lnTo>
                    <a:cubicBezTo>
                      <a:pt x="51174" y="952500"/>
                      <a:pt x="0" y="901326"/>
                      <a:pt x="0" y="838200"/>
                    </a:cubicBezTo>
                    <a:lnTo>
                      <a:pt x="0" y="114300"/>
                    </a:lnTo>
                    <a:cubicBezTo>
                      <a:pt x="0" y="51174"/>
                      <a:pt x="51174" y="0"/>
                      <a:pt x="114300" y="0"/>
                    </a:cubicBezTo>
                    <a:close/>
                  </a:path>
                </a:pathLst>
              </a:custGeom>
              <a:solidFill>
                <a:srgbClr val="FFFFFF">
                  <a:alpha val="6000"/>
                </a:srgbClr>
              </a:solidFill>
              <a:ln w="9525">
                <a:solidFill>
                  <a:srgbClr val="FFFFFF">
                    <a:alpha val="10000"/>
                  </a:srgbClr>
                </a:solidFill>
              </a:ln>
            </p:spPr>
          </p:sp>
          <p:sp>
            <p:nvSpPr>
              <p:cNvPr id="13" name="TextBox 13"/>
              <p:cNvSpPr txBox="1"/>
              <p:nvPr/>
            </p:nvSpPr>
            <p:spPr>
              <a:xfrm>
                <a:off x="842010" y="4775835"/>
                <a:ext cx="2133600" cy="243840"/>
              </a:xfrm>
              <a:prstGeom prst="rect">
                <a:avLst/>
              </a:prstGeom>
              <a:noFill/>
              <a:ln>
                <a:noFill/>
              </a:ln>
            </p:spPr>
            <p:txBody>
              <a:bodyPr wrap="none" lIns="0" tIns="0" rIns="0" bIns="0" anchor="t" anchorCtr="0">
                <a:spAutoFit/>
              </a:bodyPr>
              <a:lstStyle/>
              <a:p>
                <a:pPr algn="l"/>
                <a:r>
                  <a:rPr lang="zh-CN" sz="1200" dirty="0">
                    <a:solidFill>
                      <a:srgbClr val="D1DAD4"/>
                    </a:solidFill>
                    <a:latin typeface="Plus Jakarta Sans"/>
                    <a:ea typeface="Microsoft YaHei"/>
                    <a:cs typeface="Plus Jakarta Sans"/>
                  </a:rPr>
                  <a:t>汇报小组：</a:t>
                </a:r>
                <a:r>
                  <a:rPr lang="zh-CN" sz="1200" b="1" dirty="0">
                    <a:solidFill>
                      <a:srgbClr val="FFFFFF"/>
                    </a:solidFill>
                    <a:latin typeface="Plus Jakarta Sans"/>
                    <a:ea typeface="Microsoft YaHei"/>
                    <a:cs typeface="Plus Jakarta Sans"/>
                  </a:rPr>
                  <a:t>邓雅宁、程宇择</a:t>
                </a:r>
              </a:p>
            </p:txBody>
          </p:sp>
          <p:sp>
            <p:nvSpPr>
              <p:cNvPr id="14" name="TextBox 14"/>
              <p:cNvSpPr txBox="1"/>
              <p:nvPr/>
            </p:nvSpPr>
            <p:spPr>
              <a:xfrm>
                <a:off x="843915" y="5077778"/>
                <a:ext cx="2395966" cy="213360"/>
              </a:xfrm>
              <a:prstGeom prst="rect">
                <a:avLst/>
              </a:prstGeom>
              <a:noFill/>
              <a:ln>
                <a:noFill/>
              </a:ln>
            </p:spPr>
            <p:txBody>
              <a:bodyPr wrap="none" lIns="0" tIns="0" rIns="0" bIns="0" anchor="t" anchorCtr="0">
                <a:spAutoFit/>
              </a:bodyPr>
              <a:lstStyle/>
              <a:p>
                <a:pPr algn="l"/>
                <a:r>
                  <a:rPr lang="zh-CN" sz="1050" dirty="0">
                    <a:solidFill>
                      <a:srgbClr val="809085"/>
                    </a:solidFill>
                    <a:latin typeface="Plus Jakarta Sans"/>
                    <a:ea typeface="Microsoft YaHei"/>
                    <a:cs typeface="Plus Jakarta Sans"/>
                  </a:rPr>
                  <a:t>班级：智农 2501 班 | 期末汇报答辩</a:t>
                </a:r>
              </a:p>
            </p:txBody>
          </p:sp>
          <p:sp>
            <p:nvSpPr>
              <p:cNvPr id="15" name="Freeform 15"/>
              <p:cNvSpPr/>
              <p:nvPr/>
            </p:nvSpPr>
            <p:spPr>
              <a:xfrm>
                <a:off x="4301633" y="4796552"/>
                <a:ext cx="350726" cy="314023"/>
              </a:xfrm>
              <a:custGeom>
                <a:avLst/>
                <a:gdLst/>
                <a:ahLst/>
                <a:cxnLst/>
                <a:rect l="l" t="t" r="r" b="b"/>
                <a:pathLst>
                  <a:path w="350726" h="314023">
                    <a:moveTo>
                      <a:pt x="77025" y="43894"/>
                    </a:moveTo>
                    <a:cubicBezTo>
                      <a:pt x="138922" y="0"/>
                      <a:pt x="227330" y="3588"/>
                      <a:pt x="284559" y="52388"/>
                    </a:cubicBezTo>
                    <a:cubicBezTo>
                      <a:pt x="342773" y="102060"/>
                      <a:pt x="350726" y="183166"/>
                      <a:pt x="302847" y="241268"/>
                    </a:cubicBezTo>
                    <a:cubicBezTo>
                      <a:pt x="257747" y="295989"/>
                      <a:pt x="176403" y="314023"/>
                      <a:pt x="108680" y="285798"/>
                    </a:cubicBezTo>
                    <a:lnTo>
                      <a:pt x="104981" y="284194"/>
                    </a:lnTo>
                    <a:lnTo>
                      <a:pt x="35544" y="298974"/>
                    </a:lnTo>
                    <a:lnTo>
                      <a:pt x="34909" y="299069"/>
                    </a:lnTo>
                    <a:lnTo>
                      <a:pt x="34354" y="299180"/>
                    </a:lnTo>
                    <a:lnTo>
                      <a:pt x="34068" y="299180"/>
                    </a:lnTo>
                    <a:lnTo>
                      <a:pt x="33718" y="299260"/>
                    </a:lnTo>
                    <a:lnTo>
                      <a:pt x="33115" y="299260"/>
                    </a:lnTo>
                    <a:lnTo>
                      <a:pt x="32591" y="299323"/>
                    </a:lnTo>
                    <a:lnTo>
                      <a:pt x="32258" y="299307"/>
                    </a:lnTo>
                    <a:lnTo>
                      <a:pt x="31893" y="299323"/>
                    </a:lnTo>
                    <a:lnTo>
                      <a:pt x="31369" y="299276"/>
                    </a:lnTo>
                    <a:lnTo>
                      <a:pt x="30813" y="299276"/>
                    </a:lnTo>
                    <a:lnTo>
                      <a:pt x="30464" y="299212"/>
                    </a:lnTo>
                    <a:lnTo>
                      <a:pt x="30115" y="299180"/>
                    </a:lnTo>
                    <a:lnTo>
                      <a:pt x="29559" y="299069"/>
                    </a:lnTo>
                    <a:lnTo>
                      <a:pt x="29020" y="298990"/>
                    </a:lnTo>
                    <a:lnTo>
                      <a:pt x="28765" y="298926"/>
                    </a:lnTo>
                    <a:lnTo>
                      <a:pt x="28385" y="298847"/>
                    </a:lnTo>
                    <a:lnTo>
                      <a:pt x="27607" y="298593"/>
                    </a:lnTo>
                    <a:lnTo>
                      <a:pt x="27226" y="298513"/>
                    </a:lnTo>
                    <a:lnTo>
                      <a:pt x="27051" y="298434"/>
                    </a:lnTo>
                    <a:lnTo>
                      <a:pt x="26702" y="298323"/>
                    </a:lnTo>
                    <a:lnTo>
                      <a:pt x="25987" y="298006"/>
                    </a:lnTo>
                    <a:lnTo>
                      <a:pt x="25511" y="297815"/>
                    </a:lnTo>
                    <a:lnTo>
                      <a:pt x="25336" y="297720"/>
                    </a:lnTo>
                    <a:lnTo>
                      <a:pt x="25114" y="297625"/>
                    </a:lnTo>
                    <a:lnTo>
                      <a:pt x="24622" y="297339"/>
                    </a:lnTo>
                    <a:lnTo>
                      <a:pt x="23908" y="296958"/>
                    </a:lnTo>
                    <a:lnTo>
                      <a:pt x="23654" y="296783"/>
                    </a:lnTo>
                    <a:lnTo>
                      <a:pt x="23066" y="296370"/>
                    </a:lnTo>
                    <a:lnTo>
                      <a:pt x="22431" y="295942"/>
                    </a:lnTo>
                    <a:lnTo>
                      <a:pt x="22400" y="295878"/>
                    </a:lnTo>
                    <a:lnTo>
                      <a:pt x="22193" y="295735"/>
                    </a:lnTo>
                    <a:lnTo>
                      <a:pt x="21511" y="295100"/>
                    </a:lnTo>
                    <a:lnTo>
                      <a:pt x="21114" y="294783"/>
                    </a:lnTo>
                    <a:lnTo>
                      <a:pt x="21018" y="294672"/>
                    </a:lnTo>
                    <a:lnTo>
                      <a:pt x="20130" y="293687"/>
                    </a:lnTo>
                    <a:lnTo>
                      <a:pt x="19923" y="293465"/>
                    </a:lnTo>
                    <a:lnTo>
                      <a:pt x="19748" y="293243"/>
                    </a:lnTo>
                    <a:lnTo>
                      <a:pt x="19129" y="292354"/>
                    </a:lnTo>
                    <a:lnTo>
                      <a:pt x="18907" y="292052"/>
                    </a:lnTo>
                    <a:lnTo>
                      <a:pt x="18828" y="291894"/>
                    </a:lnTo>
                    <a:lnTo>
                      <a:pt x="18161" y="290735"/>
                    </a:lnTo>
                    <a:lnTo>
                      <a:pt x="18050" y="290544"/>
                    </a:lnTo>
                    <a:lnTo>
                      <a:pt x="17986" y="290417"/>
                    </a:lnTo>
                    <a:lnTo>
                      <a:pt x="17875" y="290227"/>
                    </a:lnTo>
                    <a:lnTo>
                      <a:pt x="17653" y="289624"/>
                    </a:lnTo>
                    <a:lnTo>
                      <a:pt x="17335" y="288957"/>
                    </a:lnTo>
                    <a:lnTo>
                      <a:pt x="17272" y="288703"/>
                    </a:lnTo>
                    <a:lnTo>
                      <a:pt x="17209" y="288544"/>
                    </a:lnTo>
                    <a:lnTo>
                      <a:pt x="16939" y="287576"/>
                    </a:lnTo>
                    <a:lnTo>
                      <a:pt x="16827" y="287290"/>
                    </a:lnTo>
                    <a:lnTo>
                      <a:pt x="16796" y="287052"/>
                    </a:lnTo>
                    <a:lnTo>
                      <a:pt x="16716" y="286750"/>
                    </a:lnTo>
                    <a:lnTo>
                      <a:pt x="16637" y="286226"/>
                    </a:lnTo>
                    <a:lnTo>
                      <a:pt x="16510" y="285559"/>
                    </a:lnTo>
                    <a:lnTo>
                      <a:pt x="16478" y="285067"/>
                    </a:lnTo>
                    <a:lnTo>
                      <a:pt x="16431" y="284909"/>
                    </a:lnTo>
                    <a:lnTo>
                      <a:pt x="16431" y="284655"/>
                    </a:lnTo>
                    <a:lnTo>
                      <a:pt x="16367" y="283797"/>
                    </a:lnTo>
                    <a:lnTo>
                      <a:pt x="16383" y="283226"/>
                    </a:lnTo>
                    <a:lnTo>
                      <a:pt x="16399" y="282861"/>
                    </a:lnTo>
                    <a:lnTo>
                      <a:pt x="16431" y="282019"/>
                    </a:lnTo>
                    <a:lnTo>
                      <a:pt x="16494" y="281622"/>
                    </a:lnTo>
                    <a:lnTo>
                      <a:pt x="16494" y="281321"/>
                    </a:lnTo>
                    <a:lnTo>
                      <a:pt x="16621" y="280765"/>
                    </a:lnTo>
                    <a:lnTo>
                      <a:pt x="16700" y="280226"/>
                    </a:lnTo>
                    <a:lnTo>
                      <a:pt x="16780" y="279908"/>
                    </a:lnTo>
                    <a:lnTo>
                      <a:pt x="16843" y="279590"/>
                    </a:lnTo>
                    <a:lnTo>
                      <a:pt x="17129" y="278638"/>
                    </a:lnTo>
                    <a:lnTo>
                      <a:pt x="17177" y="278432"/>
                    </a:lnTo>
                    <a:lnTo>
                      <a:pt x="35433" y="223663"/>
                    </a:lnTo>
                    <a:lnTo>
                      <a:pt x="35084" y="223076"/>
                    </a:lnTo>
                    <a:cubicBezTo>
                      <a:pt x="0" y="163592"/>
                      <a:pt x="15891" y="89868"/>
                      <a:pt x="73390" y="46561"/>
                    </a:cubicBezTo>
                    <a:close/>
                  </a:path>
                </a:pathLst>
              </a:custGeom>
              <a:solidFill>
                <a:srgbClr val="F2C165"/>
              </a:solidFill>
              <a:ln>
                <a:noFill/>
              </a:ln>
            </p:spPr>
          </p:sp>
        </p:grpSp>
      </p:grpSp>
      <p:sp>
        <p:nvSpPr>
          <p:cNvPr id="18" name="TextBox 18"/>
          <p:cNvSpPr txBox="1"/>
          <p:nvPr/>
        </p:nvSpPr>
        <p:spPr>
          <a:xfrm>
            <a:off x="558165" y="6173152"/>
            <a:ext cx="3385090" cy="213360"/>
          </a:xfrm>
          <a:prstGeom prst="rect">
            <a:avLst/>
          </a:prstGeom>
          <a:noFill/>
          <a:ln>
            <a:noFill/>
          </a:ln>
        </p:spPr>
        <p:txBody>
          <a:bodyPr wrap="none" lIns="0" tIns="0" rIns="0" bIns="0" anchor="t" anchorCtr="0">
            <a:spAutoFit/>
          </a:bodyPr>
          <a:lstStyle/>
          <a:p>
            <a:pPr algn="l"/>
            <a:r>
              <a:rPr lang="zh-CN" sz="1050" i="1" dirty="0">
                <a:solidFill>
                  <a:srgbClr val="809085"/>
                </a:solidFill>
                <a:latin typeface="Plus Jakarta Sans"/>
                <a:ea typeface="Microsoft YaHei"/>
                <a:cs typeface="Plus Jakarta Sans"/>
              </a:rPr>
              <a:t>“我正朝着阳光伸展，能听到你的呼吸... — 小绿”</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000125" cy="247650"/>
            </a:xfrm>
            <a:custGeom>
              <a:avLst/>
              <a:gdLst/>
              <a:ahLst/>
              <a:cxnLst/>
              <a:rect l="l" t="t" r="r" b="b"/>
              <a:pathLst>
                <a:path w="1000125" h="247650">
                  <a:moveTo>
                    <a:pt x="123825" y="0"/>
                  </a:moveTo>
                  <a:lnTo>
                    <a:pt x="876300" y="0"/>
                  </a:lnTo>
                  <a:cubicBezTo>
                    <a:pt x="944687" y="0"/>
                    <a:pt x="1000125" y="55438"/>
                    <a:pt x="1000125" y="123825"/>
                  </a:cubicBezTo>
                  <a:lnTo>
                    <a:pt x="1000125" y="123825"/>
                  </a:lnTo>
                  <a:cubicBezTo>
                    <a:pt x="1000125" y="192212"/>
                    <a:pt x="944687" y="247650"/>
                    <a:pt x="876300"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起源与初心</a:t>
              </a:r>
            </a:p>
          </p:txBody>
        </p:sp>
        <p:sp>
          <p:nvSpPr>
            <p:cNvPr id="5" name="TextBox 5"/>
            <p:cNvSpPr txBox="1"/>
            <p:nvPr/>
          </p:nvSpPr>
          <p:spPr>
            <a:xfrm>
              <a:off x="1684020" y="312420"/>
              <a:ext cx="5618455"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痛点思考：传统养护系统的“冰冷”</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8" name="Group 28"/>
          <p:cNvGrpSpPr/>
          <p:nvPr/>
        </p:nvGrpSpPr>
        <p:grpSpPr>
          <a:xfrm>
            <a:off x="550545" y="1345882"/>
            <a:ext cx="5735955" cy="4464368"/>
            <a:chOff x="550545" y="1345882"/>
            <a:chExt cx="5735955" cy="4464368"/>
          </a:xfrm>
        </p:grpSpPr>
        <p:sp>
          <p:nvSpPr>
            <p:cNvPr id="8" name="TextBox 8"/>
            <p:cNvSpPr txBox="1"/>
            <p:nvPr/>
          </p:nvSpPr>
          <p:spPr>
            <a:xfrm>
              <a:off x="550545" y="1345882"/>
              <a:ext cx="5380877" cy="335280"/>
            </a:xfrm>
            <a:prstGeom prst="rect">
              <a:avLst/>
            </a:prstGeom>
            <a:noFill/>
            <a:ln>
              <a:noFill/>
            </a:ln>
          </p:spPr>
          <p:txBody>
            <a:bodyPr wrap="none" lIns="0" tIns="0" rIns="0" bIns="0" anchor="t" anchorCtr="0">
              <a:spAutoFit/>
            </a:bodyPr>
            <a:lstStyle/>
            <a:p>
              <a:pPr algn="l"/>
              <a:r>
                <a:rPr lang="zh-CN" sz="1650" b="1" dirty="0">
                  <a:solidFill>
                    <a:srgbClr val="8E5B3C"/>
                  </a:solidFill>
                  <a:latin typeface="Quicksand"/>
                  <a:ea typeface="Microsoft YaHei"/>
                  <a:cs typeface="Quicksand"/>
                </a:rPr>
                <a:t>为什么说绝大多数智能养护只是“传感器看板”？</a:t>
              </a:r>
            </a:p>
          </p:txBody>
        </p:sp>
        <p:grpSp>
          <p:nvGrpSpPr>
            <p:cNvPr id="13" name="Group 13"/>
            <p:cNvGrpSpPr/>
            <p:nvPr/>
          </p:nvGrpSpPr>
          <p:grpSpPr>
            <a:xfrm>
              <a:off x="609600" y="2064068"/>
              <a:ext cx="5351383" cy="500538"/>
              <a:chOff x="609600" y="2064068"/>
              <a:chExt cx="5351383" cy="500538"/>
            </a:xfrm>
          </p:grpSpPr>
          <p:sp>
            <p:nvSpPr>
              <p:cNvPr id="9" name="Ellipse 9"/>
              <p:cNvSpPr/>
              <p:nvPr/>
            </p:nvSpPr>
            <p:spPr>
              <a:xfrm>
                <a:off x="609600" y="2085975"/>
                <a:ext cx="304800" cy="304800"/>
              </a:xfrm>
              <a:prstGeom prst="ellipse">
                <a:avLst/>
              </a:prstGeom>
              <a:solidFill>
                <a:srgbClr val="D64535">
                  <a:alpha val="10000"/>
                </a:srgbClr>
              </a:solidFill>
              <a:ln>
                <a:noFill/>
              </a:ln>
            </p:spPr>
          </p:sp>
          <p:sp>
            <p:nvSpPr>
              <p:cNvPr id="10" name="TextBox 10"/>
              <p:cNvSpPr txBox="1"/>
              <p:nvPr/>
            </p:nvSpPr>
            <p:spPr>
              <a:xfrm>
                <a:off x="719157" y="2165985"/>
                <a:ext cx="85687" cy="243840"/>
              </a:xfrm>
              <a:prstGeom prst="rect">
                <a:avLst/>
              </a:prstGeom>
              <a:noFill/>
              <a:ln>
                <a:noFill/>
              </a:ln>
            </p:spPr>
            <p:txBody>
              <a:bodyPr wrap="none" lIns="0" tIns="0" rIns="0" bIns="0" anchor="t" anchorCtr="0">
                <a:spAutoFit/>
              </a:bodyPr>
              <a:lstStyle/>
              <a:p>
                <a:pPr algn="ctr"/>
                <a:r>
                  <a:rPr lang="zh-CN" sz="1200" b="1" dirty="0">
                    <a:solidFill>
                      <a:srgbClr val="D64535"/>
                    </a:solidFill>
                    <a:latin typeface="Plus Jakarta Sans"/>
                    <a:ea typeface="Microsoft YaHei"/>
                    <a:cs typeface="Plus Jakarta Sans"/>
                  </a:rPr>
                  <a:t>1</a:t>
                </a:r>
              </a:p>
            </p:txBody>
          </p:sp>
          <p:sp>
            <p:nvSpPr>
              <p:cNvPr id="11" name="TextBox 11"/>
              <p:cNvSpPr txBox="1"/>
              <p:nvPr/>
            </p:nvSpPr>
            <p:spPr>
              <a:xfrm>
                <a:off x="1049655" y="2064068"/>
                <a:ext cx="1690497"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Plus Jakarta Sans"/>
                    <a:ea typeface="Microsoft YaHei"/>
                    <a:cs typeface="Plus Jakarta Sans"/>
                  </a:rPr>
                  <a:t>孤立的传感器读数</a:t>
                </a:r>
              </a:p>
            </p:txBody>
          </p:sp>
          <p:sp>
            <p:nvSpPr>
              <p:cNvPr id="12" name="TextBox 12"/>
              <p:cNvSpPr txBox="1"/>
              <p:nvPr/>
            </p:nvSpPr>
            <p:spPr>
              <a:xfrm>
                <a:off x="1052512" y="2336006"/>
                <a:ext cx="490847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满屏冷漠的“水分 23% / 温度 28°C”，用户难以产生情感照料动力。</a:t>
                </a:r>
              </a:p>
            </p:txBody>
          </p:sp>
        </p:grpSp>
        <p:grpSp>
          <p:nvGrpSpPr>
            <p:cNvPr id="18" name="Group 18"/>
            <p:cNvGrpSpPr/>
            <p:nvPr/>
          </p:nvGrpSpPr>
          <p:grpSpPr>
            <a:xfrm>
              <a:off x="609600" y="3111818"/>
              <a:ext cx="5236368" cy="500538"/>
              <a:chOff x="609600" y="3111818"/>
              <a:chExt cx="5236368" cy="500538"/>
            </a:xfrm>
          </p:grpSpPr>
          <p:sp>
            <p:nvSpPr>
              <p:cNvPr id="14" name="Ellipse 14"/>
              <p:cNvSpPr/>
              <p:nvPr/>
            </p:nvSpPr>
            <p:spPr>
              <a:xfrm>
                <a:off x="609600" y="3133725"/>
                <a:ext cx="304800" cy="304800"/>
              </a:xfrm>
              <a:prstGeom prst="ellipse">
                <a:avLst/>
              </a:prstGeom>
              <a:solidFill>
                <a:srgbClr val="D64535">
                  <a:alpha val="10000"/>
                </a:srgbClr>
              </a:solidFill>
              <a:ln>
                <a:noFill/>
              </a:ln>
            </p:spPr>
          </p:sp>
          <p:sp>
            <p:nvSpPr>
              <p:cNvPr id="15" name="TextBox 15"/>
              <p:cNvSpPr txBox="1"/>
              <p:nvPr/>
            </p:nvSpPr>
            <p:spPr>
              <a:xfrm>
                <a:off x="696154" y="3213735"/>
                <a:ext cx="131693" cy="243840"/>
              </a:xfrm>
              <a:prstGeom prst="rect">
                <a:avLst/>
              </a:prstGeom>
              <a:noFill/>
              <a:ln>
                <a:noFill/>
              </a:ln>
            </p:spPr>
            <p:txBody>
              <a:bodyPr wrap="none" lIns="0" tIns="0" rIns="0" bIns="0" anchor="t" anchorCtr="0">
                <a:spAutoFit/>
              </a:bodyPr>
              <a:lstStyle/>
              <a:p>
                <a:pPr algn="ctr"/>
                <a:r>
                  <a:rPr lang="zh-CN" sz="1200" b="1" dirty="0">
                    <a:solidFill>
                      <a:srgbClr val="D64535"/>
                    </a:solidFill>
                    <a:latin typeface="Plus Jakarta Sans"/>
                    <a:ea typeface="Microsoft YaHei"/>
                    <a:cs typeface="Plus Jakarta Sans"/>
                  </a:rPr>
                  <a:t>2</a:t>
                </a:r>
              </a:p>
            </p:txBody>
          </p:sp>
          <p:sp>
            <p:nvSpPr>
              <p:cNvPr id="16" name="TextBox 16"/>
              <p:cNvSpPr txBox="1"/>
              <p:nvPr/>
            </p:nvSpPr>
            <p:spPr>
              <a:xfrm>
                <a:off x="1049655" y="3111818"/>
                <a:ext cx="1897523"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Plus Jakarta Sans"/>
                    <a:ea typeface="Microsoft YaHei"/>
                    <a:cs typeface="Plus Jakarta Sans"/>
                  </a:rPr>
                  <a:t>缺失植物性格与语境</a:t>
                </a:r>
              </a:p>
            </p:txBody>
          </p:sp>
          <p:sp>
            <p:nvSpPr>
              <p:cNvPr id="17" name="TextBox 17"/>
              <p:cNvSpPr txBox="1"/>
              <p:nvPr/>
            </p:nvSpPr>
            <p:spPr>
              <a:xfrm>
                <a:off x="1052512" y="3383756"/>
                <a:ext cx="4793456"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传感器读数不等于心情，简单暴力的数值报警极易引发养护焦虑。</a:t>
                </a:r>
              </a:p>
            </p:txBody>
          </p:sp>
        </p:grpSp>
        <p:grpSp>
          <p:nvGrpSpPr>
            <p:cNvPr id="23" name="Group 23"/>
            <p:cNvGrpSpPr/>
            <p:nvPr/>
          </p:nvGrpSpPr>
          <p:grpSpPr>
            <a:xfrm>
              <a:off x="609600" y="4159568"/>
              <a:ext cx="5236368" cy="500538"/>
              <a:chOff x="609600" y="4159568"/>
              <a:chExt cx="5236368" cy="500538"/>
            </a:xfrm>
          </p:grpSpPr>
          <p:sp>
            <p:nvSpPr>
              <p:cNvPr id="19" name="Ellipse 19"/>
              <p:cNvSpPr/>
              <p:nvPr/>
            </p:nvSpPr>
            <p:spPr>
              <a:xfrm>
                <a:off x="609600" y="4181475"/>
                <a:ext cx="304800" cy="304800"/>
              </a:xfrm>
              <a:prstGeom prst="ellipse">
                <a:avLst/>
              </a:prstGeom>
              <a:solidFill>
                <a:srgbClr val="D64535">
                  <a:alpha val="10000"/>
                </a:srgbClr>
              </a:solidFill>
              <a:ln>
                <a:noFill/>
              </a:ln>
            </p:spPr>
          </p:sp>
          <p:sp>
            <p:nvSpPr>
              <p:cNvPr id="20" name="TextBox 20"/>
              <p:cNvSpPr txBox="1"/>
              <p:nvPr/>
            </p:nvSpPr>
            <p:spPr>
              <a:xfrm>
                <a:off x="696154" y="4261485"/>
                <a:ext cx="131693" cy="243840"/>
              </a:xfrm>
              <a:prstGeom prst="rect">
                <a:avLst/>
              </a:prstGeom>
              <a:noFill/>
              <a:ln>
                <a:noFill/>
              </a:ln>
            </p:spPr>
            <p:txBody>
              <a:bodyPr wrap="none" lIns="0" tIns="0" rIns="0" bIns="0" anchor="t" anchorCtr="0">
                <a:spAutoFit/>
              </a:bodyPr>
              <a:lstStyle/>
              <a:p>
                <a:pPr algn="ctr"/>
                <a:r>
                  <a:rPr lang="zh-CN" sz="1200" b="1" dirty="0">
                    <a:solidFill>
                      <a:srgbClr val="D64535"/>
                    </a:solidFill>
                    <a:latin typeface="Plus Jakarta Sans"/>
                    <a:ea typeface="Microsoft YaHei"/>
                    <a:cs typeface="Plus Jakarta Sans"/>
                  </a:rPr>
                  <a:t>3</a:t>
                </a:r>
              </a:p>
            </p:txBody>
          </p:sp>
          <p:sp>
            <p:nvSpPr>
              <p:cNvPr id="21" name="TextBox 21"/>
              <p:cNvSpPr txBox="1"/>
              <p:nvPr/>
            </p:nvSpPr>
            <p:spPr>
              <a:xfrm>
                <a:off x="1049655" y="4159568"/>
                <a:ext cx="1897523"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Plus Jakarta Sans"/>
                    <a:ea typeface="Microsoft YaHei"/>
                    <a:cs typeface="Plus Jakarta Sans"/>
                  </a:rPr>
                  <a:t>被动的单向数据上报</a:t>
                </a:r>
              </a:p>
            </p:txBody>
          </p:sp>
          <p:sp>
            <p:nvSpPr>
              <p:cNvPr id="22" name="TextBox 22"/>
              <p:cNvSpPr txBox="1"/>
              <p:nvPr/>
            </p:nvSpPr>
            <p:spPr>
              <a:xfrm>
                <a:off x="1052512" y="4431506"/>
                <a:ext cx="4793456"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由于缺乏长期记忆与主动反馈机制，人与植物之间无法建立羁绊。</a:t>
                </a:r>
              </a:p>
            </p:txBody>
          </p:sp>
        </p:grpSp>
        <p:sp>
          <p:nvSpPr>
            <p:cNvPr id="24" name="Freeform 24"/>
            <p:cNvSpPr/>
            <p:nvPr/>
          </p:nvSpPr>
          <p:spPr>
            <a:xfrm>
              <a:off x="571500" y="5095875"/>
              <a:ext cx="5715000" cy="714375"/>
            </a:xfrm>
            <a:custGeom>
              <a:avLst/>
              <a:gdLst/>
              <a:ahLst/>
              <a:cxnLst/>
              <a:rect l="l" t="t" r="r" b="b"/>
              <a:pathLst>
                <a:path w="5715000" h="714375">
                  <a:moveTo>
                    <a:pt x="95250" y="0"/>
                  </a:moveTo>
                  <a:lnTo>
                    <a:pt x="5619750" y="0"/>
                  </a:lnTo>
                  <a:cubicBezTo>
                    <a:pt x="5672355" y="0"/>
                    <a:pt x="5715000" y="42645"/>
                    <a:pt x="5715000" y="95250"/>
                  </a:cubicBezTo>
                  <a:lnTo>
                    <a:pt x="5715000" y="619125"/>
                  </a:lnTo>
                  <a:cubicBezTo>
                    <a:pt x="5715000" y="671730"/>
                    <a:pt x="5672355" y="714375"/>
                    <a:pt x="5619750" y="714375"/>
                  </a:cubicBezTo>
                  <a:lnTo>
                    <a:pt x="95250" y="714375"/>
                  </a:lnTo>
                  <a:cubicBezTo>
                    <a:pt x="42645" y="714375"/>
                    <a:pt x="0" y="671730"/>
                    <a:pt x="0" y="619125"/>
                  </a:cubicBezTo>
                  <a:lnTo>
                    <a:pt x="0" y="95250"/>
                  </a:lnTo>
                  <a:cubicBezTo>
                    <a:pt x="0" y="42645"/>
                    <a:pt x="42645" y="0"/>
                    <a:pt x="95250" y="0"/>
                  </a:cubicBezTo>
                  <a:close/>
                </a:path>
              </a:pathLst>
            </a:custGeom>
            <a:solidFill>
              <a:srgbClr val="FFFFFF"/>
            </a:solidFill>
            <a:ln w="9525">
              <a:solidFill>
                <a:srgbClr val="D1DAD4"/>
              </a:solidFill>
            </a:ln>
          </p:spPr>
        </p:sp>
        <p:sp>
          <p:nvSpPr>
            <p:cNvPr id="25" name="Freeform 25"/>
            <p:cNvSpPr/>
            <p:nvPr/>
          </p:nvSpPr>
          <p:spPr>
            <a:xfrm>
              <a:off x="777383" y="5291852"/>
              <a:ext cx="350726" cy="314023"/>
            </a:xfrm>
            <a:custGeom>
              <a:avLst/>
              <a:gdLst/>
              <a:ahLst/>
              <a:cxnLst/>
              <a:rect l="l" t="t" r="r" b="b"/>
              <a:pathLst>
                <a:path w="350726" h="314023">
                  <a:moveTo>
                    <a:pt x="77025" y="43894"/>
                  </a:moveTo>
                  <a:cubicBezTo>
                    <a:pt x="138922" y="0"/>
                    <a:pt x="227330" y="3588"/>
                    <a:pt x="284559" y="52388"/>
                  </a:cubicBezTo>
                  <a:cubicBezTo>
                    <a:pt x="342773" y="102060"/>
                    <a:pt x="350726" y="183166"/>
                    <a:pt x="302847" y="241268"/>
                  </a:cubicBezTo>
                  <a:cubicBezTo>
                    <a:pt x="257746" y="295989"/>
                    <a:pt x="176403" y="314023"/>
                    <a:pt x="108680" y="285798"/>
                  </a:cubicBezTo>
                  <a:lnTo>
                    <a:pt x="104981" y="284194"/>
                  </a:lnTo>
                  <a:lnTo>
                    <a:pt x="35544" y="298974"/>
                  </a:lnTo>
                  <a:lnTo>
                    <a:pt x="34909" y="299069"/>
                  </a:lnTo>
                  <a:lnTo>
                    <a:pt x="34353" y="299180"/>
                  </a:lnTo>
                  <a:lnTo>
                    <a:pt x="34068" y="299180"/>
                  </a:lnTo>
                  <a:lnTo>
                    <a:pt x="33718" y="299260"/>
                  </a:lnTo>
                  <a:lnTo>
                    <a:pt x="33115" y="299260"/>
                  </a:lnTo>
                  <a:lnTo>
                    <a:pt x="32591" y="299323"/>
                  </a:lnTo>
                  <a:lnTo>
                    <a:pt x="32258" y="299307"/>
                  </a:lnTo>
                  <a:lnTo>
                    <a:pt x="31893" y="299323"/>
                  </a:lnTo>
                  <a:lnTo>
                    <a:pt x="31369" y="299275"/>
                  </a:lnTo>
                  <a:lnTo>
                    <a:pt x="30813" y="299275"/>
                  </a:lnTo>
                  <a:lnTo>
                    <a:pt x="30464" y="299212"/>
                  </a:lnTo>
                  <a:lnTo>
                    <a:pt x="30115" y="299180"/>
                  </a:lnTo>
                  <a:lnTo>
                    <a:pt x="29559" y="299069"/>
                  </a:lnTo>
                  <a:lnTo>
                    <a:pt x="29019" y="298990"/>
                  </a:lnTo>
                  <a:lnTo>
                    <a:pt x="28765" y="298926"/>
                  </a:lnTo>
                  <a:lnTo>
                    <a:pt x="28384" y="298847"/>
                  </a:lnTo>
                  <a:lnTo>
                    <a:pt x="27607" y="298593"/>
                  </a:lnTo>
                  <a:lnTo>
                    <a:pt x="27226" y="298513"/>
                  </a:lnTo>
                  <a:lnTo>
                    <a:pt x="27051" y="298434"/>
                  </a:lnTo>
                  <a:lnTo>
                    <a:pt x="26702" y="298323"/>
                  </a:lnTo>
                  <a:lnTo>
                    <a:pt x="25987" y="298005"/>
                  </a:lnTo>
                  <a:lnTo>
                    <a:pt x="25511" y="297815"/>
                  </a:lnTo>
                  <a:lnTo>
                    <a:pt x="25336" y="297720"/>
                  </a:lnTo>
                  <a:lnTo>
                    <a:pt x="25114" y="297624"/>
                  </a:lnTo>
                  <a:lnTo>
                    <a:pt x="24622" y="297339"/>
                  </a:lnTo>
                  <a:lnTo>
                    <a:pt x="23908" y="296958"/>
                  </a:lnTo>
                  <a:lnTo>
                    <a:pt x="23654" y="296783"/>
                  </a:lnTo>
                  <a:lnTo>
                    <a:pt x="23066" y="296370"/>
                  </a:lnTo>
                  <a:lnTo>
                    <a:pt x="22431" y="295942"/>
                  </a:lnTo>
                  <a:lnTo>
                    <a:pt x="22400" y="295878"/>
                  </a:lnTo>
                  <a:lnTo>
                    <a:pt x="22193" y="295735"/>
                  </a:lnTo>
                  <a:lnTo>
                    <a:pt x="21511" y="295100"/>
                  </a:lnTo>
                  <a:lnTo>
                    <a:pt x="21114" y="294783"/>
                  </a:lnTo>
                  <a:lnTo>
                    <a:pt x="21018" y="294672"/>
                  </a:lnTo>
                  <a:lnTo>
                    <a:pt x="20129" y="293687"/>
                  </a:lnTo>
                  <a:lnTo>
                    <a:pt x="19923" y="293465"/>
                  </a:lnTo>
                  <a:lnTo>
                    <a:pt x="19748" y="293243"/>
                  </a:lnTo>
                  <a:lnTo>
                    <a:pt x="19129" y="292354"/>
                  </a:lnTo>
                  <a:lnTo>
                    <a:pt x="18907" y="292052"/>
                  </a:lnTo>
                  <a:lnTo>
                    <a:pt x="18828" y="291894"/>
                  </a:lnTo>
                  <a:lnTo>
                    <a:pt x="18161" y="290735"/>
                  </a:lnTo>
                  <a:lnTo>
                    <a:pt x="18050" y="290544"/>
                  </a:lnTo>
                  <a:lnTo>
                    <a:pt x="17986" y="290417"/>
                  </a:lnTo>
                  <a:lnTo>
                    <a:pt x="17875" y="290227"/>
                  </a:lnTo>
                  <a:lnTo>
                    <a:pt x="17653" y="289623"/>
                  </a:lnTo>
                  <a:lnTo>
                    <a:pt x="17335" y="288957"/>
                  </a:lnTo>
                  <a:lnTo>
                    <a:pt x="17272" y="288703"/>
                  </a:lnTo>
                  <a:lnTo>
                    <a:pt x="17208" y="288544"/>
                  </a:lnTo>
                  <a:lnTo>
                    <a:pt x="16939" y="287576"/>
                  </a:lnTo>
                  <a:lnTo>
                    <a:pt x="16827" y="287290"/>
                  </a:lnTo>
                  <a:lnTo>
                    <a:pt x="16796" y="287052"/>
                  </a:lnTo>
                  <a:lnTo>
                    <a:pt x="16716" y="286750"/>
                  </a:lnTo>
                  <a:lnTo>
                    <a:pt x="16637" y="286226"/>
                  </a:lnTo>
                  <a:lnTo>
                    <a:pt x="16510" y="285559"/>
                  </a:lnTo>
                  <a:lnTo>
                    <a:pt x="16478" y="285067"/>
                  </a:lnTo>
                  <a:lnTo>
                    <a:pt x="16431" y="284909"/>
                  </a:lnTo>
                  <a:lnTo>
                    <a:pt x="16431" y="284655"/>
                  </a:lnTo>
                  <a:lnTo>
                    <a:pt x="16367" y="283797"/>
                  </a:lnTo>
                  <a:lnTo>
                    <a:pt x="16383" y="283226"/>
                  </a:lnTo>
                  <a:lnTo>
                    <a:pt x="16399" y="282861"/>
                  </a:lnTo>
                  <a:lnTo>
                    <a:pt x="16431" y="282019"/>
                  </a:lnTo>
                  <a:lnTo>
                    <a:pt x="16494" y="281622"/>
                  </a:lnTo>
                  <a:lnTo>
                    <a:pt x="16494" y="281321"/>
                  </a:lnTo>
                  <a:lnTo>
                    <a:pt x="16621" y="280765"/>
                  </a:lnTo>
                  <a:lnTo>
                    <a:pt x="16700" y="280225"/>
                  </a:lnTo>
                  <a:lnTo>
                    <a:pt x="16780" y="279908"/>
                  </a:lnTo>
                  <a:lnTo>
                    <a:pt x="16843" y="279590"/>
                  </a:lnTo>
                  <a:lnTo>
                    <a:pt x="17129" y="278638"/>
                  </a:lnTo>
                  <a:lnTo>
                    <a:pt x="17177" y="278432"/>
                  </a:lnTo>
                  <a:lnTo>
                    <a:pt x="35433" y="223663"/>
                  </a:lnTo>
                  <a:lnTo>
                    <a:pt x="35084" y="223075"/>
                  </a:lnTo>
                  <a:cubicBezTo>
                    <a:pt x="0" y="163592"/>
                    <a:pt x="15891" y="89868"/>
                    <a:pt x="73390" y="46561"/>
                  </a:cubicBezTo>
                  <a:close/>
                </a:path>
              </a:pathLst>
            </a:custGeom>
            <a:solidFill>
              <a:srgbClr val="D64535"/>
            </a:solidFill>
            <a:ln>
              <a:noFill/>
            </a:ln>
          </p:spPr>
        </p:sp>
        <p:sp>
          <p:nvSpPr>
            <p:cNvPr id="26" name="TextBox 26"/>
            <p:cNvSpPr txBox="1"/>
            <p:nvPr/>
          </p:nvSpPr>
          <p:spPr>
            <a:xfrm>
              <a:off x="1271588" y="5288756"/>
              <a:ext cx="3824049"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Plus Jakarta Sans"/>
                  <a:ea typeface="Microsoft YaHei"/>
                  <a:cs typeface="Plus Jakarta Sans"/>
                </a:rPr>
                <a:t>这促使我们思考：如何将冰冷的传感器数值转化为</a:t>
              </a:r>
            </a:p>
          </p:txBody>
        </p:sp>
        <p:sp>
          <p:nvSpPr>
            <p:cNvPr id="27" name="TextBox 27"/>
            <p:cNvSpPr txBox="1"/>
            <p:nvPr/>
          </p:nvSpPr>
          <p:spPr>
            <a:xfrm>
              <a:off x="1271588" y="5536406"/>
              <a:ext cx="4358866" cy="228600"/>
            </a:xfrm>
            <a:prstGeom prst="rect">
              <a:avLst/>
            </a:prstGeom>
            <a:noFill/>
            <a:ln>
              <a:noFill/>
            </a:ln>
          </p:spPr>
          <p:txBody>
            <a:bodyPr wrap="none" lIns="0" tIns="0" rIns="0" bIns="0" anchor="t" anchorCtr="0">
              <a:spAutoFit/>
            </a:bodyPr>
            <a:lstStyle/>
            <a:p>
              <a:pPr algn="l"/>
              <a:r>
                <a:rPr lang="zh-CN" sz="1125" b="1" dirty="0">
                  <a:solidFill>
                    <a:srgbClr val="2B583E"/>
                  </a:solidFill>
                  <a:latin typeface="Plus Jakarta Sans"/>
                  <a:ea typeface="Microsoft YaHei"/>
                  <a:cs typeface="Plus Jakarta Sans"/>
                </a:rPr>
                <a:t>“说人话、带温度、拥有长期记忆与共情力”的数字生命？</a:t>
              </a:r>
            </a:p>
          </p:txBody>
        </p:sp>
      </p:grpSp>
      <p:grpSp>
        <p:nvGrpSpPr>
          <p:cNvPr id="31" name="Group 31"/>
          <p:cNvGrpSpPr/>
          <p:nvPr/>
        </p:nvGrpSpPr>
        <p:grpSpPr>
          <a:xfrm>
            <a:off x="6715125" y="904875"/>
            <a:ext cx="4667250" cy="5048250"/>
            <a:chOff x="6715125" y="904875"/>
            <a:chExt cx="4667250" cy="5048250"/>
          </a:xfrm>
        </p:grpSpPr>
        <p:sp>
          <p:nvSpPr>
            <p:cNvPr id="29" name="Freeform 29"/>
            <p:cNvSpPr/>
            <p:nvPr/>
          </p:nvSpPr>
          <p:spPr>
            <a:xfrm>
              <a:off x="6715125" y="904875"/>
              <a:ext cx="4667250" cy="5048250"/>
            </a:xfrm>
            <a:custGeom>
              <a:avLst/>
              <a:gdLst/>
              <a:ahLst/>
              <a:cxnLst/>
              <a:rect l="l" t="t" r="r" b="b"/>
              <a:pathLst>
                <a:path w="4667250" h="5048250">
                  <a:moveTo>
                    <a:pt x="190500" y="0"/>
                  </a:moveTo>
                  <a:lnTo>
                    <a:pt x="4476750" y="0"/>
                  </a:lnTo>
                  <a:cubicBezTo>
                    <a:pt x="4581960" y="0"/>
                    <a:pt x="4667250" y="85290"/>
                    <a:pt x="4667250" y="190500"/>
                  </a:cubicBezTo>
                  <a:lnTo>
                    <a:pt x="4667250" y="4857750"/>
                  </a:lnTo>
                  <a:cubicBezTo>
                    <a:pt x="4667250" y="4962960"/>
                    <a:pt x="4581960" y="5048250"/>
                    <a:pt x="4476750" y="5048250"/>
                  </a:cubicBezTo>
                  <a:lnTo>
                    <a:pt x="190500" y="5048250"/>
                  </a:lnTo>
                  <a:cubicBezTo>
                    <a:pt x="85290" y="5048250"/>
                    <a:pt x="0" y="4962960"/>
                    <a:pt x="0" y="4857750"/>
                  </a:cubicBezTo>
                  <a:lnTo>
                    <a:pt x="0" y="190500"/>
                  </a:lnTo>
                  <a:cubicBezTo>
                    <a:pt x="0" y="85290"/>
                    <a:pt x="85290" y="0"/>
                    <a:pt x="190500" y="0"/>
                  </a:cubicBezTo>
                  <a:close/>
                </a:path>
              </a:pathLst>
            </a:custGeom>
            <a:solidFill>
              <a:srgbClr val="FFFFFF">
                <a:alpha val="50000"/>
              </a:srgbClr>
            </a:solidFill>
            <a:ln w="9525">
              <a:solidFill>
                <a:srgbClr val="D1DAD4"/>
              </a:solidFill>
            </a:ln>
          </p:spPr>
        </p:sp>
        <p:pic>
          <p:nvPicPr>
            <p:cNvPr id="30" name="Image 30"/>
            <p:cNvPicPr>
              <a:picLocks noChangeAspect="1"/>
            </p:cNvPicPr>
            <p:nvPr/>
          </p:nvPicPr>
          <p:blipFill>
            <a:blip r:embed="rId2"/>
            <a:stretch>
              <a:fillRect/>
            </a:stretch>
          </p:blipFill>
          <p:spPr>
            <a:xfrm>
              <a:off x="6858000" y="1047750"/>
              <a:ext cx="4381500" cy="4762500"/>
            </a:xfrm>
            <a:custGeom>
              <a:avLst/>
              <a:gdLst/>
              <a:ahLst/>
              <a:cxnLst/>
              <a:rect l="l" t="t" r="r" b="b"/>
              <a:pathLst>
                <a:path w="4381500" h="4762500">
                  <a:moveTo>
                    <a:pt x="152400" y="0"/>
                  </a:moveTo>
                  <a:lnTo>
                    <a:pt x="4229100" y="0"/>
                  </a:lnTo>
                  <a:cubicBezTo>
                    <a:pt x="4313268" y="0"/>
                    <a:pt x="4381500" y="68232"/>
                    <a:pt x="4381500" y="152400"/>
                  </a:cubicBezTo>
                  <a:lnTo>
                    <a:pt x="4381500" y="4610100"/>
                  </a:lnTo>
                  <a:cubicBezTo>
                    <a:pt x="4381500" y="4694268"/>
                    <a:pt x="4313268" y="4762500"/>
                    <a:pt x="4229100" y="4762500"/>
                  </a:cubicBezTo>
                  <a:lnTo>
                    <a:pt x="152400" y="4762500"/>
                  </a:lnTo>
                  <a:cubicBezTo>
                    <a:pt x="68232" y="4762500"/>
                    <a:pt x="0" y="4694268"/>
                    <a:pt x="0" y="4610100"/>
                  </a:cubicBezTo>
                  <a:lnTo>
                    <a:pt x="0" y="152400"/>
                  </a:lnTo>
                  <a:cubicBezTo>
                    <a:pt x="0" y="68232"/>
                    <a:pt x="68232" y="0"/>
                    <a:pt x="152400" y="0"/>
                  </a:cubicBezTo>
                  <a:close/>
                </a:path>
              </a:pathLst>
            </a:custGeom>
          </p:spPr>
        </p:pic>
      </p:grpSp>
      <p:grpSp>
        <p:nvGrpSpPr>
          <p:cNvPr id="34" name="Group 34"/>
          <p:cNvGrpSpPr/>
          <p:nvPr/>
        </p:nvGrpSpPr>
        <p:grpSpPr>
          <a:xfrm>
            <a:off x="561975" y="6443662"/>
            <a:ext cx="10877550" cy="152400"/>
            <a:chOff x="561975" y="6443662"/>
            <a:chExt cx="10877550" cy="152400"/>
          </a:xfrm>
        </p:grpSpPr>
        <p:sp>
          <p:nvSpPr>
            <p:cNvPr id="32" name="TextBox 3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33" name="TextBox 33"/>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02</a:t>
              </a:r>
            </a:p>
          </p:txBody>
        </p:sp>
      </p:gr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000125" cy="247650"/>
            </a:xfrm>
            <a:custGeom>
              <a:avLst/>
              <a:gdLst/>
              <a:ahLst/>
              <a:cxnLst/>
              <a:rect l="l" t="t" r="r" b="b"/>
              <a:pathLst>
                <a:path w="1000125" h="247650">
                  <a:moveTo>
                    <a:pt x="123825" y="0"/>
                  </a:moveTo>
                  <a:lnTo>
                    <a:pt x="876300" y="0"/>
                  </a:lnTo>
                  <a:cubicBezTo>
                    <a:pt x="944687" y="0"/>
                    <a:pt x="1000125" y="55438"/>
                    <a:pt x="1000125" y="123825"/>
                  </a:cubicBezTo>
                  <a:lnTo>
                    <a:pt x="1000125" y="123825"/>
                  </a:lnTo>
                  <a:cubicBezTo>
                    <a:pt x="1000125" y="192212"/>
                    <a:pt x="944687" y="247650"/>
                    <a:pt x="876300"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起源与初心</a:t>
              </a:r>
            </a:p>
          </p:txBody>
        </p:sp>
        <p:sp>
          <p:nvSpPr>
            <p:cNvPr id="5" name="TextBox 5"/>
            <p:cNvSpPr txBox="1"/>
            <p:nvPr/>
          </p:nvSpPr>
          <p:spPr>
            <a:xfrm>
              <a:off x="1684020" y="312420"/>
              <a:ext cx="6354547"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让代码拥有温度：五大“人文关怀”原则</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1" name="Group 21"/>
          <p:cNvGrpSpPr/>
          <p:nvPr/>
        </p:nvGrpSpPr>
        <p:grpSpPr>
          <a:xfrm>
            <a:off x="571500" y="1190625"/>
            <a:ext cx="3524250" cy="4381500"/>
            <a:chOff x="571500" y="1190625"/>
            <a:chExt cx="3524250" cy="4381500"/>
          </a:xfrm>
        </p:grpSpPr>
        <p:sp>
          <p:nvSpPr>
            <p:cNvPr id="8" name="Freeform 8"/>
            <p:cNvSpPr/>
            <p:nvPr/>
          </p:nvSpPr>
          <p:spPr>
            <a:xfrm>
              <a:off x="571500" y="1190625"/>
              <a:ext cx="3524250" cy="4381500"/>
            </a:xfrm>
            <a:custGeom>
              <a:avLst/>
              <a:gdLst/>
              <a:ahLst/>
              <a:cxnLst/>
              <a:rect l="l" t="t" r="r" b="b"/>
              <a:pathLst>
                <a:path w="3524250" h="4381500">
                  <a:moveTo>
                    <a:pt x="114300" y="0"/>
                  </a:moveTo>
                  <a:lnTo>
                    <a:pt x="3409950" y="0"/>
                  </a:lnTo>
                  <a:cubicBezTo>
                    <a:pt x="3473076" y="0"/>
                    <a:pt x="3524250" y="51174"/>
                    <a:pt x="3524250" y="114300"/>
                  </a:cubicBezTo>
                  <a:lnTo>
                    <a:pt x="3524250" y="4267200"/>
                  </a:lnTo>
                  <a:cubicBezTo>
                    <a:pt x="3524250" y="4330326"/>
                    <a:pt x="3473076" y="4381500"/>
                    <a:pt x="340995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9" name="Freeform 9"/>
            <p:cNvSpPr/>
            <p:nvPr/>
          </p:nvSpPr>
          <p:spPr>
            <a:xfrm>
              <a:off x="571500" y="1190625"/>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2B583E"/>
            </a:solidFill>
            <a:ln>
              <a:noFill/>
            </a:ln>
          </p:spPr>
        </p:sp>
        <p:sp>
          <p:nvSpPr>
            <p:cNvPr id="10" name="Freeform 10"/>
            <p:cNvSpPr/>
            <p:nvPr/>
          </p:nvSpPr>
          <p:spPr>
            <a:xfrm>
              <a:off x="857250" y="1619250"/>
              <a:ext cx="457200" cy="457200"/>
            </a:xfrm>
            <a:custGeom>
              <a:avLst/>
              <a:gdLst/>
              <a:ahLst/>
              <a:cxnLst/>
              <a:rect l="l" t="t" r="r" b="b"/>
              <a:pathLst>
                <a:path w="457200" h="457200">
                  <a:moveTo>
                    <a:pt x="228600" y="0"/>
                  </a:moveTo>
                  <a:lnTo>
                    <a:pt x="228600" y="0"/>
                  </a:lnTo>
                  <a:cubicBezTo>
                    <a:pt x="354852" y="0"/>
                    <a:pt x="457200" y="102348"/>
                    <a:pt x="457200" y="228600"/>
                  </a:cubicBezTo>
                  <a:lnTo>
                    <a:pt x="457200" y="228600"/>
                  </a:lnTo>
                  <a:cubicBezTo>
                    <a:pt x="457200" y="354852"/>
                    <a:pt x="354852" y="457200"/>
                    <a:pt x="2286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2B583E">
                <a:alpha val="8000"/>
              </a:srgbClr>
            </a:solidFill>
            <a:ln>
              <a:noFill/>
            </a:ln>
          </p:spPr>
        </p:sp>
        <p:sp>
          <p:nvSpPr>
            <p:cNvPr id="11" name="Freeform 11"/>
            <p:cNvSpPr/>
            <p:nvPr/>
          </p:nvSpPr>
          <p:spPr>
            <a:xfrm>
              <a:off x="963268" y="1738336"/>
              <a:ext cx="245508" cy="219816"/>
            </a:xfrm>
            <a:custGeom>
              <a:avLst/>
              <a:gdLst/>
              <a:ahLst/>
              <a:cxnLst/>
              <a:rect l="l" t="t" r="r" b="b"/>
              <a:pathLst>
                <a:path w="245508" h="219816">
                  <a:moveTo>
                    <a:pt x="53918" y="30726"/>
                  </a:moveTo>
                  <a:cubicBezTo>
                    <a:pt x="97245" y="0"/>
                    <a:pt x="159131" y="2511"/>
                    <a:pt x="199192" y="36671"/>
                  </a:cubicBezTo>
                  <a:cubicBezTo>
                    <a:pt x="239941" y="71442"/>
                    <a:pt x="245508" y="128216"/>
                    <a:pt x="211993" y="168888"/>
                  </a:cubicBezTo>
                  <a:cubicBezTo>
                    <a:pt x="180423" y="207193"/>
                    <a:pt x="123482" y="219816"/>
                    <a:pt x="76076" y="200058"/>
                  </a:cubicBezTo>
                  <a:lnTo>
                    <a:pt x="73487" y="198936"/>
                  </a:lnTo>
                  <a:lnTo>
                    <a:pt x="24881" y="209282"/>
                  </a:lnTo>
                  <a:lnTo>
                    <a:pt x="24436" y="209348"/>
                  </a:lnTo>
                  <a:lnTo>
                    <a:pt x="24047" y="209426"/>
                  </a:lnTo>
                  <a:lnTo>
                    <a:pt x="23847" y="209426"/>
                  </a:lnTo>
                  <a:lnTo>
                    <a:pt x="23603" y="209482"/>
                  </a:lnTo>
                  <a:lnTo>
                    <a:pt x="23181" y="209482"/>
                  </a:lnTo>
                  <a:lnTo>
                    <a:pt x="22814" y="209526"/>
                  </a:lnTo>
                  <a:lnTo>
                    <a:pt x="22581" y="209515"/>
                  </a:lnTo>
                  <a:lnTo>
                    <a:pt x="22325" y="209526"/>
                  </a:lnTo>
                  <a:lnTo>
                    <a:pt x="21958" y="209493"/>
                  </a:lnTo>
                  <a:lnTo>
                    <a:pt x="21569" y="209493"/>
                  </a:lnTo>
                  <a:lnTo>
                    <a:pt x="21325" y="209448"/>
                  </a:lnTo>
                  <a:lnTo>
                    <a:pt x="21080" y="209426"/>
                  </a:lnTo>
                  <a:lnTo>
                    <a:pt x="20691" y="209348"/>
                  </a:lnTo>
                  <a:lnTo>
                    <a:pt x="20314" y="209293"/>
                  </a:lnTo>
                  <a:lnTo>
                    <a:pt x="20136" y="209248"/>
                  </a:lnTo>
                  <a:lnTo>
                    <a:pt x="19869" y="209193"/>
                  </a:lnTo>
                  <a:lnTo>
                    <a:pt x="19325" y="209015"/>
                  </a:lnTo>
                  <a:lnTo>
                    <a:pt x="19058" y="208959"/>
                  </a:lnTo>
                  <a:lnTo>
                    <a:pt x="18936" y="208904"/>
                  </a:lnTo>
                  <a:lnTo>
                    <a:pt x="18691" y="208826"/>
                  </a:lnTo>
                  <a:lnTo>
                    <a:pt x="18191" y="208604"/>
                  </a:lnTo>
                  <a:lnTo>
                    <a:pt x="17858" y="208471"/>
                  </a:lnTo>
                  <a:lnTo>
                    <a:pt x="17736" y="208404"/>
                  </a:lnTo>
                  <a:lnTo>
                    <a:pt x="17580" y="208337"/>
                  </a:lnTo>
                  <a:lnTo>
                    <a:pt x="17235" y="208137"/>
                  </a:lnTo>
                  <a:lnTo>
                    <a:pt x="16735" y="207870"/>
                  </a:lnTo>
                  <a:lnTo>
                    <a:pt x="16558" y="207748"/>
                  </a:lnTo>
                  <a:lnTo>
                    <a:pt x="16146" y="207459"/>
                  </a:lnTo>
                  <a:lnTo>
                    <a:pt x="15702" y="207159"/>
                  </a:lnTo>
                  <a:lnTo>
                    <a:pt x="15680" y="207115"/>
                  </a:lnTo>
                  <a:lnTo>
                    <a:pt x="15535" y="207015"/>
                  </a:lnTo>
                  <a:lnTo>
                    <a:pt x="15057" y="206570"/>
                  </a:lnTo>
                  <a:lnTo>
                    <a:pt x="14780" y="206348"/>
                  </a:lnTo>
                  <a:lnTo>
                    <a:pt x="14713" y="206270"/>
                  </a:lnTo>
                  <a:lnTo>
                    <a:pt x="14091" y="205581"/>
                  </a:lnTo>
                  <a:lnTo>
                    <a:pt x="13946" y="205426"/>
                  </a:lnTo>
                  <a:lnTo>
                    <a:pt x="13824" y="205270"/>
                  </a:lnTo>
                  <a:lnTo>
                    <a:pt x="13391" y="204648"/>
                  </a:lnTo>
                  <a:lnTo>
                    <a:pt x="13235" y="204437"/>
                  </a:lnTo>
                  <a:lnTo>
                    <a:pt x="13179" y="204326"/>
                  </a:lnTo>
                  <a:lnTo>
                    <a:pt x="12713" y="203514"/>
                  </a:lnTo>
                  <a:lnTo>
                    <a:pt x="12635" y="203381"/>
                  </a:lnTo>
                  <a:lnTo>
                    <a:pt x="12590" y="203292"/>
                  </a:lnTo>
                  <a:lnTo>
                    <a:pt x="12513" y="203159"/>
                  </a:lnTo>
                  <a:lnTo>
                    <a:pt x="12357" y="202736"/>
                  </a:lnTo>
                  <a:lnTo>
                    <a:pt x="12135" y="202270"/>
                  </a:lnTo>
                  <a:lnTo>
                    <a:pt x="12090" y="202092"/>
                  </a:lnTo>
                  <a:lnTo>
                    <a:pt x="12046" y="201981"/>
                  </a:lnTo>
                  <a:lnTo>
                    <a:pt x="11857" y="201303"/>
                  </a:lnTo>
                  <a:lnTo>
                    <a:pt x="11779" y="201103"/>
                  </a:lnTo>
                  <a:lnTo>
                    <a:pt x="11757" y="200936"/>
                  </a:lnTo>
                  <a:lnTo>
                    <a:pt x="11701" y="200725"/>
                  </a:lnTo>
                  <a:lnTo>
                    <a:pt x="11646" y="200358"/>
                  </a:lnTo>
                  <a:lnTo>
                    <a:pt x="11557" y="199892"/>
                  </a:lnTo>
                  <a:lnTo>
                    <a:pt x="11535" y="199547"/>
                  </a:lnTo>
                  <a:lnTo>
                    <a:pt x="11501" y="199436"/>
                  </a:lnTo>
                  <a:lnTo>
                    <a:pt x="11501" y="199258"/>
                  </a:lnTo>
                  <a:lnTo>
                    <a:pt x="11457" y="198658"/>
                  </a:lnTo>
                  <a:lnTo>
                    <a:pt x="11468" y="198258"/>
                  </a:lnTo>
                  <a:lnTo>
                    <a:pt x="11479" y="198003"/>
                  </a:lnTo>
                  <a:lnTo>
                    <a:pt x="11501" y="197414"/>
                  </a:lnTo>
                  <a:lnTo>
                    <a:pt x="11546" y="197136"/>
                  </a:lnTo>
                  <a:lnTo>
                    <a:pt x="11546" y="196925"/>
                  </a:lnTo>
                  <a:lnTo>
                    <a:pt x="11635" y="196536"/>
                  </a:lnTo>
                  <a:lnTo>
                    <a:pt x="11690" y="196158"/>
                  </a:lnTo>
                  <a:lnTo>
                    <a:pt x="11746" y="195936"/>
                  </a:lnTo>
                  <a:lnTo>
                    <a:pt x="11790" y="195713"/>
                  </a:lnTo>
                  <a:lnTo>
                    <a:pt x="11990" y="195047"/>
                  </a:lnTo>
                  <a:lnTo>
                    <a:pt x="12024" y="194902"/>
                  </a:lnTo>
                  <a:lnTo>
                    <a:pt x="24803" y="156564"/>
                  </a:lnTo>
                  <a:lnTo>
                    <a:pt x="24559" y="156153"/>
                  </a:lnTo>
                  <a:cubicBezTo>
                    <a:pt x="0" y="114514"/>
                    <a:pt x="11124" y="62908"/>
                    <a:pt x="51373" y="32593"/>
                  </a:cubicBezTo>
                  <a:close/>
                </a:path>
              </a:pathLst>
            </a:custGeom>
            <a:solidFill>
              <a:srgbClr val="2B583E"/>
            </a:solidFill>
            <a:ln>
              <a:noFill/>
            </a:ln>
          </p:spPr>
        </p:sp>
        <p:sp>
          <p:nvSpPr>
            <p:cNvPr id="12" name="TextBox 12"/>
            <p:cNvSpPr txBox="1"/>
            <p:nvPr/>
          </p:nvSpPr>
          <p:spPr>
            <a:xfrm>
              <a:off x="836295" y="2298382"/>
              <a:ext cx="2319195" cy="335280"/>
            </a:xfrm>
            <a:prstGeom prst="rect">
              <a:avLst/>
            </a:prstGeom>
            <a:noFill/>
            <a:ln>
              <a:noFill/>
            </a:ln>
          </p:spPr>
          <p:txBody>
            <a:bodyPr wrap="none" lIns="0" tIns="0" rIns="0" bIns="0" anchor="t" anchorCtr="0">
              <a:spAutoFit/>
            </a:bodyPr>
            <a:lstStyle/>
            <a:p>
              <a:pPr algn="l"/>
              <a:r>
                <a:rPr lang="zh-CN" sz="1650" b="1" dirty="0">
                  <a:solidFill>
                    <a:srgbClr val="1C2E24"/>
                  </a:solidFill>
                  <a:latin typeface="Quicksand"/>
                  <a:ea typeface="Microsoft YaHei"/>
                  <a:cs typeface="Quicksand"/>
                </a:rPr>
                <a:t>原则一：系统说人话</a:t>
              </a:r>
            </a:p>
          </p:txBody>
        </p:sp>
        <p:sp>
          <p:nvSpPr>
            <p:cNvPr id="13" name="TextBox 13"/>
            <p:cNvSpPr txBox="1"/>
            <p:nvPr/>
          </p:nvSpPr>
          <p:spPr>
            <a:xfrm>
              <a:off x="843915" y="2696528"/>
              <a:ext cx="1797891"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Plus Jakarta Sans"/>
                  <a:ea typeface="Microsoft YaHei"/>
                  <a:cs typeface="Plus Jakarta Sans"/>
                </a:rPr>
                <a:t>植物视角与第一人称叙事</a:t>
              </a:r>
            </a:p>
          </p:txBody>
        </p:sp>
        <p:sp>
          <p:nvSpPr>
            <p:cNvPr id="14" name="TextBox 14"/>
            <p:cNvSpPr txBox="1"/>
            <p:nvPr/>
          </p:nvSpPr>
          <p:spPr>
            <a:xfrm>
              <a:off x="842962" y="3117056"/>
              <a:ext cx="258353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拟人化转译</a:t>
              </a:r>
              <a:r>
                <a:rPr lang="zh-CN" sz="1125" dirty="0">
                  <a:solidFill>
                    <a:srgbClr val="4D5F54"/>
                  </a:solidFill>
                  <a:latin typeface="Plus Jakarta Sans"/>
                  <a:ea typeface="Microsoft YaHei"/>
                  <a:cs typeface="Plus Jakarta Sans"/>
                </a:rPr>
                <a:t>：拒绝冷冰冰的系统字</a:t>
              </a:r>
            </a:p>
          </p:txBody>
        </p:sp>
        <p:sp>
          <p:nvSpPr>
            <p:cNvPr id="15" name="TextBox 15"/>
            <p:cNvSpPr txBox="1"/>
            <p:nvPr/>
          </p:nvSpPr>
          <p:spPr>
            <a:xfrm>
              <a:off x="842962" y="3383756"/>
              <a:ext cx="2427446"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眼。把“水分: 23%”翻译成第一人</a:t>
              </a:r>
            </a:p>
          </p:txBody>
        </p:sp>
        <p:sp>
          <p:nvSpPr>
            <p:cNvPr id="16" name="TextBox 16"/>
            <p:cNvSpPr txBox="1"/>
            <p:nvPr/>
          </p:nvSpPr>
          <p:spPr>
            <a:xfrm>
              <a:off x="842962" y="3650456"/>
              <a:ext cx="198381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称的“我有点渴了 · 23%”。</a:t>
              </a:r>
            </a:p>
          </p:txBody>
        </p:sp>
        <p:sp>
          <p:nvSpPr>
            <p:cNvPr id="17" name="TextBox 17"/>
            <p:cNvSpPr txBox="1"/>
            <p:nvPr/>
          </p:nvSpPr>
          <p:spPr>
            <a:xfrm>
              <a:off x="842962" y="3955256"/>
              <a:ext cx="258353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邀请句式</a:t>
              </a:r>
              <a:r>
                <a:rPr lang="zh-CN" sz="1125" dirty="0">
                  <a:solidFill>
                    <a:srgbClr val="4D5F54"/>
                  </a:solidFill>
                  <a:latin typeface="Plus Jakarta Sans"/>
                  <a:ea typeface="Microsoft YaHei"/>
                  <a:cs typeface="Plus Jakarta Sans"/>
                </a:rPr>
                <a:t>：把所有的否定式报错转</a:t>
              </a:r>
            </a:p>
          </p:txBody>
        </p:sp>
        <p:sp>
          <p:nvSpPr>
            <p:cNvPr id="18" name="TextBox 18"/>
            <p:cNvSpPr txBox="1"/>
            <p:nvPr/>
          </p:nvSpPr>
          <p:spPr>
            <a:xfrm>
              <a:off x="842962" y="4221956"/>
              <a:ext cx="232886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译为带有友好氛围的诚恳邀请。</a:t>
              </a:r>
            </a:p>
          </p:txBody>
        </p:sp>
        <p:sp>
          <p:nvSpPr>
            <p:cNvPr id="19" name="TextBox 19"/>
            <p:cNvSpPr txBox="1"/>
            <p:nvPr/>
          </p:nvSpPr>
          <p:spPr>
            <a:xfrm>
              <a:off x="842962" y="4526756"/>
              <a:ext cx="258353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折叠技术细节</a:t>
              </a:r>
              <a:r>
                <a:rPr lang="zh-CN" sz="1125" dirty="0">
                  <a:solidFill>
                    <a:srgbClr val="4D5F54"/>
                  </a:solidFill>
                  <a:latin typeface="Plus Jakarta Sans"/>
                  <a:ea typeface="Microsoft YaHei"/>
                  <a:cs typeface="Plus Jakarta Sans"/>
                </a:rPr>
                <a:t>：将报错退回二级，</a:t>
              </a:r>
            </a:p>
          </p:txBody>
        </p:sp>
        <p:sp>
          <p:nvSpPr>
            <p:cNvPr id="20" name="TextBox 20"/>
            <p:cNvSpPr txBox="1"/>
            <p:nvPr/>
          </p:nvSpPr>
          <p:spPr>
            <a:xfrm>
              <a:off x="842962" y="4793456"/>
              <a:ext cx="232886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主界面只显示温暖贴心的指引。</a:t>
              </a:r>
            </a:p>
          </p:txBody>
        </p:sp>
      </p:grpSp>
      <p:grpSp>
        <p:nvGrpSpPr>
          <p:cNvPr id="44" name="Group 44"/>
          <p:cNvGrpSpPr/>
          <p:nvPr/>
        </p:nvGrpSpPr>
        <p:grpSpPr>
          <a:xfrm>
            <a:off x="4333875" y="1190625"/>
            <a:ext cx="3524250" cy="4381500"/>
            <a:chOff x="4333875" y="1190625"/>
            <a:chExt cx="3524250" cy="4381500"/>
          </a:xfrm>
        </p:grpSpPr>
        <p:sp>
          <p:nvSpPr>
            <p:cNvPr id="22" name="Freeform 22"/>
            <p:cNvSpPr/>
            <p:nvPr/>
          </p:nvSpPr>
          <p:spPr>
            <a:xfrm>
              <a:off x="4333875" y="1190625"/>
              <a:ext cx="3524250" cy="4381500"/>
            </a:xfrm>
            <a:custGeom>
              <a:avLst/>
              <a:gdLst/>
              <a:ahLst/>
              <a:cxnLst/>
              <a:rect l="l" t="t" r="r" b="b"/>
              <a:pathLst>
                <a:path w="3524250" h="4381500">
                  <a:moveTo>
                    <a:pt x="114300" y="0"/>
                  </a:moveTo>
                  <a:lnTo>
                    <a:pt x="3409950" y="0"/>
                  </a:lnTo>
                  <a:cubicBezTo>
                    <a:pt x="3473076" y="0"/>
                    <a:pt x="3524250" y="51174"/>
                    <a:pt x="3524250" y="114300"/>
                  </a:cubicBezTo>
                  <a:lnTo>
                    <a:pt x="3524250" y="4267200"/>
                  </a:lnTo>
                  <a:cubicBezTo>
                    <a:pt x="3524250" y="4330326"/>
                    <a:pt x="3473076" y="4381500"/>
                    <a:pt x="340995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23" name="Freeform 23"/>
            <p:cNvSpPr/>
            <p:nvPr/>
          </p:nvSpPr>
          <p:spPr>
            <a:xfrm>
              <a:off x="4333875" y="1190625"/>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8E5B3C"/>
            </a:solidFill>
            <a:ln>
              <a:noFill/>
            </a:ln>
          </p:spPr>
        </p:sp>
        <p:sp>
          <p:nvSpPr>
            <p:cNvPr id="24" name="Freeform 24"/>
            <p:cNvSpPr/>
            <p:nvPr/>
          </p:nvSpPr>
          <p:spPr>
            <a:xfrm>
              <a:off x="4619625" y="1619250"/>
              <a:ext cx="457200" cy="457200"/>
            </a:xfrm>
            <a:custGeom>
              <a:avLst/>
              <a:gdLst/>
              <a:ahLst/>
              <a:cxnLst/>
              <a:rect l="l" t="t" r="r" b="b"/>
              <a:pathLst>
                <a:path w="457200" h="457200">
                  <a:moveTo>
                    <a:pt x="228600" y="0"/>
                  </a:moveTo>
                  <a:lnTo>
                    <a:pt x="228600" y="0"/>
                  </a:lnTo>
                  <a:cubicBezTo>
                    <a:pt x="354852" y="0"/>
                    <a:pt x="457200" y="102348"/>
                    <a:pt x="457200" y="228600"/>
                  </a:cubicBezTo>
                  <a:lnTo>
                    <a:pt x="457200" y="228600"/>
                  </a:lnTo>
                  <a:cubicBezTo>
                    <a:pt x="457200" y="354852"/>
                    <a:pt x="354852" y="457200"/>
                    <a:pt x="2286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8E5B3C">
                <a:alpha val="8000"/>
              </a:srgbClr>
            </a:solidFill>
            <a:ln>
              <a:noFill/>
            </a:ln>
          </p:spPr>
        </p:sp>
        <p:grpSp>
          <p:nvGrpSpPr>
            <p:cNvPr id="34" name="Group 34"/>
            <p:cNvGrpSpPr/>
            <p:nvPr/>
          </p:nvGrpSpPr>
          <p:grpSpPr>
            <a:xfrm>
              <a:off x="4736787" y="1736725"/>
              <a:ext cx="222876" cy="222564"/>
              <a:chOff x="4736787" y="1736725"/>
              <a:chExt cx="222876" cy="222564"/>
            </a:xfrm>
          </p:grpSpPr>
          <p:sp>
            <p:nvSpPr>
              <p:cNvPr id="25" name="Freeform 25"/>
              <p:cNvSpPr/>
              <p:nvPr/>
            </p:nvSpPr>
            <p:spPr>
              <a:xfrm>
                <a:off x="4837112" y="1925638"/>
                <a:ext cx="22225" cy="33651"/>
              </a:xfrm>
              <a:custGeom>
                <a:avLst/>
                <a:gdLst/>
                <a:ahLst/>
                <a:cxnLst/>
                <a:rect l="l" t="t" r="r" b="b"/>
                <a:pathLst>
                  <a:path w="22225" h="33651">
                    <a:moveTo>
                      <a:pt x="11113" y="0"/>
                    </a:moveTo>
                    <a:cubicBezTo>
                      <a:pt x="16746" y="1"/>
                      <a:pt x="21488" y="4217"/>
                      <a:pt x="22147" y="9812"/>
                    </a:cubicBezTo>
                    <a:lnTo>
                      <a:pt x="22225" y="11113"/>
                    </a:lnTo>
                    <a:lnTo>
                      <a:pt x="22225" y="22225"/>
                    </a:lnTo>
                    <a:cubicBezTo>
                      <a:pt x="22218" y="28105"/>
                      <a:pt x="17633" y="32962"/>
                      <a:pt x="11764" y="33306"/>
                    </a:cubicBezTo>
                    <a:cubicBezTo>
                      <a:pt x="5894" y="33651"/>
                      <a:pt x="772" y="29364"/>
                      <a:pt x="78" y="23525"/>
                    </a:cubicBezTo>
                    <a:lnTo>
                      <a:pt x="0" y="22225"/>
                    </a:lnTo>
                    <a:lnTo>
                      <a:pt x="0" y="11113"/>
                    </a:lnTo>
                    <a:cubicBezTo>
                      <a:pt x="0" y="4975"/>
                      <a:pt x="4975" y="0"/>
                      <a:pt x="11113" y="0"/>
                    </a:cubicBezTo>
                    <a:close/>
                  </a:path>
                </a:pathLst>
              </a:custGeom>
              <a:solidFill>
                <a:srgbClr val="8E5B3C"/>
              </a:solidFill>
              <a:ln>
                <a:noFill/>
              </a:ln>
            </p:spPr>
          </p:sp>
          <p:sp>
            <p:nvSpPr>
              <p:cNvPr id="26" name="Freeform 26"/>
              <p:cNvSpPr/>
              <p:nvPr/>
            </p:nvSpPr>
            <p:spPr>
              <a:xfrm>
                <a:off x="4899346" y="1898767"/>
                <a:ext cx="32195" cy="32566"/>
              </a:xfrm>
              <a:custGeom>
                <a:avLst/>
                <a:gdLst/>
                <a:ahLst/>
                <a:cxnLst/>
                <a:rect l="l" t="t" r="r" b="b"/>
                <a:pathLst>
                  <a:path w="32195" h="32566">
                    <a:moveTo>
                      <a:pt x="19032" y="3646"/>
                    </a:moveTo>
                    <a:lnTo>
                      <a:pt x="20077" y="4568"/>
                    </a:lnTo>
                    <a:lnTo>
                      <a:pt x="27856" y="12347"/>
                    </a:lnTo>
                    <a:cubicBezTo>
                      <a:pt x="31992" y="16497"/>
                      <a:pt x="32195" y="23146"/>
                      <a:pt x="28319" y="27541"/>
                    </a:cubicBezTo>
                    <a:cubicBezTo>
                      <a:pt x="24444" y="31936"/>
                      <a:pt x="17822" y="32566"/>
                      <a:pt x="13187" y="28982"/>
                    </a:cubicBezTo>
                    <a:lnTo>
                      <a:pt x="12142" y="28060"/>
                    </a:lnTo>
                    <a:lnTo>
                      <a:pt x="4364" y="20281"/>
                    </a:lnTo>
                    <a:cubicBezTo>
                      <a:pt x="396" y="16320"/>
                      <a:pt x="0" y="10024"/>
                      <a:pt x="3441" y="5597"/>
                    </a:cubicBezTo>
                    <a:cubicBezTo>
                      <a:pt x="6882" y="1170"/>
                      <a:pt x="13081" y="0"/>
                      <a:pt x="17899" y="2868"/>
                    </a:cubicBezTo>
                    <a:lnTo>
                      <a:pt x="19032" y="3646"/>
                    </a:lnTo>
                    <a:close/>
                  </a:path>
                </a:pathLst>
              </a:custGeom>
              <a:solidFill>
                <a:srgbClr val="8E5B3C"/>
              </a:solidFill>
              <a:ln>
                <a:noFill/>
              </a:ln>
            </p:spPr>
          </p:sp>
          <p:sp>
            <p:nvSpPr>
              <p:cNvPr id="27" name="Freeform 27"/>
              <p:cNvSpPr/>
              <p:nvPr/>
            </p:nvSpPr>
            <p:spPr>
              <a:xfrm>
                <a:off x="4764742" y="1898997"/>
                <a:ext cx="32352" cy="32169"/>
              </a:xfrm>
              <a:custGeom>
                <a:avLst/>
                <a:gdLst/>
                <a:ahLst/>
                <a:cxnLst/>
                <a:rect l="l" t="t" r="r" b="b"/>
                <a:pathLst>
                  <a:path w="32352" h="32169">
                    <a:moveTo>
                      <a:pt x="27998" y="4338"/>
                    </a:moveTo>
                    <a:cubicBezTo>
                      <a:pt x="31957" y="8297"/>
                      <a:pt x="32352" y="14583"/>
                      <a:pt x="28921" y="19007"/>
                    </a:cubicBezTo>
                    <a:lnTo>
                      <a:pt x="27998" y="20051"/>
                    </a:lnTo>
                    <a:lnTo>
                      <a:pt x="20220" y="27830"/>
                    </a:lnTo>
                    <a:cubicBezTo>
                      <a:pt x="16069" y="31966"/>
                      <a:pt x="9421" y="32169"/>
                      <a:pt x="5026" y="28294"/>
                    </a:cubicBezTo>
                    <a:cubicBezTo>
                      <a:pt x="631" y="24419"/>
                      <a:pt x="0" y="17797"/>
                      <a:pt x="3584" y="13161"/>
                    </a:cubicBezTo>
                    <a:lnTo>
                      <a:pt x="4507" y="12117"/>
                    </a:lnTo>
                    <a:lnTo>
                      <a:pt x="12285" y="4338"/>
                    </a:lnTo>
                    <a:cubicBezTo>
                      <a:pt x="16625" y="0"/>
                      <a:pt x="23659" y="0"/>
                      <a:pt x="27998" y="4338"/>
                    </a:cubicBezTo>
                    <a:close/>
                  </a:path>
                </a:pathLst>
              </a:custGeom>
              <a:solidFill>
                <a:srgbClr val="8E5B3C"/>
              </a:solidFill>
              <a:ln>
                <a:noFill/>
              </a:ln>
            </p:spPr>
          </p:sp>
          <p:sp>
            <p:nvSpPr>
              <p:cNvPr id="28" name="Freeform 28"/>
              <p:cNvSpPr/>
              <p:nvPr/>
            </p:nvSpPr>
            <p:spPr>
              <a:xfrm>
                <a:off x="4736787" y="183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8"/>
                      <a:pt x="689" y="17633"/>
                      <a:pt x="345" y="11764"/>
                    </a:cubicBezTo>
                    <a:cubicBezTo>
                      <a:pt x="0" y="5894"/>
                      <a:pt x="4287" y="772"/>
                      <a:pt x="10125" y="78"/>
                    </a:cubicBezTo>
                    <a:lnTo>
                      <a:pt x="11426" y="0"/>
                    </a:lnTo>
                    <a:lnTo>
                      <a:pt x="22538" y="0"/>
                    </a:lnTo>
                    <a:close/>
                  </a:path>
                </a:pathLst>
              </a:custGeom>
              <a:solidFill>
                <a:srgbClr val="8E5B3C"/>
              </a:solidFill>
              <a:ln>
                <a:noFill/>
              </a:ln>
            </p:spPr>
          </p:sp>
          <p:sp>
            <p:nvSpPr>
              <p:cNvPr id="29" name="Freeform 29"/>
              <p:cNvSpPr/>
              <p:nvPr/>
            </p:nvSpPr>
            <p:spPr>
              <a:xfrm>
                <a:off x="4925699" y="183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8"/>
                      <a:pt x="689" y="17633"/>
                      <a:pt x="345" y="11764"/>
                    </a:cubicBezTo>
                    <a:cubicBezTo>
                      <a:pt x="0" y="5894"/>
                      <a:pt x="4287" y="772"/>
                      <a:pt x="10125" y="78"/>
                    </a:cubicBezTo>
                    <a:lnTo>
                      <a:pt x="11426" y="0"/>
                    </a:lnTo>
                    <a:lnTo>
                      <a:pt x="22538" y="0"/>
                    </a:lnTo>
                    <a:close/>
                  </a:path>
                </a:pathLst>
              </a:custGeom>
              <a:solidFill>
                <a:srgbClr val="8E5B3C"/>
              </a:solidFill>
              <a:ln>
                <a:noFill/>
              </a:ln>
            </p:spPr>
          </p:sp>
          <p:sp>
            <p:nvSpPr>
              <p:cNvPr id="30" name="Freeform 30"/>
              <p:cNvSpPr/>
              <p:nvPr/>
            </p:nvSpPr>
            <p:spPr>
              <a:xfrm>
                <a:off x="4764906" y="1764324"/>
                <a:ext cx="32173" cy="32547"/>
              </a:xfrm>
              <a:custGeom>
                <a:avLst/>
                <a:gdLst/>
                <a:ahLst/>
                <a:cxnLst/>
                <a:rect l="l" t="t" r="r" b="b"/>
                <a:pathLst>
                  <a:path w="32173" h="32547">
                    <a:moveTo>
                      <a:pt x="19011" y="3627"/>
                    </a:moveTo>
                    <a:lnTo>
                      <a:pt x="20055" y="4549"/>
                    </a:lnTo>
                    <a:lnTo>
                      <a:pt x="27834" y="12328"/>
                    </a:lnTo>
                    <a:cubicBezTo>
                      <a:pt x="31970" y="16478"/>
                      <a:pt x="32173" y="23127"/>
                      <a:pt x="28298" y="27522"/>
                    </a:cubicBezTo>
                    <a:cubicBezTo>
                      <a:pt x="24423" y="31917"/>
                      <a:pt x="17801" y="32547"/>
                      <a:pt x="13165" y="28963"/>
                    </a:cubicBezTo>
                    <a:lnTo>
                      <a:pt x="12121" y="28041"/>
                    </a:lnTo>
                    <a:lnTo>
                      <a:pt x="4342" y="20262"/>
                    </a:lnTo>
                    <a:cubicBezTo>
                      <a:pt x="390" y="16300"/>
                      <a:pt x="0" y="10017"/>
                      <a:pt x="3433" y="5598"/>
                    </a:cubicBezTo>
                    <a:cubicBezTo>
                      <a:pt x="6865" y="1178"/>
                      <a:pt x="13049" y="0"/>
                      <a:pt x="17866" y="2849"/>
                    </a:cubicBezTo>
                    <a:lnTo>
                      <a:pt x="18999" y="3627"/>
                    </a:lnTo>
                    <a:close/>
                  </a:path>
                </a:pathLst>
              </a:custGeom>
              <a:solidFill>
                <a:srgbClr val="8E5B3C"/>
              </a:solidFill>
              <a:ln>
                <a:noFill/>
              </a:ln>
            </p:spPr>
          </p:sp>
          <p:sp>
            <p:nvSpPr>
              <p:cNvPr id="31" name="Freeform 31"/>
              <p:cNvSpPr/>
              <p:nvPr/>
            </p:nvSpPr>
            <p:spPr>
              <a:xfrm>
                <a:off x="4899203" y="1764535"/>
                <a:ext cx="32352" cy="32169"/>
              </a:xfrm>
              <a:custGeom>
                <a:avLst/>
                <a:gdLst/>
                <a:ahLst/>
                <a:cxnLst/>
                <a:rect l="l" t="t" r="r" b="b"/>
                <a:pathLst>
                  <a:path w="32352" h="32169">
                    <a:moveTo>
                      <a:pt x="27998" y="4338"/>
                    </a:moveTo>
                    <a:cubicBezTo>
                      <a:pt x="31957" y="8297"/>
                      <a:pt x="32352" y="14583"/>
                      <a:pt x="28921" y="19007"/>
                    </a:cubicBezTo>
                    <a:lnTo>
                      <a:pt x="27998" y="20051"/>
                    </a:lnTo>
                    <a:lnTo>
                      <a:pt x="20220" y="27830"/>
                    </a:lnTo>
                    <a:cubicBezTo>
                      <a:pt x="16069" y="31966"/>
                      <a:pt x="9421" y="32169"/>
                      <a:pt x="5026" y="28294"/>
                    </a:cubicBezTo>
                    <a:cubicBezTo>
                      <a:pt x="631" y="24419"/>
                      <a:pt x="0" y="17797"/>
                      <a:pt x="3584" y="13161"/>
                    </a:cubicBezTo>
                    <a:lnTo>
                      <a:pt x="4507" y="12117"/>
                    </a:lnTo>
                    <a:lnTo>
                      <a:pt x="12285" y="4338"/>
                    </a:lnTo>
                    <a:cubicBezTo>
                      <a:pt x="16625" y="0"/>
                      <a:pt x="23659" y="0"/>
                      <a:pt x="27998" y="4338"/>
                    </a:cubicBezTo>
                    <a:close/>
                  </a:path>
                </a:pathLst>
              </a:custGeom>
              <a:solidFill>
                <a:srgbClr val="8E5B3C"/>
              </a:solidFill>
              <a:ln>
                <a:noFill/>
              </a:ln>
            </p:spPr>
          </p:sp>
          <p:sp>
            <p:nvSpPr>
              <p:cNvPr id="32" name="Freeform 32"/>
              <p:cNvSpPr/>
              <p:nvPr/>
            </p:nvSpPr>
            <p:spPr>
              <a:xfrm>
                <a:off x="4837112" y="1736725"/>
                <a:ext cx="22225" cy="33651"/>
              </a:xfrm>
              <a:custGeom>
                <a:avLst/>
                <a:gdLst/>
                <a:ahLst/>
                <a:cxnLst/>
                <a:rect l="l" t="t" r="r" b="b"/>
                <a:pathLst>
                  <a:path w="22225" h="33651">
                    <a:moveTo>
                      <a:pt x="11113" y="0"/>
                    </a:moveTo>
                    <a:cubicBezTo>
                      <a:pt x="16746" y="1"/>
                      <a:pt x="21488" y="4217"/>
                      <a:pt x="22147" y="9812"/>
                    </a:cubicBezTo>
                    <a:lnTo>
                      <a:pt x="22225" y="11112"/>
                    </a:lnTo>
                    <a:lnTo>
                      <a:pt x="22225" y="22225"/>
                    </a:lnTo>
                    <a:cubicBezTo>
                      <a:pt x="22218" y="28105"/>
                      <a:pt x="17633" y="32962"/>
                      <a:pt x="11764" y="33306"/>
                    </a:cubicBezTo>
                    <a:cubicBezTo>
                      <a:pt x="5894" y="33651"/>
                      <a:pt x="772" y="29364"/>
                      <a:pt x="78" y="23525"/>
                    </a:cubicBezTo>
                    <a:lnTo>
                      <a:pt x="0" y="22225"/>
                    </a:lnTo>
                    <a:lnTo>
                      <a:pt x="0" y="11112"/>
                    </a:lnTo>
                    <a:cubicBezTo>
                      <a:pt x="0" y="4975"/>
                      <a:pt x="4975" y="0"/>
                      <a:pt x="11113" y="0"/>
                    </a:cubicBezTo>
                    <a:close/>
                  </a:path>
                </a:pathLst>
              </a:custGeom>
              <a:solidFill>
                <a:srgbClr val="8E5B3C"/>
              </a:solidFill>
              <a:ln>
                <a:noFill/>
              </a:ln>
            </p:spPr>
          </p:sp>
          <p:sp>
            <p:nvSpPr>
              <p:cNvPr id="33" name="Freeform 33"/>
              <p:cNvSpPr/>
              <p:nvPr/>
            </p:nvSpPr>
            <p:spPr>
              <a:xfrm>
                <a:off x="4792662" y="1792286"/>
                <a:ext cx="111563" cy="111983"/>
              </a:xfrm>
              <a:custGeom>
                <a:avLst/>
                <a:gdLst/>
                <a:ahLst/>
                <a:cxnLst/>
                <a:rect l="l" t="t" r="r" b="b"/>
                <a:pathLst>
                  <a:path w="111563" h="111983">
                    <a:moveTo>
                      <a:pt x="55562" y="2"/>
                    </a:moveTo>
                    <a:cubicBezTo>
                      <a:pt x="85936" y="0"/>
                      <a:pt x="110682" y="24388"/>
                      <a:pt x="111122" y="54758"/>
                    </a:cubicBezTo>
                    <a:cubicBezTo>
                      <a:pt x="111563" y="85128"/>
                      <a:pt x="87535" y="110224"/>
                      <a:pt x="57175" y="111103"/>
                    </a:cubicBezTo>
                    <a:cubicBezTo>
                      <a:pt x="26814" y="111983"/>
                      <a:pt x="1374" y="88320"/>
                      <a:pt x="56" y="57976"/>
                    </a:cubicBezTo>
                    <a:lnTo>
                      <a:pt x="0" y="55564"/>
                    </a:lnTo>
                    <a:lnTo>
                      <a:pt x="56" y="53153"/>
                    </a:lnTo>
                    <a:cubicBezTo>
                      <a:pt x="1347" y="23434"/>
                      <a:pt x="25815" y="3"/>
                      <a:pt x="55562" y="2"/>
                    </a:cubicBezTo>
                    <a:close/>
                  </a:path>
                </a:pathLst>
              </a:custGeom>
              <a:solidFill>
                <a:srgbClr val="8E5B3C"/>
              </a:solidFill>
              <a:ln>
                <a:noFill/>
              </a:ln>
            </p:spPr>
          </p:sp>
        </p:grpSp>
        <p:sp>
          <p:nvSpPr>
            <p:cNvPr id="35" name="TextBox 35"/>
            <p:cNvSpPr txBox="1"/>
            <p:nvPr/>
          </p:nvSpPr>
          <p:spPr>
            <a:xfrm>
              <a:off x="4598670" y="2298382"/>
              <a:ext cx="2825258" cy="335280"/>
            </a:xfrm>
            <a:prstGeom prst="rect">
              <a:avLst/>
            </a:prstGeom>
            <a:noFill/>
            <a:ln>
              <a:noFill/>
            </a:ln>
          </p:spPr>
          <p:txBody>
            <a:bodyPr wrap="none" lIns="0" tIns="0" rIns="0" bIns="0" anchor="t" anchorCtr="0">
              <a:spAutoFit/>
            </a:bodyPr>
            <a:lstStyle/>
            <a:p>
              <a:pPr algn="l"/>
              <a:r>
                <a:rPr lang="zh-CN" sz="1650" b="1" dirty="0">
                  <a:solidFill>
                    <a:srgbClr val="1C2E24"/>
                  </a:solidFill>
                  <a:latin typeface="Quicksand"/>
                  <a:ea typeface="Microsoft YaHei"/>
                  <a:cs typeface="Quicksand"/>
                </a:rPr>
                <a:t>原则二：尊重用户的节奏</a:t>
              </a:r>
            </a:p>
          </p:txBody>
        </p:sp>
        <p:sp>
          <p:nvSpPr>
            <p:cNvPr id="36" name="TextBox 36"/>
            <p:cNvSpPr txBox="1"/>
            <p:nvPr/>
          </p:nvSpPr>
          <p:spPr>
            <a:xfrm>
              <a:off x="4606290" y="2696528"/>
              <a:ext cx="1797891"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Plus Jakarta Sans"/>
                  <a:ea typeface="Microsoft YaHei"/>
                  <a:cs typeface="Plus Jakarta Sans"/>
                </a:rPr>
                <a:t>慢节奏宽容与呼吸感设计</a:t>
              </a:r>
            </a:p>
          </p:txBody>
        </p:sp>
        <p:sp>
          <p:nvSpPr>
            <p:cNvPr id="37" name="TextBox 37"/>
            <p:cNvSpPr txBox="1"/>
            <p:nvPr/>
          </p:nvSpPr>
          <p:spPr>
            <a:xfrm>
              <a:off x="4605338" y="3117056"/>
              <a:ext cx="241923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撤销优先于对话框</a:t>
              </a:r>
              <a:r>
                <a:rPr lang="zh-CN" sz="1125" dirty="0">
                  <a:solidFill>
                    <a:srgbClr val="4D5F54"/>
                  </a:solidFill>
                  <a:latin typeface="Plus Jakarta Sans"/>
                  <a:ea typeface="Microsoft YaHei"/>
                  <a:cs typeface="Plus Jakarta Sans"/>
                </a:rPr>
                <a:t>：高风险操作</a:t>
              </a:r>
            </a:p>
          </p:txBody>
        </p:sp>
        <p:sp>
          <p:nvSpPr>
            <p:cNvPr id="38" name="TextBox 38"/>
            <p:cNvSpPr txBox="1"/>
            <p:nvPr/>
          </p:nvSpPr>
          <p:spPr>
            <a:xfrm>
              <a:off x="4605338" y="3383756"/>
              <a:ext cx="2608183"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提供“5秒撤销 Toast”，而非弹出强</a:t>
              </a:r>
            </a:p>
          </p:txBody>
        </p:sp>
        <p:sp>
          <p:nvSpPr>
            <p:cNvPr id="39" name="TextBox 39"/>
            <p:cNvSpPr txBox="1"/>
            <p:nvPr/>
          </p:nvSpPr>
          <p:spPr>
            <a:xfrm>
              <a:off x="4605338" y="3650456"/>
              <a:ext cx="249316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占焦点、逼迫用户确认的模态框。</a:t>
              </a:r>
            </a:p>
          </p:txBody>
        </p:sp>
        <p:sp>
          <p:nvSpPr>
            <p:cNvPr id="40" name="TextBox 40"/>
            <p:cNvSpPr txBox="1"/>
            <p:nvPr/>
          </p:nvSpPr>
          <p:spPr>
            <a:xfrm>
              <a:off x="4605338" y="3955256"/>
              <a:ext cx="250959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温柔的等待文案</a:t>
              </a:r>
              <a:r>
                <a:rPr lang="zh-CN" sz="1125" dirty="0">
                  <a:solidFill>
                    <a:srgbClr val="4D5F54"/>
                  </a:solidFill>
                  <a:latin typeface="Plus Jakarta Sans"/>
                  <a:ea typeface="Microsoft YaHei"/>
                  <a:cs typeface="Plus Jakarta Sans"/>
                </a:rPr>
                <a:t>：用“正在看看窗</a:t>
              </a:r>
            </a:p>
          </p:txBody>
        </p:sp>
        <p:sp>
          <p:nvSpPr>
            <p:cNvPr id="41" name="TextBox 41"/>
            <p:cNvSpPr txBox="1"/>
            <p:nvPr/>
          </p:nvSpPr>
          <p:spPr>
            <a:xfrm>
              <a:off x="4605338" y="4221956"/>
              <a:ext cx="2526030"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外…”代替单调粗暴的“正在加载”。</a:t>
              </a:r>
            </a:p>
          </p:txBody>
        </p:sp>
        <p:sp>
          <p:nvSpPr>
            <p:cNvPr id="42" name="TextBox 42"/>
            <p:cNvSpPr txBox="1"/>
            <p:nvPr/>
          </p:nvSpPr>
          <p:spPr>
            <a:xfrm>
              <a:off x="4605338" y="4526756"/>
              <a:ext cx="250959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缓动过渡</a:t>
              </a:r>
              <a:r>
                <a:rPr lang="zh-CN" sz="1125" dirty="0">
                  <a:solidFill>
                    <a:srgbClr val="4D5F54"/>
                  </a:solidFill>
                  <a:latin typeface="Plus Jakarta Sans"/>
                  <a:ea typeface="Microsoft YaHei"/>
                  <a:cs typeface="Plus Jakarta Sans"/>
                </a:rPr>
                <a:t>：采用固定 380ms 的弹</a:t>
              </a:r>
            </a:p>
          </p:txBody>
        </p:sp>
        <p:sp>
          <p:nvSpPr>
            <p:cNvPr id="43" name="TextBox 43"/>
            <p:cNvSpPr txBox="1"/>
            <p:nvPr/>
          </p:nvSpPr>
          <p:spPr>
            <a:xfrm>
              <a:off x="4605338" y="4793456"/>
              <a:ext cx="265747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性过渡动效，模拟植物的缓慢生长。</a:t>
              </a:r>
            </a:p>
          </p:txBody>
        </p:sp>
      </p:grpSp>
      <p:grpSp>
        <p:nvGrpSpPr>
          <p:cNvPr id="58" name="Group 58"/>
          <p:cNvGrpSpPr/>
          <p:nvPr/>
        </p:nvGrpSpPr>
        <p:grpSpPr>
          <a:xfrm>
            <a:off x="8096250" y="1190625"/>
            <a:ext cx="3524250" cy="4381500"/>
            <a:chOff x="8096250" y="1190625"/>
            <a:chExt cx="3524250" cy="4381500"/>
          </a:xfrm>
        </p:grpSpPr>
        <p:sp>
          <p:nvSpPr>
            <p:cNvPr id="45" name="Freeform 45"/>
            <p:cNvSpPr/>
            <p:nvPr/>
          </p:nvSpPr>
          <p:spPr>
            <a:xfrm>
              <a:off x="8096250" y="1190625"/>
              <a:ext cx="3524250" cy="4381500"/>
            </a:xfrm>
            <a:custGeom>
              <a:avLst/>
              <a:gdLst/>
              <a:ahLst/>
              <a:cxnLst/>
              <a:rect l="l" t="t" r="r" b="b"/>
              <a:pathLst>
                <a:path w="3524250" h="4381500">
                  <a:moveTo>
                    <a:pt x="114300" y="0"/>
                  </a:moveTo>
                  <a:lnTo>
                    <a:pt x="3409950" y="0"/>
                  </a:lnTo>
                  <a:cubicBezTo>
                    <a:pt x="3473076" y="0"/>
                    <a:pt x="3524250" y="51174"/>
                    <a:pt x="3524250" y="114300"/>
                  </a:cubicBezTo>
                  <a:lnTo>
                    <a:pt x="3524250" y="4267200"/>
                  </a:lnTo>
                  <a:cubicBezTo>
                    <a:pt x="3524250" y="4330326"/>
                    <a:pt x="3473076" y="4381500"/>
                    <a:pt x="340995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46" name="Freeform 46"/>
            <p:cNvSpPr/>
            <p:nvPr/>
          </p:nvSpPr>
          <p:spPr>
            <a:xfrm>
              <a:off x="8096250" y="1190625"/>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DDA43B"/>
            </a:solidFill>
            <a:ln>
              <a:noFill/>
            </a:ln>
          </p:spPr>
        </p:sp>
        <p:sp>
          <p:nvSpPr>
            <p:cNvPr id="47" name="Freeform 47"/>
            <p:cNvSpPr/>
            <p:nvPr/>
          </p:nvSpPr>
          <p:spPr>
            <a:xfrm>
              <a:off x="8382000" y="1619250"/>
              <a:ext cx="457200" cy="457200"/>
            </a:xfrm>
            <a:custGeom>
              <a:avLst/>
              <a:gdLst/>
              <a:ahLst/>
              <a:cxnLst/>
              <a:rect l="l" t="t" r="r" b="b"/>
              <a:pathLst>
                <a:path w="457200" h="457200">
                  <a:moveTo>
                    <a:pt x="228600" y="0"/>
                  </a:moveTo>
                  <a:lnTo>
                    <a:pt x="228600" y="0"/>
                  </a:lnTo>
                  <a:cubicBezTo>
                    <a:pt x="354852" y="0"/>
                    <a:pt x="457200" y="102348"/>
                    <a:pt x="457200" y="228600"/>
                  </a:cubicBezTo>
                  <a:lnTo>
                    <a:pt x="457200" y="228600"/>
                  </a:lnTo>
                  <a:cubicBezTo>
                    <a:pt x="457200" y="354852"/>
                    <a:pt x="354852" y="457200"/>
                    <a:pt x="2286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DDA43B">
                <a:alpha val="8000"/>
              </a:srgbClr>
            </a:solidFill>
            <a:ln>
              <a:noFill/>
            </a:ln>
          </p:spPr>
        </p:sp>
        <p:sp>
          <p:nvSpPr>
            <p:cNvPr id="48" name="Freeform 48"/>
            <p:cNvSpPr/>
            <p:nvPr/>
          </p:nvSpPr>
          <p:spPr>
            <a:xfrm>
              <a:off x="8494888" y="1745266"/>
              <a:ext cx="231124" cy="203685"/>
            </a:xfrm>
            <a:custGeom>
              <a:avLst/>
              <a:gdLst/>
              <a:ahLst/>
              <a:cxnLst/>
              <a:rect l="l" t="t" r="r" b="b"/>
              <a:pathLst>
                <a:path w="231124" h="203685">
                  <a:moveTo>
                    <a:pt x="59916" y="3394"/>
                  </a:moveTo>
                  <a:cubicBezTo>
                    <a:pt x="79837" y="0"/>
                    <a:pt x="100223" y="5824"/>
                    <a:pt x="115345" y="19230"/>
                  </a:cubicBezTo>
                  <a:lnTo>
                    <a:pt x="115756" y="19596"/>
                  </a:lnTo>
                  <a:lnTo>
                    <a:pt x="116134" y="19263"/>
                  </a:lnTo>
                  <a:cubicBezTo>
                    <a:pt x="130549" y="6613"/>
                    <a:pt x="149712" y="783"/>
                    <a:pt x="168730" y="3261"/>
                  </a:cubicBezTo>
                  <a:lnTo>
                    <a:pt x="171463" y="3661"/>
                  </a:lnTo>
                  <a:cubicBezTo>
                    <a:pt x="195604" y="7829"/>
                    <a:pt x="215514" y="24900"/>
                    <a:pt x="223319" y="48120"/>
                  </a:cubicBezTo>
                  <a:cubicBezTo>
                    <a:pt x="231124" y="71341"/>
                    <a:pt x="225567" y="96972"/>
                    <a:pt x="208846" y="114875"/>
                  </a:cubicBezTo>
                  <a:lnTo>
                    <a:pt x="206845" y="116931"/>
                  </a:lnTo>
                  <a:lnTo>
                    <a:pt x="206312" y="117386"/>
                  </a:lnTo>
                  <a:lnTo>
                    <a:pt x="123524" y="199385"/>
                  </a:lnTo>
                  <a:cubicBezTo>
                    <a:pt x="119573" y="203296"/>
                    <a:pt x="113340" y="203685"/>
                    <a:pt x="108933" y="200297"/>
                  </a:cubicBezTo>
                  <a:lnTo>
                    <a:pt x="107889" y="199385"/>
                  </a:lnTo>
                  <a:lnTo>
                    <a:pt x="24623" y="116909"/>
                  </a:lnTo>
                  <a:cubicBezTo>
                    <a:pt x="6636" y="99408"/>
                    <a:pt x="0" y="73290"/>
                    <a:pt x="7451" y="49326"/>
                  </a:cubicBezTo>
                  <a:cubicBezTo>
                    <a:pt x="14902" y="25362"/>
                    <a:pt x="35177" y="7611"/>
                    <a:pt x="59916" y="3394"/>
                  </a:cubicBezTo>
                  <a:close/>
                </a:path>
              </a:pathLst>
            </a:custGeom>
            <a:solidFill>
              <a:srgbClr val="DDA43B"/>
            </a:solidFill>
            <a:ln>
              <a:noFill/>
            </a:ln>
          </p:spPr>
        </p:sp>
        <p:sp>
          <p:nvSpPr>
            <p:cNvPr id="49" name="TextBox 49"/>
            <p:cNvSpPr txBox="1"/>
            <p:nvPr/>
          </p:nvSpPr>
          <p:spPr>
            <a:xfrm>
              <a:off x="8361045" y="2298382"/>
              <a:ext cx="2572226" cy="335280"/>
            </a:xfrm>
            <a:prstGeom prst="rect">
              <a:avLst/>
            </a:prstGeom>
            <a:noFill/>
            <a:ln>
              <a:noFill/>
            </a:ln>
          </p:spPr>
          <p:txBody>
            <a:bodyPr wrap="none" lIns="0" tIns="0" rIns="0" bIns="0" anchor="t" anchorCtr="0">
              <a:spAutoFit/>
            </a:bodyPr>
            <a:lstStyle/>
            <a:p>
              <a:pPr algn="l"/>
              <a:r>
                <a:rPr lang="zh-CN" sz="1650" b="1" dirty="0">
                  <a:solidFill>
                    <a:srgbClr val="1C2E24"/>
                  </a:solidFill>
                  <a:latin typeface="Quicksand"/>
                  <a:ea typeface="Microsoft YaHei"/>
                  <a:cs typeface="Quicksand"/>
                </a:rPr>
                <a:t>原则三：控制权归用户</a:t>
              </a:r>
            </a:p>
          </p:txBody>
        </p:sp>
        <p:sp>
          <p:nvSpPr>
            <p:cNvPr id="50" name="TextBox 50"/>
            <p:cNvSpPr txBox="1"/>
            <p:nvPr/>
          </p:nvSpPr>
          <p:spPr>
            <a:xfrm>
              <a:off x="8368665" y="2696528"/>
              <a:ext cx="1958912"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Plus Jakarta Sans"/>
                  <a:ea typeface="Microsoft YaHei"/>
                  <a:cs typeface="Plus Jakarta Sans"/>
                </a:rPr>
                <a:t>极致的诚实与人机信任建立</a:t>
              </a:r>
            </a:p>
          </p:txBody>
        </p:sp>
        <p:sp>
          <p:nvSpPr>
            <p:cNvPr id="51" name="TextBox 51"/>
            <p:cNvSpPr txBox="1"/>
            <p:nvPr/>
          </p:nvSpPr>
          <p:spPr>
            <a:xfrm>
              <a:off x="8367712" y="3117056"/>
              <a:ext cx="241923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不伪造消息</a:t>
              </a:r>
              <a:r>
                <a:rPr lang="zh-CN" sz="1125" dirty="0">
                  <a:solidFill>
                    <a:srgbClr val="4D5F54"/>
                  </a:solidFill>
                  <a:latin typeface="Plus Jakarta Sans"/>
                  <a:ea typeface="Microsoft YaHei"/>
                  <a:cs typeface="Plus Jakarta Sans"/>
                </a:rPr>
                <a:t>：一键浇水等行为显</a:t>
              </a:r>
            </a:p>
          </p:txBody>
        </p:sp>
        <p:sp>
          <p:nvSpPr>
            <p:cNvPr id="52" name="TextBox 52"/>
            <p:cNvSpPr txBox="1"/>
            <p:nvPr/>
          </p:nvSpPr>
          <p:spPr>
            <a:xfrm>
              <a:off x="8367712" y="3383756"/>
              <a:ext cx="265747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示为居中的系统记录气泡，绝对不在</a:t>
              </a:r>
            </a:p>
          </p:txBody>
        </p:sp>
        <p:sp>
          <p:nvSpPr>
            <p:cNvPr id="53" name="TextBox 53"/>
            <p:cNvSpPr txBox="1"/>
            <p:nvPr/>
          </p:nvSpPr>
          <p:spPr>
            <a:xfrm>
              <a:off x="8367712" y="3650456"/>
              <a:ext cx="2673906"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聊天界面中伪造用户发送了“浇水”。</a:t>
              </a:r>
            </a:p>
          </p:txBody>
        </p:sp>
        <p:sp>
          <p:nvSpPr>
            <p:cNvPr id="54" name="TextBox 54"/>
            <p:cNvSpPr txBox="1"/>
            <p:nvPr/>
          </p:nvSpPr>
          <p:spPr>
            <a:xfrm>
              <a:off x="8367712" y="3955256"/>
              <a:ext cx="258353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离线诚实兜底</a:t>
              </a:r>
              <a:r>
                <a:rPr lang="zh-CN" sz="1125" dirty="0">
                  <a:solidFill>
                    <a:srgbClr val="4D5F54"/>
                  </a:solidFill>
                  <a:latin typeface="Plus Jakarta Sans"/>
                  <a:ea typeface="Microsoft YaHei"/>
                  <a:cs typeface="Plus Jakarta Sans"/>
                </a:rPr>
                <a:t>：无法联网时直白告</a:t>
              </a:r>
            </a:p>
          </p:txBody>
        </p:sp>
        <p:sp>
          <p:nvSpPr>
            <p:cNvPr id="55" name="TextBox 55"/>
            <p:cNvSpPr txBox="1"/>
            <p:nvPr/>
          </p:nvSpPr>
          <p:spPr>
            <a:xfrm>
              <a:off x="8367712" y="4221956"/>
              <a:ext cx="250959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知“来自本地预设”，不糊弄用户。</a:t>
              </a:r>
            </a:p>
          </p:txBody>
        </p:sp>
        <p:sp>
          <p:nvSpPr>
            <p:cNvPr id="56" name="TextBox 56"/>
            <p:cNvSpPr txBox="1"/>
            <p:nvPr/>
          </p:nvSpPr>
          <p:spPr>
            <a:xfrm>
              <a:off x="8367712" y="4526756"/>
              <a:ext cx="241923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视觉极简克制</a:t>
              </a:r>
              <a:r>
                <a:rPr lang="zh-CN" sz="1125" dirty="0">
                  <a:solidFill>
                    <a:srgbClr val="4D5F54"/>
                  </a:solidFill>
                  <a:latin typeface="Plus Jakarta Sans"/>
                  <a:ea typeface="Microsoft YaHei"/>
                  <a:cs typeface="Plus Jakarta Sans"/>
                </a:rPr>
                <a:t>：未开发按钮绝不</a:t>
              </a:r>
            </a:p>
          </p:txBody>
        </p:sp>
        <p:sp>
          <p:nvSpPr>
            <p:cNvPr id="57" name="TextBox 57"/>
            <p:cNvSpPr txBox="1"/>
            <p:nvPr/>
          </p:nvSpPr>
          <p:spPr>
            <a:xfrm>
              <a:off x="8367712" y="4793456"/>
              <a:ext cx="265747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展示，杜绝无意义报错带来的挫折。</a:t>
              </a:r>
            </a:p>
          </p:txBody>
        </p:sp>
      </p:grpSp>
      <p:grpSp>
        <p:nvGrpSpPr>
          <p:cNvPr id="61" name="Group 61"/>
          <p:cNvGrpSpPr/>
          <p:nvPr/>
        </p:nvGrpSpPr>
        <p:grpSpPr>
          <a:xfrm>
            <a:off x="561975" y="6443662"/>
            <a:ext cx="10877550" cy="152400"/>
            <a:chOff x="561975" y="6443662"/>
            <a:chExt cx="10877550" cy="152400"/>
          </a:xfrm>
        </p:grpSpPr>
        <p:sp>
          <p:nvSpPr>
            <p:cNvPr id="59" name="TextBox 59"/>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0" name="TextBox 60"/>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03</a:t>
              </a:r>
            </a:p>
          </p:txBody>
        </p:sp>
      </p:gr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850964"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系统整体架构</a:t>
              </a:r>
            </a:p>
          </p:txBody>
        </p:sp>
        <p:sp>
          <p:nvSpPr>
            <p:cNvPr id="5" name="TextBox 5"/>
            <p:cNvSpPr txBox="1"/>
            <p:nvPr/>
          </p:nvSpPr>
          <p:spPr>
            <a:xfrm>
              <a:off x="1836420" y="312420"/>
              <a:ext cx="5213604"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端到端智能陪伴系统的全景拓扑</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3" name="Group 23"/>
          <p:cNvGrpSpPr/>
          <p:nvPr/>
        </p:nvGrpSpPr>
        <p:grpSpPr>
          <a:xfrm>
            <a:off x="550545" y="1203008"/>
            <a:ext cx="3068955" cy="4369117"/>
            <a:chOff x="550545" y="1203008"/>
            <a:chExt cx="3068955" cy="4369117"/>
          </a:xfrm>
        </p:grpSpPr>
        <p:sp>
          <p:nvSpPr>
            <p:cNvPr id="8" name="TextBox 8"/>
            <p:cNvSpPr txBox="1"/>
            <p:nvPr/>
          </p:nvSpPr>
          <p:spPr>
            <a:xfrm>
              <a:off x="550545" y="1203008"/>
              <a:ext cx="2066163" cy="335280"/>
            </a:xfrm>
            <a:prstGeom prst="rect">
              <a:avLst/>
            </a:prstGeom>
            <a:noFill/>
            <a:ln>
              <a:noFill/>
            </a:ln>
          </p:spPr>
          <p:txBody>
            <a:bodyPr wrap="none" lIns="0" tIns="0" rIns="0" bIns="0" anchor="t" anchorCtr="0">
              <a:spAutoFit/>
            </a:bodyPr>
            <a:lstStyle/>
            <a:p>
              <a:pPr algn="l"/>
              <a:r>
                <a:rPr lang="zh-CN" sz="1650" b="1" dirty="0">
                  <a:solidFill>
                    <a:srgbClr val="2B583E"/>
                  </a:solidFill>
                  <a:latin typeface="Quicksand"/>
                  <a:ea typeface="Microsoft YaHei"/>
                  <a:cs typeface="Quicksand"/>
                </a:rPr>
                <a:t>三层深度互联闭环</a:t>
              </a:r>
            </a:p>
          </p:txBody>
        </p:sp>
        <p:sp>
          <p:nvSpPr>
            <p:cNvPr id="9" name="TextBox 9"/>
            <p:cNvSpPr txBox="1"/>
            <p:nvPr/>
          </p:nvSpPr>
          <p:spPr>
            <a:xfrm>
              <a:off x="557212" y="1640681"/>
              <a:ext cx="1416963"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DYN Plant Pal 采用</a:t>
              </a:r>
            </a:p>
          </p:txBody>
        </p:sp>
        <p:sp>
          <p:nvSpPr>
            <p:cNvPr id="10" name="TextBox 10"/>
            <p:cNvSpPr txBox="1"/>
            <p:nvPr/>
          </p:nvSpPr>
          <p:spPr>
            <a:xfrm>
              <a:off x="557212" y="1888331"/>
              <a:ext cx="235350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「底端物理环境感知 + 云端记忆</a:t>
              </a:r>
            </a:p>
          </p:txBody>
        </p:sp>
        <p:sp>
          <p:nvSpPr>
            <p:cNvPr id="11" name="TextBox 11"/>
            <p:cNvSpPr txBox="1"/>
            <p:nvPr/>
          </p:nvSpPr>
          <p:spPr>
            <a:xfrm>
              <a:off x="557212" y="2135981"/>
              <a:ext cx="268212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思考中枢 + 顶端多端人机共情展现」</a:t>
              </a:r>
            </a:p>
          </p:txBody>
        </p:sp>
        <p:sp>
          <p:nvSpPr>
            <p:cNvPr id="12" name="TextBox 12"/>
            <p:cNvSpPr txBox="1"/>
            <p:nvPr/>
          </p:nvSpPr>
          <p:spPr>
            <a:xfrm>
              <a:off x="557212" y="238363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的三层垂直物联架构。</a:t>
              </a:r>
            </a:p>
          </p:txBody>
        </p:sp>
        <p:sp>
          <p:nvSpPr>
            <p:cNvPr id="13" name="Freeform 13"/>
            <p:cNvSpPr/>
            <p:nvPr/>
          </p:nvSpPr>
          <p:spPr>
            <a:xfrm>
              <a:off x="571500" y="3048000"/>
              <a:ext cx="3048000" cy="2524125"/>
            </a:xfrm>
            <a:custGeom>
              <a:avLst/>
              <a:gdLst/>
              <a:ahLst/>
              <a:cxnLst/>
              <a:rect l="l" t="t" r="r" b="b"/>
              <a:pathLst>
                <a:path w="3048000" h="2524125">
                  <a:moveTo>
                    <a:pt x="76200" y="0"/>
                  </a:moveTo>
                  <a:lnTo>
                    <a:pt x="2971800" y="0"/>
                  </a:lnTo>
                  <a:cubicBezTo>
                    <a:pt x="3013884" y="0"/>
                    <a:pt x="3048000" y="34116"/>
                    <a:pt x="3048000" y="76200"/>
                  </a:cubicBezTo>
                  <a:lnTo>
                    <a:pt x="3048000" y="2447925"/>
                  </a:lnTo>
                  <a:cubicBezTo>
                    <a:pt x="3048000" y="2490009"/>
                    <a:pt x="3013884" y="2524125"/>
                    <a:pt x="2971800" y="2524125"/>
                  </a:cubicBezTo>
                  <a:lnTo>
                    <a:pt x="76200" y="2524125"/>
                  </a:lnTo>
                  <a:cubicBezTo>
                    <a:pt x="34116" y="2524125"/>
                    <a:pt x="0" y="2490009"/>
                    <a:pt x="0" y="2447925"/>
                  </a:cubicBezTo>
                  <a:lnTo>
                    <a:pt x="0" y="76200"/>
                  </a:lnTo>
                  <a:cubicBezTo>
                    <a:pt x="0" y="34116"/>
                    <a:pt x="34116" y="0"/>
                    <a:pt x="76200" y="0"/>
                  </a:cubicBezTo>
                  <a:close/>
                </a:path>
              </a:pathLst>
            </a:custGeom>
            <a:solidFill>
              <a:srgbClr val="FFFFFF"/>
            </a:solidFill>
            <a:ln w="9525">
              <a:solidFill>
                <a:srgbClr val="D1DAD4"/>
              </a:solidFill>
            </a:ln>
          </p:spPr>
        </p:sp>
        <p:sp>
          <p:nvSpPr>
            <p:cNvPr id="14" name="Freeform 14"/>
            <p:cNvSpPr/>
            <p:nvPr/>
          </p:nvSpPr>
          <p:spPr>
            <a:xfrm>
              <a:off x="762000" y="3238500"/>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8E5B3C">
                <a:alpha val="8000"/>
              </a:srgbClr>
            </a:solidFill>
            <a:ln>
              <a:noFill/>
            </a:ln>
          </p:spPr>
        </p:sp>
        <p:sp>
          <p:nvSpPr>
            <p:cNvPr id="15" name="TextBox 15"/>
            <p:cNvSpPr txBox="1"/>
            <p:nvPr/>
          </p:nvSpPr>
          <p:spPr>
            <a:xfrm>
              <a:off x="1203960" y="3328035"/>
              <a:ext cx="2091538"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特色一：异步 MQTT 读数</a:t>
              </a:r>
            </a:p>
          </p:txBody>
        </p:sp>
        <p:sp>
          <p:nvSpPr>
            <p:cNvPr id="16" name="TextBox 16"/>
            <p:cNvSpPr txBox="1"/>
            <p:nvPr/>
          </p:nvSpPr>
          <p:spPr>
            <a:xfrm>
              <a:off x="748665" y="3696652"/>
              <a:ext cx="220427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硬件采用极低开销的 MQTT 协议</a:t>
              </a:r>
            </a:p>
          </p:txBody>
        </p:sp>
        <p:sp>
          <p:nvSpPr>
            <p:cNvPr id="17" name="TextBox 17"/>
            <p:cNvSpPr txBox="1"/>
            <p:nvPr/>
          </p:nvSpPr>
          <p:spPr>
            <a:xfrm>
              <a:off x="748665" y="3906202"/>
              <a:ext cx="248031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实现毫秒级的读数同步与认领下发。</a:t>
              </a:r>
            </a:p>
          </p:txBody>
        </p:sp>
        <p:sp>
          <p:nvSpPr>
            <p:cNvPr id="18" name="Freeform 18"/>
            <p:cNvSpPr/>
            <p:nvPr/>
          </p:nvSpPr>
          <p:spPr>
            <a:xfrm>
              <a:off x="762000" y="4429125"/>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2B583E">
                <a:alpha val="8000"/>
              </a:srgbClr>
            </a:solidFill>
            <a:ln>
              <a:noFill/>
            </a:ln>
          </p:spPr>
        </p:sp>
        <p:sp>
          <p:nvSpPr>
            <p:cNvPr id="19" name="Freeform 19"/>
            <p:cNvSpPr/>
            <p:nvPr/>
          </p:nvSpPr>
          <p:spPr>
            <a:xfrm>
              <a:off x="845891" y="4522351"/>
              <a:ext cx="175363" cy="157012"/>
            </a:xfrm>
            <a:custGeom>
              <a:avLst/>
              <a:gdLst/>
              <a:ahLst/>
              <a:cxnLst/>
              <a:rect l="l" t="t" r="r" b="b"/>
              <a:pathLst>
                <a:path w="175363" h="157012">
                  <a:moveTo>
                    <a:pt x="38513" y="21947"/>
                  </a:moveTo>
                  <a:cubicBezTo>
                    <a:pt x="69461" y="0"/>
                    <a:pt x="113665" y="1794"/>
                    <a:pt x="142280" y="26194"/>
                  </a:cubicBezTo>
                  <a:cubicBezTo>
                    <a:pt x="171386" y="51030"/>
                    <a:pt x="175363" y="91583"/>
                    <a:pt x="151424" y="120634"/>
                  </a:cubicBezTo>
                  <a:cubicBezTo>
                    <a:pt x="128873" y="147995"/>
                    <a:pt x="88201" y="157012"/>
                    <a:pt x="54340" y="142899"/>
                  </a:cubicBezTo>
                  <a:lnTo>
                    <a:pt x="52491" y="142097"/>
                  </a:lnTo>
                  <a:lnTo>
                    <a:pt x="17772" y="149487"/>
                  </a:lnTo>
                  <a:lnTo>
                    <a:pt x="17455" y="149535"/>
                  </a:lnTo>
                  <a:lnTo>
                    <a:pt x="17177" y="149590"/>
                  </a:lnTo>
                  <a:lnTo>
                    <a:pt x="17034" y="149590"/>
                  </a:lnTo>
                  <a:lnTo>
                    <a:pt x="16859" y="149630"/>
                  </a:lnTo>
                  <a:lnTo>
                    <a:pt x="16558" y="149630"/>
                  </a:lnTo>
                  <a:lnTo>
                    <a:pt x="16296" y="149662"/>
                  </a:lnTo>
                  <a:lnTo>
                    <a:pt x="16129" y="149654"/>
                  </a:lnTo>
                  <a:lnTo>
                    <a:pt x="15946" y="149662"/>
                  </a:lnTo>
                  <a:lnTo>
                    <a:pt x="15684" y="149638"/>
                  </a:lnTo>
                  <a:lnTo>
                    <a:pt x="15407" y="149638"/>
                  </a:lnTo>
                  <a:lnTo>
                    <a:pt x="15232" y="149606"/>
                  </a:lnTo>
                  <a:lnTo>
                    <a:pt x="15057" y="149590"/>
                  </a:lnTo>
                  <a:lnTo>
                    <a:pt x="14780" y="149535"/>
                  </a:lnTo>
                  <a:lnTo>
                    <a:pt x="14510" y="149495"/>
                  </a:lnTo>
                  <a:lnTo>
                    <a:pt x="14383" y="149463"/>
                  </a:lnTo>
                  <a:lnTo>
                    <a:pt x="14192" y="149423"/>
                  </a:lnTo>
                  <a:lnTo>
                    <a:pt x="13803" y="149296"/>
                  </a:lnTo>
                  <a:lnTo>
                    <a:pt x="13613" y="149257"/>
                  </a:lnTo>
                  <a:lnTo>
                    <a:pt x="13526" y="149217"/>
                  </a:lnTo>
                  <a:lnTo>
                    <a:pt x="13351" y="149161"/>
                  </a:lnTo>
                  <a:lnTo>
                    <a:pt x="12994" y="149003"/>
                  </a:lnTo>
                  <a:lnTo>
                    <a:pt x="12756" y="148907"/>
                  </a:lnTo>
                  <a:lnTo>
                    <a:pt x="12668" y="148860"/>
                  </a:lnTo>
                  <a:lnTo>
                    <a:pt x="12557" y="148812"/>
                  </a:lnTo>
                  <a:lnTo>
                    <a:pt x="12311" y="148669"/>
                  </a:lnTo>
                  <a:lnTo>
                    <a:pt x="11954" y="148479"/>
                  </a:lnTo>
                  <a:lnTo>
                    <a:pt x="11827" y="148392"/>
                  </a:lnTo>
                  <a:lnTo>
                    <a:pt x="11533" y="148185"/>
                  </a:lnTo>
                  <a:lnTo>
                    <a:pt x="11216" y="147971"/>
                  </a:lnTo>
                  <a:lnTo>
                    <a:pt x="11200" y="147939"/>
                  </a:lnTo>
                  <a:lnTo>
                    <a:pt x="11097" y="147868"/>
                  </a:lnTo>
                  <a:lnTo>
                    <a:pt x="10755" y="147550"/>
                  </a:lnTo>
                  <a:lnTo>
                    <a:pt x="10557" y="147391"/>
                  </a:lnTo>
                  <a:lnTo>
                    <a:pt x="10509" y="147336"/>
                  </a:lnTo>
                  <a:lnTo>
                    <a:pt x="10065" y="146844"/>
                  </a:lnTo>
                  <a:lnTo>
                    <a:pt x="9962" y="146733"/>
                  </a:lnTo>
                  <a:lnTo>
                    <a:pt x="9874" y="146621"/>
                  </a:lnTo>
                  <a:lnTo>
                    <a:pt x="9565" y="146177"/>
                  </a:lnTo>
                  <a:lnTo>
                    <a:pt x="9454" y="146026"/>
                  </a:lnTo>
                  <a:lnTo>
                    <a:pt x="9414" y="145947"/>
                  </a:lnTo>
                  <a:lnTo>
                    <a:pt x="9080" y="145367"/>
                  </a:lnTo>
                  <a:lnTo>
                    <a:pt x="9025" y="145272"/>
                  </a:lnTo>
                  <a:lnTo>
                    <a:pt x="8993" y="145209"/>
                  </a:lnTo>
                  <a:lnTo>
                    <a:pt x="8938" y="145113"/>
                  </a:lnTo>
                  <a:lnTo>
                    <a:pt x="8826" y="144812"/>
                  </a:lnTo>
                  <a:lnTo>
                    <a:pt x="8668" y="144478"/>
                  </a:lnTo>
                  <a:lnTo>
                    <a:pt x="8636" y="144351"/>
                  </a:lnTo>
                  <a:lnTo>
                    <a:pt x="8604" y="144272"/>
                  </a:lnTo>
                  <a:lnTo>
                    <a:pt x="8469" y="143788"/>
                  </a:lnTo>
                  <a:lnTo>
                    <a:pt x="8414" y="143645"/>
                  </a:lnTo>
                  <a:lnTo>
                    <a:pt x="8398" y="143526"/>
                  </a:lnTo>
                  <a:lnTo>
                    <a:pt x="8358" y="143375"/>
                  </a:lnTo>
                  <a:lnTo>
                    <a:pt x="8319" y="143113"/>
                  </a:lnTo>
                  <a:lnTo>
                    <a:pt x="8255" y="142780"/>
                  </a:lnTo>
                  <a:lnTo>
                    <a:pt x="8239" y="142534"/>
                  </a:lnTo>
                  <a:lnTo>
                    <a:pt x="8215" y="142454"/>
                  </a:lnTo>
                  <a:lnTo>
                    <a:pt x="8215" y="142327"/>
                  </a:lnTo>
                  <a:lnTo>
                    <a:pt x="8184" y="141899"/>
                  </a:lnTo>
                  <a:lnTo>
                    <a:pt x="8191" y="141613"/>
                  </a:lnTo>
                  <a:lnTo>
                    <a:pt x="8199" y="141430"/>
                  </a:lnTo>
                  <a:lnTo>
                    <a:pt x="8215" y="141010"/>
                  </a:lnTo>
                  <a:lnTo>
                    <a:pt x="8247" y="140811"/>
                  </a:lnTo>
                  <a:lnTo>
                    <a:pt x="8247" y="140660"/>
                  </a:lnTo>
                  <a:lnTo>
                    <a:pt x="8311" y="140383"/>
                  </a:lnTo>
                  <a:lnTo>
                    <a:pt x="8350" y="140113"/>
                  </a:lnTo>
                  <a:lnTo>
                    <a:pt x="8390" y="139954"/>
                  </a:lnTo>
                  <a:lnTo>
                    <a:pt x="8422" y="139795"/>
                  </a:lnTo>
                  <a:lnTo>
                    <a:pt x="8565" y="139319"/>
                  </a:lnTo>
                  <a:lnTo>
                    <a:pt x="8588" y="139216"/>
                  </a:lnTo>
                  <a:lnTo>
                    <a:pt x="17716" y="111831"/>
                  </a:lnTo>
                  <a:lnTo>
                    <a:pt x="17542" y="111538"/>
                  </a:lnTo>
                  <a:cubicBezTo>
                    <a:pt x="0" y="81796"/>
                    <a:pt x="7945" y="44934"/>
                    <a:pt x="36695" y="23281"/>
                  </a:cubicBezTo>
                  <a:close/>
                </a:path>
              </a:pathLst>
            </a:custGeom>
            <a:solidFill>
              <a:srgbClr val="2B583E"/>
            </a:solidFill>
            <a:ln>
              <a:noFill/>
            </a:ln>
          </p:spPr>
        </p:sp>
        <p:sp>
          <p:nvSpPr>
            <p:cNvPr id="20" name="TextBox 20"/>
            <p:cNvSpPr txBox="1"/>
            <p:nvPr/>
          </p:nvSpPr>
          <p:spPr>
            <a:xfrm>
              <a:off x="1203960" y="4518660"/>
              <a:ext cx="2045532"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特色二：SSE 实时反向推</a:t>
              </a:r>
            </a:p>
          </p:txBody>
        </p:sp>
        <p:sp>
          <p:nvSpPr>
            <p:cNvPr id="21" name="TextBox 21"/>
            <p:cNvSpPr txBox="1"/>
            <p:nvPr/>
          </p:nvSpPr>
          <p:spPr>
            <a:xfrm>
              <a:off x="748665" y="4887278"/>
              <a:ext cx="2211943"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多端同步采用 SQLite sync-SSE</a:t>
              </a:r>
            </a:p>
          </p:txBody>
        </p:sp>
        <p:sp>
          <p:nvSpPr>
            <p:cNvPr id="22" name="TextBox 22"/>
            <p:cNvSpPr txBox="1"/>
            <p:nvPr/>
          </p:nvSpPr>
          <p:spPr>
            <a:xfrm>
              <a:off x="748665" y="5096828"/>
              <a:ext cx="248031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通道，确保设备状态实时静默刷新。</a:t>
              </a:r>
            </a:p>
          </p:txBody>
        </p:sp>
      </p:grpSp>
      <p:grpSp>
        <p:nvGrpSpPr>
          <p:cNvPr id="86" name="Group 86"/>
          <p:cNvGrpSpPr/>
          <p:nvPr/>
        </p:nvGrpSpPr>
        <p:grpSpPr>
          <a:xfrm>
            <a:off x="3952875" y="1143000"/>
            <a:ext cx="7667625" cy="4429125"/>
            <a:chOff x="3952875" y="1143000"/>
            <a:chExt cx="7667625" cy="4429125"/>
          </a:xfrm>
        </p:grpSpPr>
        <p:sp>
          <p:nvSpPr>
            <p:cNvPr id="24" name="Freeform 24"/>
            <p:cNvSpPr/>
            <p:nvPr/>
          </p:nvSpPr>
          <p:spPr>
            <a:xfrm>
              <a:off x="3952875" y="1143000"/>
              <a:ext cx="7667625" cy="4429125"/>
            </a:xfrm>
            <a:custGeom>
              <a:avLst/>
              <a:gdLst/>
              <a:ahLst/>
              <a:cxnLst/>
              <a:rect l="l" t="t" r="r" b="b"/>
              <a:pathLst>
                <a:path w="7667625" h="4429125">
                  <a:moveTo>
                    <a:pt x="152400" y="0"/>
                  </a:moveTo>
                  <a:lnTo>
                    <a:pt x="7515225" y="0"/>
                  </a:lnTo>
                  <a:cubicBezTo>
                    <a:pt x="7599393" y="0"/>
                    <a:pt x="7667625" y="68232"/>
                    <a:pt x="7667625" y="152400"/>
                  </a:cubicBezTo>
                  <a:lnTo>
                    <a:pt x="7667625" y="4276725"/>
                  </a:lnTo>
                  <a:cubicBezTo>
                    <a:pt x="7667625" y="4360893"/>
                    <a:pt x="7599393" y="4429125"/>
                    <a:pt x="7515225" y="4429125"/>
                  </a:cubicBezTo>
                  <a:lnTo>
                    <a:pt x="152400" y="4429125"/>
                  </a:lnTo>
                  <a:cubicBezTo>
                    <a:pt x="68232" y="4429125"/>
                    <a:pt x="0" y="4360893"/>
                    <a:pt x="0" y="4276725"/>
                  </a:cubicBezTo>
                  <a:lnTo>
                    <a:pt x="0" y="152400"/>
                  </a:lnTo>
                  <a:cubicBezTo>
                    <a:pt x="0" y="68232"/>
                    <a:pt x="68232" y="0"/>
                    <a:pt x="152400" y="0"/>
                  </a:cubicBezTo>
                  <a:close/>
                </a:path>
              </a:pathLst>
            </a:custGeom>
            <a:solidFill>
              <a:srgbClr val="FFFFFF"/>
            </a:solidFill>
            <a:ln w="14288">
              <a:solidFill>
                <a:srgbClr val="D1DAD4"/>
              </a:solidFill>
            </a:ln>
          </p:spPr>
        </p:sp>
        <p:grpSp>
          <p:nvGrpSpPr>
            <p:cNvPr id="48" name="Group 48"/>
            <p:cNvGrpSpPr/>
            <p:nvPr/>
          </p:nvGrpSpPr>
          <p:grpSpPr>
            <a:xfrm>
              <a:off x="4238625" y="1381125"/>
              <a:ext cx="7096125" cy="952500"/>
              <a:chOff x="4238625" y="1381125"/>
              <a:chExt cx="7096125" cy="952500"/>
            </a:xfrm>
          </p:grpSpPr>
          <p:sp>
            <p:nvSpPr>
              <p:cNvPr id="25" name="Freeform 25"/>
              <p:cNvSpPr/>
              <p:nvPr/>
            </p:nvSpPr>
            <p:spPr>
              <a:xfrm>
                <a:off x="4238625" y="1381125"/>
                <a:ext cx="7096125" cy="952500"/>
              </a:xfrm>
              <a:custGeom>
                <a:avLst/>
                <a:gdLst/>
                <a:ahLst/>
                <a:cxnLst/>
                <a:rect l="l" t="t" r="r" b="b"/>
                <a:pathLst>
                  <a:path w="7096125" h="952500">
                    <a:moveTo>
                      <a:pt x="95250" y="0"/>
                    </a:moveTo>
                    <a:lnTo>
                      <a:pt x="7000875" y="0"/>
                    </a:lnTo>
                    <a:cubicBezTo>
                      <a:pt x="7053480" y="0"/>
                      <a:pt x="7096125" y="42645"/>
                      <a:pt x="7096125" y="95250"/>
                    </a:cubicBezTo>
                    <a:lnTo>
                      <a:pt x="7096125" y="857250"/>
                    </a:lnTo>
                    <a:cubicBezTo>
                      <a:pt x="7096125" y="909855"/>
                      <a:pt x="7053480" y="952500"/>
                      <a:pt x="7000875" y="952500"/>
                    </a:cubicBezTo>
                    <a:lnTo>
                      <a:pt x="95250" y="952500"/>
                    </a:lnTo>
                    <a:cubicBezTo>
                      <a:pt x="42645" y="952500"/>
                      <a:pt x="0" y="909855"/>
                      <a:pt x="0" y="857250"/>
                    </a:cubicBezTo>
                    <a:lnTo>
                      <a:pt x="0" y="95250"/>
                    </a:lnTo>
                    <a:cubicBezTo>
                      <a:pt x="0" y="42645"/>
                      <a:pt x="42645" y="0"/>
                      <a:pt x="95250" y="0"/>
                    </a:cubicBezTo>
                    <a:close/>
                  </a:path>
                </a:pathLst>
              </a:custGeom>
              <a:solidFill>
                <a:srgbClr val="F4F6F4"/>
              </a:solidFill>
              <a:ln w="9525">
                <a:solidFill>
                  <a:srgbClr val="D1DAD4"/>
                </a:solidFill>
              </a:ln>
            </p:spPr>
          </p:sp>
          <p:sp>
            <p:nvSpPr>
              <p:cNvPr id="26" name="Freeform 26"/>
              <p:cNvSpPr/>
              <p:nvPr/>
            </p:nvSpPr>
            <p:spPr>
              <a:xfrm>
                <a:off x="4429125" y="1495425"/>
                <a:ext cx="1238250" cy="247650"/>
              </a:xfrm>
              <a:custGeom>
                <a:avLst/>
                <a:gdLst/>
                <a:ahLst/>
                <a:cxnLst/>
                <a:rect l="l" t="t" r="r" b="b"/>
                <a:pathLst>
                  <a:path w="1238250" h="247650">
                    <a:moveTo>
                      <a:pt x="38100" y="0"/>
                    </a:moveTo>
                    <a:lnTo>
                      <a:pt x="1200150" y="0"/>
                    </a:lnTo>
                    <a:cubicBezTo>
                      <a:pt x="1221192" y="0"/>
                      <a:pt x="1238250" y="17058"/>
                      <a:pt x="1238250" y="38100"/>
                    </a:cubicBezTo>
                    <a:lnTo>
                      <a:pt x="1238250" y="209550"/>
                    </a:lnTo>
                    <a:cubicBezTo>
                      <a:pt x="1238250" y="230592"/>
                      <a:pt x="1221192" y="247650"/>
                      <a:pt x="1200150" y="247650"/>
                    </a:cubicBezTo>
                    <a:lnTo>
                      <a:pt x="38100" y="247650"/>
                    </a:lnTo>
                    <a:cubicBezTo>
                      <a:pt x="17058" y="247650"/>
                      <a:pt x="0" y="230592"/>
                      <a:pt x="0" y="209550"/>
                    </a:cubicBezTo>
                    <a:lnTo>
                      <a:pt x="0" y="38100"/>
                    </a:lnTo>
                    <a:cubicBezTo>
                      <a:pt x="0" y="17058"/>
                      <a:pt x="17058" y="0"/>
                      <a:pt x="38100" y="0"/>
                    </a:cubicBezTo>
                    <a:close/>
                  </a:path>
                </a:pathLst>
              </a:custGeom>
              <a:solidFill>
                <a:srgbClr val="2B583E"/>
              </a:solidFill>
              <a:ln>
                <a:noFill/>
              </a:ln>
            </p:spPr>
          </p:sp>
          <p:sp>
            <p:nvSpPr>
              <p:cNvPr id="27" name="TextBox 27"/>
              <p:cNvSpPr txBox="1"/>
              <p:nvPr/>
            </p:nvSpPr>
            <p:spPr>
              <a:xfrm>
                <a:off x="4531995" y="1560195"/>
                <a:ext cx="1706670"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Quicksand"/>
                    <a:ea typeface="Microsoft YaHei"/>
                    <a:cs typeface="Quicksand"/>
                  </a:rPr>
                  <a:t>客户端 (Tauri v2 + React)</a:t>
                </a:r>
              </a:p>
            </p:txBody>
          </p:sp>
          <p:sp>
            <p:nvSpPr>
              <p:cNvPr id="28" name="Freeform 28"/>
              <p:cNvSpPr/>
              <p:nvPr/>
            </p:nvSpPr>
            <p:spPr>
              <a:xfrm>
                <a:off x="4429125" y="1857375"/>
                <a:ext cx="1524000" cy="342900"/>
              </a:xfrm>
              <a:custGeom>
                <a:avLst/>
                <a:gdLst/>
                <a:ahLst/>
                <a:cxnLst/>
                <a:rect l="l" t="t" r="r" b="b"/>
                <a:pathLst>
                  <a:path w="1524000" h="342900">
                    <a:moveTo>
                      <a:pt x="57150" y="0"/>
                    </a:moveTo>
                    <a:lnTo>
                      <a:pt x="1466850" y="0"/>
                    </a:lnTo>
                    <a:cubicBezTo>
                      <a:pt x="1498413" y="0"/>
                      <a:pt x="1524000" y="25587"/>
                      <a:pt x="1524000" y="57150"/>
                    </a:cubicBezTo>
                    <a:lnTo>
                      <a:pt x="1524000" y="285750"/>
                    </a:lnTo>
                    <a:cubicBezTo>
                      <a:pt x="1524000" y="317313"/>
                      <a:pt x="1498413" y="342900"/>
                      <a:pt x="1466850" y="342900"/>
                    </a:cubicBezTo>
                    <a:lnTo>
                      <a:pt x="57150" y="342900"/>
                    </a:lnTo>
                    <a:cubicBezTo>
                      <a:pt x="25587" y="342900"/>
                      <a:pt x="0" y="317313"/>
                      <a:pt x="0" y="285750"/>
                    </a:cubicBezTo>
                    <a:lnTo>
                      <a:pt x="0" y="57150"/>
                    </a:lnTo>
                    <a:cubicBezTo>
                      <a:pt x="0" y="25587"/>
                      <a:pt x="25587" y="0"/>
                      <a:pt x="57150" y="0"/>
                    </a:cubicBezTo>
                    <a:close/>
                  </a:path>
                </a:pathLst>
              </a:custGeom>
              <a:solidFill>
                <a:srgbClr val="FFFFFF"/>
              </a:solidFill>
              <a:ln w="9525">
                <a:solidFill>
                  <a:srgbClr val="2B583E"/>
                </a:solidFill>
              </a:ln>
            </p:spPr>
          </p:sp>
          <p:grpSp>
            <p:nvGrpSpPr>
              <p:cNvPr id="38" name="Group 38"/>
              <p:cNvGrpSpPr/>
              <p:nvPr/>
            </p:nvGrpSpPr>
            <p:grpSpPr>
              <a:xfrm>
                <a:off x="4540026" y="1949450"/>
                <a:ext cx="159198" cy="158974"/>
                <a:chOff x="4540026" y="1949450"/>
                <a:chExt cx="159198" cy="158974"/>
              </a:xfrm>
            </p:grpSpPr>
            <p:sp>
              <p:nvSpPr>
                <p:cNvPr id="29" name="Freeform 29"/>
                <p:cNvSpPr/>
                <p:nvPr/>
              </p:nvSpPr>
              <p:spPr>
                <a:xfrm>
                  <a:off x="4611688" y="2084388"/>
                  <a:ext cx="15875" cy="24036"/>
                </a:xfrm>
                <a:custGeom>
                  <a:avLst/>
                  <a:gdLst/>
                  <a:ahLst/>
                  <a:cxnLst/>
                  <a:rect l="l" t="t" r="r" b="b"/>
                  <a:pathLst>
                    <a:path w="15875" h="24036">
                      <a:moveTo>
                        <a:pt x="7937" y="0"/>
                      </a:moveTo>
                      <a:cubicBezTo>
                        <a:pt x="11962" y="1"/>
                        <a:pt x="15349" y="3012"/>
                        <a:pt x="15819" y="7009"/>
                      </a:cubicBezTo>
                      <a:lnTo>
                        <a:pt x="15875" y="7937"/>
                      </a:lnTo>
                      <a:lnTo>
                        <a:pt x="15875" y="15875"/>
                      </a:lnTo>
                      <a:cubicBezTo>
                        <a:pt x="15870" y="20075"/>
                        <a:pt x="12595" y="23544"/>
                        <a:pt x="8403" y="23790"/>
                      </a:cubicBezTo>
                      <a:cubicBezTo>
                        <a:pt x="4210" y="24036"/>
                        <a:pt x="552" y="20974"/>
                        <a:pt x="56" y="16804"/>
                      </a:cubicBezTo>
                      <a:lnTo>
                        <a:pt x="0" y="15875"/>
                      </a:lnTo>
                      <a:lnTo>
                        <a:pt x="0" y="7937"/>
                      </a:lnTo>
                      <a:cubicBezTo>
                        <a:pt x="0" y="3554"/>
                        <a:pt x="3554" y="0"/>
                        <a:pt x="7937" y="0"/>
                      </a:cubicBezTo>
                      <a:close/>
                    </a:path>
                  </a:pathLst>
                </a:custGeom>
                <a:solidFill>
                  <a:srgbClr val="2B583E"/>
                </a:solidFill>
                <a:ln>
                  <a:noFill/>
                </a:ln>
              </p:spPr>
            </p:sp>
            <p:sp>
              <p:nvSpPr>
                <p:cNvPr id="30" name="Freeform 30"/>
                <p:cNvSpPr/>
                <p:nvPr/>
              </p:nvSpPr>
              <p:spPr>
                <a:xfrm>
                  <a:off x="4656140" y="2065194"/>
                  <a:ext cx="22996" cy="23262"/>
                </a:xfrm>
                <a:custGeom>
                  <a:avLst/>
                  <a:gdLst/>
                  <a:ahLst/>
                  <a:cxnLst/>
                  <a:rect l="l" t="t" r="r" b="b"/>
                  <a:pathLst>
                    <a:path w="22996" h="23262">
                      <a:moveTo>
                        <a:pt x="13594" y="2604"/>
                      </a:moveTo>
                      <a:lnTo>
                        <a:pt x="14341" y="3263"/>
                      </a:lnTo>
                      <a:lnTo>
                        <a:pt x="19897" y="8819"/>
                      </a:lnTo>
                      <a:cubicBezTo>
                        <a:pt x="22851" y="11784"/>
                        <a:pt x="22996" y="16533"/>
                        <a:pt x="20228" y="19672"/>
                      </a:cubicBezTo>
                      <a:cubicBezTo>
                        <a:pt x="17460" y="22811"/>
                        <a:pt x="12730" y="23262"/>
                        <a:pt x="9419" y="20702"/>
                      </a:cubicBezTo>
                      <a:lnTo>
                        <a:pt x="8673" y="20043"/>
                      </a:lnTo>
                      <a:lnTo>
                        <a:pt x="3117" y="14487"/>
                      </a:lnTo>
                      <a:cubicBezTo>
                        <a:pt x="283" y="11657"/>
                        <a:pt x="0" y="7160"/>
                        <a:pt x="2458" y="3998"/>
                      </a:cubicBezTo>
                      <a:cubicBezTo>
                        <a:pt x="4915" y="836"/>
                        <a:pt x="9344" y="0"/>
                        <a:pt x="12785" y="2048"/>
                      </a:cubicBezTo>
                      <a:lnTo>
                        <a:pt x="13594" y="2604"/>
                      </a:lnTo>
                      <a:close/>
                    </a:path>
                  </a:pathLst>
                </a:custGeom>
                <a:solidFill>
                  <a:srgbClr val="2B583E"/>
                </a:solidFill>
                <a:ln>
                  <a:noFill/>
                </a:ln>
              </p:spPr>
            </p:sp>
            <p:sp>
              <p:nvSpPr>
                <p:cNvPr id="31" name="Freeform 31"/>
                <p:cNvSpPr/>
                <p:nvPr/>
              </p:nvSpPr>
              <p:spPr>
                <a:xfrm>
                  <a:off x="4559994" y="2065358"/>
                  <a:ext cx="23109" cy="22978"/>
                </a:xfrm>
                <a:custGeom>
                  <a:avLst/>
                  <a:gdLst/>
                  <a:ahLst/>
                  <a:cxnLst/>
                  <a:rect l="l" t="t" r="r" b="b"/>
                  <a:pathLst>
                    <a:path w="23109" h="22978">
                      <a:moveTo>
                        <a:pt x="19999" y="3099"/>
                      </a:moveTo>
                      <a:cubicBezTo>
                        <a:pt x="22826" y="5927"/>
                        <a:pt x="23109" y="10416"/>
                        <a:pt x="20658" y="13576"/>
                      </a:cubicBezTo>
                      <a:lnTo>
                        <a:pt x="19999" y="14322"/>
                      </a:lnTo>
                      <a:lnTo>
                        <a:pt x="14443" y="19879"/>
                      </a:lnTo>
                      <a:cubicBezTo>
                        <a:pt x="11478" y="22833"/>
                        <a:pt x="6729" y="22978"/>
                        <a:pt x="3590" y="20210"/>
                      </a:cubicBezTo>
                      <a:cubicBezTo>
                        <a:pt x="451" y="17442"/>
                        <a:pt x="0" y="12712"/>
                        <a:pt x="2560" y="9401"/>
                      </a:cubicBezTo>
                      <a:lnTo>
                        <a:pt x="3219" y="8655"/>
                      </a:lnTo>
                      <a:lnTo>
                        <a:pt x="8775" y="3099"/>
                      </a:lnTo>
                      <a:cubicBezTo>
                        <a:pt x="11875" y="0"/>
                        <a:pt x="16899" y="0"/>
                        <a:pt x="19999" y="3099"/>
                      </a:cubicBezTo>
                      <a:close/>
                    </a:path>
                  </a:pathLst>
                </a:custGeom>
                <a:solidFill>
                  <a:srgbClr val="2B583E"/>
                </a:solidFill>
                <a:ln>
                  <a:noFill/>
                </a:ln>
              </p:spPr>
            </p:sp>
            <p:sp>
              <p:nvSpPr>
                <p:cNvPr id="32" name="Freeform 32"/>
                <p:cNvSpPr/>
                <p:nvPr/>
              </p:nvSpPr>
              <p:spPr>
                <a:xfrm>
                  <a:off x="4540026" y="2020888"/>
                  <a:ext cx="24260" cy="15875"/>
                </a:xfrm>
                <a:custGeom>
                  <a:avLst/>
                  <a:gdLst/>
                  <a:ahLst/>
                  <a:cxnLst/>
                  <a:rect l="l" t="t" r="r" b="b"/>
                  <a:pathLst>
                    <a:path w="24260" h="15875">
                      <a:moveTo>
                        <a:pt x="16099" y="0"/>
                      </a:moveTo>
                      <a:cubicBezTo>
                        <a:pt x="20298" y="5"/>
                        <a:pt x="23768" y="3280"/>
                        <a:pt x="24014" y="7472"/>
                      </a:cubicBezTo>
                      <a:cubicBezTo>
                        <a:pt x="24260" y="11665"/>
                        <a:pt x="21198" y="15323"/>
                        <a:pt x="17027" y="15819"/>
                      </a:cubicBezTo>
                      <a:lnTo>
                        <a:pt x="16099" y="15875"/>
                      </a:lnTo>
                      <a:lnTo>
                        <a:pt x="8161" y="15875"/>
                      </a:lnTo>
                      <a:cubicBezTo>
                        <a:pt x="3961" y="15870"/>
                        <a:pt x="492" y="12595"/>
                        <a:pt x="246" y="8403"/>
                      </a:cubicBezTo>
                      <a:cubicBezTo>
                        <a:pt x="0" y="4210"/>
                        <a:pt x="3062" y="552"/>
                        <a:pt x="7232" y="56"/>
                      </a:cubicBezTo>
                      <a:lnTo>
                        <a:pt x="8161" y="0"/>
                      </a:lnTo>
                      <a:lnTo>
                        <a:pt x="16099" y="0"/>
                      </a:lnTo>
                      <a:close/>
                    </a:path>
                  </a:pathLst>
                </a:custGeom>
                <a:solidFill>
                  <a:srgbClr val="2B583E"/>
                </a:solidFill>
                <a:ln>
                  <a:noFill/>
                </a:ln>
              </p:spPr>
            </p:sp>
            <p:sp>
              <p:nvSpPr>
                <p:cNvPr id="33" name="Freeform 33"/>
                <p:cNvSpPr/>
                <p:nvPr/>
              </p:nvSpPr>
              <p:spPr>
                <a:xfrm>
                  <a:off x="4674964" y="2020888"/>
                  <a:ext cx="24260" cy="15875"/>
                </a:xfrm>
                <a:custGeom>
                  <a:avLst/>
                  <a:gdLst/>
                  <a:ahLst/>
                  <a:cxnLst/>
                  <a:rect l="l" t="t" r="r" b="b"/>
                  <a:pathLst>
                    <a:path w="24260" h="15875">
                      <a:moveTo>
                        <a:pt x="16099" y="0"/>
                      </a:moveTo>
                      <a:cubicBezTo>
                        <a:pt x="20298" y="5"/>
                        <a:pt x="23768" y="3280"/>
                        <a:pt x="24014" y="7472"/>
                      </a:cubicBezTo>
                      <a:cubicBezTo>
                        <a:pt x="24260" y="11665"/>
                        <a:pt x="21198" y="15323"/>
                        <a:pt x="17027" y="15819"/>
                      </a:cubicBezTo>
                      <a:lnTo>
                        <a:pt x="16099" y="15875"/>
                      </a:lnTo>
                      <a:lnTo>
                        <a:pt x="8161" y="15875"/>
                      </a:lnTo>
                      <a:cubicBezTo>
                        <a:pt x="3961" y="15870"/>
                        <a:pt x="492" y="12595"/>
                        <a:pt x="246" y="8403"/>
                      </a:cubicBezTo>
                      <a:cubicBezTo>
                        <a:pt x="0" y="4210"/>
                        <a:pt x="3062" y="552"/>
                        <a:pt x="7232" y="56"/>
                      </a:cubicBezTo>
                      <a:lnTo>
                        <a:pt x="8161" y="0"/>
                      </a:lnTo>
                      <a:lnTo>
                        <a:pt x="16099" y="0"/>
                      </a:lnTo>
                      <a:close/>
                    </a:path>
                  </a:pathLst>
                </a:custGeom>
                <a:solidFill>
                  <a:srgbClr val="2B583E"/>
                </a:solidFill>
                <a:ln>
                  <a:noFill/>
                </a:ln>
              </p:spPr>
            </p:sp>
            <p:sp>
              <p:nvSpPr>
                <p:cNvPr id="34" name="Freeform 34"/>
                <p:cNvSpPr/>
                <p:nvPr/>
              </p:nvSpPr>
              <p:spPr>
                <a:xfrm>
                  <a:off x="4560112" y="1969164"/>
                  <a:ext cx="22981" cy="23248"/>
                </a:xfrm>
                <a:custGeom>
                  <a:avLst/>
                  <a:gdLst/>
                  <a:ahLst/>
                  <a:cxnLst/>
                  <a:rect l="l" t="t" r="r" b="b"/>
                  <a:pathLst>
                    <a:path w="22981" h="23248">
                      <a:moveTo>
                        <a:pt x="13579" y="2590"/>
                      </a:moveTo>
                      <a:lnTo>
                        <a:pt x="14325" y="3249"/>
                      </a:lnTo>
                      <a:lnTo>
                        <a:pt x="19881" y="8806"/>
                      </a:lnTo>
                      <a:cubicBezTo>
                        <a:pt x="22836" y="11770"/>
                        <a:pt x="22981" y="16519"/>
                        <a:pt x="20213" y="19658"/>
                      </a:cubicBezTo>
                      <a:cubicBezTo>
                        <a:pt x="17445" y="22798"/>
                        <a:pt x="12715" y="23248"/>
                        <a:pt x="9404" y="20688"/>
                      </a:cubicBezTo>
                      <a:lnTo>
                        <a:pt x="8658" y="20029"/>
                      </a:lnTo>
                      <a:lnTo>
                        <a:pt x="3101" y="14473"/>
                      </a:lnTo>
                      <a:cubicBezTo>
                        <a:pt x="278" y="11643"/>
                        <a:pt x="0" y="7155"/>
                        <a:pt x="2452" y="3998"/>
                      </a:cubicBezTo>
                      <a:cubicBezTo>
                        <a:pt x="4904" y="841"/>
                        <a:pt x="9321" y="0"/>
                        <a:pt x="12761" y="2035"/>
                      </a:cubicBezTo>
                      <a:lnTo>
                        <a:pt x="13571" y="2590"/>
                      </a:lnTo>
                      <a:close/>
                    </a:path>
                  </a:pathLst>
                </a:custGeom>
                <a:solidFill>
                  <a:srgbClr val="2B583E"/>
                </a:solidFill>
                <a:ln>
                  <a:noFill/>
                </a:ln>
              </p:spPr>
            </p:sp>
            <p:sp>
              <p:nvSpPr>
                <p:cNvPr id="35" name="Freeform 35"/>
                <p:cNvSpPr/>
                <p:nvPr/>
              </p:nvSpPr>
              <p:spPr>
                <a:xfrm>
                  <a:off x="4656038" y="1969315"/>
                  <a:ext cx="23109" cy="22978"/>
                </a:xfrm>
                <a:custGeom>
                  <a:avLst/>
                  <a:gdLst/>
                  <a:ahLst/>
                  <a:cxnLst/>
                  <a:rect l="l" t="t" r="r" b="b"/>
                  <a:pathLst>
                    <a:path w="23109" h="22978">
                      <a:moveTo>
                        <a:pt x="19999" y="3099"/>
                      </a:moveTo>
                      <a:cubicBezTo>
                        <a:pt x="22826" y="5927"/>
                        <a:pt x="23109" y="10416"/>
                        <a:pt x="20658" y="13576"/>
                      </a:cubicBezTo>
                      <a:lnTo>
                        <a:pt x="19999" y="14322"/>
                      </a:lnTo>
                      <a:lnTo>
                        <a:pt x="14443" y="19879"/>
                      </a:lnTo>
                      <a:cubicBezTo>
                        <a:pt x="11478" y="22833"/>
                        <a:pt x="6729" y="22978"/>
                        <a:pt x="3590" y="20210"/>
                      </a:cubicBezTo>
                      <a:cubicBezTo>
                        <a:pt x="451" y="17442"/>
                        <a:pt x="0" y="12712"/>
                        <a:pt x="2560" y="9401"/>
                      </a:cubicBezTo>
                      <a:lnTo>
                        <a:pt x="3219" y="8655"/>
                      </a:lnTo>
                      <a:lnTo>
                        <a:pt x="8775" y="3099"/>
                      </a:lnTo>
                      <a:cubicBezTo>
                        <a:pt x="11875" y="0"/>
                        <a:pt x="16899" y="0"/>
                        <a:pt x="19999" y="3099"/>
                      </a:cubicBezTo>
                      <a:close/>
                    </a:path>
                  </a:pathLst>
                </a:custGeom>
                <a:solidFill>
                  <a:srgbClr val="2B583E"/>
                </a:solidFill>
                <a:ln>
                  <a:noFill/>
                </a:ln>
              </p:spPr>
            </p:sp>
            <p:sp>
              <p:nvSpPr>
                <p:cNvPr id="36" name="Freeform 36"/>
                <p:cNvSpPr/>
                <p:nvPr/>
              </p:nvSpPr>
              <p:spPr>
                <a:xfrm>
                  <a:off x="4611688" y="1949450"/>
                  <a:ext cx="15875" cy="24036"/>
                </a:xfrm>
                <a:custGeom>
                  <a:avLst/>
                  <a:gdLst/>
                  <a:ahLst/>
                  <a:cxnLst/>
                  <a:rect l="l" t="t" r="r" b="b"/>
                  <a:pathLst>
                    <a:path w="15875" h="24036">
                      <a:moveTo>
                        <a:pt x="7937" y="0"/>
                      </a:moveTo>
                      <a:cubicBezTo>
                        <a:pt x="11962" y="1"/>
                        <a:pt x="15349" y="3012"/>
                        <a:pt x="15819" y="7009"/>
                      </a:cubicBezTo>
                      <a:lnTo>
                        <a:pt x="15875" y="7938"/>
                      </a:lnTo>
                      <a:lnTo>
                        <a:pt x="15875" y="15875"/>
                      </a:lnTo>
                      <a:cubicBezTo>
                        <a:pt x="15870" y="20075"/>
                        <a:pt x="12595" y="23544"/>
                        <a:pt x="8403" y="23790"/>
                      </a:cubicBezTo>
                      <a:cubicBezTo>
                        <a:pt x="4210" y="24036"/>
                        <a:pt x="552" y="20974"/>
                        <a:pt x="56" y="16804"/>
                      </a:cubicBezTo>
                      <a:lnTo>
                        <a:pt x="0" y="15875"/>
                      </a:lnTo>
                      <a:lnTo>
                        <a:pt x="0" y="7938"/>
                      </a:lnTo>
                      <a:cubicBezTo>
                        <a:pt x="0" y="3554"/>
                        <a:pt x="3554" y="0"/>
                        <a:pt x="7937" y="0"/>
                      </a:cubicBezTo>
                      <a:close/>
                    </a:path>
                  </a:pathLst>
                </a:custGeom>
                <a:solidFill>
                  <a:srgbClr val="2B583E"/>
                </a:solidFill>
                <a:ln>
                  <a:noFill/>
                </a:ln>
              </p:spPr>
            </p:sp>
            <p:sp>
              <p:nvSpPr>
                <p:cNvPr id="37" name="Freeform 37"/>
                <p:cNvSpPr/>
                <p:nvPr/>
              </p:nvSpPr>
              <p:spPr>
                <a:xfrm>
                  <a:off x="4579938" y="1989136"/>
                  <a:ext cx="79688" cy="79988"/>
                </a:xfrm>
                <a:custGeom>
                  <a:avLst/>
                  <a:gdLst/>
                  <a:ahLst/>
                  <a:cxnLst/>
                  <a:rect l="l" t="t" r="r" b="b"/>
                  <a:pathLst>
                    <a:path w="79688" h="79988">
                      <a:moveTo>
                        <a:pt x="39688" y="1"/>
                      </a:moveTo>
                      <a:cubicBezTo>
                        <a:pt x="61383" y="0"/>
                        <a:pt x="79058" y="17420"/>
                        <a:pt x="79373" y="39113"/>
                      </a:cubicBezTo>
                      <a:cubicBezTo>
                        <a:pt x="79688" y="60806"/>
                        <a:pt x="62525" y="78731"/>
                        <a:pt x="40839" y="79360"/>
                      </a:cubicBezTo>
                      <a:cubicBezTo>
                        <a:pt x="19153" y="79988"/>
                        <a:pt x="981" y="63086"/>
                        <a:pt x="40" y="41411"/>
                      </a:cubicBezTo>
                      <a:lnTo>
                        <a:pt x="0" y="39689"/>
                      </a:lnTo>
                      <a:lnTo>
                        <a:pt x="40" y="37966"/>
                      </a:lnTo>
                      <a:cubicBezTo>
                        <a:pt x="962" y="16738"/>
                        <a:pt x="18439" y="2"/>
                        <a:pt x="39688" y="1"/>
                      </a:cubicBezTo>
                      <a:close/>
                    </a:path>
                  </a:pathLst>
                </a:custGeom>
                <a:solidFill>
                  <a:srgbClr val="2B583E"/>
                </a:solidFill>
                <a:ln>
                  <a:noFill/>
                </a:ln>
              </p:spPr>
            </p:sp>
          </p:grpSp>
          <p:sp>
            <p:nvSpPr>
              <p:cNvPr id="39" name="TextBox 39"/>
              <p:cNvSpPr txBox="1"/>
              <p:nvPr/>
            </p:nvSpPr>
            <p:spPr>
              <a:xfrm>
                <a:off x="4769168" y="1971199"/>
                <a:ext cx="1108775"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温室 Dashboard</a:t>
                </a:r>
              </a:p>
            </p:txBody>
          </p:sp>
          <p:sp>
            <p:nvSpPr>
              <p:cNvPr id="40" name="Freeform 40"/>
              <p:cNvSpPr/>
              <p:nvPr/>
            </p:nvSpPr>
            <p:spPr>
              <a:xfrm>
                <a:off x="6096000" y="1857375"/>
                <a:ext cx="1524000" cy="342900"/>
              </a:xfrm>
              <a:custGeom>
                <a:avLst/>
                <a:gdLst/>
                <a:ahLst/>
                <a:cxnLst/>
                <a:rect l="l" t="t" r="r" b="b"/>
                <a:pathLst>
                  <a:path w="1524000" h="342900">
                    <a:moveTo>
                      <a:pt x="57150" y="0"/>
                    </a:moveTo>
                    <a:lnTo>
                      <a:pt x="1466850" y="0"/>
                    </a:lnTo>
                    <a:cubicBezTo>
                      <a:pt x="1498413" y="0"/>
                      <a:pt x="1524000" y="25587"/>
                      <a:pt x="1524000" y="57150"/>
                    </a:cubicBezTo>
                    <a:lnTo>
                      <a:pt x="1524000" y="285750"/>
                    </a:lnTo>
                    <a:cubicBezTo>
                      <a:pt x="1524000" y="317313"/>
                      <a:pt x="1498413" y="342900"/>
                      <a:pt x="1466850" y="342900"/>
                    </a:cubicBezTo>
                    <a:lnTo>
                      <a:pt x="57150" y="342900"/>
                    </a:lnTo>
                    <a:cubicBezTo>
                      <a:pt x="25587" y="342900"/>
                      <a:pt x="0" y="317313"/>
                      <a:pt x="0" y="285750"/>
                    </a:cubicBezTo>
                    <a:lnTo>
                      <a:pt x="0" y="57150"/>
                    </a:lnTo>
                    <a:cubicBezTo>
                      <a:pt x="0" y="25587"/>
                      <a:pt x="25587" y="0"/>
                      <a:pt x="57150" y="0"/>
                    </a:cubicBezTo>
                    <a:close/>
                  </a:path>
                </a:pathLst>
              </a:custGeom>
              <a:solidFill>
                <a:srgbClr val="FFFFFF"/>
              </a:solidFill>
              <a:ln w="9525">
                <a:solidFill>
                  <a:srgbClr val="2B583E"/>
                </a:solidFill>
              </a:ln>
            </p:spPr>
          </p:sp>
          <p:sp>
            <p:nvSpPr>
              <p:cNvPr id="41" name="Freeform 41"/>
              <p:cNvSpPr/>
              <p:nvPr/>
            </p:nvSpPr>
            <p:spPr>
              <a:xfrm>
                <a:off x="6198941" y="1950601"/>
                <a:ext cx="175363" cy="157012"/>
              </a:xfrm>
              <a:custGeom>
                <a:avLst/>
                <a:gdLst/>
                <a:ahLst/>
                <a:cxnLst/>
                <a:rect l="l" t="t" r="r" b="b"/>
                <a:pathLst>
                  <a:path w="175363" h="157012">
                    <a:moveTo>
                      <a:pt x="38513" y="21947"/>
                    </a:moveTo>
                    <a:cubicBezTo>
                      <a:pt x="69461" y="0"/>
                      <a:pt x="113665" y="1794"/>
                      <a:pt x="142280" y="26194"/>
                    </a:cubicBezTo>
                    <a:cubicBezTo>
                      <a:pt x="171387" y="51030"/>
                      <a:pt x="175363" y="91583"/>
                      <a:pt x="151424" y="120634"/>
                    </a:cubicBezTo>
                    <a:cubicBezTo>
                      <a:pt x="128873" y="147995"/>
                      <a:pt x="88201" y="157012"/>
                      <a:pt x="54340" y="142899"/>
                    </a:cubicBezTo>
                    <a:lnTo>
                      <a:pt x="52491" y="142097"/>
                    </a:lnTo>
                    <a:lnTo>
                      <a:pt x="17772" y="149487"/>
                    </a:lnTo>
                    <a:lnTo>
                      <a:pt x="17455" y="149535"/>
                    </a:lnTo>
                    <a:lnTo>
                      <a:pt x="17177" y="149590"/>
                    </a:lnTo>
                    <a:lnTo>
                      <a:pt x="17034" y="149590"/>
                    </a:lnTo>
                    <a:lnTo>
                      <a:pt x="16859" y="149630"/>
                    </a:lnTo>
                    <a:lnTo>
                      <a:pt x="16558" y="149630"/>
                    </a:lnTo>
                    <a:lnTo>
                      <a:pt x="16296" y="149662"/>
                    </a:lnTo>
                    <a:lnTo>
                      <a:pt x="16129" y="149654"/>
                    </a:lnTo>
                    <a:lnTo>
                      <a:pt x="15946" y="149662"/>
                    </a:lnTo>
                    <a:lnTo>
                      <a:pt x="15684" y="149638"/>
                    </a:lnTo>
                    <a:lnTo>
                      <a:pt x="15407" y="149638"/>
                    </a:lnTo>
                    <a:lnTo>
                      <a:pt x="15232" y="149606"/>
                    </a:lnTo>
                    <a:lnTo>
                      <a:pt x="15057" y="149590"/>
                    </a:lnTo>
                    <a:lnTo>
                      <a:pt x="14780" y="149535"/>
                    </a:lnTo>
                    <a:lnTo>
                      <a:pt x="14510" y="149495"/>
                    </a:lnTo>
                    <a:lnTo>
                      <a:pt x="14383" y="149463"/>
                    </a:lnTo>
                    <a:lnTo>
                      <a:pt x="14192" y="149423"/>
                    </a:lnTo>
                    <a:lnTo>
                      <a:pt x="13803" y="149296"/>
                    </a:lnTo>
                    <a:lnTo>
                      <a:pt x="13613" y="149257"/>
                    </a:lnTo>
                    <a:lnTo>
                      <a:pt x="13525" y="149217"/>
                    </a:lnTo>
                    <a:lnTo>
                      <a:pt x="13351" y="149161"/>
                    </a:lnTo>
                    <a:lnTo>
                      <a:pt x="12994" y="149003"/>
                    </a:lnTo>
                    <a:lnTo>
                      <a:pt x="12756" y="148908"/>
                    </a:lnTo>
                    <a:lnTo>
                      <a:pt x="12668" y="148860"/>
                    </a:lnTo>
                    <a:lnTo>
                      <a:pt x="12557" y="148812"/>
                    </a:lnTo>
                    <a:lnTo>
                      <a:pt x="12311" y="148669"/>
                    </a:lnTo>
                    <a:lnTo>
                      <a:pt x="11954" y="148479"/>
                    </a:lnTo>
                    <a:lnTo>
                      <a:pt x="11827" y="148392"/>
                    </a:lnTo>
                    <a:lnTo>
                      <a:pt x="11533" y="148185"/>
                    </a:lnTo>
                    <a:lnTo>
                      <a:pt x="11216" y="147971"/>
                    </a:lnTo>
                    <a:lnTo>
                      <a:pt x="11200" y="147939"/>
                    </a:lnTo>
                    <a:lnTo>
                      <a:pt x="11097" y="147868"/>
                    </a:lnTo>
                    <a:lnTo>
                      <a:pt x="10755" y="147550"/>
                    </a:lnTo>
                    <a:lnTo>
                      <a:pt x="10557" y="147391"/>
                    </a:lnTo>
                    <a:lnTo>
                      <a:pt x="10509" y="147336"/>
                    </a:lnTo>
                    <a:lnTo>
                      <a:pt x="10065" y="146844"/>
                    </a:lnTo>
                    <a:lnTo>
                      <a:pt x="9962" y="146733"/>
                    </a:lnTo>
                    <a:lnTo>
                      <a:pt x="9874" y="146622"/>
                    </a:lnTo>
                    <a:lnTo>
                      <a:pt x="9565" y="146177"/>
                    </a:lnTo>
                    <a:lnTo>
                      <a:pt x="9454" y="146026"/>
                    </a:lnTo>
                    <a:lnTo>
                      <a:pt x="9414" y="145947"/>
                    </a:lnTo>
                    <a:lnTo>
                      <a:pt x="9081" y="145367"/>
                    </a:lnTo>
                    <a:lnTo>
                      <a:pt x="9025" y="145272"/>
                    </a:lnTo>
                    <a:lnTo>
                      <a:pt x="8993" y="145209"/>
                    </a:lnTo>
                    <a:lnTo>
                      <a:pt x="8938" y="145113"/>
                    </a:lnTo>
                    <a:lnTo>
                      <a:pt x="8826" y="144812"/>
                    </a:lnTo>
                    <a:lnTo>
                      <a:pt x="8668" y="144478"/>
                    </a:lnTo>
                    <a:lnTo>
                      <a:pt x="8636" y="144351"/>
                    </a:lnTo>
                    <a:lnTo>
                      <a:pt x="8604" y="144272"/>
                    </a:lnTo>
                    <a:lnTo>
                      <a:pt x="8469" y="143788"/>
                    </a:lnTo>
                    <a:lnTo>
                      <a:pt x="8414" y="143645"/>
                    </a:lnTo>
                    <a:lnTo>
                      <a:pt x="8398" y="143526"/>
                    </a:lnTo>
                    <a:lnTo>
                      <a:pt x="8358" y="143375"/>
                    </a:lnTo>
                    <a:lnTo>
                      <a:pt x="8319" y="143113"/>
                    </a:lnTo>
                    <a:lnTo>
                      <a:pt x="8255" y="142780"/>
                    </a:lnTo>
                    <a:lnTo>
                      <a:pt x="8239" y="142534"/>
                    </a:lnTo>
                    <a:lnTo>
                      <a:pt x="8215" y="142454"/>
                    </a:lnTo>
                    <a:lnTo>
                      <a:pt x="8215" y="142327"/>
                    </a:lnTo>
                    <a:lnTo>
                      <a:pt x="8184" y="141899"/>
                    </a:lnTo>
                    <a:lnTo>
                      <a:pt x="8192" y="141613"/>
                    </a:lnTo>
                    <a:lnTo>
                      <a:pt x="8199" y="141430"/>
                    </a:lnTo>
                    <a:lnTo>
                      <a:pt x="8215" y="141010"/>
                    </a:lnTo>
                    <a:lnTo>
                      <a:pt x="8247" y="140811"/>
                    </a:lnTo>
                    <a:lnTo>
                      <a:pt x="8247" y="140660"/>
                    </a:lnTo>
                    <a:lnTo>
                      <a:pt x="8311" y="140383"/>
                    </a:lnTo>
                    <a:lnTo>
                      <a:pt x="8350" y="140113"/>
                    </a:lnTo>
                    <a:lnTo>
                      <a:pt x="8390" y="139954"/>
                    </a:lnTo>
                    <a:lnTo>
                      <a:pt x="8422" y="139795"/>
                    </a:lnTo>
                    <a:lnTo>
                      <a:pt x="8565" y="139319"/>
                    </a:lnTo>
                    <a:lnTo>
                      <a:pt x="8588" y="139216"/>
                    </a:lnTo>
                    <a:lnTo>
                      <a:pt x="17717" y="111831"/>
                    </a:lnTo>
                    <a:lnTo>
                      <a:pt x="17542" y="111538"/>
                    </a:lnTo>
                    <a:cubicBezTo>
                      <a:pt x="0" y="81796"/>
                      <a:pt x="7945" y="44934"/>
                      <a:pt x="36695" y="23281"/>
                    </a:cubicBezTo>
                    <a:close/>
                  </a:path>
                </a:pathLst>
              </a:custGeom>
              <a:solidFill>
                <a:srgbClr val="2B583E"/>
              </a:solidFill>
              <a:ln>
                <a:noFill/>
              </a:ln>
            </p:spPr>
          </p:sp>
          <p:sp>
            <p:nvSpPr>
              <p:cNvPr id="42" name="TextBox 42"/>
              <p:cNvSpPr txBox="1"/>
              <p:nvPr/>
            </p:nvSpPr>
            <p:spPr>
              <a:xfrm>
                <a:off x="6436042" y="1971199"/>
                <a:ext cx="921877"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植响流式对话</a:t>
                </a:r>
              </a:p>
            </p:txBody>
          </p:sp>
          <p:sp>
            <p:nvSpPr>
              <p:cNvPr id="43" name="Freeform 43"/>
              <p:cNvSpPr/>
              <p:nvPr/>
            </p:nvSpPr>
            <p:spPr>
              <a:xfrm>
                <a:off x="7762875" y="1857375"/>
                <a:ext cx="1524000" cy="342900"/>
              </a:xfrm>
              <a:custGeom>
                <a:avLst/>
                <a:gdLst/>
                <a:ahLst/>
                <a:cxnLst/>
                <a:rect l="l" t="t" r="r" b="b"/>
                <a:pathLst>
                  <a:path w="1524000" h="342900">
                    <a:moveTo>
                      <a:pt x="57150" y="0"/>
                    </a:moveTo>
                    <a:lnTo>
                      <a:pt x="1466850" y="0"/>
                    </a:lnTo>
                    <a:cubicBezTo>
                      <a:pt x="1498413" y="0"/>
                      <a:pt x="1524000" y="25587"/>
                      <a:pt x="1524000" y="57150"/>
                    </a:cubicBezTo>
                    <a:lnTo>
                      <a:pt x="1524000" y="285750"/>
                    </a:lnTo>
                    <a:cubicBezTo>
                      <a:pt x="1524000" y="317313"/>
                      <a:pt x="1498413" y="342900"/>
                      <a:pt x="1466850" y="342900"/>
                    </a:cubicBezTo>
                    <a:lnTo>
                      <a:pt x="57150" y="342900"/>
                    </a:lnTo>
                    <a:cubicBezTo>
                      <a:pt x="25587" y="342900"/>
                      <a:pt x="0" y="317313"/>
                      <a:pt x="0" y="285750"/>
                    </a:cubicBezTo>
                    <a:lnTo>
                      <a:pt x="0" y="57150"/>
                    </a:lnTo>
                    <a:cubicBezTo>
                      <a:pt x="0" y="25587"/>
                      <a:pt x="25587" y="0"/>
                      <a:pt x="57150" y="0"/>
                    </a:cubicBezTo>
                    <a:close/>
                  </a:path>
                </a:pathLst>
              </a:custGeom>
              <a:solidFill>
                <a:srgbClr val="FFFFFF"/>
              </a:solidFill>
              <a:ln w="9525">
                <a:solidFill>
                  <a:srgbClr val="2B583E"/>
                </a:solidFill>
              </a:ln>
            </p:spPr>
          </p:sp>
          <p:sp>
            <p:nvSpPr>
              <p:cNvPr id="44" name="Freeform 44"/>
              <p:cNvSpPr/>
              <p:nvPr/>
            </p:nvSpPr>
            <p:spPr>
              <a:xfrm>
                <a:off x="7874000" y="1949450"/>
                <a:ext cx="158750" cy="158750"/>
              </a:xfrm>
              <a:custGeom>
                <a:avLst/>
                <a:gdLst/>
                <a:ahLst/>
                <a:cxnLst/>
                <a:rect l="l" t="t" r="r" b="b"/>
                <a:pathLst>
                  <a:path w="158750" h="158750">
                    <a:moveTo>
                      <a:pt x="54078" y="76295"/>
                    </a:moveTo>
                    <a:cubicBezTo>
                      <a:pt x="57706" y="73279"/>
                      <a:pt x="61365" y="73279"/>
                      <a:pt x="65080" y="76383"/>
                    </a:cubicBezTo>
                    <a:lnTo>
                      <a:pt x="65937" y="77160"/>
                    </a:lnTo>
                    <a:lnTo>
                      <a:pt x="105513" y="116737"/>
                    </a:lnTo>
                    <a:lnTo>
                      <a:pt x="106259" y="117396"/>
                    </a:lnTo>
                    <a:cubicBezTo>
                      <a:pt x="109419" y="119845"/>
                      <a:pt x="113908" y="119562"/>
                      <a:pt x="116735" y="116735"/>
                    </a:cubicBezTo>
                    <a:cubicBezTo>
                      <a:pt x="119562" y="113908"/>
                      <a:pt x="119845" y="109419"/>
                      <a:pt x="117396" y="106259"/>
                    </a:cubicBezTo>
                    <a:lnTo>
                      <a:pt x="116737" y="105513"/>
                    </a:lnTo>
                    <a:lnTo>
                      <a:pt x="106482" y="95250"/>
                    </a:lnTo>
                    <a:lnTo>
                      <a:pt x="108799" y="92924"/>
                    </a:lnTo>
                    <a:lnTo>
                      <a:pt x="109641" y="92170"/>
                    </a:lnTo>
                    <a:cubicBezTo>
                      <a:pt x="113268" y="89154"/>
                      <a:pt x="116927" y="89154"/>
                      <a:pt x="120642" y="92258"/>
                    </a:cubicBezTo>
                    <a:lnTo>
                      <a:pt x="121499" y="93035"/>
                    </a:lnTo>
                    <a:lnTo>
                      <a:pt x="158599" y="130143"/>
                    </a:lnTo>
                    <a:cubicBezTo>
                      <a:pt x="157046" y="145763"/>
                      <a:pt x="144312" y="157904"/>
                      <a:pt x="128635" y="158710"/>
                    </a:cubicBezTo>
                    <a:lnTo>
                      <a:pt x="127000" y="158750"/>
                    </a:lnTo>
                    <a:lnTo>
                      <a:pt x="31750" y="158750"/>
                    </a:lnTo>
                    <a:cubicBezTo>
                      <a:pt x="15436" y="158749"/>
                      <a:pt x="1778" y="146385"/>
                      <a:pt x="159" y="130151"/>
                    </a:cubicBezTo>
                    <a:lnTo>
                      <a:pt x="53237" y="77049"/>
                    </a:lnTo>
                    <a:lnTo>
                      <a:pt x="54078" y="76295"/>
                    </a:lnTo>
                    <a:close/>
                    <a:moveTo>
                      <a:pt x="127000" y="0"/>
                    </a:moveTo>
                    <a:cubicBezTo>
                      <a:pt x="143918" y="0"/>
                      <a:pt x="157864" y="13266"/>
                      <a:pt x="158710" y="30163"/>
                    </a:cubicBezTo>
                    <a:lnTo>
                      <a:pt x="158750" y="31750"/>
                    </a:lnTo>
                    <a:lnTo>
                      <a:pt x="158750" y="107831"/>
                    </a:lnTo>
                    <a:lnTo>
                      <a:pt x="132612" y="81701"/>
                    </a:lnTo>
                    <a:lnTo>
                      <a:pt x="131421" y="80613"/>
                    </a:lnTo>
                    <a:cubicBezTo>
                      <a:pt x="121452" y="71922"/>
                      <a:pt x="108799" y="71906"/>
                      <a:pt x="98909" y="80478"/>
                    </a:cubicBezTo>
                    <a:lnTo>
                      <a:pt x="97687" y="81590"/>
                    </a:lnTo>
                    <a:lnTo>
                      <a:pt x="95250" y="84018"/>
                    </a:lnTo>
                    <a:lnTo>
                      <a:pt x="77049" y="65826"/>
                    </a:lnTo>
                    <a:lnTo>
                      <a:pt x="75859" y="64738"/>
                    </a:lnTo>
                    <a:cubicBezTo>
                      <a:pt x="65889" y="56047"/>
                      <a:pt x="53237" y="56031"/>
                      <a:pt x="43347" y="64603"/>
                    </a:cubicBezTo>
                    <a:lnTo>
                      <a:pt x="42124" y="65715"/>
                    </a:lnTo>
                    <a:lnTo>
                      <a:pt x="0" y="107831"/>
                    </a:lnTo>
                    <a:lnTo>
                      <a:pt x="0" y="31750"/>
                    </a:lnTo>
                    <a:cubicBezTo>
                      <a:pt x="0" y="14832"/>
                      <a:pt x="13266" y="886"/>
                      <a:pt x="30163" y="40"/>
                    </a:cubicBezTo>
                    <a:lnTo>
                      <a:pt x="31750" y="0"/>
                    </a:lnTo>
                    <a:lnTo>
                      <a:pt x="127000" y="0"/>
                    </a:lnTo>
                    <a:close/>
                    <a:moveTo>
                      <a:pt x="103267" y="39688"/>
                    </a:moveTo>
                    <a:lnTo>
                      <a:pt x="102259" y="39743"/>
                    </a:lnTo>
                    <a:cubicBezTo>
                      <a:pt x="98266" y="40218"/>
                      <a:pt x="95259" y="43604"/>
                      <a:pt x="95259" y="47625"/>
                    </a:cubicBezTo>
                    <a:cubicBezTo>
                      <a:pt x="95259" y="51646"/>
                      <a:pt x="98266" y="55032"/>
                      <a:pt x="102259" y="55507"/>
                    </a:cubicBezTo>
                    <a:lnTo>
                      <a:pt x="103188" y="55563"/>
                    </a:lnTo>
                    <a:lnTo>
                      <a:pt x="104196" y="55507"/>
                    </a:lnTo>
                    <a:cubicBezTo>
                      <a:pt x="108189" y="55032"/>
                      <a:pt x="111196" y="51646"/>
                      <a:pt x="111196" y="47625"/>
                    </a:cubicBezTo>
                    <a:cubicBezTo>
                      <a:pt x="111196" y="43604"/>
                      <a:pt x="108189" y="40218"/>
                      <a:pt x="104196" y="39743"/>
                    </a:cubicBezTo>
                    <a:lnTo>
                      <a:pt x="103267" y="39688"/>
                    </a:lnTo>
                    <a:close/>
                  </a:path>
                </a:pathLst>
              </a:custGeom>
              <a:solidFill>
                <a:srgbClr val="2B583E"/>
              </a:solidFill>
              <a:ln>
                <a:noFill/>
              </a:ln>
            </p:spPr>
          </p:sp>
          <p:sp>
            <p:nvSpPr>
              <p:cNvPr id="45" name="TextBox 45"/>
              <p:cNvSpPr txBox="1"/>
              <p:nvPr/>
            </p:nvSpPr>
            <p:spPr>
              <a:xfrm>
                <a:off x="8102918" y="1971199"/>
                <a:ext cx="1228390"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Bento 日记与相册</a:t>
                </a:r>
              </a:p>
            </p:txBody>
          </p:sp>
          <p:sp>
            <p:nvSpPr>
              <p:cNvPr id="46" name="Freeform 46"/>
              <p:cNvSpPr/>
              <p:nvPr/>
            </p:nvSpPr>
            <p:spPr>
              <a:xfrm>
                <a:off x="9429750" y="1857375"/>
                <a:ext cx="1714500" cy="342900"/>
              </a:xfrm>
              <a:custGeom>
                <a:avLst/>
                <a:gdLst/>
                <a:ahLst/>
                <a:cxnLst/>
                <a:rect l="l" t="t" r="r" b="b"/>
                <a:pathLst>
                  <a:path w="1714500" h="342900">
                    <a:moveTo>
                      <a:pt x="57150" y="0"/>
                    </a:moveTo>
                    <a:lnTo>
                      <a:pt x="1657350" y="0"/>
                    </a:lnTo>
                    <a:cubicBezTo>
                      <a:pt x="1688913" y="0"/>
                      <a:pt x="1714500" y="25587"/>
                      <a:pt x="1714500" y="57150"/>
                    </a:cubicBezTo>
                    <a:lnTo>
                      <a:pt x="1714500" y="285750"/>
                    </a:lnTo>
                    <a:cubicBezTo>
                      <a:pt x="1714500" y="317313"/>
                      <a:pt x="1688913" y="342900"/>
                      <a:pt x="1657350" y="342900"/>
                    </a:cubicBezTo>
                    <a:lnTo>
                      <a:pt x="57150" y="342900"/>
                    </a:lnTo>
                    <a:cubicBezTo>
                      <a:pt x="25587" y="342900"/>
                      <a:pt x="0" y="317313"/>
                      <a:pt x="0" y="285750"/>
                    </a:cubicBezTo>
                    <a:lnTo>
                      <a:pt x="0" y="57150"/>
                    </a:lnTo>
                    <a:cubicBezTo>
                      <a:pt x="0" y="25587"/>
                      <a:pt x="25587" y="0"/>
                      <a:pt x="57150" y="0"/>
                    </a:cubicBezTo>
                    <a:close/>
                  </a:path>
                </a:pathLst>
              </a:custGeom>
              <a:solidFill>
                <a:srgbClr val="FFFFFF"/>
              </a:solidFill>
              <a:ln w="9525">
                <a:solidFill>
                  <a:srgbClr val="2B583E"/>
                </a:solidFill>
              </a:ln>
            </p:spPr>
          </p:sp>
          <p:sp>
            <p:nvSpPr>
              <p:cNvPr id="47" name="TextBox 47"/>
              <p:cNvSpPr txBox="1"/>
              <p:nvPr/>
            </p:nvSpPr>
            <p:spPr>
              <a:xfrm>
                <a:off x="9769792" y="1971199"/>
                <a:ext cx="1422765"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Tauri 统一配网/同步</a:t>
                </a:r>
              </a:p>
            </p:txBody>
          </p:sp>
        </p:grpSp>
        <p:sp>
          <p:nvSpPr>
            <p:cNvPr id="49" name="Freeform 49"/>
            <p:cNvSpPr/>
            <p:nvPr/>
          </p:nvSpPr>
          <p:spPr>
            <a:xfrm>
              <a:off x="5715000" y="2333625"/>
              <a:ext cx="9525" cy="381000"/>
            </a:xfrm>
            <a:custGeom>
              <a:avLst/>
              <a:gdLst/>
              <a:ahLst/>
              <a:cxnLst/>
              <a:rect l="l" t="t" r="r" b="b"/>
              <a:pathLst>
                <a:path w="9525" h="381000">
                  <a:moveTo>
                    <a:pt x="0" y="381000"/>
                  </a:moveTo>
                  <a:lnTo>
                    <a:pt x="0" y="0"/>
                  </a:lnTo>
                </a:path>
              </a:pathLst>
            </a:custGeom>
            <a:solidFill>
              <a:srgbClr val="000000"/>
            </a:solidFill>
            <a:ln w="19050">
              <a:solidFill>
                <a:srgbClr val="8E5B3C"/>
              </a:solidFill>
              <a:prstDash val="dash"/>
              <a:headEnd type="triangle" w="lg" len="lg"/>
            </a:ln>
          </p:spPr>
        </p:sp>
        <p:sp>
          <p:nvSpPr>
            <p:cNvPr id="50" name="TextBox 50"/>
            <p:cNvSpPr txBox="1"/>
            <p:nvPr/>
          </p:nvSpPr>
          <p:spPr>
            <a:xfrm>
              <a:off x="5817870" y="2474595"/>
              <a:ext cx="844063" cy="182880"/>
            </a:xfrm>
            <a:prstGeom prst="rect">
              <a:avLst/>
            </a:prstGeom>
            <a:noFill/>
            <a:ln>
              <a:noFill/>
            </a:ln>
          </p:spPr>
          <p:txBody>
            <a:bodyPr wrap="none" lIns="0" tIns="0" rIns="0" bIns="0" anchor="t" anchorCtr="0">
              <a:spAutoFit/>
            </a:bodyPr>
            <a:lstStyle/>
            <a:p>
              <a:pPr algn="l"/>
              <a:r>
                <a:rPr lang="zh-CN" sz="900" b="1" dirty="0">
                  <a:solidFill>
                    <a:srgbClr val="8E5B3C"/>
                  </a:solidFill>
                  <a:latin typeface="Plus Jakarta Sans"/>
                  <a:ea typeface="Microsoft YaHei"/>
                  <a:cs typeface="Plus Jakarta Sans"/>
                </a:rPr>
                <a:t>SSE 实时推流</a:t>
              </a:r>
            </a:p>
          </p:txBody>
        </p:sp>
        <p:sp>
          <p:nvSpPr>
            <p:cNvPr id="51" name="Freeform 51"/>
            <p:cNvSpPr/>
            <p:nvPr/>
          </p:nvSpPr>
          <p:spPr>
            <a:xfrm>
              <a:off x="9810750" y="2333625"/>
              <a:ext cx="9525" cy="381000"/>
            </a:xfrm>
            <a:custGeom>
              <a:avLst/>
              <a:gdLst/>
              <a:ahLst/>
              <a:cxnLst/>
              <a:rect l="l" t="t" r="r" b="b"/>
              <a:pathLst>
                <a:path w="9525" h="381000">
                  <a:moveTo>
                    <a:pt x="0" y="0"/>
                  </a:moveTo>
                  <a:lnTo>
                    <a:pt x="0" y="381000"/>
                  </a:lnTo>
                </a:path>
              </a:pathLst>
            </a:custGeom>
            <a:solidFill>
              <a:srgbClr val="000000"/>
            </a:solidFill>
            <a:ln w="19050">
              <a:solidFill>
                <a:srgbClr val="8E5B3C"/>
              </a:solidFill>
              <a:tailEnd type="triangle" w="lg" len="lg"/>
            </a:ln>
          </p:spPr>
        </p:sp>
        <p:sp>
          <p:nvSpPr>
            <p:cNvPr id="52" name="TextBox 52"/>
            <p:cNvSpPr txBox="1"/>
            <p:nvPr/>
          </p:nvSpPr>
          <p:spPr>
            <a:xfrm>
              <a:off x="9913620" y="2474595"/>
              <a:ext cx="1099395" cy="182880"/>
            </a:xfrm>
            <a:prstGeom prst="rect">
              <a:avLst/>
            </a:prstGeom>
            <a:noFill/>
            <a:ln>
              <a:noFill/>
            </a:ln>
          </p:spPr>
          <p:txBody>
            <a:bodyPr wrap="none" lIns="0" tIns="0" rIns="0" bIns="0" anchor="t" anchorCtr="0">
              <a:spAutoFit/>
            </a:bodyPr>
            <a:lstStyle/>
            <a:p>
              <a:pPr algn="l"/>
              <a:r>
                <a:rPr lang="zh-CN" sz="900" b="1" dirty="0">
                  <a:solidFill>
                    <a:srgbClr val="8E5B3C"/>
                  </a:solidFill>
                  <a:latin typeface="Plus Jakarta Sans"/>
                  <a:ea typeface="Microsoft YaHei"/>
                  <a:cs typeface="Plus Jakarta Sans"/>
                </a:rPr>
                <a:t>HTTP RESTful API</a:t>
              </a:r>
            </a:p>
          </p:txBody>
        </p:sp>
        <p:grpSp>
          <p:nvGrpSpPr>
            <p:cNvPr id="70" name="Group 70"/>
            <p:cNvGrpSpPr/>
            <p:nvPr/>
          </p:nvGrpSpPr>
          <p:grpSpPr>
            <a:xfrm>
              <a:off x="4238625" y="2809875"/>
              <a:ext cx="7096125" cy="1143000"/>
              <a:chOff x="4238625" y="2809875"/>
              <a:chExt cx="7096125" cy="1143000"/>
            </a:xfrm>
          </p:grpSpPr>
          <p:sp>
            <p:nvSpPr>
              <p:cNvPr id="53" name="Freeform 53"/>
              <p:cNvSpPr/>
              <p:nvPr/>
            </p:nvSpPr>
            <p:spPr>
              <a:xfrm>
                <a:off x="4238625" y="2809875"/>
                <a:ext cx="7096125" cy="1143000"/>
              </a:xfrm>
              <a:custGeom>
                <a:avLst/>
                <a:gdLst/>
                <a:ahLst/>
                <a:cxnLst/>
                <a:rect l="l" t="t" r="r" b="b"/>
                <a:pathLst>
                  <a:path w="7096125" h="1143000">
                    <a:moveTo>
                      <a:pt x="95250" y="0"/>
                    </a:moveTo>
                    <a:lnTo>
                      <a:pt x="7000875" y="0"/>
                    </a:lnTo>
                    <a:cubicBezTo>
                      <a:pt x="7053480" y="0"/>
                      <a:pt x="7096125" y="42645"/>
                      <a:pt x="7096125" y="95250"/>
                    </a:cubicBezTo>
                    <a:lnTo>
                      <a:pt x="7096125" y="1047750"/>
                    </a:lnTo>
                    <a:cubicBezTo>
                      <a:pt x="7096125" y="1100355"/>
                      <a:pt x="7053480" y="1143000"/>
                      <a:pt x="7000875" y="1143000"/>
                    </a:cubicBezTo>
                    <a:lnTo>
                      <a:pt x="95250" y="1143000"/>
                    </a:lnTo>
                    <a:cubicBezTo>
                      <a:pt x="42645" y="1143000"/>
                      <a:pt x="0" y="1100355"/>
                      <a:pt x="0" y="1047750"/>
                    </a:cubicBezTo>
                    <a:lnTo>
                      <a:pt x="0" y="95250"/>
                    </a:lnTo>
                    <a:cubicBezTo>
                      <a:pt x="0" y="42645"/>
                      <a:pt x="42645" y="0"/>
                      <a:pt x="95250" y="0"/>
                    </a:cubicBezTo>
                    <a:close/>
                  </a:path>
                </a:pathLst>
              </a:custGeom>
              <a:solidFill>
                <a:srgbClr val="F4F6F4"/>
              </a:solidFill>
              <a:ln w="9525">
                <a:solidFill>
                  <a:srgbClr val="D1DAD4"/>
                </a:solidFill>
              </a:ln>
            </p:spPr>
          </p:sp>
          <p:sp>
            <p:nvSpPr>
              <p:cNvPr id="54" name="Freeform 54"/>
              <p:cNvSpPr/>
              <p:nvPr/>
            </p:nvSpPr>
            <p:spPr>
              <a:xfrm>
                <a:off x="4429125" y="2924175"/>
                <a:ext cx="1571625" cy="247650"/>
              </a:xfrm>
              <a:custGeom>
                <a:avLst/>
                <a:gdLst/>
                <a:ahLst/>
                <a:cxnLst/>
                <a:rect l="l" t="t" r="r" b="b"/>
                <a:pathLst>
                  <a:path w="1571625" h="247650">
                    <a:moveTo>
                      <a:pt x="38100" y="0"/>
                    </a:moveTo>
                    <a:lnTo>
                      <a:pt x="1533525" y="0"/>
                    </a:lnTo>
                    <a:cubicBezTo>
                      <a:pt x="1554567" y="0"/>
                      <a:pt x="1571625" y="17058"/>
                      <a:pt x="1571625" y="38100"/>
                    </a:cubicBezTo>
                    <a:lnTo>
                      <a:pt x="1571625" y="209550"/>
                    </a:lnTo>
                    <a:cubicBezTo>
                      <a:pt x="1571625" y="230592"/>
                      <a:pt x="1554567" y="247650"/>
                      <a:pt x="1533525" y="247650"/>
                    </a:cubicBezTo>
                    <a:lnTo>
                      <a:pt x="38100" y="247650"/>
                    </a:lnTo>
                    <a:cubicBezTo>
                      <a:pt x="17058" y="247650"/>
                      <a:pt x="0" y="230592"/>
                      <a:pt x="0" y="209550"/>
                    </a:cubicBezTo>
                    <a:lnTo>
                      <a:pt x="0" y="38100"/>
                    </a:lnTo>
                    <a:cubicBezTo>
                      <a:pt x="0" y="17058"/>
                      <a:pt x="17058" y="0"/>
                      <a:pt x="38100" y="0"/>
                    </a:cubicBezTo>
                    <a:close/>
                  </a:path>
                </a:pathLst>
              </a:custGeom>
              <a:solidFill>
                <a:srgbClr val="8E5B3C"/>
              </a:solidFill>
              <a:ln>
                <a:noFill/>
              </a:ln>
            </p:spPr>
          </p:sp>
          <p:sp>
            <p:nvSpPr>
              <p:cNvPr id="55" name="TextBox 55"/>
              <p:cNvSpPr txBox="1"/>
              <p:nvPr/>
            </p:nvSpPr>
            <p:spPr>
              <a:xfrm>
                <a:off x="4531995" y="2988945"/>
                <a:ext cx="2286343"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Quicksand"/>
                    <a:ea typeface="Microsoft YaHei"/>
                    <a:cs typeface="Quicksand"/>
                  </a:rPr>
                  <a:t>服务端中枢 (TypeScript + Fastify)</a:t>
                </a:r>
              </a:p>
            </p:txBody>
          </p:sp>
          <p:sp>
            <p:nvSpPr>
              <p:cNvPr id="56" name="Freeform 56"/>
              <p:cNvSpPr/>
              <p:nvPr/>
            </p:nvSpPr>
            <p:spPr>
              <a:xfrm>
                <a:off x="4429125" y="3305175"/>
                <a:ext cx="2095500" cy="476250"/>
              </a:xfrm>
              <a:custGeom>
                <a:avLst/>
                <a:gdLst/>
                <a:ahLst/>
                <a:cxnLst/>
                <a:rect l="l" t="t" r="r" b="b"/>
                <a:pathLst>
                  <a:path w="2095500" h="476250">
                    <a:moveTo>
                      <a:pt x="57150" y="0"/>
                    </a:moveTo>
                    <a:lnTo>
                      <a:pt x="2038350" y="0"/>
                    </a:lnTo>
                    <a:cubicBezTo>
                      <a:pt x="2069913" y="0"/>
                      <a:pt x="2095500" y="25587"/>
                      <a:pt x="2095500" y="57150"/>
                    </a:cubicBezTo>
                    <a:lnTo>
                      <a:pt x="2095500" y="419100"/>
                    </a:lnTo>
                    <a:cubicBezTo>
                      <a:pt x="2095500" y="450663"/>
                      <a:pt x="2069913" y="476250"/>
                      <a:pt x="2038350" y="476250"/>
                    </a:cubicBezTo>
                    <a:lnTo>
                      <a:pt x="57150" y="476250"/>
                    </a:lnTo>
                    <a:cubicBezTo>
                      <a:pt x="25587" y="476250"/>
                      <a:pt x="0" y="450663"/>
                      <a:pt x="0" y="419100"/>
                    </a:cubicBezTo>
                    <a:lnTo>
                      <a:pt x="0" y="57150"/>
                    </a:lnTo>
                    <a:cubicBezTo>
                      <a:pt x="0" y="25587"/>
                      <a:pt x="25587" y="0"/>
                      <a:pt x="57150" y="0"/>
                    </a:cubicBezTo>
                    <a:close/>
                  </a:path>
                </a:pathLst>
              </a:custGeom>
              <a:solidFill>
                <a:srgbClr val="FFFFFF"/>
              </a:solidFill>
              <a:ln w="14288">
                <a:solidFill>
                  <a:srgbClr val="8E5B3C"/>
                </a:solidFill>
              </a:ln>
            </p:spPr>
          </p:sp>
          <p:grpSp>
            <p:nvGrpSpPr>
              <p:cNvPr id="60" name="Group 60"/>
              <p:cNvGrpSpPr/>
              <p:nvPr/>
            </p:nvGrpSpPr>
            <p:grpSpPr>
              <a:xfrm>
                <a:off x="4560093" y="3424238"/>
                <a:ext cx="214313" cy="238124"/>
                <a:chOff x="4560093" y="3424238"/>
                <a:chExt cx="214313" cy="238124"/>
              </a:xfrm>
            </p:grpSpPr>
            <p:sp>
              <p:nvSpPr>
                <p:cNvPr id="57" name="Freeform 57"/>
                <p:cNvSpPr/>
                <p:nvPr/>
              </p:nvSpPr>
              <p:spPr>
                <a:xfrm>
                  <a:off x="4560094" y="3587722"/>
                  <a:ext cx="214312" cy="74640"/>
                </a:xfrm>
                <a:custGeom>
                  <a:avLst/>
                  <a:gdLst/>
                  <a:ahLst/>
                  <a:cxnLst/>
                  <a:rect l="l" t="t" r="r" b="b"/>
                  <a:pathLst>
                    <a:path w="214312" h="74640">
                      <a:moveTo>
                        <a:pt x="0" y="0"/>
                      </a:moveTo>
                      <a:cubicBezTo>
                        <a:pt x="23431" y="17943"/>
                        <a:pt x="62317" y="27015"/>
                        <a:pt x="107156" y="27015"/>
                      </a:cubicBezTo>
                      <a:cubicBezTo>
                        <a:pt x="151924" y="27015"/>
                        <a:pt x="190798" y="17967"/>
                        <a:pt x="214312" y="202"/>
                      </a:cubicBezTo>
                      <a:lnTo>
                        <a:pt x="214312" y="27015"/>
                      </a:lnTo>
                      <a:cubicBezTo>
                        <a:pt x="214312" y="55888"/>
                        <a:pt x="167938" y="73878"/>
                        <a:pt x="110811" y="74616"/>
                      </a:cubicBezTo>
                      <a:lnTo>
                        <a:pt x="107156" y="74640"/>
                      </a:lnTo>
                      <a:cubicBezTo>
                        <a:pt x="48363" y="74640"/>
                        <a:pt x="0" y="56507"/>
                        <a:pt x="0" y="27015"/>
                      </a:cubicBezTo>
                      <a:close/>
                    </a:path>
                  </a:pathLst>
                </a:custGeom>
                <a:solidFill>
                  <a:srgbClr val="8E5B3C"/>
                </a:solidFill>
                <a:ln>
                  <a:noFill/>
                </a:ln>
              </p:spPr>
            </p:sp>
            <p:sp>
              <p:nvSpPr>
                <p:cNvPr id="58" name="Freeform 58"/>
                <p:cNvSpPr/>
                <p:nvPr/>
              </p:nvSpPr>
              <p:spPr>
                <a:xfrm>
                  <a:off x="4560094" y="3516285"/>
                  <a:ext cx="214312" cy="74640"/>
                </a:xfrm>
                <a:custGeom>
                  <a:avLst/>
                  <a:gdLst/>
                  <a:ahLst/>
                  <a:cxnLst/>
                  <a:rect l="l" t="t" r="r" b="b"/>
                  <a:pathLst>
                    <a:path w="214312" h="74640">
                      <a:moveTo>
                        <a:pt x="0" y="0"/>
                      </a:moveTo>
                      <a:cubicBezTo>
                        <a:pt x="23431" y="17943"/>
                        <a:pt x="62317" y="27015"/>
                        <a:pt x="107156" y="27015"/>
                      </a:cubicBezTo>
                      <a:cubicBezTo>
                        <a:pt x="151924" y="27015"/>
                        <a:pt x="190798" y="17967"/>
                        <a:pt x="214312" y="202"/>
                      </a:cubicBezTo>
                      <a:lnTo>
                        <a:pt x="214312" y="27015"/>
                      </a:lnTo>
                      <a:cubicBezTo>
                        <a:pt x="214312" y="56507"/>
                        <a:pt x="165949" y="74640"/>
                        <a:pt x="107156" y="74640"/>
                      </a:cubicBezTo>
                      <a:cubicBezTo>
                        <a:pt x="50030" y="74640"/>
                        <a:pt x="2738" y="57519"/>
                        <a:pt x="250" y="29456"/>
                      </a:cubicBezTo>
                      <a:lnTo>
                        <a:pt x="60" y="28254"/>
                      </a:lnTo>
                      <a:lnTo>
                        <a:pt x="0" y="27015"/>
                      </a:lnTo>
                      <a:close/>
                    </a:path>
                  </a:pathLst>
                </a:custGeom>
                <a:solidFill>
                  <a:srgbClr val="8E5B3C"/>
                </a:solidFill>
                <a:ln>
                  <a:noFill/>
                </a:ln>
              </p:spPr>
            </p:sp>
            <p:sp>
              <p:nvSpPr>
                <p:cNvPr id="59" name="Freeform 59"/>
                <p:cNvSpPr/>
                <p:nvPr/>
              </p:nvSpPr>
              <p:spPr>
                <a:xfrm>
                  <a:off x="4560093" y="3424238"/>
                  <a:ext cx="214313" cy="95250"/>
                </a:xfrm>
                <a:custGeom>
                  <a:avLst/>
                  <a:gdLst/>
                  <a:ahLst/>
                  <a:cxnLst/>
                  <a:rect l="l" t="t" r="r" b="b"/>
                  <a:pathLst>
                    <a:path w="214313" h="95250">
                      <a:moveTo>
                        <a:pt x="107157" y="0"/>
                      </a:moveTo>
                      <a:cubicBezTo>
                        <a:pt x="119552" y="0"/>
                        <a:pt x="131494" y="810"/>
                        <a:pt x="142602" y="2357"/>
                      </a:cubicBezTo>
                      <a:lnTo>
                        <a:pt x="148186" y="3203"/>
                      </a:lnTo>
                      <a:cubicBezTo>
                        <a:pt x="154854" y="4314"/>
                        <a:pt x="161148" y="5695"/>
                        <a:pt x="167069" y="7346"/>
                      </a:cubicBezTo>
                      <a:lnTo>
                        <a:pt x="172308" y="8906"/>
                      </a:lnTo>
                      <a:lnTo>
                        <a:pt x="173201" y="9192"/>
                      </a:lnTo>
                      <a:cubicBezTo>
                        <a:pt x="176441" y="10257"/>
                        <a:pt x="179639" y="11449"/>
                        <a:pt x="182786" y="12764"/>
                      </a:cubicBezTo>
                      <a:lnTo>
                        <a:pt x="185155" y="13787"/>
                      </a:lnTo>
                      <a:cubicBezTo>
                        <a:pt x="189402" y="15708"/>
                        <a:pt x="193239" y="17812"/>
                        <a:pt x="196668" y="20098"/>
                      </a:cubicBezTo>
                      <a:cubicBezTo>
                        <a:pt x="197978" y="20971"/>
                        <a:pt x="199220" y="21864"/>
                        <a:pt x="200395" y="22777"/>
                      </a:cubicBezTo>
                      <a:cubicBezTo>
                        <a:pt x="203371" y="25086"/>
                        <a:pt x="206047" y="27758"/>
                        <a:pt x="208360" y="30730"/>
                      </a:cubicBezTo>
                      <a:lnTo>
                        <a:pt x="209444" y="32254"/>
                      </a:lnTo>
                      <a:cubicBezTo>
                        <a:pt x="209999" y="33087"/>
                        <a:pt x="210511" y="33925"/>
                        <a:pt x="210980" y="34766"/>
                      </a:cubicBezTo>
                      <a:lnTo>
                        <a:pt x="211813" y="36421"/>
                      </a:lnTo>
                      <a:cubicBezTo>
                        <a:pt x="213107" y="39199"/>
                        <a:pt x="213901" y="42097"/>
                        <a:pt x="214194" y="45113"/>
                      </a:cubicBezTo>
                      <a:lnTo>
                        <a:pt x="214313" y="47625"/>
                      </a:lnTo>
                      <a:cubicBezTo>
                        <a:pt x="214313" y="77117"/>
                        <a:pt x="165950" y="95250"/>
                        <a:pt x="107157" y="95250"/>
                      </a:cubicBezTo>
                      <a:cubicBezTo>
                        <a:pt x="50031" y="95250"/>
                        <a:pt x="2739" y="78129"/>
                        <a:pt x="251" y="50066"/>
                      </a:cubicBezTo>
                      <a:cubicBezTo>
                        <a:pt x="84" y="49263"/>
                        <a:pt x="0" y="48445"/>
                        <a:pt x="1" y="47625"/>
                      </a:cubicBezTo>
                      <a:lnTo>
                        <a:pt x="60" y="46387"/>
                      </a:lnTo>
                      <a:lnTo>
                        <a:pt x="251" y="45196"/>
                      </a:lnTo>
                      <a:cubicBezTo>
                        <a:pt x="2692" y="17740"/>
                        <a:pt x="47995" y="750"/>
                        <a:pt x="103442" y="24"/>
                      </a:cubicBezTo>
                      <a:close/>
                    </a:path>
                  </a:pathLst>
                </a:custGeom>
                <a:solidFill>
                  <a:srgbClr val="8E5B3C"/>
                </a:solidFill>
                <a:ln>
                  <a:noFill/>
                </a:ln>
              </p:spPr>
            </p:sp>
          </p:grpSp>
          <p:sp>
            <p:nvSpPr>
              <p:cNvPr id="61" name="TextBox 61"/>
              <p:cNvSpPr txBox="1"/>
              <p:nvPr/>
            </p:nvSpPr>
            <p:spPr>
              <a:xfrm>
                <a:off x="4864418" y="3418999"/>
                <a:ext cx="1303150"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SQLite + WAL 存储</a:t>
                </a:r>
              </a:p>
            </p:txBody>
          </p:sp>
          <p:sp>
            <p:nvSpPr>
              <p:cNvPr id="62" name="TextBox 62"/>
              <p:cNvSpPr txBox="1"/>
              <p:nvPr/>
            </p:nvSpPr>
            <p:spPr>
              <a:xfrm>
                <a:off x="4867275" y="3614738"/>
                <a:ext cx="1174671" cy="152400"/>
              </a:xfrm>
              <a:prstGeom prst="rect">
                <a:avLst/>
              </a:prstGeom>
              <a:noFill/>
              <a:ln>
                <a:noFill/>
              </a:ln>
            </p:spPr>
            <p:txBody>
              <a:bodyPr wrap="none" lIns="0" tIns="0" rIns="0" bIns="0" anchor="t" anchorCtr="0">
                <a:spAutoFit/>
              </a:bodyPr>
              <a:lstStyle/>
              <a:p>
                <a:pPr algn="l"/>
                <a:r>
                  <a:rPr lang="zh-CN" sz="750" dirty="0">
                    <a:solidFill>
                      <a:srgbClr val="4D5F54"/>
                    </a:solidFill>
                    <a:latin typeface="Plus Jakarta Sans"/>
                    <a:ea typeface="Microsoft YaHei"/>
                    <a:cs typeface="Plus Jakarta Sans"/>
                  </a:rPr>
                  <a:t>认领关系/物联读数历史</a:t>
                </a:r>
              </a:p>
            </p:txBody>
          </p:sp>
          <p:sp>
            <p:nvSpPr>
              <p:cNvPr id="63" name="Freeform 63"/>
              <p:cNvSpPr/>
              <p:nvPr/>
            </p:nvSpPr>
            <p:spPr>
              <a:xfrm>
                <a:off x="6667500" y="3305175"/>
                <a:ext cx="2238375" cy="476250"/>
              </a:xfrm>
              <a:custGeom>
                <a:avLst/>
                <a:gdLst/>
                <a:ahLst/>
                <a:cxnLst/>
                <a:rect l="l" t="t" r="r" b="b"/>
                <a:pathLst>
                  <a:path w="2238375" h="476250">
                    <a:moveTo>
                      <a:pt x="57150" y="0"/>
                    </a:moveTo>
                    <a:lnTo>
                      <a:pt x="2181225" y="0"/>
                    </a:lnTo>
                    <a:cubicBezTo>
                      <a:pt x="2212788" y="0"/>
                      <a:pt x="2238375" y="25587"/>
                      <a:pt x="2238375" y="57150"/>
                    </a:cubicBezTo>
                    <a:lnTo>
                      <a:pt x="2238375" y="419100"/>
                    </a:lnTo>
                    <a:cubicBezTo>
                      <a:pt x="2238375" y="450663"/>
                      <a:pt x="2212788" y="476250"/>
                      <a:pt x="2181225" y="476250"/>
                    </a:cubicBezTo>
                    <a:lnTo>
                      <a:pt x="57150" y="476250"/>
                    </a:lnTo>
                    <a:cubicBezTo>
                      <a:pt x="25587" y="476250"/>
                      <a:pt x="0" y="450663"/>
                      <a:pt x="0" y="419100"/>
                    </a:cubicBezTo>
                    <a:lnTo>
                      <a:pt x="0" y="57150"/>
                    </a:lnTo>
                    <a:cubicBezTo>
                      <a:pt x="0" y="25587"/>
                      <a:pt x="25587" y="0"/>
                      <a:pt x="57150" y="0"/>
                    </a:cubicBezTo>
                    <a:close/>
                  </a:path>
                </a:pathLst>
              </a:custGeom>
              <a:solidFill>
                <a:srgbClr val="FFFFFF"/>
              </a:solidFill>
              <a:ln w="14288">
                <a:solidFill>
                  <a:srgbClr val="8E5B3C"/>
                </a:solidFill>
              </a:ln>
            </p:spPr>
          </p:sp>
          <p:sp>
            <p:nvSpPr>
              <p:cNvPr id="64" name="TextBox 64"/>
              <p:cNvSpPr txBox="1"/>
              <p:nvPr/>
            </p:nvSpPr>
            <p:spPr>
              <a:xfrm>
                <a:off x="7112318" y="3418999"/>
                <a:ext cx="1415289"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sqlite-vec 记忆引擎</a:t>
                </a:r>
              </a:p>
            </p:txBody>
          </p:sp>
          <p:sp>
            <p:nvSpPr>
              <p:cNvPr id="65" name="TextBox 65"/>
              <p:cNvSpPr txBox="1"/>
              <p:nvPr/>
            </p:nvSpPr>
            <p:spPr>
              <a:xfrm>
                <a:off x="7115175" y="3614738"/>
                <a:ext cx="1410176" cy="152400"/>
              </a:xfrm>
              <a:prstGeom prst="rect">
                <a:avLst/>
              </a:prstGeom>
              <a:noFill/>
              <a:ln>
                <a:noFill/>
              </a:ln>
            </p:spPr>
            <p:txBody>
              <a:bodyPr wrap="none" lIns="0" tIns="0" rIns="0" bIns="0" anchor="t" anchorCtr="0">
                <a:spAutoFit/>
              </a:bodyPr>
              <a:lstStyle/>
              <a:p>
                <a:pPr algn="l"/>
                <a:r>
                  <a:rPr lang="zh-CN" sz="750" dirty="0">
                    <a:solidFill>
                      <a:srgbClr val="4D5F54"/>
                    </a:solidFill>
                    <a:latin typeface="Plus Jakarta Sans"/>
                    <a:ea typeface="Microsoft YaHei"/>
                    <a:cs typeface="Plus Jakarta Sans"/>
                  </a:rPr>
                  <a:t>长期记忆 RAG &amp; Rerank 混合</a:t>
                </a:r>
              </a:p>
            </p:txBody>
          </p:sp>
          <p:sp>
            <p:nvSpPr>
              <p:cNvPr id="66" name="Freeform 66"/>
              <p:cNvSpPr/>
              <p:nvPr/>
            </p:nvSpPr>
            <p:spPr>
              <a:xfrm>
                <a:off x="9048750" y="3305175"/>
                <a:ext cx="2095500" cy="476250"/>
              </a:xfrm>
              <a:custGeom>
                <a:avLst/>
                <a:gdLst/>
                <a:ahLst/>
                <a:cxnLst/>
                <a:rect l="l" t="t" r="r" b="b"/>
                <a:pathLst>
                  <a:path w="2095500" h="476250">
                    <a:moveTo>
                      <a:pt x="57150" y="0"/>
                    </a:moveTo>
                    <a:lnTo>
                      <a:pt x="2038350" y="0"/>
                    </a:lnTo>
                    <a:cubicBezTo>
                      <a:pt x="2069913" y="0"/>
                      <a:pt x="2095500" y="25587"/>
                      <a:pt x="2095500" y="57150"/>
                    </a:cubicBezTo>
                    <a:lnTo>
                      <a:pt x="2095500" y="419100"/>
                    </a:lnTo>
                    <a:cubicBezTo>
                      <a:pt x="2095500" y="450663"/>
                      <a:pt x="2069913" y="476250"/>
                      <a:pt x="2038350" y="476250"/>
                    </a:cubicBezTo>
                    <a:lnTo>
                      <a:pt x="57150" y="476250"/>
                    </a:lnTo>
                    <a:cubicBezTo>
                      <a:pt x="25587" y="476250"/>
                      <a:pt x="0" y="450663"/>
                      <a:pt x="0" y="419100"/>
                    </a:cubicBezTo>
                    <a:lnTo>
                      <a:pt x="0" y="57150"/>
                    </a:lnTo>
                    <a:cubicBezTo>
                      <a:pt x="0" y="25587"/>
                      <a:pt x="25587" y="0"/>
                      <a:pt x="57150" y="0"/>
                    </a:cubicBezTo>
                    <a:close/>
                  </a:path>
                </a:pathLst>
              </a:custGeom>
              <a:solidFill>
                <a:srgbClr val="FFFFFF"/>
              </a:solidFill>
              <a:ln w="14288">
                <a:solidFill>
                  <a:srgbClr val="8E5B3C"/>
                </a:solidFill>
              </a:ln>
            </p:spPr>
          </p:sp>
          <p:sp>
            <p:nvSpPr>
              <p:cNvPr id="67" name="Freeform 67"/>
              <p:cNvSpPr/>
              <p:nvPr/>
            </p:nvSpPr>
            <p:spPr>
              <a:xfrm>
                <a:off x="9155537" y="3425964"/>
                <a:ext cx="263045" cy="235518"/>
              </a:xfrm>
              <a:custGeom>
                <a:avLst/>
                <a:gdLst/>
                <a:ahLst/>
                <a:cxnLst/>
                <a:rect l="l" t="t" r="r" b="b"/>
                <a:pathLst>
                  <a:path w="263045" h="235518">
                    <a:moveTo>
                      <a:pt x="57769" y="32921"/>
                    </a:moveTo>
                    <a:cubicBezTo>
                      <a:pt x="104192" y="0"/>
                      <a:pt x="170498" y="2691"/>
                      <a:pt x="213420" y="39291"/>
                    </a:cubicBezTo>
                    <a:cubicBezTo>
                      <a:pt x="257080" y="76545"/>
                      <a:pt x="263045" y="137374"/>
                      <a:pt x="227136" y="180951"/>
                    </a:cubicBezTo>
                    <a:cubicBezTo>
                      <a:pt x="193310" y="221992"/>
                      <a:pt x="132302" y="235518"/>
                      <a:pt x="81510" y="214348"/>
                    </a:cubicBezTo>
                    <a:lnTo>
                      <a:pt x="78736" y="213146"/>
                    </a:lnTo>
                    <a:lnTo>
                      <a:pt x="26658" y="224230"/>
                    </a:lnTo>
                    <a:lnTo>
                      <a:pt x="26182" y="224302"/>
                    </a:lnTo>
                    <a:lnTo>
                      <a:pt x="25765" y="224385"/>
                    </a:lnTo>
                    <a:lnTo>
                      <a:pt x="25551" y="224385"/>
                    </a:lnTo>
                    <a:lnTo>
                      <a:pt x="25289" y="224445"/>
                    </a:lnTo>
                    <a:lnTo>
                      <a:pt x="24836" y="224445"/>
                    </a:lnTo>
                    <a:lnTo>
                      <a:pt x="24444" y="224492"/>
                    </a:lnTo>
                    <a:lnTo>
                      <a:pt x="24194" y="224480"/>
                    </a:lnTo>
                    <a:lnTo>
                      <a:pt x="23920" y="224492"/>
                    </a:lnTo>
                    <a:lnTo>
                      <a:pt x="23527" y="224457"/>
                    </a:lnTo>
                    <a:lnTo>
                      <a:pt x="23110" y="224457"/>
                    </a:lnTo>
                    <a:lnTo>
                      <a:pt x="22848" y="224409"/>
                    </a:lnTo>
                    <a:lnTo>
                      <a:pt x="22586" y="224385"/>
                    </a:lnTo>
                    <a:lnTo>
                      <a:pt x="22169" y="224302"/>
                    </a:lnTo>
                    <a:lnTo>
                      <a:pt x="21765" y="224242"/>
                    </a:lnTo>
                    <a:lnTo>
                      <a:pt x="21574" y="224195"/>
                    </a:lnTo>
                    <a:lnTo>
                      <a:pt x="21288" y="224135"/>
                    </a:lnTo>
                    <a:lnTo>
                      <a:pt x="20705" y="223945"/>
                    </a:lnTo>
                    <a:lnTo>
                      <a:pt x="20419" y="223885"/>
                    </a:lnTo>
                    <a:lnTo>
                      <a:pt x="20288" y="223826"/>
                    </a:lnTo>
                    <a:lnTo>
                      <a:pt x="20026" y="223742"/>
                    </a:lnTo>
                    <a:lnTo>
                      <a:pt x="19491" y="223504"/>
                    </a:lnTo>
                    <a:lnTo>
                      <a:pt x="19133" y="223361"/>
                    </a:lnTo>
                    <a:lnTo>
                      <a:pt x="19002" y="223290"/>
                    </a:lnTo>
                    <a:lnTo>
                      <a:pt x="18836" y="223218"/>
                    </a:lnTo>
                    <a:lnTo>
                      <a:pt x="18467" y="223004"/>
                    </a:lnTo>
                    <a:lnTo>
                      <a:pt x="17931" y="222718"/>
                    </a:lnTo>
                    <a:lnTo>
                      <a:pt x="17740" y="222587"/>
                    </a:lnTo>
                    <a:lnTo>
                      <a:pt x="17300" y="222278"/>
                    </a:lnTo>
                    <a:lnTo>
                      <a:pt x="16824" y="221956"/>
                    </a:lnTo>
                    <a:lnTo>
                      <a:pt x="16800" y="221909"/>
                    </a:lnTo>
                    <a:lnTo>
                      <a:pt x="16645" y="221802"/>
                    </a:lnTo>
                    <a:lnTo>
                      <a:pt x="16133" y="221325"/>
                    </a:lnTo>
                    <a:lnTo>
                      <a:pt x="15835" y="221087"/>
                    </a:lnTo>
                    <a:lnTo>
                      <a:pt x="15764" y="221004"/>
                    </a:lnTo>
                    <a:lnTo>
                      <a:pt x="15097" y="220266"/>
                    </a:lnTo>
                    <a:lnTo>
                      <a:pt x="14942" y="220099"/>
                    </a:lnTo>
                    <a:lnTo>
                      <a:pt x="14811" y="219932"/>
                    </a:lnTo>
                    <a:lnTo>
                      <a:pt x="14347" y="219266"/>
                    </a:lnTo>
                    <a:lnTo>
                      <a:pt x="14180" y="219039"/>
                    </a:lnTo>
                    <a:lnTo>
                      <a:pt x="14121" y="218920"/>
                    </a:lnTo>
                    <a:lnTo>
                      <a:pt x="13621" y="218051"/>
                    </a:lnTo>
                    <a:lnTo>
                      <a:pt x="13537" y="217908"/>
                    </a:lnTo>
                    <a:lnTo>
                      <a:pt x="13490" y="217813"/>
                    </a:lnTo>
                    <a:lnTo>
                      <a:pt x="13406" y="217670"/>
                    </a:lnTo>
                    <a:lnTo>
                      <a:pt x="13240" y="217218"/>
                    </a:lnTo>
                    <a:lnTo>
                      <a:pt x="13002" y="216718"/>
                    </a:lnTo>
                    <a:lnTo>
                      <a:pt x="12954" y="216527"/>
                    </a:lnTo>
                    <a:lnTo>
                      <a:pt x="12906" y="216408"/>
                    </a:lnTo>
                    <a:lnTo>
                      <a:pt x="12704" y="215682"/>
                    </a:lnTo>
                    <a:lnTo>
                      <a:pt x="12621" y="215467"/>
                    </a:lnTo>
                    <a:lnTo>
                      <a:pt x="12597" y="215289"/>
                    </a:lnTo>
                    <a:lnTo>
                      <a:pt x="12537" y="215063"/>
                    </a:lnTo>
                    <a:lnTo>
                      <a:pt x="12478" y="214670"/>
                    </a:lnTo>
                    <a:lnTo>
                      <a:pt x="12383" y="214170"/>
                    </a:lnTo>
                    <a:lnTo>
                      <a:pt x="12359" y="213801"/>
                    </a:lnTo>
                    <a:lnTo>
                      <a:pt x="12323" y="213681"/>
                    </a:lnTo>
                    <a:lnTo>
                      <a:pt x="12323" y="213491"/>
                    </a:lnTo>
                    <a:lnTo>
                      <a:pt x="12275" y="212848"/>
                    </a:lnTo>
                    <a:lnTo>
                      <a:pt x="12287" y="212419"/>
                    </a:lnTo>
                    <a:lnTo>
                      <a:pt x="12299" y="212146"/>
                    </a:lnTo>
                    <a:lnTo>
                      <a:pt x="12323" y="211515"/>
                    </a:lnTo>
                    <a:lnTo>
                      <a:pt x="12371" y="211217"/>
                    </a:lnTo>
                    <a:lnTo>
                      <a:pt x="12371" y="210991"/>
                    </a:lnTo>
                    <a:lnTo>
                      <a:pt x="12466" y="210574"/>
                    </a:lnTo>
                    <a:lnTo>
                      <a:pt x="12525" y="210169"/>
                    </a:lnTo>
                    <a:lnTo>
                      <a:pt x="12585" y="209931"/>
                    </a:lnTo>
                    <a:lnTo>
                      <a:pt x="12633" y="209693"/>
                    </a:lnTo>
                    <a:lnTo>
                      <a:pt x="12847" y="208979"/>
                    </a:lnTo>
                    <a:lnTo>
                      <a:pt x="12883" y="208824"/>
                    </a:lnTo>
                    <a:lnTo>
                      <a:pt x="26575" y="167747"/>
                    </a:lnTo>
                    <a:lnTo>
                      <a:pt x="26313" y="167307"/>
                    </a:lnTo>
                    <a:cubicBezTo>
                      <a:pt x="0" y="122694"/>
                      <a:pt x="11918" y="67401"/>
                      <a:pt x="55043" y="34921"/>
                    </a:cubicBezTo>
                    <a:close/>
                  </a:path>
                </a:pathLst>
              </a:custGeom>
              <a:solidFill>
                <a:srgbClr val="8E5B3C"/>
              </a:solidFill>
              <a:ln>
                <a:noFill/>
              </a:ln>
            </p:spPr>
          </p:sp>
          <p:sp>
            <p:nvSpPr>
              <p:cNvPr id="68" name="TextBox 68"/>
              <p:cNvSpPr txBox="1"/>
              <p:nvPr/>
            </p:nvSpPr>
            <p:spPr>
              <a:xfrm>
                <a:off x="9493568" y="3418999"/>
                <a:ext cx="1445193"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LLM 主动发言 Engine</a:t>
                </a:r>
              </a:p>
            </p:txBody>
          </p:sp>
          <p:sp>
            <p:nvSpPr>
              <p:cNvPr id="69" name="TextBox 69"/>
              <p:cNvSpPr txBox="1"/>
              <p:nvPr/>
            </p:nvSpPr>
            <p:spPr>
              <a:xfrm>
                <a:off x="9496425" y="3614738"/>
                <a:ext cx="1223962" cy="152400"/>
              </a:xfrm>
              <a:prstGeom prst="rect">
                <a:avLst/>
              </a:prstGeom>
              <a:noFill/>
              <a:ln>
                <a:noFill/>
              </a:ln>
            </p:spPr>
            <p:txBody>
              <a:bodyPr wrap="none" lIns="0" tIns="0" rIns="0" bIns="0" anchor="t" anchorCtr="0">
                <a:spAutoFit/>
              </a:bodyPr>
              <a:lstStyle/>
              <a:p>
                <a:pPr algn="l"/>
                <a:r>
                  <a:rPr lang="zh-CN" sz="750" dirty="0">
                    <a:solidFill>
                      <a:srgbClr val="4D5F54"/>
                    </a:solidFill>
                    <a:latin typeface="Plus Jakarta Sans"/>
                    <a:ea typeface="Microsoft YaHei"/>
                    <a:cs typeface="Plus Jakarta Sans"/>
                  </a:rPr>
                  <a:t>事件冷却与人设情感润色</a:t>
                </a:r>
              </a:p>
            </p:txBody>
          </p:sp>
        </p:grpSp>
        <p:sp>
          <p:nvSpPr>
            <p:cNvPr id="71" name="Freeform 71"/>
            <p:cNvSpPr/>
            <p:nvPr/>
          </p:nvSpPr>
          <p:spPr>
            <a:xfrm>
              <a:off x="6096000" y="3952875"/>
              <a:ext cx="9525" cy="476250"/>
            </a:xfrm>
            <a:custGeom>
              <a:avLst/>
              <a:gdLst/>
              <a:ahLst/>
              <a:cxnLst/>
              <a:rect l="l" t="t" r="r" b="b"/>
              <a:pathLst>
                <a:path w="9525" h="476250">
                  <a:moveTo>
                    <a:pt x="0" y="476250"/>
                  </a:moveTo>
                  <a:lnTo>
                    <a:pt x="0" y="0"/>
                  </a:lnTo>
                </a:path>
              </a:pathLst>
            </a:custGeom>
            <a:solidFill>
              <a:srgbClr val="000000"/>
            </a:solidFill>
            <a:ln w="19050">
              <a:solidFill>
                <a:srgbClr val="2B583E"/>
              </a:solidFill>
              <a:headEnd type="triangle" w="lg" len="lg"/>
            </a:ln>
          </p:spPr>
        </p:sp>
        <p:sp>
          <p:nvSpPr>
            <p:cNvPr id="72" name="TextBox 72"/>
            <p:cNvSpPr txBox="1"/>
            <p:nvPr/>
          </p:nvSpPr>
          <p:spPr>
            <a:xfrm>
              <a:off x="6198870" y="4141470"/>
              <a:ext cx="1451339"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MQTT readings 秒级推</a:t>
              </a:r>
            </a:p>
          </p:txBody>
        </p:sp>
        <p:sp>
          <p:nvSpPr>
            <p:cNvPr id="73" name="Freeform 73"/>
            <p:cNvSpPr/>
            <p:nvPr/>
          </p:nvSpPr>
          <p:spPr>
            <a:xfrm>
              <a:off x="9334500" y="3952875"/>
              <a:ext cx="9525" cy="476250"/>
            </a:xfrm>
            <a:custGeom>
              <a:avLst/>
              <a:gdLst/>
              <a:ahLst/>
              <a:cxnLst/>
              <a:rect l="l" t="t" r="r" b="b"/>
              <a:pathLst>
                <a:path w="9525" h="476250">
                  <a:moveTo>
                    <a:pt x="0" y="0"/>
                  </a:moveTo>
                  <a:lnTo>
                    <a:pt x="0" y="476250"/>
                  </a:lnTo>
                </a:path>
              </a:pathLst>
            </a:custGeom>
            <a:solidFill>
              <a:srgbClr val="000000"/>
            </a:solidFill>
            <a:ln w="19050">
              <a:solidFill>
                <a:srgbClr val="2B583E"/>
              </a:solidFill>
              <a:tailEnd type="triangle" w="lg" len="lg"/>
            </a:ln>
          </p:spPr>
        </p:sp>
        <p:sp>
          <p:nvSpPr>
            <p:cNvPr id="74" name="TextBox 74"/>
            <p:cNvSpPr txBox="1"/>
            <p:nvPr/>
          </p:nvSpPr>
          <p:spPr>
            <a:xfrm>
              <a:off x="9437370" y="4141470"/>
              <a:ext cx="1713571"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MQTT config 密钥持久下发</a:t>
              </a:r>
            </a:p>
          </p:txBody>
        </p:sp>
        <p:grpSp>
          <p:nvGrpSpPr>
            <p:cNvPr id="85" name="Group 85"/>
            <p:cNvGrpSpPr/>
            <p:nvPr/>
          </p:nvGrpSpPr>
          <p:grpSpPr>
            <a:xfrm>
              <a:off x="4238625" y="4524375"/>
              <a:ext cx="7267565" cy="857250"/>
              <a:chOff x="4238625" y="4524375"/>
              <a:chExt cx="7267565" cy="857250"/>
            </a:xfrm>
          </p:grpSpPr>
          <p:sp>
            <p:nvSpPr>
              <p:cNvPr id="75" name="Freeform 75"/>
              <p:cNvSpPr/>
              <p:nvPr/>
            </p:nvSpPr>
            <p:spPr>
              <a:xfrm>
                <a:off x="4238625" y="4524375"/>
                <a:ext cx="7096125" cy="857250"/>
              </a:xfrm>
              <a:custGeom>
                <a:avLst/>
                <a:gdLst/>
                <a:ahLst/>
                <a:cxnLst/>
                <a:rect l="l" t="t" r="r" b="b"/>
                <a:pathLst>
                  <a:path w="7096125" h="857250">
                    <a:moveTo>
                      <a:pt x="95250" y="0"/>
                    </a:moveTo>
                    <a:lnTo>
                      <a:pt x="7000875" y="0"/>
                    </a:lnTo>
                    <a:cubicBezTo>
                      <a:pt x="7053480" y="0"/>
                      <a:pt x="7096125" y="42645"/>
                      <a:pt x="7096125" y="95250"/>
                    </a:cubicBezTo>
                    <a:lnTo>
                      <a:pt x="7096125" y="762000"/>
                    </a:lnTo>
                    <a:cubicBezTo>
                      <a:pt x="7096125" y="814605"/>
                      <a:pt x="7053480" y="857250"/>
                      <a:pt x="7000875" y="857250"/>
                    </a:cubicBezTo>
                    <a:lnTo>
                      <a:pt x="95250" y="857250"/>
                    </a:lnTo>
                    <a:cubicBezTo>
                      <a:pt x="42645" y="857250"/>
                      <a:pt x="0" y="814605"/>
                      <a:pt x="0" y="762000"/>
                    </a:cubicBezTo>
                    <a:lnTo>
                      <a:pt x="0" y="95250"/>
                    </a:lnTo>
                    <a:cubicBezTo>
                      <a:pt x="0" y="42645"/>
                      <a:pt x="42645" y="0"/>
                      <a:pt x="95250" y="0"/>
                    </a:cubicBezTo>
                    <a:close/>
                  </a:path>
                </a:pathLst>
              </a:custGeom>
              <a:solidFill>
                <a:srgbClr val="F4F6F4"/>
              </a:solidFill>
              <a:ln w="9525">
                <a:solidFill>
                  <a:srgbClr val="D1DAD4"/>
                </a:solidFill>
              </a:ln>
            </p:spPr>
          </p:sp>
          <p:sp>
            <p:nvSpPr>
              <p:cNvPr id="76" name="Freeform 76"/>
              <p:cNvSpPr/>
              <p:nvPr/>
            </p:nvSpPr>
            <p:spPr>
              <a:xfrm>
                <a:off x="4429125" y="4638675"/>
                <a:ext cx="1238250" cy="247650"/>
              </a:xfrm>
              <a:custGeom>
                <a:avLst/>
                <a:gdLst/>
                <a:ahLst/>
                <a:cxnLst/>
                <a:rect l="l" t="t" r="r" b="b"/>
                <a:pathLst>
                  <a:path w="1238250" h="247650">
                    <a:moveTo>
                      <a:pt x="38100" y="0"/>
                    </a:moveTo>
                    <a:lnTo>
                      <a:pt x="1200150" y="0"/>
                    </a:lnTo>
                    <a:cubicBezTo>
                      <a:pt x="1221192" y="0"/>
                      <a:pt x="1238250" y="17058"/>
                      <a:pt x="1238250" y="38100"/>
                    </a:cubicBezTo>
                    <a:lnTo>
                      <a:pt x="1238250" y="209550"/>
                    </a:lnTo>
                    <a:cubicBezTo>
                      <a:pt x="1238250" y="230592"/>
                      <a:pt x="1221192" y="247650"/>
                      <a:pt x="1200150" y="247650"/>
                    </a:cubicBezTo>
                    <a:lnTo>
                      <a:pt x="38100" y="247650"/>
                    </a:lnTo>
                    <a:cubicBezTo>
                      <a:pt x="17058" y="247650"/>
                      <a:pt x="0" y="230592"/>
                      <a:pt x="0" y="209550"/>
                    </a:cubicBezTo>
                    <a:lnTo>
                      <a:pt x="0" y="38100"/>
                    </a:lnTo>
                    <a:cubicBezTo>
                      <a:pt x="0" y="17058"/>
                      <a:pt x="17058" y="0"/>
                      <a:pt x="38100" y="0"/>
                    </a:cubicBezTo>
                    <a:close/>
                  </a:path>
                </a:pathLst>
              </a:custGeom>
              <a:solidFill>
                <a:srgbClr val="2B583E"/>
              </a:solidFill>
              <a:ln>
                <a:noFill/>
              </a:ln>
            </p:spPr>
          </p:sp>
          <p:sp>
            <p:nvSpPr>
              <p:cNvPr id="77" name="TextBox 77"/>
              <p:cNvSpPr txBox="1"/>
              <p:nvPr/>
            </p:nvSpPr>
            <p:spPr>
              <a:xfrm>
                <a:off x="4531995" y="4703445"/>
                <a:ext cx="1423735"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Quicksand"/>
                    <a:ea typeface="Microsoft YaHei"/>
                    <a:cs typeface="Quicksand"/>
                  </a:rPr>
                  <a:t>硬件底层固件 (ESP32)</a:t>
                </a:r>
              </a:p>
            </p:txBody>
          </p:sp>
          <p:sp>
            <p:nvSpPr>
              <p:cNvPr id="78" name="Freeform 78"/>
              <p:cNvSpPr/>
              <p:nvPr/>
            </p:nvSpPr>
            <p:spPr>
              <a:xfrm>
                <a:off x="4429125" y="4972050"/>
                <a:ext cx="2095500" cy="304800"/>
              </a:xfrm>
              <a:custGeom>
                <a:avLst/>
                <a:gdLst/>
                <a:ahLst/>
                <a:cxnLst/>
                <a:rect l="l" t="t" r="r" b="b"/>
                <a:pathLst>
                  <a:path w="2095500" h="304800">
                    <a:moveTo>
                      <a:pt x="38100" y="0"/>
                    </a:moveTo>
                    <a:lnTo>
                      <a:pt x="2057400" y="0"/>
                    </a:lnTo>
                    <a:cubicBezTo>
                      <a:pt x="2078442" y="0"/>
                      <a:pt x="2095500" y="17058"/>
                      <a:pt x="2095500" y="38100"/>
                    </a:cubicBezTo>
                    <a:lnTo>
                      <a:pt x="2095500" y="266700"/>
                    </a:lnTo>
                    <a:cubicBezTo>
                      <a:pt x="2095500" y="287742"/>
                      <a:pt x="2078442" y="304800"/>
                      <a:pt x="2057400" y="304800"/>
                    </a:cubicBezTo>
                    <a:lnTo>
                      <a:pt x="38100" y="304800"/>
                    </a:lnTo>
                    <a:cubicBezTo>
                      <a:pt x="17058" y="304800"/>
                      <a:pt x="0" y="287742"/>
                      <a:pt x="0" y="266700"/>
                    </a:cubicBezTo>
                    <a:lnTo>
                      <a:pt x="0" y="38100"/>
                    </a:lnTo>
                    <a:cubicBezTo>
                      <a:pt x="0" y="17058"/>
                      <a:pt x="17058" y="0"/>
                      <a:pt x="38100" y="0"/>
                    </a:cubicBezTo>
                    <a:close/>
                  </a:path>
                </a:pathLst>
              </a:custGeom>
              <a:solidFill>
                <a:srgbClr val="FFFFFF"/>
              </a:solidFill>
              <a:ln w="9525">
                <a:solidFill>
                  <a:srgbClr val="2B583E"/>
                </a:solidFill>
              </a:ln>
            </p:spPr>
          </p:sp>
          <p:sp>
            <p:nvSpPr>
              <p:cNvPr id="79" name="TextBox 79"/>
              <p:cNvSpPr txBox="1"/>
              <p:nvPr/>
            </p:nvSpPr>
            <p:spPr>
              <a:xfrm>
                <a:off x="4770120" y="5074920"/>
                <a:ext cx="2327748" cy="182880"/>
              </a:xfrm>
              <a:prstGeom prst="rect">
                <a:avLst/>
              </a:prstGeom>
              <a:noFill/>
              <a:ln>
                <a:noFill/>
              </a:ln>
            </p:spPr>
            <p:txBody>
              <a:bodyPr wrap="none" lIns="0" tIns="0" rIns="0" bIns="0" anchor="t" anchorCtr="0">
                <a:spAutoFit/>
              </a:bodyPr>
              <a:lstStyle/>
              <a:p>
                <a:pPr algn="l"/>
                <a:r>
                  <a:rPr lang="zh-CN" sz="900" b="1" dirty="0">
                    <a:solidFill>
                      <a:srgbClr val="1C2E24"/>
                    </a:solidFill>
                    <a:latin typeface="Plus Jakarta Sans"/>
                    <a:ea typeface="Microsoft YaHei"/>
                    <a:cs typeface="Plus Jakarta Sans"/>
                  </a:rPr>
                  <a:t>I2C 多传感器感知组 (SHT40/GY-302)</a:t>
                </a:r>
              </a:p>
            </p:txBody>
          </p:sp>
          <p:sp>
            <p:nvSpPr>
              <p:cNvPr id="80" name="Freeform 80"/>
              <p:cNvSpPr/>
              <p:nvPr/>
            </p:nvSpPr>
            <p:spPr>
              <a:xfrm>
                <a:off x="6667500" y="4972050"/>
                <a:ext cx="2238375" cy="304800"/>
              </a:xfrm>
              <a:custGeom>
                <a:avLst/>
                <a:gdLst/>
                <a:ahLst/>
                <a:cxnLst/>
                <a:rect l="l" t="t" r="r" b="b"/>
                <a:pathLst>
                  <a:path w="2238375" h="304800">
                    <a:moveTo>
                      <a:pt x="38100" y="0"/>
                    </a:moveTo>
                    <a:lnTo>
                      <a:pt x="2200275" y="0"/>
                    </a:lnTo>
                    <a:cubicBezTo>
                      <a:pt x="2221317" y="0"/>
                      <a:pt x="2238375" y="17058"/>
                      <a:pt x="2238375" y="38100"/>
                    </a:cubicBezTo>
                    <a:lnTo>
                      <a:pt x="2238375" y="266700"/>
                    </a:lnTo>
                    <a:cubicBezTo>
                      <a:pt x="2238375" y="287742"/>
                      <a:pt x="2221317" y="304800"/>
                      <a:pt x="2200275" y="304800"/>
                    </a:cubicBezTo>
                    <a:lnTo>
                      <a:pt x="38100" y="304800"/>
                    </a:lnTo>
                    <a:cubicBezTo>
                      <a:pt x="17058" y="304800"/>
                      <a:pt x="0" y="287742"/>
                      <a:pt x="0" y="266700"/>
                    </a:cubicBezTo>
                    <a:lnTo>
                      <a:pt x="0" y="38100"/>
                    </a:lnTo>
                    <a:cubicBezTo>
                      <a:pt x="0" y="17058"/>
                      <a:pt x="17058" y="0"/>
                      <a:pt x="38100" y="0"/>
                    </a:cubicBezTo>
                    <a:close/>
                  </a:path>
                </a:pathLst>
              </a:custGeom>
              <a:solidFill>
                <a:srgbClr val="FFFFFF"/>
              </a:solidFill>
              <a:ln w="9525">
                <a:solidFill>
                  <a:srgbClr val="2B583E"/>
                </a:solidFill>
              </a:ln>
            </p:spPr>
          </p:sp>
          <p:sp>
            <p:nvSpPr>
              <p:cNvPr id="81" name="Freeform 81"/>
              <p:cNvSpPr/>
              <p:nvPr/>
            </p:nvSpPr>
            <p:spPr>
              <a:xfrm>
                <a:off x="6786425" y="5053012"/>
                <a:ext cx="143013" cy="151284"/>
              </a:xfrm>
              <a:custGeom>
                <a:avLst/>
                <a:gdLst/>
                <a:ahLst/>
                <a:cxnLst/>
                <a:rect l="l" t="t" r="r" b="b"/>
                <a:pathLst>
                  <a:path w="143013" h="151284">
                    <a:moveTo>
                      <a:pt x="575" y="89916"/>
                    </a:moveTo>
                    <a:lnTo>
                      <a:pt x="432" y="88582"/>
                    </a:lnTo>
                    <a:lnTo>
                      <a:pt x="400" y="88241"/>
                    </a:lnTo>
                    <a:cubicBezTo>
                      <a:pt x="125" y="85286"/>
                      <a:pt x="0" y="82319"/>
                      <a:pt x="27" y="79351"/>
                    </a:cubicBezTo>
                    <a:cubicBezTo>
                      <a:pt x="170" y="29424"/>
                      <a:pt x="34079" y="0"/>
                      <a:pt x="103214" y="0"/>
                    </a:cubicBezTo>
                    <a:lnTo>
                      <a:pt x="135075" y="0"/>
                    </a:lnTo>
                    <a:cubicBezTo>
                      <a:pt x="139459" y="0"/>
                      <a:pt x="143013" y="3554"/>
                      <a:pt x="143013" y="7938"/>
                    </a:cubicBezTo>
                    <a:lnTo>
                      <a:pt x="142997" y="24265"/>
                    </a:lnTo>
                    <a:cubicBezTo>
                      <a:pt x="139044" y="93329"/>
                      <a:pt x="105373" y="127000"/>
                      <a:pt x="47763" y="127000"/>
                    </a:cubicBezTo>
                    <a:lnTo>
                      <a:pt x="26879" y="127000"/>
                    </a:lnTo>
                    <a:cubicBezTo>
                      <a:pt x="25514" y="132510"/>
                      <a:pt x="24520" y="138105"/>
                      <a:pt x="23903" y="143748"/>
                    </a:cubicBezTo>
                    <a:cubicBezTo>
                      <a:pt x="23591" y="146567"/>
                      <a:pt x="21799" y="149005"/>
                      <a:pt x="19202" y="150144"/>
                    </a:cubicBezTo>
                    <a:cubicBezTo>
                      <a:pt x="16605" y="151284"/>
                      <a:pt x="13597" y="150951"/>
                      <a:pt x="11312" y="149271"/>
                    </a:cubicBezTo>
                    <a:cubicBezTo>
                      <a:pt x="9027" y="147592"/>
                      <a:pt x="7811" y="144821"/>
                      <a:pt x="8123" y="142002"/>
                    </a:cubicBezTo>
                    <a:cubicBezTo>
                      <a:pt x="9044" y="133705"/>
                      <a:pt x="10578" y="125907"/>
                      <a:pt x="12727" y="118610"/>
                    </a:cubicBezTo>
                    <a:lnTo>
                      <a:pt x="11790" y="117451"/>
                    </a:lnTo>
                    <a:lnTo>
                      <a:pt x="10139" y="115229"/>
                    </a:lnTo>
                    <a:lnTo>
                      <a:pt x="8893" y="113411"/>
                    </a:lnTo>
                    <a:lnTo>
                      <a:pt x="7448" y="111085"/>
                    </a:lnTo>
                    <a:lnTo>
                      <a:pt x="6671" y="109728"/>
                    </a:lnTo>
                    <a:lnTo>
                      <a:pt x="6155" y="108760"/>
                    </a:lnTo>
                    <a:cubicBezTo>
                      <a:pt x="4894" y="106364"/>
                      <a:pt x="3840" y="103865"/>
                      <a:pt x="3003" y="101290"/>
                    </a:cubicBezTo>
                    <a:lnTo>
                      <a:pt x="2432" y="99409"/>
                    </a:lnTo>
                    <a:lnTo>
                      <a:pt x="1757" y="96814"/>
                    </a:lnTo>
                    <a:lnTo>
                      <a:pt x="1305" y="94686"/>
                    </a:lnTo>
                    <a:lnTo>
                      <a:pt x="963" y="92766"/>
                    </a:lnTo>
                    <a:close/>
                    <a:moveTo>
                      <a:pt x="68353" y="56245"/>
                    </a:moveTo>
                    <a:cubicBezTo>
                      <a:pt x="45771" y="66286"/>
                      <a:pt x="29824" y="81089"/>
                      <a:pt x="19871" y="100560"/>
                    </a:cubicBezTo>
                    <a:cubicBezTo>
                      <a:pt x="20389" y="101619"/>
                      <a:pt x="20966" y="102677"/>
                      <a:pt x="21601" y="103735"/>
                    </a:cubicBezTo>
                    <a:lnTo>
                      <a:pt x="23069" y="105966"/>
                    </a:lnTo>
                    <a:lnTo>
                      <a:pt x="23625" y="106736"/>
                    </a:lnTo>
                    <a:cubicBezTo>
                      <a:pt x="24260" y="107603"/>
                      <a:pt x="24943" y="108474"/>
                      <a:pt x="25673" y="109347"/>
                    </a:cubicBezTo>
                    <a:lnTo>
                      <a:pt x="27237" y="111125"/>
                    </a:lnTo>
                    <a:lnTo>
                      <a:pt x="32388" y="111125"/>
                    </a:lnTo>
                    <a:cubicBezTo>
                      <a:pt x="40619" y="93099"/>
                      <a:pt x="54430" y="79804"/>
                      <a:pt x="74798" y="70755"/>
                    </a:cubicBezTo>
                    <a:cubicBezTo>
                      <a:pt x="78805" y="68975"/>
                      <a:pt x="80610" y="64284"/>
                      <a:pt x="78830" y="60277"/>
                    </a:cubicBezTo>
                    <a:cubicBezTo>
                      <a:pt x="77051" y="56271"/>
                      <a:pt x="72360" y="54465"/>
                      <a:pt x="68353" y="56245"/>
                    </a:cubicBezTo>
                  </a:path>
                </a:pathLst>
              </a:custGeom>
              <a:solidFill>
                <a:srgbClr val="2B583E"/>
              </a:solidFill>
              <a:ln>
                <a:noFill/>
              </a:ln>
            </p:spPr>
          </p:sp>
          <p:sp>
            <p:nvSpPr>
              <p:cNvPr id="82" name="TextBox 82"/>
              <p:cNvSpPr txBox="1"/>
              <p:nvPr/>
            </p:nvSpPr>
            <p:spPr>
              <a:xfrm>
                <a:off x="7018020" y="5074920"/>
                <a:ext cx="1948201" cy="182880"/>
              </a:xfrm>
              <a:prstGeom prst="rect">
                <a:avLst/>
              </a:prstGeom>
              <a:noFill/>
              <a:ln>
                <a:noFill/>
              </a:ln>
            </p:spPr>
            <p:txBody>
              <a:bodyPr wrap="none" lIns="0" tIns="0" rIns="0" bIns="0" anchor="t" anchorCtr="0">
                <a:spAutoFit/>
              </a:bodyPr>
              <a:lstStyle/>
              <a:p>
                <a:pPr algn="l"/>
                <a:r>
                  <a:rPr lang="zh-CN" sz="900" b="1" dirty="0">
                    <a:solidFill>
                      <a:srgbClr val="1C2E24"/>
                    </a:solidFill>
                    <a:latin typeface="Plus Jakarta Sans"/>
                    <a:ea typeface="Microsoft YaHei"/>
                    <a:cs typeface="Plus Jakarta Sans"/>
                  </a:rPr>
                  <a:t>ADC 电容式土壤湿度干湿度标定</a:t>
                </a:r>
              </a:p>
            </p:txBody>
          </p:sp>
          <p:sp>
            <p:nvSpPr>
              <p:cNvPr id="83" name="Freeform 83"/>
              <p:cNvSpPr/>
              <p:nvPr/>
            </p:nvSpPr>
            <p:spPr>
              <a:xfrm>
                <a:off x="9048750" y="4972050"/>
                <a:ext cx="2095500" cy="304800"/>
              </a:xfrm>
              <a:custGeom>
                <a:avLst/>
                <a:gdLst/>
                <a:ahLst/>
                <a:cxnLst/>
                <a:rect l="l" t="t" r="r" b="b"/>
                <a:pathLst>
                  <a:path w="2095500" h="304800">
                    <a:moveTo>
                      <a:pt x="38100" y="0"/>
                    </a:moveTo>
                    <a:lnTo>
                      <a:pt x="2057400" y="0"/>
                    </a:lnTo>
                    <a:cubicBezTo>
                      <a:pt x="2078442" y="0"/>
                      <a:pt x="2095500" y="17058"/>
                      <a:pt x="2095500" y="38100"/>
                    </a:cubicBezTo>
                    <a:lnTo>
                      <a:pt x="2095500" y="266700"/>
                    </a:lnTo>
                    <a:cubicBezTo>
                      <a:pt x="2095500" y="287742"/>
                      <a:pt x="2078442" y="304800"/>
                      <a:pt x="2057400" y="304800"/>
                    </a:cubicBezTo>
                    <a:lnTo>
                      <a:pt x="38100" y="304800"/>
                    </a:lnTo>
                    <a:cubicBezTo>
                      <a:pt x="17058" y="304800"/>
                      <a:pt x="0" y="287742"/>
                      <a:pt x="0" y="266700"/>
                    </a:cubicBezTo>
                    <a:lnTo>
                      <a:pt x="0" y="38100"/>
                    </a:lnTo>
                    <a:cubicBezTo>
                      <a:pt x="0" y="17058"/>
                      <a:pt x="17058" y="0"/>
                      <a:pt x="38100" y="0"/>
                    </a:cubicBezTo>
                    <a:close/>
                  </a:path>
                </a:pathLst>
              </a:custGeom>
              <a:solidFill>
                <a:srgbClr val="FFFFFF"/>
              </a:solidFill>
              <a:ln w="9525">
                <a:solidFill>
                  <a:srgbClr val="2B583E"/>
                </a:solidFill>
              </a:ln>
            </p:spPr>
          </p:sp>
          <p:sp>
            <p:nvSpPr>
              <p:cNvPr id="84" name="TextBox 84"/>
              <p:cNvSpPr txBox="1"/>
              <p:nvPr/>
            </p:nvSpPr>
            <p:spPr>
              <a:xfrm>
                <a:off x="9399270" y="5074920"/>
                <a:ext cx="2106920" cy="182880"/>
              </a:xfrm>
              <a:prstGeom prst="rect">
                <a:avLst/>
              </a:prstGeom>
              <a:noFill/>
              <a:ln>
                <a:noFill/>
              </a:ln>
            </p:spPr>
            <p:txBody>
              <a:bodyPr wrap="none" lIns="0" tIns="0" rIns="0" bIns="0" anchor="t" anchorCtr="0">
                <a:spAutoFit/>
              </a:bodyPr>
              <a:lstStyle/>
              <a:p>
                <a:pPr algn="l"/>
                <a:r>
                  <a:rPr lang="zh-CN" sz="900" b="1" dirty="0">
                    <a:solidFill>
                      <a:srgbClr val="1C2E24"/>
                    </a:solidFill>
                    <a:latin typeface="Plus Jakarta Sans"/>
                    <a:ea typeface="Microsoft YaHei"/>
                    <a:cs typeface="Plus Jakarta Sans"/>
                  </a:rPr>
                  <a:t>SoftAP极简配网 与 OTAManifest</a:t>
                </a:r>
              </a:p>
            </p:txBody>
          </p:sp>
        </p:grpSp>
      </p:grpSp>
      <p:grpSp>
        <p:nvGrpSpPr>
          <p:cNvPr id="89" name="Group 89"/>
          <p:cNvGrpSpPr/>
          <p:nvPr/>
        </p:nvGrpSpPr>
        <p:grpSpPr>
          <a:xfrm>
            <a:off x="561975" y="6443662"/>
            <a:ext cx="10877550" cy="152400"/>
            <a:chOff x="561975" y="6443662"/>
            <a:chExt cx="10877550" cy="152400"/>
          </a:xfrm>
        </p:grpSpPr>
        <p:sp>
          <p:nvSpPr>
            <p:cNvPr id="87" name="TextBox 87"/>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88" name="TextBox 88"/>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04</a:t>
              </a:r>
            </a:p>
          </p:txBody>
        </p:sp>
      </p:gr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850964"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硬件与物联层</a:t>
              </a:r>
            </a:p>
          </p:txBody>
        </p:sp>
        <p:sp>
          <p:nvSpPr>
            <p:cNvPr id="5" name="TextBox 5"/>
            <p:cNvSpPr txBox="1"/>
            <p:nvPr/>
          </p:nvSpPr>
          <p:spPr>
            <a:xfrm>
              <a:off x="1836420" y="312420"/>
              <a:ext cx="6759397"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硬件端：多传感器感知与 MQTT 主动通信</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37" name="Group 37"/>
          <p:cNvGrpSpPr/>
          <p:nvPr/>
        </p:nvGrpSpPr>
        <p:grpSpPr>
          <a:xfrm>
            <a:off x="571500" y="1143000"/>
            <a:ext cx="5421964" cy="4381500"/>
            <a:chOff x="571500" y="1143000"/>
            <a:chExt cx="5421964" cy="4381500"/>
          </a:xfrm>
        </p:grpSpPr>
        <p:sp>
          <p:nvSpPr>
            <p:cNvPr id="8" name="Freeform 8"/>
            <p:cNvSpPr/>
            <p:nvPr/>
          </p:nvSpPr>
          <p:spPr>
            <a:xfrm>
              <a:off x="571500" y="1143000"/>
              <a:ext cx="5334000" cy="4381500"/>
            </a:xfrm>
            <a:custGeom>
              <a:avLst/>
              <a:gdLst/>
              <a:ahLst/>
              <a:cxnLst/>
              <a:rect l="l" t="t" r="r" b="b"/>
              <a:pathLst>
                <a:path w="5334000" h="4381500">
                  <a:moveTo>
                    <a:pt x="114300" y="0"/>
                  </a:moveTo>
                  <a:lnTo>
                    <a:pt x="5219700" y="0"/>
                  </a:lnTo>
                  <a:cubicBezTo>
                    <a:pt x="5282826" y="0"/>
                    <a:pt x="5334000" y="51174"/>
                    <a:pt x="5334000" y="114300"/>
                  </a:cubicBezTo>
                  <a:lnTo>
                    <a:pt x="5334000" y="4267200"/>
                  </a:lnTo>
                  <a:cubicBezTo>
                    <a:pt x="5334000" y="4330326"/>
                    <a:pt x="5282826" y="4381500"/>
                    <a:pt x="52197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9" name="Freeform 9"/>
            <p:cNvSpPr/>
            <p:nvPr/>
          </p:nvSpPr>
          <p:spPr>
            <a:xfrm>
              <a:off x="571500" y="1143000"/>
              <a:ext cx="5334000" cy="142875"/>
            </a:xfrm>
            <a:custGeom>
              <a:avLst/>
              <a:gdLst/>
              <a:ahLst/>
              <a:cxnLst/>
              <a:rect l="l" t="t" r="r" b="b"/>
              <a:pathLst>
                <a:path w="5334000" h="142875">
                  <a:moveTo>
                    <a:pt x="0" y="114300"/>
                  </a:moveTo>
                  <a:cubicBezTo>
                    <a:pt x="0" y="51174"/>
                    <a:pt x="51174" y="0"/>
                    <a:pt x="114300" y="0"/>
                  </a:cubicBezTo>
                  <a:lnTo>
                    <a:pt x="5219700" y="0"/>
                  </a:lnTo>
                  <a:cubicBezTo>
                    <a:pt x="5282826" y="0"/>
                    <a:pt x="5334000" y="51174"/>
                    <a:pt x="5334000" y="114300"/>
                  </a:cubicBezTo>
                  <a:lnTo>
                    <a:pt x="5334000" y="142875"/>
                  </a:lnTo>
                  <a:lnTo>
                    <a:pt x="0" y="142875"/>
                  </a:lnTo>
                  <a:close/>
                </a:path>
              </a:pathLst>
            </a:custGeom>
            <a:solidFill>
              <a:srgbClr val="8E5B3C"/>
            </a:solidFill>
            <a:ln>
              <a:noFill/>
            </a:ln>
          </p:spPr>
        </p:sp>
        <p:sp>
          <p:nvSpPr>
            <p:cNvPr id="10" name="Freeform 10"/>
            <p:cNvSpPr/>
            <p:nvPr/>
          </p:nvSpPr>
          <p:spPr>
            <a:xfrm>
              <a:off x="857250" y="1476375"/>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8E5B3C">
                <a:alpha val="8000"/>
              </a:srgbClr>
            </a:solidFill>
            <a:ln>
              <a:noFill/>
            </a:ln>
          </p:spPr>
        </p:sp>
        <p:sp>
          <p:nvSpPr>
            <p:cNvPr id="11" name="TextBox 11"/>
            <p:cNvSpPr txBox="1"/>
            <p:nvPr/>
          </p:nvSpPr>
          <p:spPr>
            <a:xfrm>
              <a:off x="1362075" y="1562100"/>
              <a:ext cx="2568416" cy="304800"/>
            </a:xfrm>
            <a:prstGeom prst="rect">
              <a:avLst/>
            </a:prstGeom>
            <a:noFill/>
            <a:ln>
              <a:noFill/>
            </a:ln>
          </p:spPr>
          <p:txBody>
            <a:bodyPr wrap="none" lIns="0" tIns="0" rIns="0" bIns="0" anchor="t" anchorCtr="0">
              <a:spAutoFit/>
            </a:bodyPr>
            <a:lstStyle/>
            <a:p>
              <a:pPr algn="l"/>
              <a:r>
                <a:rPr lang="zh-CN" sz="1500" b="1" dirty="0">
                  <a:solidFill>
                    <a:srgbClr val="1C2E24"/>
                  </a:solidFill>
                  <a:latin typeface="Quicksand"/>
                  <a:ea typeface="Microsoft YaHei"/>
                  <a:cs typeface="Quicksand"/>
                </a:rPr>
                <a:t>多源环境高精度传感器组</a:t>
              </a:r>
            </a:p>
          </p:txBody>
        </p:sp>
        <p:sp>
          <p:nvSpPr>
            <p:cNvPr id="12" name="TextBox 12"/>
            <p:cNvSpPr txBox="1"/>
            <p:nvPr/>
          </p:nvSpPr>
          <p:spPr>
            <a:xfrm>
              <a:off x="1368742" y="1847374"/>
              <a:ext cx="2303145" cy="198120"/>
            </a:xfrm>
            <a:prstGeom prst="rect">
              <a:avLst/>
            </a:prstGeom>
            <a:noFill/>
            <a:ln>
              <a:noFill/>
            </a:ln>
          </p:spPr>
          <p:txBody>
            <a:bodyPr wrap="none" lIns="0" tIns="0" rIns="0" bIns="0" anchor="t" anchorCtr="0">
              <a:spAutoFit/>
            </a:bodyPr>
            <a:lstStyle/>
            <a:p>
              <a:pPr algn="l"/>
              <a:r>
                <a:rPr lang="zh-CN" sz="975" dirty="0">
                  <a:solidFill>
                    <a:srgbClr val="809085"/>
                  </a:solidFill>
                  <a:latin typeface="Plus Jakarta Sans"/>
                  <a:ea typeface="Microsoft YaHei"/>
                  <a:cs typeface="Plus Jakarta Sans"/>
                </a:rPr>
                <a:t>挂载 I2C 0x3C/0x44/0x23 通信总线</a:t>
              </a:r>
            </a:p>
          </p:txBody>
        </p:sp>
        <p:grpSp>
          <p:nvGrpSpPr>
            <p:cNvPr id="17" name="Group 17"/>
            <p:cNvGrpSpPr/>
            <p:nvPr/>
          </p:nvGrpSpPr>
          <p:grpSpPr>
            <a:xfrm>
              <a:off x="857250" y="2286000"/>
              <a:ext cx="4338781" cy="492919"/>
              <a:chOff x="857250" y="2286000"/>
              <a:chExt cx="4338781" cy="492919"/>
            </a:xfrm>
          </p:grpSpPr>
          <p:sp>
            <p:nvSpPr>
              <p:cNvPr id="13" name="Freeform 13"/>
              <p:cNvSpPr/>
              <p:nvPr/>
            </p:nvSpPr>
            <p:spPr>
              <a:xfrm>
                <a:off x="857250" y="2286000"/>
                <a:ext cx="476250" cy="476250"/>
              </a:xfrm>
              <a:custGeom>
                <a:avLst/>
                <a:gdLst/>
                <a:ahLst/>
                <a:cxnLst/>
                <a:rect l="l" t="t" r="r" b="b"/>
                <a:pathLst>
                  <a:path w="476250" h="476250">
                    <a:moveTo>
                      <a:pt x="57150" y="0"/>
                    </a:moveTo>
                    <a:lnTo>
                      <a:pt x="419100" y="0"/>
                    </a:lnTo>
                    <a:cubicBezTo>
                      <a:pt x="450663" y="0"/>
                      <a:pt x="476250" y="25587"/>
                      <a:pt x="476250" y="57150"/>
                    </a:cubicBezTo>
                    <a:lnTo>
                      <a:pt x="476250" y="419100"/>
                    </a:lnTo>
                    <a:cubicBezTo>
                      <a:pt x="476250" y="450663"/>
                      <a:pt x="450663" y="476250"/>
                      <a:pt x="419100" y="476250"/>
                    </a:cubicBezTo>
                    <a:lnTo>
                      <a:pt x="57150" y="476250"/>
                    </a:lnTo>
                    <a:cubicBezTo>
                      <a:pt x="25587" y="476250"/>
                      <a:pt x="0" y="450663"/>
                      <a:pt x="0" y="419100"/>
                    </a:cubicBezTo>
                    <a:lnTo>
                      <a:pt x="0" y="57150"/>
                    </a:lnTo>
                    <a:cubicBezTo>
                      <a:pt x="0" y="25587"/>
                      <a:pt x="25587" y="0"/>
                      <a:pt x="57150" y="0"/>
                    </a:cubicBezTo>
                    <a:close/>
                  </a:path>
                </a:pathLst>
              </a:custGeom>
              <a:solidFill>
                <a:srgbClr val="F4F6F4"/>
              </a:solidFill>
              <a:ln w="9525">
                <a:solidFill>
                  <a:srgbClr val="D1DAD4"/>
                </a:solidFill>
              </a:ln>
            </p:spPr>
          </p:sp>
          <p:sp>
            <p:nvSpPr>
              <p:cNvPr id="14" name="Freeform 14"/>
              <p:cNvSpPr/>
              <p:nvPr/>
            </p:nvSpPr>
            <p:spPr>
              <a:xfrm>
                <a:off x="988012" y="2416969"/>
                <a:ext cx="214519" cy="226925"/>
              </a:xfrm>
              <a:custGeom>
                <a:avLst/>
                <a:gdLst/>
                <a:ahLst/>
                <a:cxnLst/>
                <a:rect l="l" t="t" r="r" b="b"/>
                <a:pathLst>
                  <a:path w="214519" h="226925">
                    <a:moveTo>
                      <a:pt x="862" y="134874"/>
                    </a:moveTo>
                    <a:lnTo>
                      <a:pt x="647" y="132874"/>
                    </a:lnTo>
                    <a:lnTo>
                      <a:pt x="600" y="132362"/>
                    </a:lnTo>
                    <a:cubicBezTo>
                      <a:pt x="187" y="127929"/>
                      <a:pt x="0" y="123478"/>
                      <a:pt x="40" y="119027"/>
                    </a:cubicBezTo>
                    <a:cubicBezTo>
                      <a:pt x="255" y="44136"/>
                      <a:pt x="51118" y="0"/>
                      <a:pt x="154821" y="0"/>
                    </a:cubicBezTo>
                    <a:lnTo>
                      <a:pt x="202613" y="0"/>
                    </a:lnTo>
                    <a:cubicBezTo>
                      <a:pt x="209189" y="0"/>
                      <a:pt x="214519" y="5331"/>
                      <a:pt x="214519" y="11906"/>
                    </a:cubicBezTo>
                    <a:lnTo>
                      <a:pt x="214496" y="36397"/>
                    </a:lnTo>
                    <a:cubicBezTo>
                      <a:pt x="208566" y="139994"/>
                      <a:pt x="158060" y="190500"/>
                      <a:pt x="71644" y="190500"/>
                    </a:cubicBezTo>
                    <a:lnTo>
                      <a:pt x="40319" y="190500"/>
                    </a:lnTo>
                    <a:cubicBezTo>
                      <a:pt x="38271" y="198765"/>
                      <a:pt x="36779" y="207158"/>
                      <a:pt x="35854" y="215622"/>
                    </a:cubicBezTo>
                    <a:cubicBezTo>
                      <a:pt x="35386" y="219850"/>
                      <a:pt x="32698" y="223508"/>
                      <a:pt x="28803" y="225217"/>
                    </a:cubicBezTo>
                    <a:cubicBezTo>
                      <a:pt x="24907" y="226925"/>
                      <a:pt x="20396" y="226426"/>
                      <a:pt x="16968" y="223907"/>
                    </a:cubicBezTo>
                    <a:cubicBezTo>
                      <a:pt x="13540" y="221388"/>
                      <a:pt x="11717" y="217231"/>
                      <a:pt x="12185" y="213003"/>
                    </a:cubicBezTo>
                    <a:cubicBezTo>
                      <a:pt x="13566" y="200557"/>
                      <a:pt x="15868" y="188861"/>
                      <a:pt x="19090" y="177915"/>
                    </a:cubicBezTo>
                    <a:lnTo>
                      <a:pt x="17685" y="176177"/>
                    </a:lnTo>
                    <a:lnTo>
                      <a:pt x="15209" y="172843"/>
                    </a:lnTo>
                    <a:lnTo>
                      <a:pt x="13340" y="170117"/>
                    </a:lnTo>
                    <a:lnTo>
                      <a:pt x="11173" y="166628"/>
                    </a:lnTo>
                    <a:lnTo>
                      <a:pt x="10006" y="164592"/>
                    </a:lnTo>
                    <a:lnTo>
                      <a:pt x="9232" y="163139"/>
                    </a:lnTo>
                    <a:cubicBezTo>
                      <a:pt x="7341" y="159546"/>
                      <a:pt x="5759" y="155798"/>
                      <a:pt x="4505" y="151936"/>
                    </a:cubicBezTo>
                    <a:lnTo>
                      <a:pt x="3648" y="149114"/>
                    </a:lnTo>
                    <a:lnTo>
                      <a:pt x="2636" y="145221"/>
                    </a:lnTo>
                    <a:lnTo>
                      <a:pt x="1957" y="142030"/>
                    </a:lnTo>
                    <a:lnTo>
                      <a:pt x="1445" y="139148"/>
                    </a:lnTo>
                    <a:close/>
                    <a:moveTo>
                      <a:pt x="102529" y="84368"/>
                    </a:moveTo>
                    <a:cubicBezTo>
                      <a:pt x="68656" y="99429"/>
                      <a:pt x="44736" y="121634"/>
                      <a:pt x="29806" y="150840"/>
                    </a:cubicBezTo>
                    <a:cubicBezTo>
                      <a:pt x="30584" y="152428"/>
                      <a:pt x="31449" y="154015"/>
                      <a:pt x="32401" y="155603"/>
                    </a:cubicBezTo>
                    <a:lnTo>
                      <a:pt x="34604" y="158948"/>
                    </a:lnTo>
                    <a:lnTo>
                      <a:pt x="35438" y="160103"/>
                    </a:lnTo>
                    <a:cubicBezTo>
                      <a:pt x="36390" y="161405"/>
                      <a:pt x="37414" y="162711"/>
                      <a:pt x="38509" y="164021"/>
                    </a:cubicBezTo>
                    <a:lnTo>
                      <a:pt x="40855" y="166688"/>
                    </a:lnTo>
                    <a:lnTo>
                      <a:pt x="48582" y="166688"/>
                    </a:lnTo>
                    <a:cubicBezTo>
                      <a:pt x="60929" y="139648"/>
                      <a:pt x="81646" y="119705"/>
                      <a:pt x="112197" y="106132"/>
                    </a:cubicBezTo>
                    <a:cubicBezTo>
                      <a:pt x="118207" y="103463"/>
                      <a:pt x="120915" y="96426"/>
                      <a:pt x="118245" y="90416"/>
                    </a:cubicBezTo>
                    <a:cubicBezTo>
                      <a:pt x="115576" y="84406"/>
                      <a:pt x="108539" y="81698"/>
                      <a:pt x="102529" y="84368"/>
                    </a:cubicBezTo>
                  </a:path>
                </a:pathLst>
              </a:custGeom>
              <a:solidFill>
                <a:srgbClr val="2B583E"/>
              </a:solidFill>
              <a:ln>
                <a:noFill/>
              </a:ln>
            </p:spPr>
          </p:sp>
          <p:sp>
            <p:nvSpPr>
              <p:cNvPr id="15" name="TextBox 15"/>
              <p:cNvSpPr txBox="1"/>
              <p:nvPr/>
            </p:nvSpPr>
            <p:spPr>
              <a:xfrm>
                <a:off x="1509712" y="2355056"/>
                <a:ext cx="3039076"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电容式土壤湿度传感器 (GPIO34 / ADC)</a:t>
                </a:r>
              </a:p>
            </p:txBody>
          </p:sp>
          <p:sp>
            <p:nvSpPr>
              <p:cNvPr id="16" name="TextBox 16"/>
              <p:cNvSpPr txBox="1"/>
              <p:nvPr/>
            </p:nvSpPr>
            <p:spPr>
              <a:xfrm>
                <a:off x="1511618" y="2580799"/>
                <a:ext cx="3684413"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读取 soilRaw，在固件中转化为 soilPercent (0%-100%)。</a:t>
                </a:r>
              </a:p>
            </p:txBody>
          </p:sp>
        </p:grpSp>
        <p:grpSp>
          <p:nvGrpSpPr>
            <p:cNvPr id="31" name="Group 31"/>
            <p:cNvGrpSpPr/>
            <p:nvPr/>
          </p:nvGrpSpPr>
          <p:grpSpPr>
            <a:xfrm>
              <a:off x="857250" y="3238500"/>
              <a:ext cx="5129094" cy="492919"/>
              <a:chOff x="857250" y="3238500"/>
              <a:chExt cx="5129094" cy="492919"/>
            </a:xfrm>
          </p:grpSpPr>
          <p:sp>
            <p:nvSpPr>
              <p:cNvPr id="18" name="Freeform 18"/>
              <p:cNvSpPr/>
              <p:nvPr/>
            </p:nvSpPr>
            <p:spPr>
              <a:xfrm>
                <a:off x="857250" y="3238500"/>
                <a:ext cx="476250" cy="476250"/>
              </a:xfrm>
              <a:custGeom>
                <a:avLst/>
                <a:gdLst/>
                <a:ahLst/>
                <a:cxnLst/>
                <a:rect l="l" t="t" r="r" b="b"/>
                <a:pathLst>
                  <a:path w="476250" h="476250">
                    <a:moveTo>
                      <a:pt x="57150" y="0"/>
                    </a:moveTo>
                    <a:lnTo>
                      <a:pt x="419100" y="0"/>
                    </a:lnTo>
                    <a:cubicBezTo>
                      <a:pt x="450663" y="0"/>
                      <a:pt x="476250" y="25587"/>
                      <a:pt x="476250" y="57150"/>
                    </a:cubicBezTo>
                    <a:lnTo>
                      <a:pt x="476250" y="419100"/>
                    </a:lnTo>
                    <a:cubicBezTo>
                      <a:pt x="476250" y="450663"/>
                      <a:pt x="450663" y="476250"/>
                      <a:pt x="419100" y="476250"/>
                    </a:cubicBezTo>
                    <a:lnTo>
                      <a:pt x="57150" y="476250"/>
                    </a:lnTo>
                    <a:cubicBezTo>
                      <a:pt x="25587" y="476250"/>
                      <a:pt x="0" y="450663"/>
                      <a:pt x="0" y="419100"/>
                    </a:cubicBezTo>
                    <a:lnTo>
                      <a:pt x="0" y="57150"/>
                    </a:lnTo>
                    <a:cubicBezTo>
                      <a:pt x="0" y="25587"/>
                      <a:pt x="25587" y="0"/>
                      <a:pt x="57150" y="0"/>
                    </a:cubicBezTo>
                    <a:close/>
                  </a:path>
                </a:pathLst>
              </a:custGeom>
              <a:solidFill>
                <a:srgbClr val="F4F6F4"/>
              </a:solidFill>
              <a:ln w="9525">
                <a:solidFill>
                  <a:srgbClr val="D1DAD4"/>
                </a:solidFill>
              </a:ln>
            </p:spPr>
          </p:sp>
          <p:grpSp>
            <p:nvGrpSpPr>
              <p:cNvPr id="28" name="Group 28"/>
              <p:cNvGrpSpPr/>
              <p:nvPr/>
            </p:nvGrpSpPr>
            <p:grpSpPr>
              <a:xfrm>
                <a:off x="975977" y="3357562"/>
                <a:ext cx="238796" cy="238461"/>
                <a:chOff x="975977" y="3357562"/>
                <a:chExt cx="238796" cy="238461"/>
              </a:xfrm>
            </p:grpSpPr>
            <p:sp>
              <p:nvSpPr>
                <p:cNvPr id="19" name="Freeform 19"/>
                <p:cNvSpPr/>
                <p:nvPr/>
              </p:nvSpPr>
              <p:spPr>
                <a:xfrm>
                  <a:off x="1083469" y="3559969"/>
                  <a:ext cx="23812" cy="36054"/>
                </a:xfrm>
                <a:custGeom>
                  <a:avLst/>
                  <a:gdLst/>
                  <a:ahLst/>
                  <a:cxnLst/>
                  <a:rect l="l" t="t" r="r" b="b"/>
                  <a:pathLst>
                    <a:path w="23812" h="36054">
                      <a:moveTo>
                        <a:pt x="11906" y="0"/>
                      </a:moveTo>
                      <a:cubicBezTo>
                        <a:pt x="17942" y="1"/>
                        <a:pt x="23023" y="4519"/>
                        <a:pt x="23729" y="10513"/>
                      </a:cubicBezTo>
                      <a:lnTo>
                        <a:pt x="23812" y="11906"/>
                      </a:lnTo>
                      <a:lnTo>
                        <a:pt x="23812" y="23812"/>
                      </a:lnTo>
                      <a:cubicBezTo>
                        <a:pt x="23806" y="30112"/>
                        <a:pt x="18893" y="35316"/>
                        <a:pt x="12604" y="35685"/>
                      </a:cubicBezTo>
                      <a:cubicBezTo>
                        <a:pt x="6315" y="36054"/>
                        <a:pt x="827" y="31461"/>
                        <a:pt x="83" y="25206"/>
                      </a:cubicBezTo>
                      <a:lnTo>
                        <a:pt x="0" y="23812"/>
                      </a:lnTo>
                      <a:lnTo>
                        <a:pt x="0" y="11906"/>
                      </a:lnTo>
                      <a:cubicBezTo>
                        <a:pt x="0" y="5331"/>
                        <a:pt x="5331" y="0"/>
                        <a:pt x="11906" y="0"/>
                      </a:cubicBezTo>
                      <a:close/>
                    </a:path>
                  </a:pathLst>
                </a:custGeom>
                <a:solidFill>
                  <a:srgbClr val="DDA43B"/>
                </a:solidFill>
                <a:ln>
                  <a:noFill/>
                </a:ln>
              </p:spPr>
            </p:sp>
            <p:sp>
              <p:nvSpPr>
                <p:cNvPr id="20" name="Freeform 20"/>
                <p:cNvSpPr/>
                <p:nvPr/>
              </p:nvSpPr>
              <p:spPr>
                <a:xfrm>
                  <a:off x="1150148" y="3531179"/>
                  <a:ext cx="34494" cy="34893"/>
                </a:xfrm>
                <a:custGeom>
                  <a:avLst/>
                  <a:gdLst/>
                  <a:ahLst/>
                  <a:cxnLst/>
                  <a:rect l="l" t="t" r="r" b="b"/>
                  <a:pathLst>
                    <a:path w="34494" h="34893">
                      <a:moveTo>
                        <a:pt x="20392" y="3906"/>
                      </a:moveTo>
                      <a:lnTo>
                        <a:pt x="21511" y="4894"/>
                      </a:lnTo>
                      <a:lnTo>
                        <a:pt x="29845" y="13229"/>
                      </a:lnTo>
                      <a:cubicBezTo>
                        <a:pt x="34277" y="17675"/>
                        <a:pt x="34494" y="24799"/>
                        <a:pt x="30342" y="29508"/>
                      </a:cubicBezTo>
                      <a:cubicBezTo>
                        <a:pt x="26190" y="34217"/>
                        <a:pt x="19095" y="34893"/>
                        <a:pt x="14129" y="31052"/>
                      </a:cubicBezTo>
                      <a:lnTo>
                        <a:pt x="13010" y="30064"/>
                      </a:lnTo>
                      <a:lnTo>
                        <a:pt x="4675" y="21730"/>
                      </a:lnTo>
                      <a:cubicBezTo>
                        <a:pt x="424" y="17486"/>
                        <a:pt x="0" y="10740"/>
                        <a:pt x="3687" y="5997"/>
                      </a:cubicBezTo>
                      <a:cubicBezTo>
                        <a:pt x="7373" y="1254"/>
                        <a:pt x="14015" y="0"/>
                        <a:pt x="19177" y="3073"/>
                      </a:cubicBezTo>
                      <a:lnTo>
                        <a:pt x="20392" y="3906"/>
                      </a:lnTo>
                      <a:close/>
                    </a:path>
                  </a:pathLst>
                </a:custGeom>
                <a:solidFill>
                  <a:srgbClr val="DDA43B"/>
                </a:solidFill>
                <a:ln>
                  <a:noFill/>
                </a:ln>
              </p:spPr>
            </p:sp>
            <p:sp>
              <p:nvSpPr>
                <p:cNvPr id="21" name="Freeform 21"/>
                <p:cNvSpPr/>
                <p:nvPr/>
              </p:nvSpPr>
              <p:spPr>
                <a:xfrm>
                  <a:off x="1005929" y="3531425"/>
                  <a:ext cx="34663" cy="34467"/>
                </a:xfrm>
                <a:custGeom>
                  <a:avLst/>
                  <a:gdLst/>
                  <a:ahLst/>
                  <a:cxnLst/>
                  <a:rect l="l" t="t" r="r" b="b"/>
                  <a:pathLst>
                    <a:path w="34663" h="34467">
                      <a:moveTo>
                        <a:pt x="29998" y="4648"/>
                      </a:moveTo>
                      <a:cubicBezTo>
                        <a:pt x="34240" y="8890"/>
                        <a:pt x="34663" y="15625"/>
                        <a:pt x="30986" y="20364"/>
                      </a:cubicBezTo>
                      <a:lnTo>
                        <a:pt x="29998" y="21483"/>
                      </a:lnTo>
                      <a:lnTo>
                        <a:pt x="21664" y="29818"/>
                      </a:lnTo>
                      <a:cubicBezTo>
                        <a:pt x="17217" y="34249"/>
                        <a:pt x="10093" y="34467"/>
                        <a:pt x="5385" y="30315"/>
                      </a:cubicBezTo>
                      <a:cubicBezTo>
                        <a:pt x="676" y="26163"/>
                        <a:pt x="0" y="19068"/>
                        <a:pt x="3840" y="14102"/>
                      </a:cubicBezTo>
                      <a:lnTo>
                        <a:pt x="4828" y="12982"/>
                      </a:lnTo>
                      <a:lnTo>
                        <a:pt x="13163" y="4648"/>
                      </a:lnTo>
                      <a:cubicBezTo>
                        <a:pt x="17812" y="0"/>
                        <a:pt x="25349" y="0"/>
                        <a:pt x="29998" y="4648"/>
                      </a:cubicBezTo>
                      <a:close/>
                    </a:path>
                  </a:pathLst>
                </a:custGeom>
                <a:solidFill>
                  <a:srgbClr val="DDA43B"/>
                </a:solidFill>
                <a:ln>
                  <a:noFill/>
                </a:ln>
              </p:spPr>
            </p:sp>
            <p:sp>
              <p:nvSpPr>
                <p:cNvPr id="22" name="Freeform 22"/>
                <p:cNvSpPr/>
                <p:nvPr/>
              </p:nvSpPr>
              <p:spPr>
                <a:xfrm>
                  <a:off x="975977" y="3464719"/>
                  <a:ext cx="36390" cy="23812"/>
                </a:xfrm>
                <a:custGeom>
                  <a:avLst/>
                  <a:gdLst/>
                  <a:ahLst/>
                  <a:cxnLst/>
                  <a:rect l="l" t="t" r="r" b="b"/>
                  <a:pathLst>
                    <a:path w="36390" h="23812">
                      <a:moveTo>
                        <a:pt x="24148" y="0"/>
                      </a:moveTo>
                      <a:cubicBezTo>
                        <a:pt x="30448" y="7"/>
                        <a:pt x="35651" y="4920"/>
                        <a:pt x="36021" y="11208"/>
                      </a:cubicBezTo>
                      <a:cubicBezTo>
                        <a:pt x="36390" y="17497"/>
                        <a:pt x="31796" y="22985"/>
                        <a:pt x="25541" y="23729"/>
                      </a:cubicBezTo>
                      <a:lnTo>
                        <a:pt x="24148" y="23812"/>
                      </a:lnTo>
                      <a:lnTo>
                        <a:pt x="12242" y="23812"/>
                      </a:lnTo>
                      <a:cubicBezTo>
                        <a:pt x="5942" y="23806"/>
                        <a:pt x="738" y="18893"/>
                        <a:pt x="369" y="12604"/>
                      </a:cubicBezTo>
                      <a:cubicBezTo>
                        <a:pt x="0" y="6315"/>
                        <a:pt x="4593" y="827"/>
                        <a:pt x="10849" y="83"/>
                      </a:cubicBezTo>
                      <a:lnTo>
                        <a:pt x="12242" y="0"/>
                      </a:lnTo>
                      <a:lnTo>
                        <a:pt x="24148" y="0"/>
                      </a:lnTo>
                      <a:close/>
                    </a:path>
                  </a:pathLst>
                </a:custGeom>
                <a:solidFill>
                  <a:srgbClr val="DDA43B"/>
                </a:solidFill>
                <a:ln>
                  <a:noFill/>
                </a:ln>
              </p:spPr>
            </p:sp>
            <p:sp>
              <p:nvSpPr>
                <p:cNvPr id="23" name="Freeform 23"/>
                <p:cNvSpPr/>
                <p:nvPr/>
              </p:nvSpPr>
              <p:spPr>
                <a:xfrm>
                  <a:off x="1178383" y="3464719"/>
                  <a:ext cx="36390" cy="23812"/>
                </a:xfrm>
                <a:custGeom>
                  <a:avLst/>
                  <a:gdLst/>
                  <a:ahLst/>
                  <a:cxnLst/>
                  <a:rect l="l" t="t" r="r" b="b"/>
                  <a:pathLst>
                    <a:path w="36390" h="23812">
                      <a:moveTo>
                        <a:pt x="24148" y="0"/>
                      </a:moveTo>
                      <a:cubicBezTo>
                        <a:pt x="30448" y="7"/>
                        <a:pt x="35651" y="4920"/>
                        <a:pt x="36021" y="11208"/>
                      </a:cubicBezTo>
                      <a:cubicBezTo>
                        <a:pt x="36390" y="17497"/>
                        <a:pt x="31796" y="22985"/>
                        <a:pt x="25541" y="23729"/>
                      </a:cubicBezTo>
                      <a:lnTo>
                        <a:pt x="24148" y="23812"/>
                      </a:lnTo>
                      <a:lnTo>
                        <a:pt x="12242" y="23812"/>
                      </a:lnTo>
                      <a:cubicBezTo>
                        <a:pt x="5942" y="23806"/>
                        <a:pt x="738" y="18893"/>
                        <a:pt x="369" y="12604"/>
                      </a:cubicBezTo>
                      <a:cubicBezTo>
                        <a:pt x="0" y="6315"/>
                        <a:pt x="4593" y="827"/>
                        <a:pt x="10849" y="83"/>
                      </a:cubicBezTo>
                      <a:lnTo>
                        <a:pt x="12242" y="0"/>
                      </a:lnTo>
                      <a:lnTo>
                        <a:pt x="24148" y="0"/>
                      </a:lnTo>
                      <a:close/>
                    </a:path>
                  </a:pathLst>
                </a:custGeom>
                <a:solidFill>
                  <a:srgbClr val="DDA43B"/>
                </a:solidFill>
                <a:ln>
                  <a:noFill/>
                </a:ln>
              </p:spPr>
            </p:sp>
            <p:sp>
              <p:nvSpPr>
                <p:cNvPr id="24" name="Freeform 24"/>
                <p:cNvSpPr/>
                <p:nvPr/>
              </p:nvSpPr>
              <p:spPr>
                <a:xfrm>
                  <a:off x="1006105" y="3387133"/>
                  <a:ext cx="34471" cy="34872"/>
                </a:xfrm>
                <a:custGeom>
                  <a:avLst/>
                  <a:gdLst/>
                  <a:ahLst/>
                  <a:cxnLst/>
                  <a:rect l="l" t="t" r="r" b="b"/>
                  <a:pathLst>
                    <a:path w="34471" h="34872">
                      <a:moveTo>
                        <a:pt x="20368" y="3886"/>
                      </a:moveTo>
                      <a:lnTo>
                        <a:pt x="21488" y="4874"/>
                      </a:lnTo>
                      <a:lnTo>
                        <a:pt x="29822" y="13208"/>
                      </a:lnTo>
                      <a:cubicBezTo>
                        <a:pt x="34254" y="17655"/>
                        <a:pt x="34471" y="24779"/>
                        <a:pt x="30319" y="29487"/>
                      </a:cubicBezTo>
                      <a:cubicBezTo>
                        <a:pt x="26167" y="34196"/>
                        <a:pt x="19072" y="34872"/>
                        <a:pt x="14106" y="31032"/>
                      </a:cubicBezTo>
                      <a:lnTo>
                        <a:pt x="12987" y="30044"/>
                      </a:lnTo>
                      <a:lnTo>
                        <a:pt x="4652" y="21709"/>
                      </a:lnTo>
                      <a:cubicBezTo>
                        <a:pt x="417" y="17465"/>
                        <a:pt x="0" y="10733"/>
                        <a:pt x="3678" y="5997"/>
                      </a:cubicBezTo>
                      <a:cubicBezTo>
                        <a:pt x="7356" y="1262"/>
                        <a:pt x="13981" y="0"/>
                        <a:pt x="19142" y="3052"/>
                      </a:cubicBezTo>
                      <a:lnTo>
                        <a:pt x="20357" y="3886"/>
                      </a:lnTo>
                      <a:close/>
                    </a:path>
                  </a:pathLst>
                </a:custGeom>
                <a:solidFill>
                  <a:srgbClr val="DDA43B"/>
                </a:solidFill>
                <a:ln>
                  <a:noFill/>
                </a:ln>
              </p:spPr>
            </p:sp>
            <p:sp>
              <p:nvSpPr>
                <p:cNvPr id="25" name="Freeform 25"/>
                <p:cNvSpPr/>
                <p:nvPr/>
              </p:nvSpPr>
              <p:spPr>
                <a:xfrm>
                  <a:off x="1149995" y="3387359"/>
                  <a:ext cx="34663" cy="34467"/>
                </a:xfrm>
                <a:custGeom>
                  <a:avLst/>
                  <a:gdLst/>
                  <a:ahLst/>
                  <a:cxnLst/>
                  <a:rect l="l" t="t" r="r" b="b"/>
                  <a:pathLst>
                    <a:path w="34663" h="34467">
                      <a:moveTo>
                        <a:pt x="29998" y="4648"/>
                      </a:moveTo>
                      <a:cubicBezTo>
                        <a:pt x="34240" y="8890"/>
                        <a:pt x="34663" y="15625"/>
                        <a:pt x="30986" y="20364"/>
                      </a:cubicBezTo>
                      <a:lnTo>
                        <a:pt x="29998" y="21483"/>
                      </a:lnTo>
                      <a:lnTo>
                        <a:pt x="21664" y="29818"/>
                      </a:lnTo>
                      <a:cubicBezTo>
                        <a:pt x="17217" y="34249"/>
                        <a:pt x="10093" y="34467"/>
                        <a:pt x="5385" y="30315"/>
                      </a:cubicBezTo>
                      <a:cubicBezTo>
                        <a:pt x="676" y="26163"/>
                        <a:pt x="0" y="19068"/>
                        <a:pt x="3840" y="14102"/>
                      </a:cubicBezTo>
                      <a:lnTo>
                        <a:pt x="4828" y="12982"/>
                      </a:lnTo>
                      <a:lnTo>
                        <a:pt x="13163" y="4648"/>
                      </a:lnTo>
                      <a:cubicBezTo>
                        <a:pt x="17812" y="0"/>
                        <a:pt x="25349" y="0"/>
                        <a:pt x="29998" y="4648"/>
                      </a:cubicBezTo>
                      <a:close/>
                    </a:path>
                  </a:pathLst>
                </a:custGeom>
                <a:solidFill>
                  <a:srgbClr val="DDA43B"/>
                </a:solidFill>
                <a:ln>
                  <a:noFill/>
                </a:ln>
              </p:spPr>
            </p:sp>
            <p:sp>
              <p:nvSpPr>
                <p:cNvPr id="26" name="Freeform 26"/>
                <p:cNvSpPr/>
                <p:nvPr/>
              </p:nvSpPr>
              <p:spPr>
                <a:xfrm>
                  <a:off x="1083469" y="3357562"/>
                  <a:ext cx="23812" cy="36054"/>
                </a:xfrm>
                <a:custGeom>
                  <a:avLst/>
                  <a:gdLst/>
                  <a:ahLst/>
                  <a:cxnLst/>
                  <a:rect l="l" t="t" r="r" b="b"/>
                  <a:pathLst>
                    <a:path w="23812" h="36054">
                      <a:moveTo>
                        <a:pt x="11906" y="0"/>
                      </a:moveTo>
                      <a:cubicBezTo>
                        <a:pt x="17942" y="1"/>
                        <a:pt x="23023" y="4519"/>
                        <a:pt x="23729" y="10513"/>
                      </a:cubicBezTo>
                      <a:lnTo>
                        <a:pt x="23812" y="11906"/>
                      </a:lnTo>
                      <a:lnTo>
                        <a:pt x="23812" y="23812"/>
                      </a:lnTo>
                      <a:cubicBezTo>
                        <a:pt x="23806" y="30112"/>
                        <a:pt x="18893" y="35316"/>
                        <a:pt x="12604" y="35685"/>
                      </a:cubicBezTo>
                      <a:cubicBezTo>
                        <a:pt x="6315" y="36054"/>
                        <a:pt x="827" y="31461"/>
                        <a:pt x="83" y="25206"/>
                      </a:cubicBezTo>
                      <a:lnTo>
                        <a:pt x="0" y="23812"/>
                      </a:lnTo>
                      <a:lnTo>
                        <a:pt x="0" y="11906"/>
                      </a:lnTo>
                      <a:cubicBezTo>
                        <a:pt x="0" y="5331"/>
                        <a:pt x="5331" y="0"/>
                        <a:pt x="11906" y="0"/>
                      </a:cubicBezTo>
                      <a:close/>
                    </a:path>
                  </a:pathLst>
                </a:custGeom>
                <a:solidFill>
                  <a:srgbClr val="DDA43B"/>
                </a:solidFill>
                <a:ln>
                  <a:noFill/>
                </a:ln>
              </p:spPr>
            </p:sp>
            <p:sp>
              <p:nvSpPr>
                <p:cNvPr id="27" name="Freeform 27"/>
                <p:cNvSpPr/>
                <p:nvPr/>
              </p:nvSpPr>
              <p:spPr>
                <a:xfrm>
                  <a:off x="1035844" y="3417092"/>
                  <a:ext cx="119532" cy="119982"/>
                </a:xfrm>
                <a:custGeom>
                  <a:avLst/>
                  <a:gdLst/>
                  <a:ahLst/>
                  <a:cxnLst/>
                  <a:rect l="l" t="t" r="r" b="b"/>
                  <a:pathLst>
                    <a:path w="119532" h="119982">
                      <a:moveTo>
                        <a:pt x="59531" y="2"/>
                      </a:moveTo>
                      <a:cubicBezTo>
                        <a:pt x="92074" y="0"/>
                        <a:pt x="118588" y="26130"/>
                        <a:pt x="119060" y="58669"/>
                      </a:cubicBezTo>
                      <a:cubicBezTo>
                        <a:pt x="119532" y="91209"/>
                        <a:pt x="93788" y="118097"/>
                        <a:pt x="61259" y="119039"/>
                      </a:cubicBezTo>
                      <a:cubicBezTo>
                        <a:pt x="28730" y="119982"/>
                        <a:pt x="1472" y="94629"/>
                        <a:pt x="60" y="62117"/>
                      </a:cubicBezTo>
                      <a:lnTo>
                        <a:pt x="0" y="59533"/>
                      </a:lnTo>
                      <a:lnTo>
                        <a:pt x="60" y="56949"/>
                      </a:lnTo>
                      <a:cubicBezTo>
                        <a:pt x="1443" y="25107"/>
                        <a:pt x="27659" y="4"/>
                        <a:pt x="59531" y="2"/>
                      </a:cubicBezTo>
                      <a:close/>
                    </a:path>
                  </a:pathLst>
                </a:custGeom>
                <a:solidFill>
                  <a:srgbClr val="DDA43B"/>
                </a:solidFill>
                <a:ln>
                  <a:noFill/>
                </a:ln>
              </p:spPr>
            </p:sp>
          </p:grpSp>
          <p:sp>
            <p:nvSpPr>
              <p:cNvPr id="29" name="TextBox 29"/>
              <p:cNvSpPr txBox="1"/>
              <p:nvPr/>
            </p:nvSpPr>
            <p:spPr>
              <a:xfrm>
                <a:off x="1509712" y="3307556"/>
                <a:ext cx="2625025"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SHT40 瑞士高精度空气温湿度芯片</a:t>
                </a:r>
              </a:p>
            </p:txBody>
          </p:sp>
          <p:sp>
            <p:nvSpPr>
              <p:cNvPr id="30" name="TextBox 30"/>
              <p:cNvSpPr txBox="1"/>
              <p:nvPr/>
            </p:nvSpPr>
            <p:spPr>
              <a:xfrm>
                <a:off x="1511618" y="3533299"/>
                <a:ext cx="4474726"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I2C (0x44) 读取 airTempC &amp; airHumidityPercent，误差低至 ±1.5%。</a:t>
                </a:r>
              </a:p>
            </p:txBody>
          </p:sp>
        </p:grpSp>
        <p:grpSp>
          <p:nvGrpSpPr>
            <p:cNvPr id="36" name="Group 36"/>
            <p:cNvGrpSpPr/>
            <p:nvPr/>
          </p:nvGrpSpPr>
          <p:grpSpPr>
            <a:xfrm>
              <a:off x="857250" y="4191000"/>
              <a:ext cx="5136214" cy="492919"/>
              <a:chOff x="857250" y="4191000"/>
              <a:chExt cx="5136214" cy="492919"/>
            </a:xfrm>
          </p:grpSpPr>
          <p:sp>
            <p:nvSpPr>
              <p:cNvPr id="32" name="Freeform 32"/>
              <p:cNvSpPr/>
              <p:nvPr/>
            </p:nvSpPr>
            <p:spPr>
              <a:xfrm>
                <a:off x="857250" y="4191000"/>
                <a:ext cx="476250" cy="476250"/>
              </a:xfrm>
              <a:custGeom>
                <a:avLst/>
                <a:gdLst/>
                <a:ahLst/>
                <a:cxnLst/>
                <a:rect l="l" t="t" r="r" b="b"/>
                <a:pathLst>
                  <a:path w="476250" h="476250">
                    <a:moveTo>
                      <a:pt x="57150" y="0"/>
                    </a:moveTo>
                    <a:lnTo>
                      <a:pt x="419100" y="0"/>
                    </a:lnTo>
                    <a:cubicBezTo>
                      <a:pt x="450663" y="0"/>
                      <a:pt x="476250" y="25587"/>
                      <a:pt x="476250" y="57150"/>
                    </a:cubicBezTo>
                    <a:lnTo>
                      <a:pt x="476250" y="419100"/>
                    </a:lnTo>
                    <a:cubicBezTo>
                      <a:pt x="476250" y="450663"/>
                      <a:pt x="450663" y="476250"/>
                      <a:pt x="419100" y="476250"/>
                    </a:cubicBezTo>
                    <a:lnTo>
                      <a:pt x="57150" y="476250"/>
                    </a:lnTo>
                    <a:cubicBezTo>
                      <a:pt x="25587" y="476250"/>
                      <a:pt x="0" y="450663"/>
                      <a:pt x="0" y="419100"/>
                    </a:cubicBezTo>
                    <a:lnTo>
                      <a:pt x="0" y="57150"/>
                    </a:lnTo>
                    <a:cubicBezTo>
                      <a:pt x="0" y="25587"/>
                      <a:pt x="25587" y="0"/>
                      <a:pt x="57150" y="0"/>
                    </a:cubicBezTo>
                    <a:close/>
                  </a:path>
                </a:pathLst>
              </a:custGeom>
              <a:solidFill>
                <a:srgbClr val="F4F6F4"/>
              </a:solidFill>
              <a:ln w="9525">
                <a:solidFill>
                  <a:srgbClr val="D1DAD4"/>
                </a:solidFill>
              </a:ln>
            </p:spPr>
          </p:sp>
          <p:sp>
            <p:nvSpPr>
              <p:cNvPr id="33" name="Freeform 33"/>
              <p:cNvSpPr/>
              <p:nvPr/>
            </p:nvSpPr>
            <p:spPr>
              <a:xfrm>
                <a:off x="971398" y="4319213"/>
                <a:ext cx="247633" cy="218234"/>
              </a:xfrm>
              <a:custGeom>
                <a:avLst/>
                <a:gdLst/>
                <a:ahLst/>
                <a:cxnLst/>
                <a:rect l="l" t="t" r="r" b="b"/>
                <a:pathLst>
                  <a:path w="247633" h="218234">
                    <a:moveTo>
                      <a:pt x="64196" y="3637"/>
                    </a:moveTo>
                    <a:cubicBezTo>
                      <a:pt x="85540" y="0"/>
                      <a:pt x="107382" y="6240"/>
                      <a:pt x="123584" y="20603"/>
                    </a:cubicBezTo>
                    <a:lnTo>
                      <a:pt x="124025" y="20996"/>
                    </a:lnTo>
                    <a:lnTo>
                      <a:pt x="124429" y="20639"/>
                    </a:lnTo>
                    <a:cubicBezTo>
                      <a:pt x="139874" y="7085"/>
                      <a:pt x="160406" y="838"/>
                      <a:pt x="180782" y="3494"/>
                    </a:cubicBezTo>
                    <a:lnTo>
                      <a:pt x="183711" y="3923"/>
                    </a:lnTo>
                    <a:cubicBezTo>
                      <a:pt x="209575" y="8388"/>
                      <a:pt x="230908" y="26678"/>
                      <a:pt x="239271" y="51557"/>
                    </a:cubicBezTo>
                    <a:cubicBezTo>
                      <a:pt x="247633" y="76437"/>
                      <a:pt x="241679" y="103898"/>
                      <a:pt x="223763" y="123080"/>
                    </a:cubicBezTo>
                    <a:lnTo>
                      <a:pt x="221620" y="125283"/>
                    </a:lnTo>
                    <a:lnTo>
                      <a:pt x="221049" y="125771"/>
                    </a:lnTo>
                    <a:lnTo>
                      <a:pt x="132347" y="213627"/>
                    </a:lnTo>
                    <a:cubicBezTo>
                      <a:pt x="128114" y="217817"/>
                      <a:pt x="121436" y="218234"/>
                      <a:pt x="116714" y="214604"/>
                    </a:cubicBezTo>
                    <a:lnTo>
                      <a:pt x="115595" y="213627"/>
                    </a:lnTo>
                    <a:lnTo>
                      <a:pt x="26381" y="125259"/>
                    </a:lnTo>
                    <a:cubicBezTo>
                      <a:pt x="7110" y="106508"/>
                      <a:pt x="0" y="78525"/>
                      <a:pt x="7983" y="52849"/>
                    </a:cubicBezTo>
                    <a:cubicBezTo>
                      <a:pt x="15966" y="27173"/>
                      <a:pt x="37690" y="8155"/>
                      <a:pt x="64196" y="3637"/>
                    </a:cubicBezTo>
                    <a:close/>
                  </a:path>
                </a:pathLst>
              </a:custGeom>
              <a:solidFill>
                <a:srgbClr val="8E5B3C"/>
              </a:solidFill>
              <a:ln>
                <a:noFill/>
              </a:ln>
            </p:spPr>
          </p:sp>
          <p:sp>
            <p:nvSpPr>
              <p:cNvPr id="34" name="TextBox 34"/>
              <p:cNvSpPr txBox="1"/>
              <p:nvPr/>
            </p:nvSpPr>
            <p:spPr>
              <a:xfrm>
                <a:off x="1509712" y="4260056"/>
                <a:ext cx="2754416"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GY-302 / BH1750 环境光照强传感器</a:t>
                </a:r>
              </a:p>
            </p:txBody>
          </p:sp>
          <p:sp>
            <p:nvSpPr>
              <p:cNvPr id="35" name="TextBox 35"/>
              <p:cNvSpPr txBox="1"/>
              <p:nvPr/>
            </p:nvSpPr>
            <p:spPr>
              <a:xfrm>
                <a:off x="1511618" y="4485799"/>
                <a:ext cx="4481846"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I2C (0x23) 采集环境光照 lux 值，作为植物日光浴与避光的计算基础。</a:t>
                </a:r>
              </a:p>
            </p:txBody>
          </p:sp>
        </p:grpSp>
      </p:grpSp>
      <p:grpSp>
        <p:nvGrpSpPr>
          <p:cNvPr id="61" name="Group 61"/>
          <p:cNvGrpSpPr/>
          <p:nvPr/>
        </p:nvGrpSpPr>
        <p:grpSpPr>
          <a:xfrm>
            <a:off x="6286500" y="1143000"/>
            <a:ext cx="5334000" cy="4381500"/>
            <a:chOff x="6286500" y="1143000"/>
            <a:chExt cx="5334000" cy="4381500"/>
          </a:xfrm>
        </p:grpSpPr>
        <p:sp>
          <p:nvSpPr>
            <p:cNvPr id="38" name="Freeform 38"/>
            <p:cNvSpPr/>
            <p:nvPr/>
          </p:nvSpPr>
          <p:spPr>
            <a:xfrm>
              <a:off x="6286500" y="1143000"/>
              <a:ext cx="5334000" cy="4381500"/>
            </a:xfrm>
            <a:custGeom>
              <a:avLst/>
              <a:gdLst/>
              <a:ahLst/>
              <a:cxnLst/>
              <a:rect l="l" t="t" r="r" b="b"/>
              <a:pathLst>
                <a:path w="5334000" h="4381500">
                  <a:moveTo>
                    <a:pt x="114300" y="0"/>
                  </a:moveTo>
                  <a:lnTo>
                    <a:pt x="5219700" y="0"/>
                  </a:lnTo>
                  <a:cubicBezTo>
                    <a:pt x="5282826" y="0"/>
                    <a:pt x="5334000" y="51174"/>
                    <a:pt x="5334000" y="114300"/>
                  </a:cubicBezTo>
                  <a:lnTo>
                    <a:pt x="5334000" y="4267200"/>
                  </a:lnTo>
                  <a:cubicBezTo>
                    <a:pt x="5334000" y="4330326"/>
                    <a:pt x="5282826" y="4381500"/>
                    <a:pt x="52197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39" name="Freeform 39"/>
            <p:cNvSpPr/>
            <p:nvPr/>
          </p:nvSpPr>
          <p:spPr>
            <a:xfrm>
              <a:off x="6286500" y="1143000"/>
              <a:ext cx="5334000" cy="142875"/>
            </a:xfrm>
            <a:custGeom>
              <a:avLst/>
              <a:gdLst/>
              <a:ahLst/>
              <a:cxnLst/>
              <a:rect l="l" t="t" r="r" b="b"/>
              <a:pathLst>
                <a:path w="5334000" h="142875">
                  <a:moveTo>
                    <a:pt x="0" y="114300"/>
                  </a:moveTo>
                  <a:cubicBezTo>
                    <a:pt x="0" y="51174"/>
                    <a:pt x="51174" y="0"/>
                    <a:pt x="114300" y="0"/>
                  </a:cubicBezTo>
                  <a:lnTo>
                    <a:pt x="5219700" y="0"/>
                  </a:lnTo>
                  <a:cubicBezTo>
                    <a:pt x="5282826" y="0"/>
                    <a:pt x="5334000" y="51174"/>
                    <a:pt x="5334000" y="114300"/>
                  </a:cubicBezTo>
                  <a:lnTo>
                    <a:pt x="5334000" y="142875"/>
                  </a:lnTo>
                  <a:lnTo>
                    <a:pt x="0" y="142875"/>
                  </a:lnTo>
                  <a:close/>
                </a:path>
              </a:pathLst>
            </a:custGeom>
            <a:solidFill>
              <a:srgbClr val="2B583E"/>
            </a:solidFill>
            <a:ln>
              <a:noFill/>
            </a:ln>
          </p:spPr>
        </p:sp>
        <p:sp>
          <p:nvSpPr>
            <p:cNvPr id="40" name="Freeform 40"/>
            <p:cNvSpPr/>
            <p:nvPr/>
          </p:nvSpPr>
          <p:spPr>
            <a:xfrm>
              <a:off x="6572250" y="1476375"/>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2B583E">
                <a:alpha val="8000"/>
              </a:srgbClr>
            </a:solidFill>
            <a:ln>
              <a:noFill/>
            </a:ln>
          </p:spPr>
        </p:sp>
        <p:sp>
          <p:nvSpPr>
            <p:cNvPr id="41" name="Freeform 41"/>
            <p:cNvSpPr/>
            <p:nvPr/>
          </p:nvSpPr>
          <p:spPr>
            <a:xfrm>
              <a:off x="6657680" y="1573006"/>
              <a:ext cx="210436" cy="188414"/>
            </a:xfrm>
            <a:custGeom>
              <a:avLst/>
              <a:gdLst/>
              <a:ahLst/>
              <a:cxnLst/>
              <a:rect l="l" t="t" r="r" b="b"/>
              <a:pathLst>
                <a:path w="210436" h="188414">
                  <a:moveTo>
                    <a:pt x="46215" y="26337"/>
                  </a:moveTo>
                  <a:cubicBezTo>
                    <a:pt x="83353" y="0"/>
                    <a:pt x="136398" y="2153"/>
                    <a:pt x="170736" y="31432"/>
                  </a:cubicBezTo>
                  <a:cubicBezTo>
                    <a:pt x="205664" y="61236"/>
                    <a:pt x="210436" y="109899"/>
                    <a:pt x="181708" y="144761"/>
                  </a:cubicBezTo>
                  <a:cubicBezTo>
                    <a:pt x="154648" y="177594"/>
                    <a:pt x="105842" y="188414"/>
                    <a:pt x="65208" y="171479"/>
                  </a:cubicBezTo>
                  <a:lnTo>
                    <a:pt x="62989" y="170517"/>
                  </a:lnTo>
                  <a:lnTo>
                    <a:pt x="21326" y="179384"/>
                  </a:lnTo>
                  <a:lnTo>
                    <a:pt x="20945" y="179441"/>
                  </a:lnTo>
                  <a:lnTo>
                    <a:pt x="20612" y="179508"/>
                  </a:lnTo>
                  <a:lnTo>
                    <a:pt x="20441" y="179508"/>
                  </a:lnTo>
                  <a:lnTo>
                    <a:pt x="20231" y="179556"/>
                  </a:lnTo>
                  <a:lnTo>
                    <a:pt x="19869" y="179556"/>
                  </a:lnTo>
                  <a:lnTo>
                    <a:pt x="19555" y="179594"/>
                  </a:lnTo>
                  <a:lnTo>
                    <a:pt x="19355" y="179584"/>
                  </a:lnTo>
                  <a:lnTo>
                    <a:pt x="19136" y="179594"/>
                  </a:lnTo>
                  <a:lnTo>
                    <a:pt x="18821" y="179565"/>
                  </a:lnTo>
                  <a:lnTo>
                    <a:pt x="18488" y="179565"/>
                  </a:lnTo>
                  <a:lnTo>
                    <a:pt x="18278" y="179527"/>
                  </a:lnTo>
                  <a:lnTo>
                    <a:pt x="18069" y="179508"/>
                  </a:lnTo>
                  <a:lnTo>
                    <a:pt x="17736" y="179441"/>
                  </a:lnTo>
                  <a:lnTo>
                    <a:pt x="17412" y="179394"/>
                  </a:lnTo>
                  <a:lnTo>
                    <a:pt x="17259" y="179356"/>
                  </a:lnTo>
                  <a:lnTo>
                    <a:pt x="17031" y="179308"/>
                  </a:lnTo>
                  <a:lnTo>
                    <a:pt x="16564" y="179156"/>
                  </a:lnTo>
                  <a:lnTo>
                    <a:pt x="16335" y="179108"/>
                  </a:lnTo>
                  <a:lnTo>
                    <a:pt x="16231" y="179060"/>
                  </a:lnTo>
                  <a:lnTo>
                    <a:pt x="16021" y="178994"/>
                  </a:lnTo>
                  <a:lnTo>
                    <a:pt x="15592" y="178803"/>
                  </a:lnTo>
                  <a:lnTo>
                    <a:pt x="15307" y="178689"/>
                  </a:lnTo>
                  <a:lnTo>
                    <a:pt x="15202" y="178632"/>
                  </a:lnTo>
                  <a:lnTo>
                    <a:pt x="15069" y="178575"/>
                  </a:lnTo>
                  <a:lnTo>
                    <a:pt x="14773" y="178403"/>
                  </a:lnTo>
                  <a:lnTo>
                    <a:pt x="14345" y="178175"/>
                  </a:lnTo>
                  <a:lnTo>
                    <a:pt x="14192" y="178070"/>
                  </a:lnTo>
                  <a:lnTo>
                    <a:pt x="13840" y="177822"/>
                  </a:lnTo>
                  <a:lnTo>
                    <a:pt x="13459" y="177565"/>
                  </a:lnTo>
                  <a:lnTo>
                    <a:pt x="13440" y="177527"/>
                  </a:lnTo>
                  <a:lnTo>
                    <a:pt x="13316" y="177441"/>
                  </a:lnTo>
                  <a:lnTo>
                    <a:pt x="12906" y="177060"/>
                  </a:lnTo>
                  <a:lnTo>
                    <a:pt x="12668" y="176870"/>
                  </a:lnTo>
                  <a:lnTo>
                    <a:pt x="12611" y="176803"/>
                  </a:lnTo>
                  <a:lnTo>
                    <a:pt x="12078" y="176212"/>
                  </a:lnTo>
                  <a:lnTo>
                    <a:pt x="11954" y="176079"/>
                  </a:lnTo>
                  <a:lnTo>
                    <a:pt x="11849" y="175946"/>
                  </a:lnTo>
                  <a:lnTo>
                    <a:pt x="11478" y="175412"/>
                  </a:lnTo>
                  <a:lnTo>
                    <a:pt x="11344" y="175231"/>
                  </a:lnTo>
                  <a:lnTo>
                    <a:pt x="11297" y="175136"/>
                  </a:lnTo>
                  <a:lnTo>
                    <a:pt x="10897" y="174441"/>
                  </a:lnTo>
                  <a:lnTo>
                    <a:pt x="10830" y="174327"/>
                  </a:lnTo>
                  <a:lnTo>
                    <a:pt x="10792" y="174250"/>
                  </a:lnTo>
                  <a:lnTo>
                    <a:pt x="10725" y="174136"/>
                  </a:lnTo>
                  <a:lnTo>
                    <a:pt x="10592" y="173774"/>
                  </a:lnTo>
                  <a:lnTo>
                    <a:pt x="10401" y="173374"/>
                  </a:lnTo>
                  <a:lnTo>
                    <a:pt x="10363" y="173222"/>
                  </a:lnTo>
                  <a:lnTo>
                    <a:pt x="10325" y="173126"/>
                  </a:lnTo>
                  <a:lnTo>
                    <a:pt x="10163" y="172545"/>
                  </a:lnTo>
                  <a:lnTo>
                    <a:pt x="10096" y="172374"/>
                  </a:lnTo>
                  <a:lnTo>
                    <a:pt x="10077" y="172231"/>
                  </a:lnTo>
                  <a:lnTo>
                    <a:pt x="10030" y="172050"/>
                  </a:lnTo>
                  <a:lnTo>
                    <a:pt x="9982" y="171736"/>
                  </a:lnTo>
                  <a:lnTo>
                    <a:pt x="9906" y="171336"/>
                  </a:lnTo>
                  <a:lnTo>
                    <a:pt x="9887" y="171040"/>
                  </a:lnTo>
                  <a:lnTo>
                    <a:pt x="9858" y="170945"/>
                  </a:lnTo>
                  <a:lnTo>
                    <a:pt x="9858" y="170793"/>
                  </a:lnTo>
                  <a:lnTo>
                    <a:pt x="9820" y="170278"/>
                  </a:lnTo>
                  <a:lnTo>
                    <a:pt x="9830" y="169936"/>
                  </a:lnTo>
                  <a:lnTo>
                    <a:pt x="9839" y="169716"/>
                  </a:lnTo>
                  <a:lnTo>
                    <a:pt x="9858" y="169212"/>
                  </a:lnTo>
                  <a:lnTo>
                    <a:pt x="9896" y="168973"/>
                  </a:lnTo>
                  <a:lnTo>
                    <a:pt x="9896" y="168793"/>
                  </a:lnTo>
                  <a:lnTo>
                    <a:pt x="9973" y="168459"/>
                  </a:lnTo>
                  <a:lnTo>
                    <a:pt x="10020" y="168135"/>
                  </a:lnTo>
                  <a:lnTo>
                    <a:pt x="10068" y="167945"/>
                  </a:lnTo>
                  <a:lnTo>
                    <a:pt x="10106" y="167754"/>
                  </a:lnTo>
                  <a:lnTo>
                    <a:pt x="10277" y="167183"/>
                  </a:lnTo>
                  <a:lnTo>
                    <a:pt x="10306" y="167059"/>
                  </a:lnTo>
                  <a:lnTo>
                    <a:pt x="21260" y="134198"/>
                  </a:lnTo>
                  <a:lnTo>
                    <a:pt x="21050" y="133845"/>
                  </a:lnTo>
                  <a:cubicBezTo>
                    <a:pt x="0" y="98155"/>
                    <a:pt x="9535" y="53921"/>
                    <a:pt x="44034" y="27937"/>
                  </a:cubicBezTo>
                  <a:close/>
                </a:path>
              </a:pathLst>
            </a:custGeom>
            <a:solidFill>
              <a:srgbClr val="2B583E"/>
            </a:solidFill>
            <a:ln>
              <a:noFill/>
            </a:ln>
          </p:spPr>
        </p:sp>
        <p:sp>
          <p:nvSpPr>
            <p:cNvPr id="42" name="TextBox 42"/>
            <p:cNvSpPr txBox="1"/>
            <p:nvPr/>
          </p:nvSpPr>
          <p:spPr>
            <a:xfrm>
              <a:off x="7077075" y="1562100"/>
              <a:ext cx="3511534" cy="304800"/>
            </a:xfrm>
            <a:prstGeom prst="rect">
              <a:avLst/>
            </a:prstGeom>
            <a:noFill/>
            <a:ln>
              <a:noFill/>
            </a:ln>
          </p:spPr>
          <p:txBody>
            <a:bodyPr wrap="none" lIns="0" tIns="0" rIns="0" bIns="0" anchor="t" anchorCtr="0">
              <a:spAutoFit/>
            </a:bodyPr>
            <a:lstStyle/>
            <a:p>
              <a:pPr algn="l"/>
              <a:r>
                <a:rPr lang="zh-CN" sz="1500" b="1" dirty="0">
                  <a:solidFill>
                    <a:srgbClr val="1C2E24"/>
                  </a:solidFill>
                  <a:latin typeface="Quicksand"/>
                  <a:ea typeface="Microsoft YaHei"/>
                  <a:cs typeface="Quicksand"/>
                </a:rPr>
                <a:t>毫秒级 MQTT 协议与 SoftAP 配网</a:t>
              </a:r>
            </a:p>
          </p:txBody>
        </p:sp>
        <p:sp>
          <p:nvSpPr>
            <p:cNvPr id="43" name="TextBox 43"/>
            <p:cNvSpPr txBox="1"/>
            <p:nvPr/>
          </p:nvSpPr>
          <p:spPr>
            <a:xfrm>
              <a:off x="7083742" y="1847374"/>
              <a:ext cx="1875949" cy="198120"/>
            </a:xfrm>
            <a:prstGeom prst="rect">
              <a:avLst/>
            </a:prstGeom>
            <a:noFill/>
            <a:ln>
              <a:noFill/>
            </a:ln>
          </p:spPr>
          <p:txBody>
            <a:bodyPr wrap="none" lIns="0" tIns="0" rIns="0" bIns="0" anchor="t" anchorCtr="0">
              <a:spAutoFit/>
            </a:bodyPr>
            <a:lstStyle/>
            <a:p>
              <a:pPr algn="l"/>
              <a:r>
                <a:rPr lang="zh-CN" sz="975" dirty="0">
                  <a:solidFill>
                    <a:srgbClr val="809085"/>
                  </a:solidFill>
                  <a:latin typeface="Plus Jakarta Sans"/>
                  <a:ea typeface="Microsoft YaHei"/>
                  <a:cs typeface="Plus Jakarta Sans"/>
                </a:rPr>
                <a:t>实现底端设备与云端高速闭环</a:t>
              </a:r>
            </a:p>
          </p:txBody>
        </p:sp>
        <p:grpSp>
          <p:nvGrpSpPr>
            <p:cNvPr id="52" name="Group 52"/>
            <p:cNvGrpSpPr/>
            <p:nvPr/>
          </p:nvGrpSpPr>
          <p:grpSpPr>
            <a:xfrm>
              <a:off x="6572250" y="2286000"/>
              <a:ext cx="4452700" cy="711994"/>
              <a:chOff x="6572250" y="2286000"/>
              <a:chExt cx="4452700" cy="711994"/>
            </a:xfrm>
          </p:grpSpPr>
          <p:sp>
            <p:nvSpPr>
              <p:cNvPr id="44" name="Freeform 44"/>
              <p:cNvSpPr/>
              <p:nvPr/>
            </p:nvSpPr>
            <p:spPr>
              <a:xfrm>
                <a:off x="6572250" y="2286000"/>
                <a:ext cx="476250" cy="476250"/>
              </a:xfrm>
              <a:custGeom>
                <a:avLst/>
                <a:gdLst/>
                <a:ahLst/>
                <a:cxnLst/>
                <a:rect l="l" t="t" r="r" b="b"/>
                <a:pathLst>
                  <a:path w="476250" h="476250">
                    <a:moveTo>
                      <a:pt x="57150" y="0"/>
                    </a:moveTo>
                    <a:lnTo>
                      <a:pt x="419100" y="0"/>
                    </a:lnTo>
                    <a:cubicBezTo>
                      <a:pt x="450663" y="0"/>
                      <a:pt x="476250" y="25587"/>
                      <a:pt x="476250" y="57150"/>
                    </a:cubicBezTo>
                    <a:lnTo>
                      <a:pt x="476250" y="419100"/>
                    </a:lnTo>
                    <a:cubicBezTo>
                      <a:pt x="476250" y="450663"/>
                      <a:pt x="450663" y="476250"/>
                      <a:pt x="419100" y="476250"/>
                    </a:cubicBezTo>
                    <a:lnTo>
                      <a:pt x="57150" y="476250"/>
                    </a:lnTo>
                    <a:cubicBezTo>
                      <a:pt x="25587" y="476250"/>
                      <a:pt x="0" y="450663"/>
                      <a:pt x="0" y="419100"/>
                    </a:cubicBezTo>
                    <a:lnTo>
                      <a:pt x="0" y="57150"/>
                    </a:lnTo>
                    <a:cubicBezTo>
                      <a:pt x="0" y="25587"/>
                      <a:pt x="25587" y="0"/>
                      <a:pt x="57150" y="0"/>
                    </a:cubicBezTo>
                    <a:close/>
                  </a:path>
                </a:pathLst>
              </a:custGeom>
              <a:solidFill>
                <a:srgbClr val="F4F6F4"/>
              </a:solidFill>
              <a:ln w="9525">
                <a:solidFill>
                  <a:srgbClr val="D1DAD4"/>
                </a:solidFill>
              </a:ln>
            </p:spPr>
          </p:sp>
          <p:grpSp>
            <p:nvGrpSpPr>
              <p:cNvPr id="48" name="Group 48"/>
              <p:cNvGrpSpPr/>
              <p:nvPr/>
            </p:nvGrpSpPr>
            <p:grpSpPr>
              <a:xfrm>
                <a:off x="6703218" y="2405062"/>
                <a:ext cx="214313" cy="238125"/>
                <a:chOff x="6703218" y="2405062"/>
                <a:chExt cx="214313" cy="238125"/>
              </a:xfrm>
            </p:grpSpPr>
            <p:sp>
              <p:nvSpPr>
                <p:cNvPr id="45" name="Freeform 45"/>
                <p:cNvSpPr/>
                <p:nvPr/>
              </p:nvSpPr>
              <p:spPr>
                <a:xfrm>
                  <a:off x="6703219" y="2568547"/>
                  <a:ext cx="214312" cy="74640"/>
                </a:xfrm>
                <a:custGeom>
                  <a:avLst/>
                  <a:gdLst/>
                  <a:ahLst/>
                  <a:cxnLst/>
                  <a:rect l="l" t="t" r="r" b="b"/>
                  <a:pathLst>
                    <a:path w="214312" h="74640">
                      <a:moveTo>
                        <a:pt x="0" y="0"/>
                      </a:moveTo>
                      <a:cubicBezTo>
                        <a:pt x="23432" y="17943"/>
                        <a:pt x="62317" y="27015"/>
                        <a:pt x="107156" y="27015"/>
                      </a:cubicBezTo>
                      <a:cubicBezTo>
                        <a:pt x="151924" y="27015"/>
                        <a:pt x="190798" y="17967"/>
                        <a:pt x="214312" y="202"/>
                      </a:cubicBezTo>
                      <a:lnTo>
                        <a:pt x="214312" y="27015"/>
                      </a:lnTo>
                      <a:cubicBezTo>
                        <a:pt x="214312" y="55888"/>
                        <a:pt x="167938" y="73878"/>
                        <a:pt x="110811" y="74616"/>
                      </a:cubicBezTo>
                      <a:lnTo>
                        <a:pt x="107156" y="74640"/>
                      </a:lnTo>
                      <a:cubicBezTo>
                        <a:pt x="48363" y="74640"/>
                        <a:pt x="0" y="56507"/>
                        <a:pt x="0" y="27015"/>
                      </a:cubicBezTo>
                      <a:close/>
                    </a:path>
                  </a:pathLst>
                </a:custGeom>
                <a:solidFill>
                  <a:srgbClr val="8E5B3C"/>
                </a:solidFill>
                <a:ln>
                  <a:noFill/>
                </a:ln>
              </p:spPr>
            </p:sp>
            <p:sp>
              <p:nvSpPr>
                <p:cNvPr id="46" name="Freeform 46"/>
                <p:cNvSpPr/>
                <p:nvPr/>
              </p:nvSpPr>
              <p:spPr>
                <a:xfrm>
                  <a:off x="6703219" y="2497110"/>
                  <a:ext cx="214312" cy="74640"/>
                </a:xfrm>
                <a:custGeom>
                  <a:avLst/>
                  <a:gdLst/>
                  <a:ahLst/>
                  <a:cxnLst/>
                  <a:rect l="l" t="t" r="r" b="b"/>
                  <a:pathLst>
                    <a:path w="214312" h="74640">
                      <a:moveTo>
                        <a:pt x="0" y="0"/>
                      </a:moveTo>
                      <a:cubicBezTo>
                        <a:pt x="23432" y="17943"/>
                        <a:pt x="62317" y="27015"/>
                        <a:pt x="107156" y="27015"/>
                      </a:cubicBezTo>
                      <a:cubicBezTo>
                        <a:pt x="151924" y="27015"/>
                        <a:pt x="190798" y="17967"/>
                        <a:pt x="214312" y="202"/>
                      </a:cubicBezTo>
                      <a:lnTo>
                        <a:pt x="214312" y="27015"/>
                      </a:lnTo>
                      <a:cubicBezTo>
                        <a:pt x="214312" y="56507"/>
                        <a:pt x="165949" y="74640"/>
                        <a:pt x="107156" y="74640"/>
                      </a:cubicBezTo>
                      <a:cubicBezTo>
                        <a:pt x="50030" y="74640"/>
                        <a:pt x="2738" y="57519"/>
                        <a:pt x="250" y="29456"/>
                      </a:cubicBezTo>
                      <a:lnTo>
                        <a:pt x="60" y="28254"/>
                      </a:lnTo>
                      <a:lnTo>
                        <a:pt x="0" y="27015"/>
                      </a:lnTo>
                      <a:close/>
                    </a:path>
                  </a:pathLst>
                </a:custGeom>
                <a:solidFill>
                  <a:srgbClr val="8E5B3C"/>
                </a:solidFill>
                <a:ln>
                  <a:noFill/>
                </a:ln>
              </p:spPr>
            </p:sp>
            <p:sp>
              <p:nvSpPr>
                <p:cNvPr id="47" name="Freeform 47"/>
                <p:cNvSpPr/>
                <p:nvPr/>
              </p:nvSpPr>
              <p:spPr>
                <a:xfrm>
                  <a:off x="6703218" y="2405062"/>
                  <a:ext cx="214313" cy="95250"/>
                </a:xfrm>
                <a:custGeom>
                  <a:avLst/>
                  <a:gdLst/>
                  <a:ahLst/>
                  <a:cxnLst/>
                  <a:rect l="l" t="t" r="r" b="b"/>
                  <a:pathLst>
                    <a:path w="214313" h="95250">
                      <a:moveTo>
                        <a:pt x="107157" y="0"/>
                      </a:moveTo>
                      <a:cubicBezTo>
                        <a:pt x="119552" y="0"/>
                        <a:pt x="131494" y="810"/>
                        <a:pt x="142602" y="2357"/>
                      </a:cubicBezTo>
                      <a:lnTo>
                        <a:pt x="148186" y="3203"/>
                      </a:lnTo>
                      <a:cubicBezTo>
                        <a:pt x="154854" y="4314"/>
                        <a:pt x="161148" y="5695"/>
                        <a:pt x="167069" y="7346"/>
                      </a:cubicBezTo>
                      <a:lnTo>
                        <a:pt x="172308" y="8906"/>
                      </a:lnTo>
                      <a:lnTo>
                        <a:pt x="173201" y="9192"/>
                      </a:lnTo>
                      <a:cubicBezTo>
                        <a:pt x="176441" y="10257"/>
                        <a:pt x="179639" y="11449"/>
                        <a:pt x="182786" y="12764"/>
                      </a:cubicBezTo>
                      <a:lnTo>
                        <a:pt x="185155" y="13787"/>
                      </a:lnTo>
                      <a:cubicBezTo>
                        <a:pt x="189402" y="15708"/>
                        <a:pt x="193239" y="17812"/>
                        <a:pt x="196668" y="20098"/>
                      </a:cubicBezTo>
                      <a:cubicBezTo>
                        <a:pt x="197978" y="20971"/>
                        <a:pt x="199220" y="21864"/>
                        <a:pt x="200395" y="22777"/>
                      </a:cubicBezTo>
                      <a:cubicBezTo>
                        <a:pt x="203371" y="25086"/>
                        <a:pt x="206047" y="27758"/>
                        <a:pt x="208360" y="30730"/>
                      </a:cubicBezTo>
                      <a:lnTo>
                        <a:pt x="209444" y="32254"/>
                      </a:lnTo>
                      <a:cubicBezTo>
                        <a:pt x="209999" y="33087"/>
                        <a:pt x="210511" y="33925"/>
                        <a:pt x="210980" y="34766"/>
                      </a:cubicBezTo>
                      <a:lnTo>
                        <a:pt x="211813" y="36421"/>
                      </a:lnTo>
                      <a:cubicBezTo>
                        <a:pt x="213107" y="39199"/>
                        <a:pt x="213901" y="42097"/>
                        <a:pt x="214194" y="45113"/>
                      </a:cubicBezTo>
                      <a:lnTo>
                        <a:pt x="214313" y="47625"/>
                      </a:lnTo>
                      <a:cubicBezTo>
                        <a:pt x="214313" y="77117"/>
                        <a:pt x="165950" y="95250"/>
                        <a:pt x="107157" y="95250"/>
                      </a:cubicBezTo>
                      <a:cubicBezTo>
                        <a:pt x="50031" y="95250"/>
                        <a:pt x="2739" y="78129"/>
                        <a:pt x="251" y="50066"/>
                      </a:cubicBezTo>
                      <a:cubicBezTo>
                        <a:pt x="84" y="49263"/>
                        <a:pt x="0" y="48445"/>
                        <a:pt x="1" y="47625"/>
                      </a:cubicBezTo>
                      <a:lnTo>
                        <a:pt x="60" y="46387"/>
                      </a:lnTo>
                      <a:lnTo>
                        <a:pt x="251" y="45196"/>
                      </a:lnTo>
                      <a:cubicBezTo>
                        <a:pt x="2692" y="17740"/>
                        <a:pt x="47995" y="750"/>
                        <a:pt x="103442" y="24"/>
                      </a:cubicBezTo>
                      <a:close/>
                    </a:path>
                  </a:pathLst>
                </a:custGeom>
                <a:solidFill>
                  <a:srgbClr val="8E5B3C"/>
                </a:solidFill>
                <a:ln>
                  <a:noFill/>
                </a:ln>
              </p:spPr>
            </p:sp>
          </p:grpSp>
          <p:sp>
            <p:nvSpPr>
              <p:cNvPr id="49" name="TextBox 49"/>
              <p:cNvSpPr txBox="1"/>
              <p:nvPr/>
            </p:nvSpPr>
            <p:spPr>
              <a:xfrm>
                <a:off x="7224712" y="2355056"/>
                <a:ext cx="1615773"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秒级 MQTT 上报机制</a:t>
                </a:r>
              </a:p>
            </p:txBody>
          </p:sp>
          <p:sp>
            <p:nvSpPr>
              <p:cNvPr id="50" name="TextBox 50"/>
              <p:cNvSpPr txBox="1"/>
              <p:nvPr/>
            </p:nvSpPr>
            <p:spPr>
              <a:xfrm>
                <a:off x="7226618" y="2609374"/>
                <a:ext cx="3798332"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固件向主题</a:t>
                </a:r>
                <a:r>
                  <a:rPr lang="zh-CN" sz="975" dirty="0">
                    <a:solidFill>
                      <a:srgbClr val="8E5B3C"/>
                    </a:solidFill>
                    <a:latin typeface="Consolas"/>
                    <a:ea typeface="Microsoft YaHei"/>
                    <a:cs typeface="Consolas"/>
                  </a:rPr>
                  <a:t>dyn/devices/:deviceId/readings</a:t>
                </a:r>
                <a:r>
                  <a:rPr lang="zh-CN" sz="975" dirty="0">
                    <a:solidFill>
                      <a:srgbClr val="4D5F54"/>
                    </a:solidFill>
                    <a:latin typeface="Plus Jakarta Sans"/>
                    <a:ea typeface="Microsoft YaHei"/>
                    <a:cs typeface="Plus Jakarta Sans"/>
                  </a:rPr>
                  <a:t>发送 JSON 载</a:t>
                </a:r>
              </a:p>
            </p:txBody>
          </p:sp>
          <p:sp>
            <p:nvSpPr>
              <p:cNvPr id="51" name="TextBox 51"/>
              <p:cNvSpPr txBox="1"/>
              <p:nvPr/>
            </p:nvSpPr>
            <p:spPr>
              <a:xfrm>
                <a:off x="7226618" y="2799874"/>
                <a:ext cx="3556254"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荷，服务器高并发 MQTT broker 实时捕获并秒级入库。</a:t>
                </a:r>
              </a:p>
            </p:txBody>
          </p:sp>
        </p:grpSp>
        <p:grpSp>
          <p:nvGrpSpPr>
            <p:cNvPr id="57" name="Group 57"/>
            <p:cNvGrpSpPr/>
            <p:nvPr/>
          </p:nvGrpSpPr>
          <p:grpSpPr>
            <a:xfrm>
              <a:off x="6572250" y="3381375"/>
              <a:ext cx="4709018" cy="711994"/>
              <a:chOff x="6572250" y="3381375"/>
              <a:chExt cx="4709018" cy="711994"/>
            </a:xfrm>
          </p:grpSpPr>
          <p:sp>
            <p:nvSpPr>
              <p:cNvPr id="53" name="Freeform 53"/>
              <p:cNvSpPr/>
              <p:nvPr/>
            </p:nvSpPr>
            <p:spPr>
              <a:xfrm>
                <a:off x="6572250" y="3381375"/>
                <a:ext cx="476250" cy="476250"/>
              </a:xfrm>
              <a:custGeom>
                <a:avLst/>
                <a:gdLst/>
                <a:ahLst/>
                <a:cxnLst/>
                <a:rect l="l" t="t" r="r" b="b"/>
                <a:pathLst>
                  <a:path w="476250" h="476250">
                    <a:moveTo>
                      <a:pt x="57150" y="0"/>
                    </a:moveTo>
                    <a:lnTo>
                      <a:pt x="419100" y="0"/>
                    </a:lnTo>
                    <a:cubicBezTo>
                      <a:pt x="450663" y="0"/>
                      <a:pt x="476250" y="25587"/>
                      <a:pt x="476250" y="57150"/>
                    </a:cubicBezTo>
                    <a:lnTo>
                      <a:pt x="476250" y="419100"/>
                    </a:lnTo>
                    <a:cubicBezTo>
                      <a:pt x="476250" y="450663"/>
                      <a:pt x="450663" y="476250"/>
                      <a:pt x="419100" y="476250"/>
                    </a:cubicBezTo>
                    <a:lnTo>
                      <a:pt x="57150" y="476250"/>
                    </a:lnTo>
                    <a:cubicBezTo>
                      <a:pt x="25587" y="476250"/>
                      <a:pt x="0" y="450663"/>
                      <a:pt x="0" y="419100"/>
                    </a:cubicBezTo>
                    <a:lnTo>
                      <a:pt x="0" y="57150"/>
                    </a:lnTo>
                    <a:cubicBezTo>
                      <a:pt x="0" y="25587"/>
                      <a:pt x="25587" y="0"/>
                      <a:pt x="57150" y="0"/>
                    </a:cubicBezTo>
                    <a:close/>
                  </a:path>
                </a:pathLst>
              </a:custGeom>
              <a:solidFill>
                <a:srgbClr val="F4F6F4"/>
              </a:solidFill>
              <a:ln w="9525">
                <a:solidFill>
                  <a:srgbClr val="D1DAD4"/>
                </a:solidFill>
              </a:ln>
            </p:spPr>
          </p:sp>
          <p:sp>
            <p:nvSpPr>
              <p:cNvPr id="54" name="TextBox 54"/>
              <p:cNvSpPr txBox="1"/>
              <p:nvPr/>
            </p:nvSpPr>
            <p:spPr>
              <a:xfrm>
                <a:off x="7224712" y="3450431"/>
                <a:ext cx="2107460"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长按 3 秒 SoftAP 极简配网</a:t>
                </a:r>
              </a:p>
            </p:txBody>
          </p:sp>
          <p:sp>
            <p:nvSpPr>
              <p:cNvPr id="55" name="TextBox 55"/>
              <p:cNvSpPr txBox="1"/>
              <p:nvPr/>
            </p:nvSpPr>
            <p:spPr>
              <a:xfrm>
                <a:off x="7226618" y="3704749"/>
                <a:ext cx="4054650"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用户只需长按 BOOT 键约 3 秒，ESP32 自动开启 SoftAP 热点，</a:t>
                </a:r>
              </a:p>
            </p:txBody>
          </p:sp>
          <p:sp>
            <p:nvSpPr>
              <p:cNvPr id="56" name="TextBox 56"/>
              <p:cNvSpPr txBox="1"/>
              <p:nvPr/>
            </p:nvSpPr>
            <p:spPr>
              <a:xfrm>
                <a:off x="7226618" y="3895249"/>
                <a:ext cx="4047530"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允许手机/电脑通过网页零门槛配网，Wi-Fi 配置安全写入 NVS。</a:t>
                </a:r>
              </a:p>
            </p:txBody>
          </p:sp>
        </p:grpSp>
        <p:sp>
          <p:nvSpPr>
            <p:cNvPr id="58" name="Freeform 58"/>
            <p:cNvSpPr/>
            <p:nvPr/>
          </p:nvSpPr>
          <p:spPr>
            <a:xfrm>
              <a:off x="6572250" y="4524375"/>
              <a:ext cx="4762500" cy="619125"/>
            </a:xfrm>
            <a:custGeom>
              <a:avLst/>
              <a:gdLst/>
              <a:ahLst/>
              <a:cxnLst/>
              <a:rect l="l" t="t" r="r" b="b"/>
              <a:pathLst>
                <a:path w="4762500" h="619125">
                  <a:moveTo>
                    <a:pt x="76200" y="0"/>
                  </a:moveTo>
                  <a:lnTo>
                    <a:pt x="4686300" y="0"/>
                  </a:lnTo>
                  <a:cubicBezTo>
                    <a:pt x="4728384" y="0"/>
                    <a:pt x="4762500" y="34116"/>
                    <a:pt x="4762500" y="76200"/>
                  </a:cubicBezTo>
                  <a:lnTo>
                    <a:pt x="4762500" y="542925"/>
                  </a:lnTo>
                  <a:cubicBezTo>
                    <a:pt x="4762500" y="585009"/>
                    <a:pt x="4728384" y="619125"/>
                    <a:pt x="4686300" y="619125"/>
                  </a:cubicBezTo>
                  <a:lnTo>
                    <a:pt x="76200" y="619125"/>
                  </a:lnTo>
                  <a:cubicBezTo>
                    <a:pt x="34116" y="619125"/>
                    <a:pt x="0" y="585009"/>
                    <a:pt x="0" y="542925"/>
                  </a:cubicBezTo>
                  <a:lnTo>
                    <a:pt x="0" y="76200"/>
                  </a:lnTo>
                  <a:cubicBezTo>
                    <a:pt x="0" y="34116"/>
                    <a:pt x="34116" y="0"/>
                    <a:pt x="76200" y="0"/>
                  </a:cubicBezTo>
                  <a:close/>
                </a:path>
              </a:pathLst>
            </a:custGeom>
            <a:solidFill>
              <a:srgbClr val="F4F6F4"/>
            </a:solidFill>
            <a:ln w="9525">
              <a:solidFill>
                <a:srgbClr val="D1DAD4"/>
              </a:solidFill>
            </a:ln>
          </p:spPr>
        </p:sp>
        <p:sp>
          <p:nvSpPr>
            <p:cNvPr id="59" name="TextBox 59"/>
            <p:cNvSpPr txBox="1"/>
            <p:nvPr/>
          </p:nvSpPr>
          <p:spPr>
            <a:xfrm>
              <a:off x="6750368" y="4657249"/>
              <a:ext cx="4154329" cy="198120"/>
            </a:xfrm>
            <a:prstGeom prst="rect">
              <a:avLst/>
            </a:prstGeom>
            <a:noFill/>
            <a:ln>
              <a:noFill/>
            </a:ln>
          </p:spPr>
          <p:txBody>
            <a:bodyPr wrap="none" lIns="0" tIns="0" rIns="0" bIns="0" anchor="t" anchorCtr="0">
              <a:spAutoFit/>
            </a:bodyPr>
            <a:lstStyle/>
            <a:p>
              <a:pPr algn="l"/>
              <a:r>
                <a:rPr lang="zh-CN" sz="975" b="1" dirty="0">
                  <a:solidFill>
                    <a:srgbClr val="2B583E"/>
                  </a:solidFill>
                  <a:latin typeface="Plus Jakarta Sans"/>
                  <a:ea typeface="Microsoft YaHei"/>
                  <a:cs typeface="Plus Jakarta Sans"/>
                </a:rPr>
                <a:t>技术保障</a:t>
              </a:r>
              <a:r>
                <a:rPr lang="zh-CN" sz="975" dirty="0">
                  <a:solidFill>
                    <a:srgbClr val="4D5F54"/>
                  </a:solidFill>
                  <a:latin typeface="Plus Jakarta Sans"/>
                  <a:ea typeface="Microsoft YaHei"/>
                  <a:cs typeface="Plus Jakarta Sans"/>
                </a:rPr>
                <a:t>：网络连接失败时，设备将启动</a:t>
              </a:r>
              <a:r>
                <a:rPr lang="zh-CN" sz="975" b="1" dirty="0">
                  <a:solidFill>
                    <a:srgbClr val="8E5B3C"/>
                  </a:solidFill>
                  <a:latin typeface="Plus Jakarta Sans"/>
                  <a:ea typeface="Microsoft YaHei"/>
                  <a:cs typeface="Plus Jakarta Sans"/>
                </a:rPr>
                <a:t>离线重连指数退避算法</a:t>
              </a:r>
              <a:r>
                <a:rPr lang="zh-CN" sz="975" dirty="0">
                  <a:solidFill>
                    <a:srgbClr val="4D5F54"/>
                  </a:solidFill>
                  <a:latin typeface="Plus Jakarta Sans"/>
                  <a:ea typeface="Microsoft YaHei"/>
                  <a:cs typeface="Plus Jakarta Sans"/>
                </a:rPr>
                <a:t>，</a:t>
              </a:r>
            </a:p>
          </p:txBody>
        </p:sp>
        <p:sp>
          <p:nvSpPr>
            <p:cNvPr id="60" name="TextBox 60"/>
            <p:cNvSpPr txBox="1"/>
            <p:nvPr/>
          </p:nvSpPr>
          <p:spPr>
            <a:xfrm>
              <a:off x="6750368" y="4866799"/>
              <a:ext cx="4723924"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避免无线信道拥堵；认领成功的密钥会自动自动回传硬件以提供底层鉴权。</a:t>
              </a:r>
            </a:p>
          </p:txBody>
        </p:sp>
      </p:grpSp>
      <p:grpSp>
        <p:nvGrpSpPr>
          <p:cNvPr id="64" name="Group 64"/>
          <p:cNvGrpSpPr/>
          <p:nvPr/>
        </p:nvGrpSpPr>
        <p:grpSpPr>
          <a:xfrm>
            <a:off x="561975" y="6443662"/>
            <a:ext cx="10877550" cy="152400"/>
            <a:chOff x="561975" y="6443662"/>
            <a:chExt cx="10877550" cy="152400"/>
          </a:xfrm>
        </p:grpSpPr>
        <p:sp>
          <p:nvSpPr>
            <p:cNvPr id="62" name="TextBox 6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3" name="TextBox 63"/>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05</a:t>
              </a:r>
            </a:p>
          </p:txBody>
        </p:sp>
      </p:gr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850964"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硬件与物联层</a:t>
              </a:r>
            </a:p>
          </p:txBody>
        </p:sp>
        <p:sp>
          <p:nvSpPr>
            <p:cNvPr id="5" name="TextBox 5"/>
            <p:cNvSpPr txBox="1"/>
            <p:nvPr/>
          </p:nvSpPr>
          <p:spPr>
            <a:xfrm>
              <a:off x="1836420" y="312420"/>
              <a:ext cx="6483363"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固件弹性：数据持久化与 OTA 在线更新</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39" name="Group 39"/>
          <p:cNvGrpSpPr/>
          <p:nvPr/>
        </p:nvGrpSpPr>
        <p:grpSpPr>
          <a:xfrm>
            <a:off x="571500" y="1095375"/>
            <a:ext cx="11049000" cy="2143125"/>
            <a:chOff x="571500" y="1095375"/>
            <a:chExt cx="11049000" cy="2143125"/>
          </a:xfrm>
        </p:grpSpPr>
        <p:sp>
          <p:nvSpPr>
            <p:cNvPr id="8" name="Freeform 8"/>
            <p:cNvSpPr/>
            <p:nvPr/>
          </p:nvSpPr>
          <p:spPr>
            <a:xfrm>
              <a:off x="571500" y="1095375"/>
              <a:ext cx="11049000" cy="2143125"/>
            </a:xfrm>
            <a:custGeom>
              <a:avLst/>
              <a:gdLst/>
              <a:ahLst/>
              <a:cxnLst/>
              <a:rect l="l" t="t" r="r" b="b"/>
              <a:pathLst>
                <a:path w="11049000" h="2143125">
                  <a:moveTo>
                    <a:pt x="95250" y="0"/>
                  </a:moveTo>
                  <a:lnTo>
                    <a:pt x="10953750" y="0"/>
                  </a:lnTo>
                  <a:cubicBezTo>
                    <a:pt x="11006355" y="0"/>
                    <a:pt x="11049000" y="42645"/>
                    <a:pt x="11049000" y="95250"/>
                  </a:cubicBezTo>
                  <a:lnTo>
                    <a:pt x="11049000" y="2047875"/>
                  </a:lnTo>
                  <a:cubicBezTo>
                    <a:pt x="11049000" y="2100480"/>
                    <a:pt x="11006355" y="2143125"/>
                    <a:pt x="10953750" y="2143125"/>
                  </a:cubicBezTo>
                  <a:lnTo>
                    <a:pt x="95250" y="2143125"/>
                  </a:lnTo>
                  <a:cubicBezTo>
                    <a:pt x="42645" y="2143125"/>
                    <a:pt x="0" y="2100480"/>
                    <a:pt x="0" y="2047875"/>
                  </a:cubicBezTo>
                  <a:lnTo>
                    <a:pt x="0" y="95250"/>
                  </a:lnTo>
                  <a:cubicBezTo>
                    <a:pt x="0" y="42645"/>
                    <a:pt x="42645" y="0"/>
                    <a:pt x="95250" y="0"/>
                  </a:cubicBezTo>
                  <a:close/>
                </a:path>
              </a:pathLst>
            </a:custGeom>
            <a:solidFill>
              <a:srgbClr val="FFFFFF"/>
            </a:solidFill>
            <a:ln w="14288">
              <a:solidFill>
                <a:srgbClr val="D1DAD4"/>
              </a:solidFill>
              <a:prstDash val="dash"/>
            </a:ln>
          </p:spPr>
        </p:sp>
        <p:grpSp>
          <p:nvGrpSpPr>
            <p:cNvPr id="16" name="Group 16"/>
            <p:cNvGrpSpPr/>
            <p:nvPr/>
          </p:nvGrpSpPr>
          <p:grpSpPr>
            <a:xfrm>
              <a:off x="952500" y="1428750"/>
              <a:ext cx="2281371" cy="1428750"/>
              <a:chOff x="952500" y="1428750"/>
              <a:chExt cx="2281371" cy="1428750"/>
            </a:xfrm>
          </p:grpSpPr>
          <p:sp>
            <p:nvSpPr>
              <p:cNvPr id="9" name="Freeform 9"/>
              <p:cNvSpPr/>
              <p:nvPr/>
            </p:nvSpPr>
            <p:spPr>
              <a:xfrm>
                <a:off x="952500" y="1428750"/>
                <a:ext cx="2095500" cy="1428750"/>
              </a:xfrm>
              <a:custGeom>
                <a:avLst/>
                <a:gdLst/>
                <a:ahLst/>
                <a:cxnLst/>
                <a:rect l="l" t="t" r="r" b="b"/>
                <a:pathLst>
                  <a:path w="2095500" h="1428750">
                    <a:moveTo>
                      <a:pt x="76200" y="0"/>
                    </a:moveTo>
                    <a:lnTo>
                      <a:pt x="2019300" y="0"/>
                    </a:lnTo>
                    <a:cubicBezTo>
                      <a:pt x="2061384" y="0"/>
                      <a:pt x="2095500" y="34116"/>
                      <a:pt x="2095500" y="76200"/>
                    </a:cubicBezTo>
                    <a:lnTo>
                      <a:pt x="2095500" y="1352550"/>
                    </a:lnTo>
                    <a:cubicBezTo>
                      <a:pt x="2095500" y="1394634"/>
                      <a:pt x="2061384" y="1428750"/>
                      <a:pt x="2019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4F6F4"/>
              </a:solidFill>
              <a:ln w="9525">
                <a:solidFill>
                  <a:srgbClr val="D1DAD4"/>
                </a:solidFill>
              </a:ln>
            </p:spPr>
          </p:sp>
          <p:sp>
            <p:nvSpPr>
              <p:cNvPr id="10" name="Freeform 10"/>
              <p:cNvSpPr/>
              <p:nvPr/>
            </p:nvSpPr>
            <p:spPr>
              <a:xfrm>
                <a:off x="1143000" y="1619250"/>
                <a:ext cx="285750" cy="285750"/>
              </a:xfrm>
              <a:custGeom>
                <a:avLst/>
                <a:gdLst/>
                <a:ahLst/>
                <a:cxnLst/>
                <a:rect l="l" t="t" r="r" b="b"/>
                <a:pathLst>
                  <a:path w="285750" h="285750">
                    <a:moveTo>
                      <a:pt x="142875" y="0"/>
                    </a:moveTo>
                    <a:lnTo>
                      <a:pt x="142875" y="0"/>
                    </a:lnTo>
                    <a:cubicBezTo>
                      <a:pt x="221783" y="0"/>
                      <a:pt x="285750" y="63967"/>
                      <a:pt x="285750" y="142875"/>
                    </a:cubicBezTo>
                    <a:lnTo>
                      <a:pt x="285750" y="142875"/>
                    </a:lnTo>
                    <a:cubicBezTo>
                      <a:pt x="285750" y="221783"/>
                      <a:pt x="221783" y="285750"/>
                      <a:pt x="142875" y="285750"/>
                    </a:cubicBezTo>
                    <a:lnTo>
                      <a:pt x="142875" y="285750"/>
                    </a:lnTo>
                    <a:cubicBezTo>
                      <a:pt x="63967" y="285750"/>
                      <a:pt x="0" y="221783"/>
                      <a:pt x="0" y="142875"/>
                    </a:cubicBezTo>
                    <a:lnTo>
                      <a:pt x="0" y="142875"/>
                    </a:lnTo>
                    <a:cubicBezTo>
                      <a:pt x="0" y="63967"/>
                      <a:pt x="63967" y="0"/>
                      <a:pt x="142875" y="0"/>
                    </a:cubicBezTo>
                    <a:close/>
                  </a:path>
                </a:pathLst>
              </a:custGeom>
              <a:solidFill>
                <a:srgbClr val="2B583E">
                  <a:alpha val="8000"/>
                </a:srgbClr>
              </a:solidFill>
              <a:ln>
                <a:noFill/>
              </a:ln>
            </p:spPr>
          </p:sp>
          <p:sp>
            <p:nvSpPr>
              <p:cNvPr id="11" name="Freeform 11"/>
              <p:cNvSpPr/>
              <p:nvPr/>
            </p:nvSpPr>
            <p:spPr>
              <a:xfrm>
                <a:off x="1206500" y="1682750"/>
                <a:ext cx="158750" cy="158750"/>
              </a:xfrm>
              <a:custGeom>
                <a:avLst/>
                <a:gdLst/>
                <a:ahLst/>
                <a:cxnLst/>
                <a:rect l="l" t="t" r="r" b="b"/>
                <a:pathLst>
                  <a:path w="158750" h="158750">
                    <a:moveTo>
                      <a:pt x="54078" y="76295"/>
                    </a:moveTo>
                    <a:cubicBezTo>
                      <a:pt x="57706" y="73279"/>
                      <a:pt x="61365" y="73279"/>
                      <a:pt x="65080" y="76383"/>
                    </a:cubicBezTo>
                    <a:lnTo>
                      <a:pt x="65937" y="77160"/>
                    </a:lnTo>
                    <a:lnTo>
                      <a:pt x="105513" y="116737"/>
                    </a:lnTo>
                    <a:lnTo>
                      <a:pt x="106259" y="117396"/>
                    </a:lnTo>
                    <a:cubicBezTo>
                      <a:pt x="109419" y="119845"/>
                      <a:pt x="113908" y="119562"/>
                      <a:pt x="116735" y="116735"/>
                    </a:cubicBezTo>
                    <a:cubicBezTo>
                      <a:pt x="119562" y="113908"/>
                      <a:pt x="119845" y="109419"/>
                      <a:pt x="117396" y="106259"/>
                    </a:cubicBezTo>
                    <a:lnTo>
                      <a:pt x="116737" y="105513"/>
                    </a:lnTo>
                    <a:lnTo>
                      <a:pt x="106482" y="95250"/>
                    </a:lnTo>
                    <a:lnTo>
                      <a:pt x="108799" y="92924"/>
                    </a:lnTo>
                    <a:lnTo>
                      <a:pt x="109641" y="92170"/>
                    </a:lnTo>
                    <a:cubicBezTo>
                      <a:pt x="113268" y="89154"/>
                      <a:pt x="116927" y="89154"/>
                      <a:pt x="120642" y="92258"/>
                    </a:cubicBezTo>
                    <a:lnTo>
                      <a:pt x="121499" y="93035"/>
                    </a:lnTo>
                    <a:lnTo>
                      <a:pt x="158599" y="130143"/>
                    </a:lnTo>
                    <a:cubicBezTo>
                      <a:pt x="157046" y="145763"/>
                      <a:pt x="144312" y="157904"/>
                      <a:pt x="128635" y="158710"/>
                    </a:cubicBezTo>
                    <a:lnTo>
                      <a:pt x="127000" y="158750"/>
                    </a:lnTo>
                    <a:lnTo>
                      <a:pt x="31750" y="158750"/>
                    </a:lnTo>
                    <a:cubicBezTo>
                      <a:pt x="15436" y="158749"/>
                      <a:pt x="1778" y="146385"/>
                      <a:pt x="159" y="130151"/>
                    </a:cubicBezTo>
                    <a:lnTo>
                      <a:pt x="53237" y="77049"/>
                    </a:lnTo>
                    <a:lnTo>
                      <a:pt x="54078" y="76295"/>
                    </a:lnTo>
                    <a:close/>
                    <a:moveTo>
                      <a:pt x="127000" y="0"/>
                    </a:moveTo>
                    <a:cubicBezTo>
                      <a:pt x="143918" y="0"/>
                      <a:pt x="157864" y="13266"/>
                      <a:pt x="158710" y="30163"/>
                    </a:cubicBezTo>
                    <a:lnTo>
                      <a:pt x="158750" y="31750"/>
                    </a:lnTo>
                    <a:lnTo>
                      <a:pt x="158750" y="107831"/>
                    </a:lnTo>
                    <a:lnTo>
                      <a:pt x="132612" y="81701"/>
                    </a:lnTo>
                    <a:lnTo>
                      <a:pt x="131421" y="80613"/>
                    </a:lnTo>
                    <a:cubicBezTo>
                      <a:pt x="121452" y="71922"/>
                      <a:pt x="108799" y="71906"/>
                      <a:pt x="98909" y="80478"/>
                    </a:cubicBezTo>
                    <a:lnTo>
                      <a:pt x="97687" y="81590"/>
                    </a:lnTo>
                    <a:lnTo>
                      <a:pt x="95250" y="84018"/>
                    </a:lnTo>
                    <a:lnTo>
                      <a:pt x="77049" y="65826"/>
                    </a:lnTo>
                    <a:lnTo>
                      <a:pt x="75859" y="64738"/>
                    </a:lnTo>
                    <a:cubicBezTo>
                      <a:pt x="65889" y="56047"/>
                      <a:pt x="53237" y="56031"/>
                      <a:pt x="43347" y="64603"/>
                    </a:cubicBezTo>
                    <a:lnTo>
                      <a:pt x="42124" y="65715"/>
                    </a:lnTo>
                    <a:lnTo>
                      <a:pt x="0" y="107831"/>
                    </a:lnTo>
                    <a:lnTo>
                      <a:pt x="0" y="31750"/>
                    </a:lnTo>
                    <a:cubicBezTo>
                      <a:pt x="0" y="14832"/>
                      <a:pt x="13266" y="886"/>
                      <a:pt x="30163" y="40"/>
                    </a:cubicBezTo>
                    <a:lnTo>
                      <a:pt x="31750" y="0"/>
                    </a:lnTo>
                    <a:lnTo>
                      <a:pt x="127000" y="0"/>
                    </a:lnTo>
                    <a:close/>
                    <a:moveTo>
                      <a:pt x="103267" y="39688"/>
                    </a:moveTo>
                    <a:lnTo>
                      <a:pt x="102259" y="39743"/>
                    </a:lnTo>
                    <a:cubicBezTo>
                      <a:pt x="98266" y="40218"/>
                      <a:pt x="95259" y="43604"/>
                      <a:pt x="95259" y="47625"/>
                    </a:cubicBezTo>
                    <a:cubicBezTo>
                      <a:pt x="95259" y="51646"/>
                      <a:pt x="98266" y="55032"/>
                      <a:pt x="102259" y="55507"/>
                    </a:cubicBezTo>
                    <a:lnTo>
                      <a:pt x="103188" y="55563"/>
                    </a:lnTo>
                    <a:lnTo>
                      <a:pt x="104196" y="55507"/>
                    </a:lnTo>
                    <a:cubicBezTo>
                      <a:pt x="108189" y="55032"/>
                      <a:pt x="111196" y="51646"/>
                      <a:pt x="111196" y="47625"/>
                    </a:cubicBezTo>
                    <a:cubicBezTo>
                      <a:pt x="111196" y="43604"/>
                      <a:pt x="108189" y="40218"/>
                      <a:pt x="104196" y="39743"/>
                    </a:cubicBezTo>
                    <a:lnTo>
                      <a:pt x="103267" y="39688"/>
                    </a:lnTo>
                    <a:close/>
                  </a:path>
                </a:pathLst>
              </a:custGeom>
              <a:solidFill>
                <a:srgbClr val="2B583E"/>
              </a:solidFill>
              <a:ln>
                <a:noFill/>
              </a:ln>
            </p:spPr>
          </p:sp>
          <p:sp>
            <p:nvSpPr>
              <p:cNvPr id="12" name="TextBox 12"/>
              <p:cNvSpPr txBox="1"/>
              <p:nvPr/>
            </p:nvSpPr>
            <p:spPr>
              <a:xfrm>
                <a:off x="1556385" y="1680210"/>
                <a:ext cx="1677486"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1. Tauri 客户端认领</a:t>
                </a:r>
              </a:p>
            </p:txBody>
          </p:sp>
          <p:sp>
            <p:nvSpPr>
              <p:cNvPr id="13" name="TextBox 13"/>
              <p:cNvSpPr txBox="1"/>
              <p:nvPr/>
            </p:nvSpPr>
            <p:spPr>
              <a:xfrm>
                <a:off x="1130618" y="2085499"/>
                <a:ext cx="1341953"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用户在 App 发现待认</a:t>
                </a:r>
              </a:p>
            </p:txBody>
          </p:sp>
          <p:sp>
            <p:nvSpPr>
              <p:cNvPr id="14" name="TextBox 14"/>
              <p:cNvSpPr txBox="1"/>
              <p:nvPr/>
            </p:nvSpPr>
            <p:spPr>
              <a:xfrm>
                <a:off x="1130618" y="2275999"/>
                <a:ext cx="1448752"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领设备，输入植物名称</a:t>
                </a:r>
              </a:p>
            </p:txBody>
          </p:sp>
          <p:sp>
            <p:nvSpPr>
              <p:cNvPr id="15" name="TextBox 15"/>
              <p:cNvSpPr txBox="1"/>
              <p:nvPr/>
            </p:nvSpPr>
            <p:spPr>
              <a:xfrm>
                <a:off x="1130618" y="2466499"/>
                <a:ext cx="1598271"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并发起 claim 认领绑定。</a:t>
                </a:r>
              </a:p>
            </p:txBody>
          </p:sp>
        </p:grpSp>
        <p:sp>
          <p:nvSpPr>
            <p:cNvPr id="17" name="Freeform 17"/>
            <p:cNvSpPr/>
            <p:nvPr/>
          </p:nvSpPr>
          <p:spPr>
            <a:xfrm>
              <a:off x="3190875" y="2143125"/>
              <a:ext cx="1524000" cy="9525"/>
            </a:xfrm>
            <a:custGeom>
              <a:avLst/>
              <a:gdLst/>
              <a:ahLst/>
              <a:cxnLst/>
              <a:rect l="l" t="t" r="r" b="b"/>
              <a:pathLst>
                <a:path w="1524000" h="9525">
                  <a:moveTo>
                    <a:pt x="0" y="0"/>
                  </a:moveTo>
                  <a:lnTo>
                    <a:pt x="1524000" y="0"/>
                  </a:lnTo>
                </a:path>
              </a:pathLst>
            </a:custGeom>
            <a:solidFill>
              <a:srgbClr val="000000"/>
            </a:solidFill>
            <a:ln w="19050">
              <a:solidFill>
                <a:srgbClr val="2B583E"/>
              </a:solidFill>
              <a:tailEnd type="triangle" w="lg" len="lg"/>
            </a:ln>
          </p:spPr>
        </p:sp>
        <p:sp>
          <p:nvSpPr>
            <p:cNvPr id="18" name="TextBox 18"/>
            <p:cNvSpPr txBox="1"/>
            <p:nvPr/>
          </p:nvSpPr>
          <p:spPr>
            <a:xfrm>
              <a:off x="3599852" y="1950720"/>
              <a:ext cx="706045" cy="182880"/>
            </a:xfrm>
            <a:prstGeom prst="rect">
              <a:avLst/>
            </a:prstGeom>
            <a:noFill/>
            <a:ln>
              <a:noFill/>
            </a:ln>
          </p:spPr>
          <p:txBody>
            <a:bodyPr wrap="none" lIns="0" tIns="0" rIns="0" bIns="0" anchor="t" anchorCtr="0">
              <a:spAutoFit/>
            </a:bodyPr>
            <a:lstStyle/>
            <a:p>
              <a:pPr algn="ctr"/>
              <a:r>
                <a:rPr lang="zh-CN" sz="900" b="1" dirty="0">
                  <a:solidFill>
                    <a:srgbClr val="2B583E"/>
                  </a:solidFill>
                  <a:latin typeface="Plus Jakarta Sans"/>
                  <a:ea typeface="Microsoft YaHei"/>
                  <a:cs typeface="Plus Jakarta Sans"/>
                </a:rPr>
                <a:t>HTTP Claim</a:t>
              </a:r>
            </a:p>
          </p:txBody>
        </p:sp>
        <p:grpSp>
          <p:nvGrpSpPr>
            <p:cNvPr id="29" name="Group 29"/>
            <p:cNvGrpSpPr/>
            <p:nvPr/>
          </p:nvGrpSpPr>
          <p:grpSpPr>
            <a:xfrm>
              <a:off x="4857750" y="1428750"/>
              <a:ext cx="2476500" cy="1428750"/>
              <a:chOff x="4857750" y="1428750"/>
              <a:chExt cx="2476500" cy="1428750"/>
            </a:xfrm>
          </p:grpSpPr>
          <p:sp>
            <p:nvSpPr>
              <p:cNvPr id="19" name="Freeform 19"/>
              <p:cNvSpPr/>
              <p:nvPr/>
            </p:nvSpPr>
            <p:spPr>
              <a:xfrm>
                <a:off x="4857750" y="1428750"/>
                <a:ext cx="2476500" cy="1428750"/>
              </a:xfrm>
              <a:custGeom>
                <a:avLst/>
                <a:gdLst/>
                <a:ahLst/>
                <a:cxnLst/>
                <a:rect l="l" t="t" r="r" b="b"/>
                <a:pathLst>
                  <a:path w="2476500" h="1428750">
                    <a:moveTo>
                      <a:pt x="76200" y="0"/>
                    </a:moveTo>
                    <a:lnTo>
                      <a:pt x="2400300" y="0"/>
                    </a:lnTo>
                    <a:cubicBezTo>
                      <a:pt x="2442384" y="0"/>
                      <a:pt x="2476500" y="34116"/>
                      <a:pt x="2476500" y="76200"/>
                    </a:cubicBezTo>
                    <a:lnTo>
                      <a:pt x="2476500" y="1352550"/>
                    </a:lnTo>
                    <a:cubicBezTo>
                      <a:pt x="2476500" y="1394634"/>
                      <a:pt x="2442384" y="1428750"/>
                      <a:pt x="2400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4F6F4"/>
              </a:solidFill>
              <a:ln w="9525">
                <a:solidFill>
                  <a:srgbClr val="D1DAD4"/>
                </a:solidFill>
              </a:ln>
            </p:spPr>
          </p:sp>
          <p:sp>
            <p:nvSpPr>
              <p:cNvPr id="20" name="Freeform 20"/>
              <p:cNvSpPr/>
              <p:nvPr/>
            </p:nvSpPr>
            <p:spPr>
              <a:xfrm>
                <a:off x="5048250" y="1619250"/>
                <a:ext cx="285750" cy="285750"/>
              </a:xfrm>
              <a:custGeom>
                <a:avLst/>
                <a:gdLst/>
                <a:ahLst/>
                <a:cxnLst/>
                <a:rect l="l" t="t" r="r" b="b"/>
                <a:pathLst>
                  <a:path w="285750" h="285750">
                    <a:moveTo>
                      <a:pt x="142875" y="0"/>
                    </a:moveTo>
                    <a:lnTo>
                      <a:pt x="142875" y="0"/>
                    </a:lnTo>
                    <a:cubicBezTo>
                      <a:pt x="221783" y="0"/>
                      <a:pt x="285750" y="63967"/>
                      <a:pt x="285750" y="142875"/>
                    </a:cubicBezTo>
                    <a:lnTo>
                      <a:pt x="285750" y="142875"/>
                    </a:lnTo>
                    <a:cubicBezTo>
                      <a:pt x="285750" y="221783"/>
                      <a:pt x="221783" y="285750"/>
                      <a:pt x="142875" y="285750"/>
                    </a:cubicBezTo>
                    <a:lnTo>
                      <a:pt x="142875" y="285750"/>
                    </a:lnTo>
                    <a:cubicBezTo>
                      <a:pt x="63967" y="285750"/>
                      <a:pt x="0" y="221783"/>
                      <a:pt x="0" y="142875"/>
                    </a:cubicBezTo>
                    <a:lnTo>
                      <a:pt x="0" y="142875"/>
                    </a:lnTo>
                    <a:cubicBezTo>
                      <a:pt x="0" y="63967"/>
                      <a:pt x="63967" y="0"/>
                      <a:pt x="142875" y="0"/>
                    </a:cubicBezTo>
                    <a:close/>
                  </a:path>
                </a:pathLst>
              </a:custGeom>
              <a:solidFill>
                <a:srgbClr val="8E5B3C">
                  <a:alpha val="8000"/>
                </a:srgbClr>
              </a:solidFill>
              <a:ln>
                <a:noFill/>
              </a:ln>
            </p:spPr>
          </p:sp>
          <p:grpSp>
            <p:nvGrpSpPr>
              <p:cNvPr id="24" name="Group 24"/>
              <p:cNvGrpSpPr/>
              <p:nvPr/>
            </p:nvGrpSpPr>
            <p:grpSpPr>
              <a:xfrm>
                <a:off x="5119687" y="1682750"/>
                <a:ext cx="142876" cy="158750"/>
                <a:chOff x="5119687" y="1682750"/>
                <a:chExt cx="142876" cy="158750"/>
              </a:xfrm>
            </p:grpSpPr>
            <p:sp>
              <p:nvSpPr>
                <p:cNvPr id="21" name="Freeform 21"/>
                <p:cNvSpPr/>
                <p:nvPr/>
              </p:nvSpPr>
              <p:spPr>
                <a:xfrm>
                  <a:off x="5119688" y="1791740"/>
                  <a:ext cx="142875" cy="49760"/>
                </a:xfrm>
                <a:custGeom>
                  <a:avLst/>
                  <a:gdLst/>
                  <a:ahLst/>
                  <a:cxnLst/>
                  <a:rect l="l" t="t" r="r" b="b"/>
                  <a:pathLst>
                    <a:path w="142875" h="49760">
                      <a:moveTo>
                        <a:pt x="0" y="0"/>
                      </a:moveTo>
                      <a:cubicBezTo>
                        <a:pt x="15621" y="11962"/>
                        <a:pt x="41545" y="18010"/>
                        <a:pt x="71438" y="18010"/>
                      </a:cubicBezTo>
                      <a:cubicBezTo>
                        <a:pt x="101282" y="18010"/>
                        <a:pt x="127198" y="11978"/>
                        <a:pt x="142875" y="135"/>
                      </a:cubicBezTo>
                      <a:lnTo>
                        <a:pt x="142875" y="18010"/>
                      </a:lnTo>
                      <a:cubicBezTo>
                        <a:pt x="142875" y="37259"/>
                        <a:pt x="111958" y="49252"/>
                        <a:pt x="73874" y="49744"/>
                      </a:cubicBezTo>
                      <a:lnTo>
                        <a:pt x="71438" y="49760"/>
                      </a:lnTo>
                      <a:cubicBezTo>
                        <a:pt x="32242" y="49760"/>
                        <a:pt x="0" y="37671"/>
                        <a:pt x="0" y="18010"/>
                      </a:cubicBezTo>
                      <a:close/>
                    </a:path>
                  </a:pathLst>
                </a:custGeom>
                <a:solidFill>
                  <a:srgbClr val="8E5B3C"/>
                </a:solidFill>
                <a:ln>
                  <a:noFill/>
                </a:ln>
              </p:spPr>
            </p:sp>
            <p:sp>
              <p:nvSpPr>
                <p:cNvPr id="22" name="Freeform 22"/>
                <p:cNvSpPr/>
                <p:nvPr/>
              </p:nvSpPr>
              <p:spPr>
                <a:xfrm>
                  <a:off x="5119688" y="1744115"/>
                  <a:ext cx="142875" cy="49760"/>
                </a:xfrm>
                <a:custGeom>
                  <a:avLst/>
                  <a:gdLst/>
                  <a:ahLst/>
                  <a:cxnLst/>
                  <a:rect l="l" t="t" r="r" b="b"/>
                  <a:pathLst>
                    <a:path w="142875" h="49760">
                      <a:moveTo>
                        <a:pt x="0" y="0"/>
                      </a:moveTo>
                      <a:cubicBezTo>
                        <a:pt x="15621" y="11962"/>
                        <a:pt x="41545" y="18010"/>
                        <a:pt x="71438" y="18010"/>
                      </a:cubicBezTo>
                      <a:cubicBezTo>
                        <a:pt x="101282" y="18010"/>
                        <a:pt x="127198" y="11978"/>
                        <a:pt x="142875" y="135"/>
                      </a:cubicBezTo>
                      <a:lnTo>
                        <a:pt x="142875" y="18010"/>
                      </a:lnTo>
                      <a:cubicBezTo>
                        <a:pt x="142875" y="37671"/>
                        <a:pt x="110633" y="49760"/>
                        <a:pt x="71438" y="49760"/>
                      </a:cubicBezTo>
                      <a:cubicBezTo>
                        <a:pt x="33353" y="49760"/>
                        <a:pt x="1826" y="38346"/>
                        <a:pt x="167" y="19637"/>
                      </a:cubicBezTo>
                      <a:lnTo>
                        <a:pt x="40" y="18836"/>
                      </a:lnTo>
                      <a:lnTo>
                        <a:pt x="0" y="18010"/>
                      </a:lnTo>
                      <a:close/>
                    </a:path>
                  </a:pathLst>
                </a:custGeom>
                <a:solidFill>
                  <a:srgbClr val="8E5B3C"/>
                </a:solidFill>
                <a:ln>
                  <a:noFill/>
                </a:ln>
              </p:spPr>
            </p:sp>
            <p:sp>
              <p:nvSpPr>
                <p:cNvPr id="23" name="Freeform 23"/>
                <p:cNvSpPr/>
                <p:nvPr/>
              </p:nvSpPr>
              <p:spPr>
                <a:xfrm>
                  <a:off x="5119687" y="1682750"/>
                  <a:ext cx="142876" cy="63500"/>
                </a:xfrm>
                <a:custGeom>
                  <a:avLst/>
                  <a:gdLst/>
                  <a:ahLst/>
                  <a:cxnLst/>
                  <a:rect l="l" t="t" r="r" b="b"/>
                  <a:pathLst>
                    <a:path w="142876" h="63500">
                      <a:moveTo>
                        <a:pt x="71438" y="0"/>
                      </a:moveTo>
                      <a:cubicBezTo>
                        <a:pt x="79701" y="0"/>
                        <a:pt x="87662" y="540"/>
                        <a:pt x="95068" y="1572"/>
                      </a:cubicBezTo>
                      <a:lnTo>
                        <a:pt x="98791" y="2135"/>
                      </a:lnTo>
                      <a:cubicBezTo>
                        <a:pt x="103236" y="2876"/>
                        <a:pt x="107432" y="3797"/>
                        <a:pt x="111380" y="4897"/>
                      </a:cubicBezTo>
                      <a:lnTo>
                        <a:pt x="114872" y="5937"/>
                      </a:lnTo>
                      <a:lnTo>
                        <a:pt x="115467" y="6128"/>
                      </a:lnTo>
                      <a:cubicBezTo>
                        <a:pt x="117628" y="6838"/>
                        <a:pt x="119759" y="7632"/>
                        <a:pt x="121857" y="8509"/>
                      </a:cubicBezTo>
                      <a:lnTo>
                        <a:pt x="123437" y="9192"/>
                      </a:lnTo>
                      <a:cubicBezTo>
                        <a:pt x="126268" y="10472"/>
                        <a:pt x="128826" y="11875"/>
                        <a:pt x="131112" y="13398"/>
                      </a:cubicBezTo>
                      <a:cubicBezTo>
                        <a:pt x="131985" y="13981"/>
                        <a:pt x="132814" y="14576"/>
                        <a:pt x="133597" y="15184"/>
                      </a:cubicBezTo>
                      <a:cubicBezTo>
                        <a:pt x="135581" y="16724"/>
                        <a:pt x="137364" y="18505"/>
                        <a:pt x="138907" y="20487"/>
                      </a:cubicBezTo>
                      <a:lnTo>
                        <a:pt x="139629" y="21503"/>
                      </a:lnTo>
                      <a:cubicBezTo>
                        <a:pt x="140000" y="22058"/>
                        <a:pt x="140341" y="22617"/>
                        <a:pt x="140653" y="23178"/>
                      </a:cubicBezTo>
                      <a:lnTo>
                        <a:pt x="141209" y="24281"/>
                      </a:lnTo>
                      <a:cubicBezTo>
                        <a:pt x="142071" y="26133"/>
                        <a:pt x="142600" y="28064"/>
                        <a:pt x="142796" y="30075"/>
                      </a:cubicBezTo>
                      <a:lnTo>
                        <a:pt x="142876" y="31750"/>
                      </a:lnTo>
                      <a:cubicBezTo>
                        <a:pt x="142876" y="51411"/>
                        <a:pt x="110633" y="63500"/>
                        <a:pt x="71438" y="63500"/>
                      </a:cubicBezTo>
                      <a:cubicBezTo>
                        <a:pt x="33354" y="63500"/>
                        <a:pt x="1826" y="52086"/>
                        <a:pt x="167" y="33377"/>
                      </a:cubicBezTo>
                      <a:cubicBezTo>
                        <a:pt x="56" y="32842"/>
                        <a:pt x="0" y="32297"/>
                        <a:pt x="1" y="31750"/>
                      </a:cubicBezTo>
                      <a:lnTo>
                        <a:pt x="40" y="30925"/>
                      </a:lnTo>
                      <a:lnTo>
                        <a:pt x="167" y="30131"/>
                      </a:lnTo>
                      <a:cubicBezTo>
                        <a:pt x="1794" y="11827"/>
                        <a:pt x="31997" y="500"/>
                        <a:pt x="68962" y="16"/>
                      </a:cubicBezTo>
                      <a:close/>
                    </a:path>
                  </a:pathLst>
                </a:custGeom>
                <a:solidFill>
                  <a:srgbClr val="8E5B3C"/>
                </a:solidFill>
                <a:ln>
                  <a:noFill/>
                </a:ln>
              </p:spPr>
            </p:sp>
          </p:grpSp>
          <p:sp>
            <p:nvSpPr>
              <p:cNvPr id="25" name="TextBox 25"/>
              <p:cNvSpPr txBox="1"/>
              <p:nvPr/>
            </p:nvSpPr>
            <p:spPr>
              <a:xfrm>
                <a:off x="5461635" y="1680210"/>
                <a:ext cx="1760296"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2. 后端生成加密密钥</a:t>
                </a:r>
              </a:p>
            </p:txBody>
          </p:sp>
          <p:sp>
            <p:nvSpPr>
              <p:cNvPr id="26" name="TextBox 26"/>
              <p:cNvSpPr txBox="1"/>
              <p:nvPr/>
            </p:nvSpPr>
            <p:spPr>
              <a:xfrm>
                <a:off x="5035868" y="2085499"/>
                <a:ext cx="2253305"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服务端为设备生成唯一的 API Key，</a:t>
                </a:r>
              </a:p>
            </p:txBody>
          </p:sp>
          <p:sp>
            <p:nvSpPr>
              <p:cNvPr id="27" name="TextBox 27"/>
              <p:cNvSpPr txBox="1"/>
              <p:nvPr/>
            </p:nvSpPr>
            <p:spPr>
              <a:xfrm>
                <a:off x="5035868" y="2275999"/>
                <a:ext cx="2132266"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将其 Hash 校验值持久化，并通过</a:t>
                </a:r>
              </a:p>
            </p:txBody>
          </p:sp>
          <p:sp>
            <p:nvSpPr>
              <p:cNvPr id="28" name="TextBox 28"/>
              <p:cNvSpPr txBox="1"/>
              <p:nvPr/>
            </p:nvSpPr>
            <p:spPr>
              <a:xfrm>
                <a:off x="5035868" y="2466499"/>
                <a:ext cx="1911548"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MQTT config 主题回传下发。</a:t>
                </a:r>
              </a:p>
            </p:txBody>
          </p:sp>
        </p:grpSp>
        <p:sp>
          <p:nvSpPr>
            <p:cNvPr id="30" name="Freeform 30"/>
            <p:cNvSpPr/>
            <p:nvPr/>
          </p:nvSpPr>
          <p:spPr>
            <a:xfrm>
              <a:off x="7477125" y="2143125"/>
              <a:ext cx="1238250" cy="9525"/>
            </a:xfrm>
            <a:custGeom>
              <a:avLst/>
              <a:gdLst/>
              <a:ahLst/>
              <a:cxnLst/>
              <a:rect l="l" t="t" r="r" b="b"/>
              <a:pathLst>
                <a:path w="1238250" h="9525">
                  <a:moveTo>
                    <a:pt x="0" y="0"/>
                  </a:moveTo>
                  <a:lnTo>
                    <a:pt x="1238250" y="0"/>
                  </a:lnTo>
                </a:path>
              </a:pathLst>
            </a:custGeom>
            <a:solidFill>
              <a:srgbClr val="000000"/>
            </a:solidFill>
            <a:ln w="19050">
              <a:solidFill>
                <a:srgbClr val="2B583E"/>
              </a:solidFill>
              <a:tailEnd type="triangle" w="lg" len="lg"/>
            </a:ln>
          </p:spPr>
        </p:sp>
        <p:sp>
          <p:nvSpPr>
            <p:cNvPr id="31" name="TextBox 31"/>
            <p:cNvSpPr txBox="1"/>
            <p:nvPr/>
          </p:nvSpPr>
          <p:spPr>
            <a:xfrm>
              <a:off x="7674219" y="1950720"/>
              <a:ext cx="844063" cy="182880"/>
            </a:xfrm>
            <a:prstGeom prst="rect">
              <a:avLst/>
            </a:prstGeom>
            <a:noFill/>
            <a:ln>
              <a:noFill/>
            </a:ln>
          </p:spPr>
          <p:txBody>
            <a:bodyPr wrap="none" lIns="0" tIns="0" rIns="0" bIns="0" anchor="t" anchorCtr="0">
              <a:spAutoFit/>
            </a:bodyPr>
            <a:lstStyle/>
            <a:p>
              <a:pPr algn="ctr"/>
              <a:r>
                <a:rPr lang="zh-CN" sz="900" b="1" dirty="0">
                  <a:solidFill>
                    <a:srgbClr val="2B583E"/>
                  </a:solidFill>
                  <a:latin typeface="Plus Jakarta Sans"/>
                  <a:ea typeface="Microsoft YaHei"/>
                  <a:cs typeface="Plus Jakarta Sans"/>
                </a:rPr>
                <a:t>MQTT Config</a:t>
              </a:r>
            </a:p>
          </p:txBody>
        </p:sp>
        <p:grpSp>
          <p:nvGrpSpPr>
            <p:cNvPr id="38" name="Group 38"/>
            <p:cNvGrpSpPr/>
            <p:nvPr/>
          </p:nvGrpSpPr>
          <p:grpSpPr>
            <a:xfrm>
              <a:off x="8858250" y="1428750"/>
              <a:ext cx="2548204" cy="1428750"/>
              <a:chOff x="8858250" y="1428750"/>
              <a:chExt cx="2548204" cy="1428750"/>
            </a:xfrm>
          </p:grpSpPr>
          <p:sp>
            <p:nvSpPr>
              <p:cNvPr id="32" name="Freeform 32"/>
              <p:cNvSpPr/>
              <p:nvPr/>
            </p:nvSpPr>
            <p:spPr>
              <a:xfrm>
                <a:off x="8858250" y="1428750"/>
                <a:ext cx="2476500" cy="1428750"/>
              </a:xfrm>
              <a:custGeom>
                <a:avLst/>
                <a:gdLst/>
                <a:ahLst/>
                <a:cxnLst/>
                <a:rect l="l" t="t" r="r" b="b"/>
                <a:pathLst>
                  <a:path w="2476500" h="1428750">
                    <a:moveTo>
                      <a:pt x="76200" y="0"/>
                    </a:moveTo>
                    <a:lnTo>
                      <a:pt x="2400300" y="0"/>
                    </a:lnTo>
                    <a:cubicBezTo>
                      <a:pt x="2442384" y="0"/>
                      <a:pt x="2476500" y="34116"/>
                      <a:pt x="2476500" y="76200"/>
                    </a:cubicBezTo>
                    <a:lnTo>
                      <a:pt x="2476500" y="1352550"/>
                    </a:lnTo>
                    <a:cubicBezTo>
                      <a:pt x="2476500" y="1394634"/>
                      <a:pt x="2442384" y="1428750"/>
                      <a:pt x="2400300" y="1428750"/>
                    </a:cubicBezTo>
                    <a:lnTo>
                      <a:pt x="76200" y="1428750"/>
                    </a:lnTo>
                    <a:cubicBezTo>
                      <a:pt x="34116" y="1428750"/>
                      <a:pt x="0" y="1394634"/>
                      <a:pt x="0" y="1352550"/>
                    </a:cubicBezTo>
                    <a:lnTo>
                      <a:pt x="0" y="76200"/>
                    </a:lnTo>
                    <a:cubicBezTo>
                      <a:pt x="0" y="34116"/>
                      <a:pt x="34116" y="0"/>
                      <a:pt x="76200" y="0"/>
                    </a:cubicBezTo>
                    <a:close/>
                  </a:path>
                </a:pathLst>
              </a:custGeom>
              <a:solidFill>
                <a:srgbClr val="F4F6F4"/>
              </a:solidFill>
              <a:ln w="9525">
                <a:solidFill>
                  <a:srgbClr val="D1DAD4"/>
                </a:solidFill>
              </a:ln>
            </p:spPr>
          </p:sp>
          <p:sp>
            <p:nvSpPr>
              <p:cNvPr id="33" name="Freeform 33"/>
              <p:cNvSpPr/>
              <p:nvPr/>
            </p:nvSpPr>
            <p:spPr>
              <a:xfrm>
                <a:off x="9048750" y="1619250"/>
                <a:ext cx="285750" cy="285750"/>
              </a:xfrm>
              <a:custGeom>
                <a:avLst/>
                <a:gdLst/>
                <a:ahLst/>
                <a:cxnLst/>
                <a:rect l="l" t="t" r="r" b="b"/>
                <a:pathLst>
                  <a:path w="285750" h="285750">
                    <a:moveTo>
                      <a:pt x="142875" y="0"/>
                    </a:moveTo>
                    <a:lnTo>
                      <a:pt x="142875" y="0"/>
                    </a:lnTo>
                    <a:cubicBezTo>
                      <a:pt x="221783" y="0"/>
                      <a:pt x="285750" y="63967"/>
                      <a:pt x="285750" y="142875"/>
                    </a:cubicBezTo>
                    <a:lnTo>
                      <a:pt x="285750" y="142875"/>
                    </a:lnTo>
                    <a:cubicBezTo>
                      <a:pt x="285750" y="221783"/>
                      <a:pt x="221783" y="285750"/>
                      <a:pt x="142875" y="285750"/>
                    </a:cubicBezTo>
                    <a:lnTo>
                      <a:pt x="142875" y="285750"/>
                    </a:lnTo>
                    <a:cubicBezTo>
                      <a:pt x="63967" y="285750"/>
                      <a:pt x="0" y="221783"/>
                      <a:pt x="0" y="142875"/>
                    </a:cubicBezTo>
                    <a:lnTo>
                      <a:pt x="0" y="142875"/>
                    </a:lnTo>
                    <a:cubicBezTo>
                      <a:pt x="0" y="63967"/>
                      <a:pt x="63967" y="0"/>
                      <a:pt x="142875" y="0"/>
                    </a:cubicBezTo>
                    <a:close/>
                  </a:path>
                </a:pathLst>
              </a:custGeom>
              <a:solidFill>
                <a:srgbClr val="2B583E">
                  <a:alpha val="8000"/>
                </a:srgbClr>
              </a:solidFill>
              <a:ln>
                <a:noFill/>
              </a:ln>
            </p:spPr>
          </p:sp>
          <p:sp>
            <p:nvSpPr>
              <p:cNvPr id="34" name="TextBox 34"/>
              <p:cNvSpPr txBox="1"/>
              <p:nvPr/>
            </p:nvSpPr>
            <p:spPr>
              <a:xfrm>
                <a:off x="9462135" y="1680210"/>
                <a:ext cx="1944319"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3. ESP32 自动保存 NVS</a:t>
                </a:r>
              </a:p>
            </p:txBody>
          </p:sp>
          <p:sp>
            <p:nvSpPr>
              <p:cNvPr id="35" name="TextBox 35"/>
              <p:cNvSpPr txBox="1"/>
              <p:nvPr/>
            </p:nvSpPr>
            <p:spPr>
              <a:xfrm>
                <a:off x="9036368" y="2085499"/>
                <a:ext cx="1883069"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ESP32 接收密钥后，调用底层</a:t>
                </a:r>
              </a:p>
            </p:txBody>
          </p:sp>
          <p:sp>
            <p:nvSpPr>
              <p:cNvPr id="36" name="TextBox 36"/>
              <p:cNvSpPr txBox="1"/>
              <p:nvPr/>
            </p:nvSpPr>
            <p:spPr>
              <a:xfrm>
                <a:off x="9036368" y="2275999"/>
                <a:ext cx="2125147"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NVS (Non-volatile Storage) API</a:t>
                </a:r>
              </a:p>
            </p:txBody>
          </p:sp>
          <p:sp>
            <p:nvSpPr>
              <p:cNvPr id="37" name="TextBox 37"/>
              <p:cNvSpPr txBox="1"/>
              <p:nvPr/>
            </p:nvSpPr>
            <p:spPr>
              <a:xfrm>
                <a:off x="9036368" y="2466499"/>
                <a:ext cx="2160746"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持久化保存，断电仍可安全重连。</a:t>
                </a:r>
              </a:p>
            </p:txBody>
          </p:sp>
        </p:grpSp>
      </p:grpSp>
      <p:grpSp>
        <p:nvGrpSpPr>
          <p:cNvPr id="61" name="Group 61"/>
          <p:cNvGrpSpPr/>
          <p:nvPr/>
        </p:nvGrpSpPr>
        <p:grpSpPr>
          <a:xfrm>
            <a:off x="571500" y="3524250"/>
            <a:ext cx="9766815" cy="2238375"/>
            <a:chOff x="571500" y="3524250"/>
            <a:chExt cx="9766815" cy="2238375"/>
          </a:xfrm>
        </p:grpSpPr>
        <p:grpSp>
          <p:nvGrpSpPr>
            <p:cNvPr id="51" name="Group 51"/>
            <p:cNvGrpSpPr/>
            <p:nvPr/>
          </p:nvGrpSpPr>
          <p:grpSpPr>
            <a:xfrm>
              <a:off x="571500" y="3524250"/>
              <a:ext cx="4381500" cy="2238375"/>
              <a:chOff x="571500" y="3524250"/>
              <a:chExt cx="4381500" cy="2238375"/>
            </a:xfrm>
          </p:grpSpPr>
          <p:sp>
            <p:nvSpPr>
              <p:cNvPr id="40" name="Freeform 40"/>
              <p:cNvSpPr/>
              <p:nvPr/>
            </p:nvSpPr>
            <p:spPr>
              <a:xfrm>
                <a:off x="571500" y="3524250"/>
                <a:ext cx="4381500" cy="2238375"/>
              </a:xfrm>
              <a:custGeom>
                <a:avLst/>
                <a:gdLst/>
                <a:ahLst/>
                <a:cxnLst/>
                <a:rect l="l" t="t" r="r" b="b"/>
                <a:pathLst>
                  <a:path w="4381500" h="2238375">
                    <a:moveTo>
                      <a:pt x="76200" y="0"/>
                    </a:moveTo>
                    <a:lnTo>
                      <a:pt x="4305300" y="0"/>
                    </a:lnTo>
                    <a:cubicBezTo>
                      <a:pt x="4347384" y="0"/>
                      <a:pt x="4381500" y="34116"/>
                      <a:pt x="4381500" y="76200"/>
                    </a:cubicBezTo>
                    <a:lnTo>
                      <a:pt x="4381500" y="2162175"/>
                    </a:lnTo>
                    <a:cubicBezTo>
                      <a:pt x="4381500" y="2204259"/>
                      <a:pt x="4347384" y="2238375"/>
                      <a:pt x="4305300" y="2238375"/>
                    </a:cubicBezTo>
                    <a:lnTo>
                      <a:pt x="76200" y="2238375"/>
                    </a:lnTo>
                    <a:cubicBezTo>
                      <a:pt x="34116" y="2238375"/>
                      <a:pt x="0" y="2204259"/>
                      <a:pt x="0" y="2162175"/>
                    </a:cubicBezTo>
                    <a:lnTo>
                      <a:pt x="0" y="76200"/>
                    </a:lnTo>
                    <a:cubicBezTo>
                      <a:pt x="0" y="34116"/>
                      <a:pt x="34116" y="0"/>
                      <a:pt x="76200" y="0"/>
                    </a:cubicBezTo>
                    <a:close/>
                  </a:path>
                </a:pathLst>
              </a:custGeom>
              <a:solidFill>
                <a:srgbClr val="1A3E2A">
                  <a:alpha val="4000"/>
                </a:srgbClr>
              </a:solidFill>
              <a:ln w="9525">
                <a:solidFill>
                  <a:srgbClr val="D1DAD4"/>
                </a:solidFill>
              </a:ln>
            </p:spPr>
          </p:sp>
          <p:sp>
            <p:nvSpPr>
              <p:cNvPr id="41" name="Freeform 41"/>
              <p:cNvSpPr/>
              <p:nvPr/>
            </p:nvSpPr>
            <p:spPr>
              <a:xfrm>
                <a:off x="571500" y="3524250"/>
                <a:ext cx="4381500" cy="333375"/>
              </a:xfrm>
              <a:custGeom>
                <a:avLst/>
                <a:gdLst/>
                <a:ahLst/>
                <a:cxnLst/>
                <a:rect l="l" t="t" r="r" b="b"/>
                <a:pathLst>
                  <a:path w="4381500" h="333375">
                    <a:moveTo>
                      <a:pt x="76200" y="0"/>
                    </a:moveTo>
                    <a:lnTo>
                      <a:pt x="4305300" y="0"/>
                    </a:lnTo>
                    <a:cubicBezTo>
                      <a:pt x="4347384" y="0"/>
                      <a:pt x="4381500" y="34116"/>
                      <a:pt x="4381500" y="76200"/>
                    </a:cubicBezTo>
                    <a:lnTo>
                      <a:pt x="4381500" y="257175"/>
                    </a:lnTo>
                    <a:cubicBezTo>
                      <a:pt x="4381500" y="299259"/>
                      <a:pt x="4347384" y="333375"/>
                      <a:pt x="4305300" y="333375"/>
                    </a:cubicBezTo>
                    <a:lnTo>
                      <a:pt x="76200" y="333375"/>
                    </a:lnTo>
                    <a:cubicBezTo>
                      <a:pt x="34116" y="333375"/>
                      <a:pt x="0" y="299259"/>
                      <a:pt x="0" y="257175"/>
                    </a:cubicBezTo>
                    <a:lnTo>
                      <a:pt x="0" y="76200"/>
                    </a:lnTo>
                    <a:cubicBezTo>
                      <a:pt x="0" y="34116"/>
                      <a:pt x="34116" y="0"/>
                      <a:pt x="76200" y="0"/>
                    </a:cubicBezTo>
                    <a:close/>
                  </a:path>
                </a:pathLst>
              </a:custGeom>
              <a:solidFill>
                <a:srgbClr val="2B583E"/>
              </a:solidFill>
              <a:ln>
                <a:noFill/>
              </a:ln>
            </p:spPr>
          </p:sp>
          <p:sp>
            <p:nvSpPr>
              <p:cNvPr id="42" name="Rectangle 42"/>
              <p:cNvSpPr/>
              <p:nvPr/>
            </p:nvSpPr>
            <p:spPr>
              <a:xfrm>
                <a:off x="571500" y="3714750"/>
                <a:ext cx="4381500" cy="142875"/>
              </a:xfrm>
              <a:prstGeom prst="rect">
                <a:avLst/>
              </a:prstGeom>
              <a:solidFill>
                <a:srgbClr val="2B583E"/>
              </a:solidFill>
              <a:ln>
                <a:noFill/>
              </a:ln>
            </p:spPr>
          </p:sp>
          <p:sp>
            <p:nvSpPr>
              <p:cNvPr id="43" name="Freeform 43"/>
              <p:cNvSpPr/>
              <p:nvPr/>
            </p:nvSpPr>
            <p:spPr>
              <a:xfrm>
                <a:off x="735682" y="3621881"/>
                <a:ext cx="128712" cy="136155"/>
              </a:xfrm>
              <a:custGeom>
                <a:avLst/>
                <a:gdLst/>
                <a:ahLst/>
                <a:cxnLst/>
                <a:rect l="l" t="t" r="r" b="b"/>
                <a:pathLst>
                  <a:path w="128712" h="136155">
                    <a:moveTo>
                      <a:pt x="517" y="80924"/>
                    </a:moveTo>
                    <a:lnTo>
                      <a:pt x="388" y="79724"/>
                    </a:lnTo>
                    <a:lnTo>
                      <a:pt x="360" y="79417"/>
                    </a:lnTo>
                    <a:cubicBezTo>
                      <a:pt x="112" y="76758"/>
                      <a:pt x="0" y="74087"/>
                      <a:pt x="24" y="71416"/>
                    </a:cubicBezTo>
                    <a:cubicBezTo>
                      <a:pt x="153" y="26482"/>
                      <a:pt x="30671" y="0"/>
                      <a:pt x="92893" y="0"/>
                    </a:cubicBezTo>
                    <a:lnTo>
                      <a:pt x="121568" y="0"/>
                    </a:lnTo>
                    <a:cubicBezTo>
                      <a:pt x="125513" y="0"/>
                      <a:pt x="128712" y="3198"/>
                      <a:pt x="128712" y="7144"/>
                    </a:cubicBezTo>
                    <a:lnTo>
                      <a:pt x="128697" y="21838"/>
                    </a:lnTo>
                    <a:cubicBezTo>
                      <a:pt x="125140" y="83996"/>
                      <a:pt x="94836" y="114300"/>
                      <a:pt x="42987" y="114300"/>
                    </a:cubicBezTo>
                    <a:lnTo>
                      <a:pt x="24191" y="114300"/>
                    </a:lnTo>
                    <a:cubicBezTo>
                      <a:pt x="22963" y="119259"/>
                      <a:pt x="22068" y="124295"/>
                      <a:pt x="21513" y="129373"/>
                    </a:cubicBezTo>
                    <a:cubicBezTo>
                      <a:pt x="21232" y="131910"/>
                      <a:pt x="19619" y="134105"/>
                      <a:pt x="17282" y="135130"/>
                    </a:cubicBezTo>
                    <a:cubicBezTo>
                      <a:pt x="14944" y="136155"/>
                      <a:pt x="12237" y="135856"/>
                      <a:pt x="10181" y="134344"/>
                    </a:cubicBezTo>
                    <a:cubicBezTo>
                      <a:pt x="8124" y="132833"/>
                      <a:pt x="7030" y="130339"/>
                      <a:pt x="7311" y="127802"/>
                    </a:cubicBezTo>
                    <a:cubicBezTo>
                      <a:pt x="8139" y="120334"/>
                      <a:pt x="9521" y="113317"/>
                      <a:pt x="11454" y="106749"/>
                    </a:cubicBezTo>
                    <a:lnTo>
                      <a:pt x="10611" y="105706"/>
                    </a:lnTo>
                    <a:lnTo>
                      <a:pt x="9125" y="103706"/>
                    </a:lnTo>
                    <a:lnTo>
                      <a:pt x="8004" y="102070"/>
                    </a:lnTo>
                    <a:lnTo>
                      <a:pt x="6704" y="99977"/>
                    </a:lnTo>
                    <a:lnTo>
                      <a:pt x="6003" y="98755"/>
                    </a:lnTo>
                    <a:lnTo>
                      <a:pt x="5539" y="97884"/>
                    </a:lnTo>
                    <a:cubicBezTo>
                      <a:pt x="4404" y="95728"/>
                      <a:pt x="3456" y="93479"/>
                      <a:pt x="2703" y="91161"/>
                    </a:cubicBezTo>
                    <a:lnTo>
                      <a:pt x="2189" y="89468"/>
                    </a:lnTo>
                    <a:lnTo>
                      <a:pt x="1581" y="87132"/>
                    </a:lnTo>
                    <a:lnTo>
                      <a:pt x="1174" y="85218"/>
                    </a:lnTo>
                    <a:lnTo>
                      <a:pt x="867" y="83489"/>
                    </a:lnTo>
                    <a:close/>
                    <a:moveTo>
                      <a:pt x="61518" y="50621"/>
                    </a:moveTo>
                    <a:cubicBezTo>
                      <a:pt x="41194" y="59657"/>
                      <a:pt x="26842" y="72981"/>
                      <a:pt x="17884" y="90504"/>
                    </a:cubicBezTo>
                    <a:cubicBezTo>
                      <a:pt x="18350" y="91457"/>
                      <a:pt x="18869" y="92409"/>
                      <a:pt x="19441" y="93362"/>
                    </a:cubicBezTo>
                    <a:lnTo>
                      <a:pt x="20762" y="95369"/>
                    </a:lnTo>
                    <a:lnTo>
                      <a:pt x="21263" y="96062"/>
                    </a:lnTo>
                    <a:cubicBezTo>
                      <a:pt x="21834" y="96843"/>
                      <a:pt x="22448" y="97626"/>
                      <a:pt x="23106" y="98412"/>
                    </a:cubicBezTo>
                    <a:lnTo>
                      <a:pt x="24513" y="100012"/>
                    </a:lnTo>
                    <a:lnTo>
                      <a:pt x="29149" y="100012"/>
                    </a:lnTo>
                    <a:cubicBezTo>
                      <a:pt x="36557" y="83789"/>
                      <a:pt x="48987" y="71823"/>
                      <a:pt x="67318" y="63679"/>
                    </a:cubicBezTo>
                    <a:cubicBezTo>
                      <a:pt x="70924" y="62078"/>
                      <a:pt x="72549" y="57856"/>
                      <a:pt x="70947" y="54250"/>
                    </a:cubicBezTo>
                    <a:cubicBezTo>
                      <a:pt x="69345" y="50644"/>
                      <a:pt x="65124" y="49019"/>
                      <a:pt x="61518" y="50621"/>
                    </a:cubicBezTo>
                  </a:path>
                </a:pathLst>
              </a:custGeom>
              <a:solidFill>
                <a:srgbClr val="FFFFFF"/>
              </a:solidFill>
              <a:ln>
                <a:noFill/>
              </a:ln>
            </p:spPr>
          </p:sp>
          <p:sp>
            <p:nvSpPr>
              <p:cNvPr id="44" name="TextBox 44"/>
              <p:cNvSpPr txBox="1"/>
              <p:nvPr/>
            </p:nvSpPr>
            <p:spPr>
              <a:xfrm>
                <a:off x="988695" y="3646170"/>
                <a:ext cx="1271916"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Consolas"/>
                    <a:ea typeface="Microsoft YaHei"/>
                    <a:cs typeface="Consolas"/>
                  </a:rPr>
                  <a:t>ota_manifest.json</a:t>
                </a:r>
              </a:p>
            </p:txBody>
          </p:sp>
          <p:sp>
            <p:nvSpPr>
              <p:cNvPr id="45" name="TextBox 45"/>
              <p:cNvSpPr txBox="1"/>
              <p:nvPr/>
            </p:nvSpPr>
            <p:spPr>
              <a:xfrm>
                <a:off x="843915" y="4077652"/>
                <a:ext cx="111014" cy="213360"/>
              </a:xfrm>
              <a:prstGeom prst="rect">
                <a:avLst/>
              </a:prstGeom>
              <a:noFill/>
              <a:ln>
                <a:noFill/>
              </a:ln>
            </p:spPr>
            <p:txBody>
              <a:bodyPr wrap="none" lIns="0" tIns="0" rIns="0" bIns="0" anchor="t" anchorCtr="0">
                <a:spAutoFit/>
              </a:bodyPr>
              <a:lstStyle/>
              <a:p>
                <a:pPr algn="l"/>
                <a:r>
                  <a:rPr lang="zh-CN" sz="1050" dirty="0">
                    <a:solidFill>
                      <a:srgbClr val="809085"/>
                    </a:solidFill>
                    <a:latin typeface="Consolas"/>
                    <a:ea typeface="Microsoft YaHei"/>
                    <a:cs typeface="Consolas"/>
                  </a:rPr>
                  <a:t>{</a:t>
                </a:r>
              </a:p>
            </p:txBody>
          </p:sp>
          <p:sp>
            <p:nvSpPr>
              <p:cNvPr id="46" name="TextBox 46"/>
              <p:cNvSpPr txBox="1"/>
              <p:nvPr/>
            </p:nvSpPr>
            <p:spPr>
              <a:xfrm>
                <a:off x="1034415" y="4315778"/>
                <a:ext cx="1468184" cy="213360"/>
              </a:xfrm>
              <a:prstGeom prst="rect">
                <a:avLst/>
              </a:prstGeom>
              <a:noFill/>
              <a:ln>
                <a:noFill/>
              </a:ln>
            </p:spPr>
            <p:txBody>
              <a:bodyPr wrap="none" lIns="0" tIns="0" rIns="0" bIns="0" anchor="t" anchorCtr="0">
                <a:spAutoFit/>
              </a:bodyPr>
              <a:lstStyle/>
              <a:p>
                <a:pPr algn="l"/>
                <a:r>
                  <a:rPr lang="zh-CN" sz="1050" dirty="0">
                    <a:solidFill>
                      <a:srgbClr val="8E5B3C"/>
                    </a:solidFill>
                    <a:latin typeface="Consolas"/>
                    <a:ea typeface="Microsoft YaHei"/>
                    <a:cs typeface="Consolas"/>
                  </a:rPr>
                  <a:t>"version"</a:t>
                </a:r>
                <a:r>
                  <a:rPr lang="zh-CN" sz="1050" dirty="0">
                    <a:solidFill>
                      <a:srgbClr val="1C2E24"/>
                    </a:solidFill>
                    <a:latin typeface="Consolas"/>
                    <a:ea typeface="Microsoft YaHei"/>
                    <a:cs typeface="Consolas"/>
                  </a:rPr>
                  <a:t>:</a:t>
                </a:r>
                <a:r>
                  <a:rPr lang="zh-CN" sz="1050" dirty="0">
                    <a:solidFill>
                      <a:srgbClr val="3B8756"/>
                    </a:solidFill>
                    <a:latin typeface="Consolas"/>
                    <a:ea typeface="Microsoft YaHei"/>
                    <a:cs typeface="Consolas"/>
                  </a:rPr>
                  <a:t>"0.2.1"</a:t>
                </a:r>
                <a:r>
                  <a:rPr lang="zh-CN" sz="1050" dirty="0">
                    <a:solidFill>
                      <a:srgbClr val="1C2E24"/>
                    </a:solidFill>
                    <a:latin typeface="Consolas"/>
                    <a:ea typeface="Microsoft YaHei"/>
                    <a:cs typeface="Consolas"/>
                  </a:rPr>
                  <a:t>,</a:t>
                </a:r>
              </a:p>
            </p:txBody>
          </p:sp>
          <p:sp>
            <p:nvSpPr>
              <p:cNvPr id="47" name="TextBox 47"/>
              <p:cNvSpPr txBox="1"/>
              <p:nvPr/>
            </p:nvSpPr>
            <p:spPr>
              <a:xfrm>
                <a:off x="1034415" y="4553902"/>
                <a:ext cx="2672001" cy="213360"/>
              </a:xfrm>
              <a:prstGeom prst="rect">
                <a:avLst/>
              </a:prstGeom>
              <a:noFill/>
              <a:ln>
                <a:noFill/>
              </a:ln>
            </p:spPr>
            <p:txBody>
              <a:bodyPr wrap="none" lIns="0" tIns="0" rIns="0" bIns="0" anchor="t" anchorCtr="0">
                <a:spAutoFit/>
              </a:bodyPr>
              <a:lstStyle/>
              <a:p>
                <a:pPr algn="l"/>
                <a:r>
                  <a:rPr lang="zh-CN" sz="1050" dirty="0">
                    <a:solidFill>
                      <a:srgbClr val="8E5B3C"/>
                    </a:solidFill>
                    <a:latin typeface="Consolas"/>
                    <a:ea typeface="Microsoft YaHei"/>
                    <a:cs typeface="Consolas"/>
                  </a:rPr>
                  <a:t>"url"</a:t>
                </a:r>
                <a:r>
                  <a:rPr lang="zh-CN" sz="1050" dirty="0">
                    <a:solidFill>
                      <a:srgbClr val="1C2E24"/>
                    </a:solidFill>
                    <a:latin typeface="Consolas"/>
                    <a:ea typeface="Microsoft YaHei"/>
                    <a:cs typeface="Consolas"/>
                  </a:rPr>
                  <a:t>:</a:t>
                </a:r>
                <a:r>
                  <a:rPr lang="zh-CN" sz="1050" dirty="0">
                    <a:solidFill>
                      <a:srgbClr val="3B8756"/>
                    </a:solidFill>
                    <a:latin typeface="Consolas"/>
                    <a:ea typeface="Microsoft YaHei"/>
                    <a:cs typeface="Consolas"/>
                  </a:rPr>
                  <a:t>"http://.../firmware.bin"</a:t>
                </a:r>
                <a:r>
                  <a:rPr lang="zh-CN" sz="1050" dirty="0">
                    <a:solidFill>
                      <a:srgbClr val="1C2E24"/>
                    </a:solidFill>
                    <a:latin typeface="Consolas"/>
                    <a:ea typeface="Microsoft YaHei"/>
                    <a:cs typeface="Consolas"/>
                  </a:rPr>
                  <a:t>,</a:t>
                </a:r>
              </a:p>
            </p:txBody>
          </p:sp>
          <p:sp>
            <p:nvSpPr>
              <p:cNvPr id="48" name="TextBox 48"/>
              <p:cNvSpPr txBox="1"/>
              <p:nvPr/>
            </p:nvSpPr>
            <p:spPr>
              <a:xfrm>
                <a:off x="1034415" y="4792028"/>
                <a:ext cx="2165937" cy="213360"/>
              </a:xfrm>
              <a:prstGeom prst="rect">
                <a:avLst/>
              </a:prstGeom>
              <a:noFill/>
              <a:ln>
                <a:noFill/>
              </a:ln>
            </p:spPr>
            <p:txBody>
              <a:bodyPr wrap="none" lIns="0" tIns="0" rIns="0" bIns="0" anchor="t" anchorCtr="0">
                <a:spAutoFit/>
              </a:bodyPr>
              <a:lstStyle/>
              <a:p>
                <a:pPr algn="l"/>
                <a:r>
                  <a:rPr lang="zh-CN" sz="1050" dirty="0">
                    <a:solidFill>
                      <a:srgbClr val="8E5B3C"/>
                    </a:solidFill>
                    <a:latin typeface="Consolas"/>
                    <a:ea typeface="Microsoft YaHei"/>
                    <a:cs typeface="Consolas"/>
                  </a:rPr>
                  <a:t>"md5"</a:t>
                </a:r>
                <a:r>
                  <a:rPr lang="zh-CN" sz="1050" dirty="0">
                    <a:solidFill>
                      <a:srgbClr val="1C2E24"/>
                    </a:solidFill>
                    <a:latin typeface="Consolas"/>
                    <a:ea typeface="Microsoft YaHei"/>
                    <a:cs typeface="Consolas"/>
                  </a:rPr>
                  <a:t>:</a:t>
                </a:r>
                <a:r>
                  <a:rPr lang="zh-CN" sz="1050" dirty="0">
                    <a:solidFill>
                      <a:srgbClr val="3B8756"/>
                    </a:solidFill>
                    <a:latin typeface="Consolas"/>
                    <a:ea typeface="Microsoft YaHei"/>
                    <a:cs typeface="Consolas"/>
                  </a:rPr>
                  <a:t>"9a8e2b83c...fc82"</a:t>
                </a:r>
                <a:r>
                  <a:rPr lang="zh-CN" sz="1050" dirty="0">
                    <a:solidFill>
                      <a:srgbClr val="1C2E24"/>
                    </a:solidFill>
                    <a:latin typeface="Consolas"/>
                    <a:ea typeface="Microsoft YaHei"/>
                    <a:cs typeface="Consolas"/>
                  </a:rPr>
                  <a:t>,</a:t>
                </a:r>
              </a:p>
            </p:txBody>
          </p:sp>
          <p:sp>
            <p:nvSpPr>
              <p:cNvPr id="49" name="TextBox 49"/>
              <p:cNvSpPr txBox="1"/>
              <p:nvPr/>
            </p:nvSpPr>
            <p:spPr>
              <a:xfrm>
                <a:off x="1034415" y="5030152"/>
                <a:ext cx="1675209" cy="213360"/>
              </a:xfrm>
              <a:prstGeom prst="rect">
                <a:avLst/>
              </a:prstGeom>
              <a:noFill/>
              <a:ln>
                <a:noFill/>
              </a:ln>
            </p:spPr>
            <p:txBody>
              <a:bodyPr wrap="none" lIns="0" tIns="0" rIns="0" bIns="0" anchor="t" anchorCtr="0">
                <a:spAutoFit/>
              </a:bodyPr>
              <a:lstStyle/>
              <a:p>
                <a:pPr algn="l"/>
                <a:r>
                  <a:rPr lang="zh-CN" sz="1050" dirty="0">
                    <a:solidFill>
                      <a:srgbClr val="8E5B3C"/>
                    </a:solidFill>
                    <a:latin typeface="Consolas"/>
                    <a:ea typeface="Microsoft YaHei"/>
                    <a:cs typeface="Consolas"/>
                  </a:rPr>
                  <a:t>"size_bytes"</a:t>
                </a:r>
                <a:r>
                  <a:rPr lang="zh-CN" sz="1050" dirty="0">
                    <a:solidFill>
                      <a:srgbClr val="1C2E24"/>
                    </a:solidFill>
                    <a:latin typeface="Consolas"/>
                    <a:ea typeface="Microsoft YaHei"/>
                    <a:cs typeface="Consolas"/>
                  </a:rPr>
                  <a:t>:</a:t>
                </a:r>
                <a:r>
                  <a:rPr lang="zh-CN" sz="1050" dirty="0">
                    <a:solidFill>
                      <a:srgbClr val="DDA43B"/>
                    </a:solidFill>
                    <a:latin typeface="Consolas"/>
                    <a:ea typeface="Microsoft YaHei"/>
                    <a:cs typeface="Consolas"/>
                  </a:rPr>
                  <a:t>2049555</a:t>
                </a:r>
              </a:p>
            </p:txBody>
          </p:sp>
          <p:sp>
            <p:nvSpPr>
              <p:cNvPr id="50" name="TextBox 50"/>
              <p:cNvSpPr txBox="1"/>
              <p:nvPr/>
            </p:nvSpPr>
            <p:spPr>
              <a:xfrm>
                <a:off x="843915" y="5268278"/>
                <a:ext cx="111014" cy="213360"/>
              </a:xfrm>
              <a:prstGeom prst="rect">
                <a:avLst/>
              </a:prstGeom>
              <a:noFill/>
              <a:ln>
                <a:noFill/>
              </a:ln>
            </p:spPr>
            <p:txBody>
              <a:bodyPr wrap="none" lIns="0" tIns="0" rIns="0" bIns="0" anchor="t" anchorCtr="0">
                <a:spAutoFit/>
              </a:bodyPr>
              <a:lstStyle/>
              <a:p>
                <a:pPr algn="l"/>
                <a:r>
                  <a:rPr lang="zh-CN" sz="1050" dirty="0">
                    <a:solidFill>
                      <a:srgbClr val="809085"/>
                    </a:solidFill>
                    <a:latin typeface="Consolas"/>
                    <a:ea typeface="Microsoft YaHei"/>
                    <a:cs typeface="Consolas"/>
                  </a:rPr>
                  <a:t>}</a:t>
                </a:r>
              </a:p>
            </p:txBody>
          </p:sp>
        </p:grpSp>
        <p:grpSp>
          <p:nvGrpSpPr>
            <p:cNvPr id="60" name="Group 60"/>
            <p:cNvGrpSpPr/>
            <p:nvPr/>
          </p:nvGrpSpPr>
          <p:grpSpPr>
            <a:xfrm>
              <a:off x="5224462" y="3524250"/>
              <a:ext cx="5113853" cy="2174081"/>
              <a:chOff x="5224462" y="3524250"/>
              <a:chExt cx="5113853" cy="2174081"/>
            </a:xfrm>
          </p:grpSpPr>
          <p:sp>
            <p:nvSpPr>
              <p:cNvPr id="52" name="Freeform 52"/>
              <p:cNvSpPr/>
              <p:nvPr/>
            </p:nvSpPr>
            <p:spPr>
              <a:xfrm>
                <a:off x="5238750" y="3524250"/>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2B583E">
                  <a:alpha val="8000"/>
                </a:srgbClr>
              </a:solidFill>
              <a:ln>
                <a:noFill/>
              </a:ln>
            </p:spPr>
          </p:sp>
          <p:sp>
            <p:nvSpPr>
              <p:cNvPr id="53" name="TextBox 53"/>
              <p:cNvSpPr txBox="1"/>
              <p:nvPr/>
            </p:nvSpPr>
            <p:spPr>
              <a:xfrm>
                <a:off x="5743575" y="3609975"/>
                <a:ext cx="2142863" cy="304800"/>
              </a:xfrm>
              <a:prstGeom prst="rect">
                <a:avLst/>
              </a:prstGeom>
              <a:noFill/>
              <a:ln>
                <a:noFill/>
              </a:ln>
            </p:spPr>
            <p:txBody>
              <a:bodyPr wrap="none" lIns="0" tIns="0" rIns="0" bIns="0" anchor="t" anchorCtr="0">
                <a:spAutoFit/>
              </a:bodyPr>
              <a:lstStyle/>
              <a:p>
                <a:pPr algn="l"/>
                <a:r>
                  <a:rPr lang="zh-CN" sz="1500" b="1" dirty="0">
                    <a:solidFill>
                      <a:srgbClr val="1C2E24"/>
                    </a:solidFill>
                    <a:latin typeface="Quicksand"/>
                    <a:ea typeface="Microsoft YaHei"/>
                    <a:cs typeface="Quicksand"/>
                  </a:rPr>
                  <a:t>OTA 在线无缝热更新</a:t>
                </a:r>
              </a:p>
            </p:txBody>
          </p:sp>
          <p:sp>
            <p:nvSpPr>
              <p:cNvPr id="54" name="TextBox 54"/>
              <p:cNvSpPr txBox="1"/>
              <p:nvPr/>
            </p:nvSpPr>
            <p:spPr>
              <a:xfrm>
                <a:off x="5224462" y="4117181"/>
                <a:ext cx="4990624"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Manifest 轻量宣告</a:t>
                </a:r>
                <a:r>
                  <a:rPr lang="zh-CN" sz="1125" dirty="0">
                    <a:solidFill>
                      <a:srgbClr val="4D5F54"/>
                    </a:solidFill>
                    <a:latin typeface="Plus Jakarta Sans"/>
                    <a:ea typeface="Microsoft YaHei"/>
                    <a:cs typeface="Plus Jakarta Sans"/>
                  </a:rPr>
                  <a:t>：ESP32 定时轮询后端 HTTP/MQTT 宣告接口，</a:t>
                </a:r>
              </a:p>
            </p:txBody>
          </p:sp>
          <p:sp>
            <p:nvSpPr>
              <p:cNvPr id="55" name="TextBox 55"/>
              <p:cNvSpPr txBox="1"/>
              <p:nvPr/>
            </p:nvSpPr>
            <p:spPr>
              <a:xfrm>
                <a:off x="5224462" y="4364831"/>
                <a:ext cx="413623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比对本地版本。一旦版本匹配升级宣告，启动静默更新。</a:t>
                </a:r>
              </a:p>
            </p:txBody>
          </p:sp>
          <p:sp>
            <p:nvSpPr>
              <p:cNvPr id="56" name="TextBox 56"/>
              <p:cNvSpPr txBox="1"/>
              <p:nvPr/>
            </p:nvSpPr>
            <p:spPr>
              <a:xfrm>
                <a:off x="5224462" y="4669631"/>
                <a:ext cx="459628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MD5 数据完整性校验</a:t>
                </a:r>
                <a:r>
                  <a:rPr lang="zh-CN" sz="1125" dirty="0">
                    <a:solidFill>
                      <a:srgbClr val="4D5F54"/>
                    </a:solidFill>
                    <a:latin typeface="Plus Jakarta Sans"/>
                    <a:ea typeface="Microsoft YaHei"/>
                    <a:cs typeface="Plus Jakarta Sans"/>
                  </a:rPr>
                  <a:t>：在空中下载 firmware.bin 后，固件会</a:t>
                </a:r>
              </a:p>
            </p:txBody>
          </p:sp>
          <p:sp>
            <p:nvSpPr>
              <p:cNvPr id="57" name="TextBox 57"/>
              <p:cNvSpPr txBox="1"/>
              <p:nvPr/>
            </p:nvSpPr>
            <p:spPr>
              <a:xfrm>
                <a:off x="5224462" y="4917281"/>
                <a:ext cx="5113853"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在硬件端自动进行 MD5 校验，防止数据受损导致系统崩塌（Brick）。</a:t>
                </a:r>
              </a:p>
            </p:txBody>
          </p:sp>
          <p:sp>
            <p:nvSpPr>
              <p:cNvPr id="58" name="TextBox 58"/>
              <p:cNvSpPr txBox="1"/>
              <p:nvPr/>
            </p:nvSpPr>
            <p:spPr>
              <a:xfrm>
                <a:off x="5224462" y="5222081"/>
                <a:ext cx="485917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热分区双备份 (Partition Rollback)</a:t>
                </a:r>
                <a:r>
                  <a:rPr lang="zh-CN" sz="1125" dirty="0">
                    <a:solidFill>
                      <a:srgbClr val="4D5F54"/>
                    </a:solidFill>
                    <a:latin typeface="Plus Jakarta Sans"/>
                    <a:ea typeface="Microsoft YaHei"/>
                    <a:cs typeface="Plus Jakarta Sans"/>
                  </a:rPr>
                  <a:t>：利用 ESP32 双 OTA 分区，</a:t>
                </a:r>
              </a:p>
            </p:txBody>
          </p:sp>
          <p:sp>
            <p:nvSpPr>
              <p:cNvPr id="59" name="TextBox 59"/>
              <p:cNvSpPr txBox="1"/>
              <p:nvPr/>
            </p:nvSpPr>
            <p:spPr>
              <a:xfrm>
                <a:off x="5224462" y="5469731"/>
                <a:ext cx="504813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新固件先写入备用区。若运行失败自动回滚，确保设备 100% 不变砖。</a:t>
                </a:r>
              </a:p>
            </p:txBody>
          </p:sp>
        </p:grpSp>
      </p:grpSp>
      <p:grpSp>
        <p:nvGrpSpPr>
          <p:cNvPr id="64" name="Group 64"/>
          <p:cNvGrpSpPr/>
          <p:nvPr/>
        </p:nvGrpSpPr>
        <p:grpSpPr>
          <a:xfrm>
            <a:off x="561975" y="6443662"/>
            <a:ext cx="10877550" cy="152400"/>
            <a:chOff x="561975" y="6443662"/>
            <a:chExt cx="10877550" cy="152400"/>
          </a:xfrm>
        </p:grpSpPr>
        <p:sp>
          <p:nvSpPr>
            <p:cNvPr id="62" name="TextBox 6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3" name="TextBox 63"/>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06</a:t>
              </a:r>
            </a:p>
          </p:txBody>
        </p:sp>
      </p:gr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云端大脑层</a:t>
              </a:r>
            </a:p>
          </p:txBody>
        </p:sp>
        <p:sp>
          <p:nvSpPr>
            <p:cNvPr id="5" name="TextBox 5"/>
            <p:cNvSpPr txBox="1"/>
            <p:nvPr/>
          </p:nvSpPr>
          <p:spPr>
            <a:xfrm>
              <a:off x="1836420" y="312420"/>
              <a:ext cx="6759397"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服务端中枢：基于 Fastify 的模块化设计</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1" name="Group 21"/>
          <p:cNvGrpSpPr/>
          <p:nvPr/>
        </p:nvGrpSpPr>
        <p:grpSpPr>
          <a:xfrm>
            <a:off x="571500" y="1190625"/>
            <a:ext cx="3524250" cy="4381500"/>
            <a:chOff x="571500" y="1190625"/>
            <a:chExt cx="3524250" cy="4381500"/>
          </a:xfrm>
        </p:grpSpPr>
        <p:sp>
          <p:nvSpPr>
            <p:cNvPr id="8" name="Freeform 8"/>
            <p:cNvSpPr/>
            <p:nvPr/>
          </p:nvSpPr>
          <p:spPr>
            <a:xfrm>
              <a:off x="571500" y="1190625"/>
              <a:ext cx="3524250" cy="4381500"/>
            </a:xfrm>
            <a:custGeom>
              <a:avLst/>
              <a:gdLst/>
              <a:ahLst/>
              <a:cxnLst/>
              <a:rect l="l" t="t" r="r" b="b"/>
              <a:pathLst>
                <a:path w="3524250" h="4381500">
                  <a:moveTo>
                    <a:pt x="114300" y="0"/>
                  </a:moveTo>
                  <a:lnTo>
                    <a:pt x="3409950" y="0"/>
                  </a:lnTo>
                  <a:cubicBezTo>
                    <a:pt x="3473076" y="0"/>
                    <a:pt x="3524250" y="51174"/>
                    <a:pt x="3524250" y="114300"/>
                  </a:cubicBezTo>
                  <a:lnTo>
                    <a:pt x="3524250" y="4267200"/>
                  </a:lnTo>
                  <a:cubicBezTo>
                    <a:pt x="3524250" y="4330326"/>
                    <a:pt x="3473076" y="4381500"/>
                    <a:pt x="340995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9" name="Freeform 9"/>
            <p:cNvSpPr/>
            <p:nvPr/>
          </p:nvSpPr>
          <p:spPr>
            <a:xfrm>
              <a:off x="571500" y="1190625"/>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2B583E"/>
            </a:solidFill>
            <a:ln>
              <a:noFill/>
            </a:ln>
          </p:spPr>
        </p:sp>
        <p:sp>
          <p:nvSpPr>
            <p:cNvPr id="10" name="Freeform 10"/>
            <p:cNvSpPr/>
            <p:nvPr/>
          </p:nvSpPr>
          <p:spPr>
            <a:xfrm>
              <a:off x="857250" y="1619250"/>
              <a:ext cx="457200" cy="457200"/>
            </a:xfrm>
            <a:custGeom>
              <a:avLst/>
              <a:gdLst/>
              <a:ahLst/>
              <a:cxnLst/>
              <a:rect l="l" t="t" r="r" b="b"/>
              <a:pathLst>
                <a:path w="457200" h="457200">
                  <a:moveTo>
                    <a:pt x="228600" y="0"/>
                  </a:moveTo>
                  <a:lnTo>
                    <a:pt x="228600" y="0"/>
                  </a:lnTo>
                  <a:cubicBezTo>
                    <a:pt x="354852" y="0"/>
                    <a:pt x="457200" y="102348"/>
                    <a:pt x="457200" y="228600"/>
                  </a:cubicBezTo>
                  <a:lnTo>
                    <a:pt x="457200" y="228600"/>
                  </a:lnTo>
                  <a:cubicBezTo>
                    <a:pt x="457200" y="354852"/>
                    <a:pt x="354852" y="457200"/>
                    <a:pt x="2286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2B583E">
                <a:alpha val="8000"/>
              </a:srgbClr>
            </a:solidFill>
            <a:ln>
              <a:noFill/>
            </a:ln>
          </p:spPr>
        </p:sp>
        <p:sp>
          <p:nvSpPr>
            <p:cNvPr id="11" name="TextBox 11"/>
            <p:cNvSpPr txBox="1"/>
            <p:nvPr/>
          </p:nvSpPr>
          <p:spPr>
            <a:xfrm>
              <a:off x="836295" y="2298382"/>
              <a:ext cx="2040860" cy="335280"/>
            </a:xfrm>
            <a:prstGeom prst="rect">
              <a:avLst/>
            </a:prstGeom>
            <a:noFill/>
            <a:ln>
              <a:noFill/>
            </a:ln>
          </p:spPr>
          <p:txBody>
            <a:bodyPr wrap="none" lIns="0" tIns="0" rIns="0" bIns="0" anchor="t" anchorCtr="0">
              <a:spAutoFit/>
            </a:bodyPr>
            <a:lstStyle/>
            <a:p>
              <a:pPr algn="l"/>
              <a:r>
                <a:rPr lang="zh-CN" sz="1650" b="1" dirty="0">
                  <a:solidFill>
                    <a:srgbClr val="1C2E24"/>
                  </a:solidFill>
                  <a:latin typeface="Quicksand"/>
                  <a:ea typeface="Microsoft YaHei"/>
                  <a:cs typeface="Quicksand"/>
                </a:rPr>
                <a:t>Fastify 极速架构</a:t>
              </a:r>
            </a:p>
          </p:txBody>
        </p:sp>
        <p:sp>
          <p:nvSpPr>
            <p:cNvPr id="12" name="TextBox 12"/>
            <p:cNvSpPr txBox="1"/>
            <p:nvPr/>
          </p:nvSpPr>
          <p:spPr>
            <a:xfrm>
              <a:off x="843915" y="2696528"/>
              <a:ext cx="1822044"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Plus Jakarta Sans"/>
                  <a:ea typeface="Microsoft YaHei"/>
                  <a:cs typeface="Plus Jakarta Sans"/>
                </a:rPr>
                <a:t>Node.js + TS 模块化后端</a:t>
              </a:r>
            </a:p>
          </p:txBody>
        </p:sp>
        <p:sp>
          <p:nvSpPr>
            <p:cNvPr id="13" name="TextBox 13"/>
            <p:cNvSpPr txBox="1"/>
            <p:nvPr/>
          </p:nvSpPr>
          <p:spPr>
            <a:xfrm>
              <a:off x="842962" y="3117056"/>
              <a:ext cx="283821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严格的类型与校验</a:t>
              </a:r>
              <a:r>
                <a:rPr lang="zh-CN" sz="1125" dirty="0">
                  <a:solidFill>
                    <a:srgbClr val="4D5F54"/>
                  </a:solidFill>
                  <a:latin typeface="Plus Jakarta Sans"/>
                  <a:ea typeface="Microsoft YaHei"/>
                  <a:cs typeface="Plus Jakarta Sans"/>
                </a:rPr>
                <a:t>：全栈 TypeScript</a:t>
              </a:r>
            </a:p>
          </p:txBody>
        </p:sp>
        <p:sp>
          <p:nvSpPr>
            <p:cNvPr id="14" name="TextBox 14"/>
            <p:cNvSpPr txBox="1"/>
            <p:nvPr/>
          </p:nvSpPr>
          <p:spPr>
            <a:xfrm>
              <a:off x="842962" y="3383756"/>
              <a:ext cx="286285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配合 Zod 进行极其严苛的输入模式校验</a:t>
              </a:r>
            </a:p>
          </p:txBody>
        </p:sp>
        <p:sp>
          <p:nvSpPr>
            <p:cNvPr id="15" name="TextBox 15"/>
            <p:cNvSpPr txBox="1"/>
            <p:nvPr/>
          </p:nvSpPr>
          <p:spPr>
            <a:xfrm>
              <a:off x="842962" y="3650456"/>
              <a:ext cx="249316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，确保设备密钥轮换接口的安全。</a:t>
              </a:r>
            </a:p>
          </p:txBody>
        </p:sp>
        <p:sp>
          <p:nvSpPr>
            <p:cNvPr id="16" name="TextBox 16"/>
            <p:cNvSpPr txBox="1"/>
            <p:nvPr/>
          </p:nvSpPr>
          <p:spPr>
            <a:xfrm>
              <a:off x="842962" y="3955256"/>
              <a:ext cx="292036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低损耗高并发</a:t>
              </a:r>
              <a:r>
                <a:rPr lang="zh-CN" sz="1125" dirty="0">
                  <a:solidFill>
                    <a:srgbClr val="4D5F54"/>
                  </a:solidFill>
                  <a:latin typeface="Plus Jakarta Sans"/>
                  <a:ea typeface="Microsoft YaHei"/>
                  <a:cs typeface="Plus Jakarta Sans"/>
                </a:rPr>
                <a:t>：Fastify 相比 Express</a:t>
              </a:r>
            </a:p>
          </p:txBody>
        </p:sp>
        <p:sp>
          <p:nvSpPr>
            <p:cNvPr id="17" name="TextBox 17"/>
            <p:cNvSpPr txBox="1"/>
            <p:nvPr/>
          </p:nvSpPr>
          <p:spPr>
            <a:xfrm>
              <a:off x="842962" y="4221956"/>
              <a:ext cx="28217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拥有几乎翻倍的吞吐率，有效减少底端</a:t>
              </a:r>
            </a:p>
          </p:txBody>
        </p:sp>
        <p:sp>
          <p:nvSpPr>
            <p:cNvPr id="18" name="TextBox 18"/>
            <p:cNvSpPr txBox="1"/>
            <p:nvPr/>
          </p:nvSpPr>
          <p:spPr>
            <a:xfrm>
              <a:off x="842962" y="4488656"/>
              <a:ext cx="232886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多传感器高频推流的系统瓶颈。</a:t>
              </a:r>
            </a:p>
          </p:txBody>
        </p:sp>
        <p:sp>
          <p:nvSpPr>
            <p:cNvPr id="19" name="TextBox 19"/>
            <p:cNvSpPr txBox="1"/>
            <p:nvPr/>
          </p:nvSpPr>
          <p:spPr>
            <a:xfrm>
              <a:off x="842962" y="4793456"/>
              <a:ext cx="2747843"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OpenAI 兼容规范</a:t>
              </a:r>
              <a:r>
                <a:rPr lang="zh-CN" sz="1125" dirty="0">
                  <a:solidFill>
                    <a:srgbClr val="4D5F54"/>
                  </a:solidFill>
                  <a:latin typeface="Plus Jakarta Sans"/>
                  <a:ea typeface="Microsoft YaHei"/>
                  <a:cs typeface="Plus Jakarta Sans"/>
                </a:rPr>
                <a:t>：完全实现 V1 标准</a:t>
              </a:r>
            </a:p>
          </p:txBody>
        </p:sp>
        <p:sp>
          <p:nvSpPr>
            <p:cNvPr id="20" name="TextBox 20"/>
            <p:cNvSpPr txBox="1"/>
            <p:nvPr/>
          </p:nvSpPr>
          <p:spPr>
            <a:xfrm>
              <a:off x="842962" y="5060156"/>
              <a:ext cx="28217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对话接口，无缝兼容各种第三方应用。</a:t>
              </a:r>
            </a:p>
          </p:txBody>
        </p:sp>
      </p:grpSp>
      <p:grpSp>
        <p:nvGrpSpPr>
          <p:cNvPr id="39" name="Group 39"/>
          <p:cNvGrpSpPr/>
          <p:nvPr/>
        </p:nvGrpSpPr>
        <p:grpSpPr>
          <a:xfrm>
            <a:off x="4333875" y="1190625"/>
            <a:ext cx="3524250" cy="4381500"/>
            <a:chOff x="4333875" y="1190625"/>
            <a:chExt cx="3524250" cy="4381500"/>
          </a:xfrm>
        </p:grpSpPr>
        <p:sp>
          <p:nvSpPr>
            <p:cNvPr id="22" name="Freeform 22"/>
            <p:cNvSpPr/>
            <p:nvPr/>
          </p:nvSpPr>
          <p:spPr>
            <a:xfrm>
              <a:off x="4333875" y="1190625"/>
              <a:ext cx="3524250" cy="4381500"/>
            </a:xfrm>
            <a:custGeom>
              <a:avLst/>
              <a:gdLst/>
              <a:ahLst/>
              <a:cxnLst/>
              <a:rect l="l" t="t" r="r" b="b"/>
              <a:pathLst>
                <a:path w="3524250" h="4381500">
                  <a:moveTo>
                    <a:pt x="114300" y="0"/>
                  </a:moveTo>
                  <a:lnTo>
                    <a:pt x="3409950" y="0"/>
                  </a:lnTo>
                  <a:cubicBezTo>
                    <a:pt x="3473076" y="0"/>
                    <a:pt x="3524250" y="51174"/>
                    <a:pt x="3524250" y="114300"/>
                  </a:cubicBezTo>
                  <a:lnTo>
                    <a:pt x="3524250" y="4267200"/>
                  </a:lnTo>
                  <a:cubicBezTo>
                    <a:pt x="3524250" y="4330326"/>
                    <a:pt x="3473076" y="4381500"/>
                    <a:pt x="340995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23" name="Freeform 23"/>
            <p:cNvSpPr/>
            <p:nvPr/>
          </p:nvSpPr>
          <p:spPr>
            <a:xfrm>
              <a:off x="4333875" y="1190625"/>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8E5B3C"/>
            </a:solidFill>
            <a:ln>
              <a:noFill/>
            </a:ln>
          </p:spPr>
        </p:sp>
        <p:sp>
          <p:nvSpPr>
            <p:cNvPr id="24" name="Freeform 24"/>
            <p:cNvSpPr/>
            <p:nvPr/>
          </p:nvSpPr>
          <p:spPr>
            <a:xfrm>
              <a:off x="4619625" y="1619250"/>
              <a:ext cx="457200" cy="457200"/>
            </a:xfrm>
            <a:custGeom>
              <a:avLst/>
              <a:gdLst/>
              <a:ahLst/>
              <a:cxnLst/>
              <a:rect l="l" t="t" r="r" b="b"/>
              <a:pathLst>
                <a:path w="457200" h="457200">
                  <a:moveTo>
                    <a:pt x="228600" y="0"/>
                  </a:moveTo>
                  <a:lnTo>
                    <a:pt x="228600" y="0"/>
                  </a:lnTo>
                  <a:cubicBezTo>
                    <a:pt x="354852" y="0"/>
                    <a:pt x="457200" y="102348"/>
                    <a:pt x="457200" y="228600"/>
                  </a:cubicBezTo>
                  <a:lnTo>
                    <a:pt x="457200" y="228600"/>
                  </a:lnTo>
                  <a:cubicBezTo>
                    <a:pt x="457200" y="354852"/>
                    <a:pt x="354852" y="457200"/>
                    <a:pt x="2286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8E5B3C">
                <a:alpha val="8000"/>
              </a:srgbClr>
            </a:solidFill>
            <a:ln>
              <a:noFill/>
            </a:ln>
          </p:spPr>
        </p:sp>
        <p:grpSp>
          <p:nvGrpSpPr>
            <p:cNvPr id="28" name="Group 28"/>
            <p:cNvGrpSpPr/>
            <p:nvPr/>
          </p:nvGrpSpPr>
          <p:grpSpPr>
            <a:xfrm>
              <a:off x="4748212" y="1736725"/>
              <a:ext cx="200026" cy="222250"/>
              <a:chOff x="4748212" y="1736725"/>
              <a:chExt cx="200026" cy="222250"/>
            </a:xfrm>
          </p:grpSpPr>
          <p:sp>
            <p:nvSpPr>
              <p:cNvPr id="25" name="Freeform 25"/>
              <p:cNvSpPr/>
              <p:nvPr/>
            </p:nvSpPr>
            <p:spPr>
              <a:xfrm>
                <a:off x="4748212" y="1889311"/>
                <a:ext cx="200025" cy="69664"/>
              </a:xfrm>
              <a:custGeom>
                <a:avLst/>
                <a:gdLst/>
                <a:ahLst/>
                <a:cxnLst/>
                <a:rect l="l" t="t" r="r" b="b"/>
                <a:pathLst>
                  <a:path w="200025" h="69664">
                    <a:moveTo>
                      <a:pt x="0" y="0"/>
                    </a:moveTo>
                    <a:cubicBezTo>
                      <a:pt x="21869" y="16747"/>
                      <a:pt x="58163" y="25214"/>
                      <a:pt x="100012" y="25214"/>
                    </a:cubicBezTo>
                    <a:cubicBezTo>
                      <a:pt x="141795" y="25214"/>
                      <a:pt x="178078" y="16769"/>
                      <a:pt x="200025" y="189"/>
                    </a:cubicBezTo>
                    <a:lnTo>
                      <a:pt x="200025" y="25214"/>
                    </a:lnTo>
                    <a:cubicBezTo>
                      <a:pt x="200025" y="52162"/>
                      <a:pt x="156742" y="68953"/>
                      <a:pt x="103424" y="69642"/>
                    </a:cubicBezTo>
                    <a:lnTo>
                      <a:pt x="100012" y="69664"/>
                    </a:lnTo>
                    <a:cubicBezTo>
                      <a:pt x="45139" y="69664"/>
                      <a:pt x="0" y="52740"/>
                      <a:pt x="0" y="25214"/>
                    </a:cubicBezTo>
                    <a:close/>
                  </a:path>
                </a:pathLst>
              </a:custGeom>
              <a:solidFill>
                <a:srgbClr val="8E5B3C"/>
              </a:solidFill>
              <a:ln>
                <a:noFill/>
              </a:ln>
            </p:spPr>
          </p:sp>
          <p:sp>
            <p:nvSpPr>
              <p:cNvPr id="26" name="Freeform 26"/>
              <p:cNvSpPr/>
              <p:nvPr/>
            </p:nvSpPr>
            <p:spPr>
              <a:xfrm>
                <a:off x="4748212" y="1822636"/>
                <a:ext cx="200025" cy="69664"/>
              </a:xfrm>
              <a:custGeom>
                <a:avLst/>
                <a:gdLst/>
                <a:ahLst/>
                <a:cxnLst/>
                <a:rect l="l" t="t" r="r" b="b"/>
                <a:pathLst>
                  <a:path w="200025" h="69664">
                    <a:moveTo>
                      <a:pt x="0" y="0"/>
                    </a:moveTo>
                    <a:cubicBezTo>
                      <a:pt x="21869" y="16747"/>
                      <a:pt x="58163" y="25214"/>
                      <a:pt x="100012" y="25214"/>
                    </a:cubicBezTo>
                    <a:cubicBezTo>
                      <a:pt x="141795" y="25214"/>
                      <a:pt x="178078" y="16769"/>
                      <a:pt x="200025" y="189"/>
                    </a:cubicBezTo>
                    <a:lnTo>
                      <a:pt x="200025" y="25214"/>
                    </a:lnTo>
                    <a:cubicBezTo>
                      <a:pt x="200025" y="52740"/>
                      <a:pt x="154886" y="69664"/>
                      <a:pt x="100012" y="69664"/>
                    </a:cubicBezTo>
                    <a:cubicBezTo>
                      <a:pt x="46695" y="69664"/>
                      <a:pt x="2556" y="53684"/>
                      <a:pt x="233" y="27492"/>
                    </a:cubicBezTo>
                    <a:lnTo>
                      <a:pt x="56" y="26370"/>
                    </a:lnTo>
                    <a:lnTo>
                      <a:pt x="0" y="25214"/>
                    </a:lnTo>
                    <a:close/>
                  </a:path>
                </a:pathLst>
              </a:custGeom>
              <a:solidFill>
                <a:srgbClr val="8E5B3C"/>
              </a:solidFill>
              <a:ln>
                <a:noFill/>
              </a:ln>
            </p:spPr>
          </p:sp>
          <p:sp>
            <p:nvSpPr>
              <p:cNvPr id="27" name="Freeform 27"/>
              <p:cNvSpPr/>
              <p:nvPr/>
            </p:nvSpPr>
            <p:spPr>
              <a:xfrm>
                <a:off x="4748212" y="1736725"/>
                <a:ext cx="200026" cy="88900"/>
              </a:xfrm>
              <a:custGeom>
                <a:avLst/>
                <a:gdLst/>
                <a:ahLst/>
                <a:cxnLst/>
                <a:rect l="l" t="t" r="r" b="b"/>
                <a:pathLst>
                  <a:path w="200026" h="88900">
                    <a:moveTo>
                      <a:pt x="100013" y="0"/>
                    </a:moveTo>
                    <a:cubicBezTo>
                      <a:pt x="111581" y="0"/>
                      <a:pt x="122727" y="756"/>
                      <a:pt x="133095" y="2200"/>
                    </a:cubicBezTo>
                    <a:lnTo>
                      <a:pt x="138307" y="2989"/>
                    </a:lnTo>
                    <a:cubicBezTo>
                      <a:pt x="144530" y="4026"/>
                      <a:pt x="150405" y="5315"/>
                      <a:pt x="155931" y="6856"/>
                    </a:cubicBezTo>
                    <a:lnTo>
                      <a:pt x="160821" y="8312"/>
                    </a:lnTo>
                    <a:lnTo>
                      <a:pt x="161654" y="8579"/>
                    </a:lnTo>
                    <a:cubicBezTo>
                      <a:pt x="164679" y="9573"/>
                      <a:pt x="167663" y="10685"/>
                      <a:pt x="170600" y="11913"/>
                    </a:cubicBezTo>
                    <a:lnTo>
                      <a:pt x="172811" y="12868"/>
                    </a:lnTo>
                    <a:cubicBezTo>
                      <a:pt x="176775" y="14661"/>
                      <a:pt x="180357" y="16624"/>
                      <a:pt x="183557" y="18758"/>
                    </a:cubicBezTo>
                    <a:cubicBezTo>
                      <a:pt x="184780" y="19573"/>
                      <a:pt x="185939" y="20406"/>
                      <a:pt x="187035" y="21258"/>
                    </a:cubicBezTo>
                    <a:cubicBezTo>
                      <a:pt x="189813" y="23413"/>
                      <a:pt x="192310" y="25907"/>
                      <a:pt x="194470" y="28681"/>
                    </a:cubicBezTo>
                    <a:lnTo>
                      <a:pt x="195481" y="30104"/>
                    </a:lnTo>
                    <a:cubicBezTo>
                      <a:pt x="195999" y="30882"/>
                      <a:pt x="196477" y="31663"/>
                      <a:pt x="196914" y="32448"/>
                    </a:cubicBezTo>
                    <a:lnTo>
                      <a:pt x="197692" y="33993"/>
                    </a:lnTo>
                    <a:cubicBezTo>
                      <a:pt x="198900" y="36586"/>
                      <a:pt x="199641" y="39290"/>
                      <a:pt x="199915" y="42105"/>
                    </a:cubicBezTo>
                    <a:lnTo>
                      <a:pt x="200026" y="44450"/>
                    </a:lnTo>
                    <a:cubicBezTo>
                      <a:pt x="200026" y="71976"/>
                      <a:pt x="154887" y="88900"/>
                      <a:pt x="100013" y="88900"/>
                    </a:cubicBezTo>
                    <a:cubicBezTo>
                      <a:pt x="46696" y="88900"/>
                      <a:pt x="2557" y="72920"/>
                      <a:pt x="234" y="46728"/>
                    </a:cubicBezTo>
                    <a:cubicBezTo>
                      <a:pt x="78" y="45979"/>
                      <a:pt x="0" y="45215"/>
                      <a:pt x="1" y="44450"/>
                    </a:cubicBezTo>
                    <a:lnTo>
                      <a:pt x="56" y="43294"/>
                    </a:lnTo>
                    <a:lnTo>
                      <a:pt x="234" y="42183"/>
                    </a:lnTo>
                    <a:cubicBezTo>
                      <a:pt x="2512" y="16558"/>
                      <a:pt x="44795" y="700"/>
                      <a:pt x="96546" y="22"/>
                    </a:cubicBezTo>
                    <a:close/>
                  </a:path>
                </a:pathLst>
              </a:custGeom>
              <a:solidFill>
                <a:srgbClr val="8E5B3C"/>
              </a:solidFill>
              <a:ln>
                <a:noFill/>
              </a:ln>
            </p:spPr>
          </p:sp>
        </p:grpSp>
        <p:sp>
          <p:nvSpPr>
            <p:cNvPr id="29" name="TextBox 29"/>
            <p:cNvSpPr txBox="1"/>
            <p:nvPr/>
          </p:nvSpPr>
          <p:spPr>
            <a:xfrm>
              <a:off x="4598670" y="2298382"/>
              <a:ext cx="2205330" cy="335280"/>
            </a:xfrm>
            <a:prstGeom prst="rect">
              <a:avLst/>
            </a:prstGeom>
            <a:noFill/>
            <a:ln>
              <a:noFill/>
            </a:ln>
          </p:spPr>
          <p:txBody>
            <a:bodyPr wrap="none" lIns="0" tIns="0" rIns="0" bIns="0" anchor="t" anchorCtr="0">
              <a:spAutoFit/>
            </a:bodyPr>
            <a:lstStyle/>
            <a:p>
              <a:pPr algn="l"/>
              <a:r>
                <a:rPr lang="zh-CN" sz="1650" b="1" dirty="0">
                  <a:solidFill>
                    <a:srgbClr val="1C2E24"/>
                  </a:solidFill>
                  <a:latin typeface="Quicksand"/>
                  <a:ea typeface="Microsoft YaHei"/>
                  <a:cs typeface="Quicksand"/>
                </a:rPr>
                <a:t>SQLite + WAL 引擎</a:t>
              </a:r>
            </a:p>
          </p:txBody>
        </p:sp>
        <p:sp>
          <p:nvSpPr>
            <p:cNvPr id="30" name="TextBox 30"/>
            <p:cNvSpPr txBox="1"/>
            <p:nvPr/>
          </p:nvSpPr>
          <p:spPr>
            <a:xfrm>
              <a:off x="4606290" y="2696528"/>
              <a:ext cx="1797891"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Plus Jakarta Sans"/>
                  <a:ea typeface="Microsoft YaHei"/>
                  <a:cs typeface="Plus Jakarta Sans"/>
                </a:rPr>
                <a:t>轻量高效的单文件数据库</a:t>
              </a:r>
            </a:p>
          </p:txBody>
        </p:sp>
        <p:sp>
          <p:nvSpPr>
            <p:cNvPr id="31" name="TextBox 31"/>
            <p:cNvSpPr txBox="1"/>
            <p:nvPr/>
          </p:nvSpPr>
          <p:spPr>
            <a:xfrm>
              <a:off x="4605338" y="3117056"/>
              <a:ext cx="283821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SQLite 本地化底座</a:t>
              </a:r>
              <a:r>
                <a:rPr lang="zh-CN" sz="1125" dirty="0">
                  <a:solidFill>
                    <a:srgbClr val="4D5F54"/>
                  </a:solidFill>
                  <a:latin typeface="Plus Jakarta Sans"/>
                  <a:ea typeface="Microsoft YaHei"/>
                  <a:cs typeface="Plus Jakarta Sans"/>
                </a:rPr>
                <a:t>：极简嵌入式架构</a:t>
              </a:r>
            </a:p>
          </p:txBody>
        </p:sp>
        <p:sp>
          <p:nvSpPr>
            <p:cNvPr id="32" name="TextBox 32"/>
            <p:cNvSpPr txBox="1"/>
            <p:nvPr/>
          </p:nvSpPr>
          <p:spPr>
            <a:xfrm>
              <a:off x="4605338" y="3383756"/>
              <a:ext cx="28217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，在单机受限场景下兼顾多表级联查询</a:t>
              </a:r>
            </a:p>
          </p:txBody>
        </p:sp>
        <p:sp>
          <p:nvSpPr>
            <p:cNvPr id="33" name="TextBox 33"/>
            <p:cNvSpPr txBox="1"/>
            <p:nvPr/>
          </p:nvSpPr>
          <p:spPr>
            <a:xfrm>
              <a:off x="4605338" y="3650456"/>
              <a:ext cx="1835944"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，零外部服务网络开销。</a:t>
              </a:r>
            </a:p>
          </p:txBody>
        </p:sp>
        <p:sp>
          <p:nvSpPr>
            <p:cNvPr id="34" name="TextBox 34"/>
            <p:cNvSpPr txBox="1"/>
            <p:nvPr/>
          </p:nvSpPr>
          <p:spPr>
            <a:xfrm>
              <a:off x="4605338" y="3955256"/>
              <a:ext cx="297787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WAL 模式开启</a:t>
              </a:r>
              <a:r>
                <a:rPr lang="zh-CN" sz="1125" dirty="0">
                  <a:solidFill>
                    <a:srgbClr val="4D5F54"/>
                  </a:solidFill>
                  <a:latin typeface="Plus Jakarta Sans"/>
                  <a:ea typeface="Microsoft YaHei"/>
                  <a:cs typeface="Plus Jakarta Sans"/>
                </a:rPr>
                <a:t>：启用 Write-Ahead Log</a:t>
              </a:r>
            </a:p>
          </p:txBody>
        </p:sp>
        <p:sp>
          <p:nvSpPr>
            <p:cNvPr id="35" name="TextBox 35"/>
            <p:cNvSpPr txBox="1"/>
            <p:nvPr/>
          </p:nvSpPr>
          <p:spPr>
            <a:xfrm>
              <a:off x="4605338" y="4221956"/>
              <a:ext cx="28217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（预写日志），实现读写并行不阻塞，</a:t>
              </a:r>
            </a:p>
          </p:txBody>
        </p:sp>
        <p:sp>
          <p:nvSpPr>
            <p:cNvPr id="36" name="TextBox 36"/>
            <p:cNvSpPr txBox="1"/>
            <p:nvPr/>
          </p:nvSpPr>
          <p:spPr>
            <a:xfrm>
              <a:off x="4605338" y="4488656"/>
              <a:ext cx="249316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优雅应对硬件高频多路读数写入。</a:t>
              </a:r>
            </a:p>
          </p:txBody>
        </p:sp>
        <p:sp>
          <p:nvSpPr>
            <p:cNvPr id="37" name="TextBox 37"/>
            <p:cNvSpPr txBox="1"/>
            <p:nvPr/>
          </p:nvSpPr>
          <p:spPr>
            <a:xfrm>
              <a:off x="4605338" y="4793456"/>
              <a:ext cx="279713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sqlite-vec 向量底座</a:t>
              </a:r>
              <a:r>
                <a:rPr lang="zh-CN" sz="1125" dirty="0">
                  <a:solidFill>
                    <a:srgbClr val="4D5F54"/>
                  </a:solidFill>
                  <a:latin typeface="Plus Jakarta Sans"/>
                  <a:ea typeface="Microsoft YaHei"/>
                  <a:cs typeface="Plus Jakarta Sans"/>
                </a:rPr>
                <a:t>：直接以原生库</a:t>
              </a:r>
            </a:p>
          </p:txBody>
        </p:sp>
        <p:sp>
          <p:nvSpPr>
            <p:cNvPr id="38" name="TextBox 38"/>
            <p:cNvSpPr txBox="1"/>
            <p:nvPr/>
          </p:nvSpPr>
          <p:spPr>
            <a:xfrm>
              <a:off x="4605338" y="5060156"/>
              <a:ext cx="28217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方式加载，在本地实现极速向量检索。</a:t>
              </a:r>
            </a:p>
          </p:txBody>
        </p:sp>
      </p:grpSp>
      <p:grpSp>
        <p:nvGrpSpPr>
          <p:cNvPr id="63" name="Group 63"/>
          <p:cNvGrpSpPr/>
          <p:nvPr/>
        </p:nvGrpSpPr>
        <p:grpSpPr>
          <a:xfrm>
            <a:off x="8096250" y="1190625"/>
            <a:ext cx="3524250" cy="4381500"/>
            <a:chOff x="8096250" y="1190625"/>
            <a:chExt cx="3524250" cy="4381500"/>
          </a:xfrm>
        </p:grpSpPr>
        <p:sp>
          <p:nvSpPr>
            <p:cNvPr id="40" name="Freeform 40"/>
            <p:cNvSpPr/>
            <p:nvPr/>
          </p:nvSpPr>
          <p:spPr>
            <a:xfrm>
              <a:off x="8096250" y="1190625"/>
              <a:ext cx="3524250" cy="4381500"/>
            </a:xfrm>
            <a:custGeom>
              <a:avLst/>
              <a:gdLst/>
              <a:ahLst/>
              <a:cxnLst/>
              <a:rect l="l" t="t" r="r" b="b"/>
              <a:pathLst>
                <a:path w="3524250" h="4381500">
                  <a:moveTo>
                    <a:pt x="114300" y="0"/>
                  </a:moveTo>
                  <a:lnTo>
                    <a:pt x="3409950" y="0"/>
                  </a:lnTo>
                  <a:cubicBezTo>
                    <a:pt x="3473076" y="0"/>
                    <a:pt x="3524250" y="51174"/>
                    <a:pt x="3524250" y="114300"/>
                  </a:cubicBezTo>
                  <a:lnTo>
                    <a:pt x="3524250" y="4267200"/>
                  </a:lnTo>
                  <a:cubicBezTo>
                    <a:pt x="3524250" y="4330326"/>
                    <a:pt x="3473076" y="4381500"/>
                    <a:pt x="340995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41" name="Freeform 41"/>
            <p:cNvSpPr/>
            <p:nvPr/>
          </p:nvSpPr>
          <p:spPr>
            <a:xfrm>
              <a:off x="8096250" y="1190625"/>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DDA43B"/>
            </a:solidFill>
            <a:ln>
              <a:noFill/>
            </a:ln>
          </p:spPr>
        </p:sp>
        <p:sp>
          <p:nvSpPr>
            <p:cNvPr id="42" name="Freeform 42"/>
            <p:cNvSpPr/>
            <p:nvPr/>
          </p:nvSpPr>
          <p:spPr>
            <a:xfrm>
              <a:off x="8382000" y="1619250"/>
              <a:ext cx="457200" cy="457200"/>
            </a:xfrm>
            <a:custGeom>
              <a:avLst/>
              <a:gdLst/>
              <a:ahLst/>
              <a:cxnLst/>
              <a:rect l="l" t="t" r="r" b="b"/>
              <a:pathLst>
                <a:path w="457200" h="457200">
                  <a:moveTo>
                    <a:pt x="228600" y="0"/>
                  </a:moveTo>
                  <a:lnTo>
                    <a:pt x="228600" y="0"/>
                  </a:lnTo>
                  <a:cubicBezTo>
                    <a:pt x="354852" y="0"/>
                    <a:pt x="457200" y="102348"/>
                    <a:pt x="457200" y="228600"/>
                  </a:cubicBezTo>
                  <a:lnTo>
                    <a:pt x="457200" y="228600"/>
                  </a:lnTo>
                  <a:cubicBezTo>
                    <a:pt x="457200" y="354852"/>
                    <a:pt x="354852" y="457200"/>
                    <a:pt x="228600" y="457200"/>
                  </a:cubicBezTo>
                  <a:lnTo>
                    <a:pt x="228600" y="457200"/>
                  </a:lnTo>
                  <a:cubicBezTo>
                    <a:pt x="102348" y="457200"/>
                    <a:pt x="0" y="354852"/>
                    <a:pt x="0" y="228600"/>
                  </a:cubicBezTo>
                  <a:lnTo>
                    <a:pt x="0" y="228600"/>
                  </a:lnTo>
                  <a:cubicBezTo>
                    <a:pt x="0" y="102348"/>
                    <a:pt x="102348" y="0"/>
                    <a:pt x="228600" y="0"/>
                  </a:cubicBezTo>
                  <a:close/>
                </a:path>
              </a:pathLst>
            </a:custGeom>
            <a:solidFill>
              <a:srgbClr val="DDA43B">
                <a:alpha val="8000"/>
              </a:srgbClr>
            </a:solidFill>
            <a:ln>
              <a:noFill/>
            </a:ln>
          </p:spPr>
        </p:sp>
        <p:grpSp>
          <p:nvGrpSpPr>
            <p:cNvPr id="52" name="Group 52"/>
            <p:cNvGrpSpPr/>
            <p:nvPr/>
          </p:nvGrpSpPr>
          <p:grpSpPr>
            <a:xfrm>
              <a:off x="8499162" y="1736725"/>
              <a:ext cx="222876" cy="222564"/>
              <a:chOff x="8499162" y="1736725"/>
              <a:chExt cx="222876" cy="222564"/>
            </a:xfrm>
          </p:grpSpPr>
          <p:sp>
            <p:nvSpPr>
              <p:cNvPr id="43" name="Freeform 43"/>
              <p:cNvSpPr/>
              <p:nvPr/>
            </p:nvSpPr>
            <p:spPr>
              <a:xfrm>
                <a:off x="8599488" y="1925638"/>
                <a:ext cx="22225" cy="33651"/>
              </a:xfrm>
              <a:custGeom>
                <a:avLst/>
                <a:gdLst/>
                <a:ahLst/>
                <a:cxnLst/>
                <a:rect l="l" t="t" r="r" b="b"/>
                <a:pathLst>
                  <a:path w="22225" h="33651">
                    <a:moveTo>
                      <a:pt x="11112" y="0"/>
                    </a:moveTo>
                    <a:cubicBezTo>
                      <a:pt x="16746" y="1"/>
                      <a:pt x="21488" y="4217"/>
                      <a:pt x="22147" y="9812"/>
                    </a:cubicBezTo>
                    <a:lnTo>
                      <a:pt x="22225" y="11113"/>
                    </a:lnTo>
                    <a:lnTo>
                      <a:pt x="22225" y="22225"/>
                    </a:lnTo>
                    <a:cubicBezTo>
                      <a:pt x="22218" y="28105"/>
                      <a:pt x="17633" y="32962"/>
                      <a:pt x="11764" y="33306"/>
                    </a:cubicBezTo>
                    <a:cubicBezTo>
                      <a:pt x="5894" y="33651"/>
                      <a:pt x="772" y="29364"/>
                      <a:pt x="78" y="23525"/>
                    </a:cubicBezTo>
                    <a:lnTo>
                      <a:pt x="0" y="22225"/>
                    </a:lnTo>
                    <a:lnTo>
                      <a:pt x="0" y="11113"/>
                    </a:lnTo>
                    <a:cubicBezTo>
                      <a:pt x="0" y="4975"/>
                      <a:pt x="4975" y="0"/>
                      <a:pt x="11112" y="0"/>
                    </a:cubicBezTo>
                    <a:close/>
                  </a:path>
                </a:pathLst>
              </a:custGeom>
              <a:solidFill>
                <a:srgbClr val="DDA43B"/>
              </a:solidFill>
              <a:ln>
                <a:noFill/>
              </a:ln>
            </p:spPr>
          </p:sp>
          <p:sp>
            <p:nvSpPr>
              <p:cNvPr id="44" name="Freeform 44"/>
              <p:cNvSpPr/>
              <p:nvPr/>
            </p:nvSpPr>
            <p:spPr>
              <a:xfrm>
                <a:off x="8661721" y="1898767"/>
                <a:ext cx="32195" cy="32566"/>
              </a:xfrm>
              <a:custGeom>
                <a:avLst/>
                <a:gdLst/>
                <a:ahLst/>
                <a:cxnLst/>
                <a:rect l="l" t="t" r="r" b="b"/>
                <a:pathLst>
                  <a:path w="32195" h="32566">
                    <a:moveTo>
                      <a:pt x="19032" y="3646"/>
                    </a:moveTo>
                    <a:lnTo>
                      <a:pt x="20077" y="4568"/>
                    </a:lnTo>
                    <a:lnTo>
                      <a:pt x="27856" y="12347"/>
                    </a:lnTo>
                    <a:cubicBezTo>
                      <a:pt x="31992" y="16497"/>
                      <a:pt x="32195" y="23146"/>
                      <a:pt x="28319" y="27541"/>
                    </a:cubicBezTo>
                    <a:cubicBezTo>
                      <a:pt x="24444" y="31936"/>
                      <a:pt x="17822" y="32566"/>
                      <a:pt x="13187" y="28982"/>
                    </a:cubicBezTo>
                    <a:lnTo>
                      <a:pt x="12142" y="28060"/>
                    </a:lnTo>
                    <a:lnTo>
                      <a:pt x="4364" y="20281"/>
                    </a:lnTo>
                    <a:cubicBezTo>
                      <a:pt x="396" y="16320"/>
                      <a:pt x="0" y="10024"/>
                      <a:pt x="3441" y="5597"/>
                    </a:cubicBezTo>
                    <a:cubicBezTo>
                      <a:pt x="6882" y="1170"/>
                      <a:pt x="13081" y="0"/>
                      <a:pt x="17899" y="2868"/>
                    </a:cubicBezTo>
                    <a:lnTo>
                      <a:pt x="19032" y="3646"/>
                    </a:lnTo>
                    <a:close/>
                  </a:path>
                </a:pathLst>
              </a:custGeom>
              <a:solidFill>
                <a:srgbClr val="DDA43B"/>
              </a:solidFill>
              <a:ln>
                <a:noFill/>
              </a:ln>
            </p:spPr>
          </p:sp>
          <p:sp>
            <p:nvSpPr>
              <p:cNvPr id="45" name="Freeform 45"/>
              <p:cNvSpPr/>
              <p:nvPr/>
            </p:nvSpPr>
            <p:spPr>
              <a:xfrm>
                <a:off x="8527117" y="1898997"/>
                <a:ext cx="32352" cy="32169"/>
              </a:xfrm>
              <a:custGeom>
                <a:avLst/>
                <a:gdLst/>
                <a:ahLst/>
                <a:cxnLst/>
                <a:rect l="l" t="t" r="r" b="b"/>
                <a:pathLst>
                  <a:path w="32352" h="32169">
                    <a:moveTo>
                      <a:pt x="27998" y="4338"/>
                    </a:moveTo>
                    <a:cubicBezTo>
                      <a:pt x="31957" y="8297"/>
                      <a:pt x="32352" y="14583"/>
                      <a:pt x="28921" y="19007"/>
                    </a:cubicBezTo>
                    <a:lnTo>
                      <a:pt x="27998" y="20051"/>
                    </a:lnTo>
                    <a:lnTo>
                      <a:pt x="20220" y="27830"/>
                    </a:lnTo>
                    <a:cubicBezTo>
                      <a:pt x="16069" y="31966"/>
                      <a:pt x="9421" y="32169"/>
                      <a:pt x="5026" y="28294"/>
                    </a:cubicBezTo>
                    <a:cubicBezTo>
                      <a:pt x="631" y="24419"/>
                      <a:pt x="0" y="17797"/>
                      <a:pt x="3584" y="13161"/>
                    </a:cubicBezTo>
                    <a:lnTo>
                      <a:pt x="4507" y="12117"/>
                    </a:lnTo>
                    <a:lnTo>
                      <a:pt x="12285" y="4338"/>
                    </a:lnTo>
                    <a:cubicBezTo>
                      <a:pt x="16625" y="0"/>
                      <a:pt x="23659" y="0"/>
                      <a:pt x="27998" y="4338"/>
                    </a:cubicBezTo>
                    <a:close/>
                  </a:path>
                </a:pathLst>
              </a:custGeom>
              <a:solidFill>
                <a:srgbClr val="DDA43B"/>
              </a:solidFill>
              <a:ln>
                <a:noFill/>
              </a:ln>
            </p:spPr>
          </p:sp>
          <p:sp>
            <p:nvSpPr>
              <p:cNvPr id="46" name="Freeform 46"/>
              <p:cNvSpPr/>
              <p:nvPr/>
            </p:nvSpPr>
            <p:spPr>
              <a:xfrm>
                <a:off x="8499162" y="183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8"/>
                      <a:pt x="689" y="17633"/>
                      <a:pt x="345" y="11764"/>
                    </a:cubicBezTo>
                    <a:cubicBezTo>
                      <a:pt x="0" y="5894"/>
                      <a:pt x="4287" y="772"/>
                      <a:pt x="10125" y="78"/>
                    </a:cubicBezTo>
                    <a:lnTo>
                      <a:pt x="11426" y="0"/>
                    </a:lnTo>
                    <a:lnTo>
                      <a:pt x="22538" y="0"/>
                    </a:lnTo>
                    <a:close/>
                  </a:path>
                </a:pathLst>
              </a:custGeom>
              <a:solidFill>
                <a:srgbClr val="DDA43B"/>
              </a:solidFill>
              <a:ln>
                <a:noFill/>
              </a:ln>
            </p:spPr>
          </p:sp>
          <p:sp>
            <p:nvSpPr>
              <p:cNvPr id="47" name="Freeform 47"/>
              <p:cNvSpPr/>
              <p:nvPr/>
            </p:nvSpPr>
            <p:spPr>
              <a:xfrm>
                <a:off x="8688074" y="183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8"/>
                      <a:pt x="689" y="17633"/>
                      <a:pt x="345" y="11764"/>
                    </a:cubicBezTo>
                    <a:cubicBezTo>
                      <a:pt x="0" y="5894"/>
                      <a:pt x="4287" y="772"/>
                      <a:pt x="10125" y="78"/>
                    </a:cubicBezTo>
                    <a:lnTo>
                      <a:pt x="11426" y="0"/>
                    </a:lnTo>
                    <a:lnTo>
                      <a:pt x="22538" y="0"/>
                    </a:lnTo>
                    <a:close/>
                  </a:path>
                </a:pathLst>
              </a:custGeom>
              <a:solidFill>
                <a:srgbClr val="DDA43B"/>
              </a:solidFill>
              <a:ln>
                <a:noFill/>
              </a:ln>
            </p:spPr>
          </p:sp>
          <p:sp>
            <p:nvSpPr>
              <p:cNvPr id="48" name="Freeform 48"/>
              <p:cNvSpPr/>
              <p:nvPr/>
            </p:nvSpPr>
            <p:spPr>
              <a:xfrm>
                <a:off x="8527281" y="1764324"/>
                <a:ext cx="32173" cy="32547"/>
              </a:xfrm>
              <a:custGeom>
                <a:avLst/>
                <a:gdLst/>
                <a:ahLst/>
                <a:cxnLst/>
                <a:rect l="l" t="t" r="r" b="b"/>
                <a:pathLst>
                  <a:path w="32173" h="32547">
                    <a:moveTo>
                      <a:pt x="19011" y="3627"/>
                    </a:moveTo>
                    <a:lnTo>
                      <a:pt x="20055" y="4549"/>
                    </a:lnTo>
                    <a:lnTo>
                      <a:pt x="27834" y="12328"/>
                    </a:lnTo>
                    <a:cubicBezTo>
                      <a:pt x="31970" y="16478"/>
                      <a:pt x="32173" y="23127"/>
                      <a:pt x="28298" y="27522"/>
                    </a:cubicBezTo>
                    <a:cubicBezTo>
                      <a:pt x="24423" y="31917"/>
                      <a:pt x="17801" y="32547"/>
                      <a:pt x="13165" y="28963"/>
                    </a:cubicBezTo>
                    <a:lnTo>
                      <a:pt x="12121" y="28041"/>
                    </a:lnTo>
                    <a:lnTo>
                      <a:pt x="4342" y="20262"/>
                    </a:lnTo>
                    <a:cubicBezTo>
                      <a:pt x="390" y="16300"/>
                      <a:pt x="0" y="10017"/>
                      <a:pt x="3433" y="5598"/>
                    </a:cubicBezTo>
                    <a:cubicBezTo>
                      <a:pt x="6865" y="1178"/>
                      <a:pt x="13049" y="0"/>
                      <a:pt x="17866" y="2849"/>
                    </a:cubicBezTo>
                    <a:lnTo>
                      <a:pt x="18999" y="3627"/>
                    </a:lnTo>
                    <a:close/>
                  </a:path>
                </a:pathLst>
              </a:custGeom>
              <a:solidFill>
                <a:srgbClr val="DDA43B"/>
              </a:solidFill>
              <a:ln>
                <a:noFill/>
              </a:ln>
            </p:spPr>
          </p:sp>
          <p:sp>
            <p:nvSpPr>
              <p:cNvPr id="49" name="Freeform 49"/>
              <p:cNvSpPr/>
              <p:nvPr/>
            </p:nvSpPr>
            <p:spPr>
              <a:xfrm>
                <a:off x="8661578" y="1764535"/>
                <a:ext cx="32352" cy="32169"/>
              </a:xfrm>
              <a:custGeom>
                <a:avLst/>
                <a:gdLst/>
                <a:ahLst/>
                <a:cxnLst/>
                <a:rect l="l" t="t" r="r" b="b"/>
                <a:pathLst>
                  <a:path w="32352" h="32169">
                    <a:moveTo>
                      <a:pt x="27998" y="4338"/>
                    </a:moveTo>
                    <a:cubicBezTo>
                      <a:pt x="31957" y="8297"/>
                      <a:pt x="32352" y="14583"/>
                      <a:pt x="28921" y="19007"/>
                    </a:cubicBezTo>
                    <a:lnTo>
                      <a:pt x="27998" y="20051"/>
                    </a:lnTo>
                    <a:lnTo>
                      <a:pt x="20220" y="27830"/>
                    </a:lnTo>
                    <a:cubicBezTo>
                      <a:pt x="16069" y="31966"/>
                      <a:pt x="9421" y="32169"/>
                      <a:pt x="5026" y="28294"/>
                    </a:cubicBezTo>
                    <a:cubicBezTo>
                      <a:pt x="631" y="24419"/>
                      <a:pt x="0" y="17797"/>
                      <a:pt x="3584" y="13161"/>
                    </a:cubicBezTo>
                    <a:lnTo>
                      <a:pt x="4507" y="12117"/>
                    </a:lnTo>
                    <a:lnTo>
                      <a:pt x="12285" y="4338"/>
                    </a:lnTo>
                    <a:cubicBezTo>
                      <a:pt x="16625" y="0"/>
                      <a:pt x="23659" y="0"/>
                      <a:pt x="27998" y="4338"/>
                    </a:cubicBezTo>
                    <a:close/>
                  </a:path>
                </a:pathLst>
              </a:custGeom>
              <a:solidFill>
                <a:srgbClr val="DDA43B"/>
              </a:solidFill>
              <a:ln>
                <a:noFill/>
              </a:ln>
            </p:spPr>
          </p:sp>
          <p:sp>
            <p:nvSpPr>
              <p:cNvPr id="50" name="Freeform 50"/>
              <p:cNvSpPr/>
              <p:nvPr/>
            </p:nvSpPr>
            <p:spPr>
              <a:xfrm>
                <a:off x="8599488" y="1736725"/>
                <a:ext cx="22225" cy="33651"/>
              </a:xfrm>
              <a:custGeom>
                <a:avLst/>
                <a:gdLst/>
                <a:ahLst/>
                <a:cxnLst/>
                <a:rect l="l" t="t" r="r" b="b"/>
                <a:pathLst>
                  <a:path w="22225" h="33651">
                    <a:moveTo>
                      <a:pt x="11112" y="0"/>
                    </a:moveTo>
                    <a:cubicBezTo>
                      <a:pt x="16746" y="1"/>
                      <a:pt x="21488" y="4217"/>
                      <a:pt x="22147" y="9812"/>
                    </a:cubicBezTo>
                    <a:lnTo>
                      <a:pt x="22225" y="11112"/>
                    </a:lnTo>
                    <a:lnTo>
                      <a:pt x="22225" y="22225"/>
                    </a:lnTo>
                    <a:cubicBezTo>
                      <a:pt x="22218" y="28105"/>
                      <a:pt x="17633" y="32962"/>
                      <a:pt x="11764" y="33306"/>
                    </a:cubicBezTo>
                    <a:cubicBezTo>
                      <a:pt x="5894" y="33651"/>
                      <a:pt x="772" y="29364"/>
                      <a:pt x="78" y="23525"/>
                    </a:cubicBezTo>
                    <a:lnTo>
                      <a:pt x="0" y="22225"/>
                    </a:lnTo>
                    <a:lnTo>
                      <a:pt x="0" y="11112"/>
                    </a:lnTo>
                    <a:cubicBezTo>
                      <a:pt x="0" y="4975"/>
                      <a:pt x="4975" y="0"/>
                      <a:pt x="11112" y="0"/>
                    </a:cubicBezTo>
                    <a:close/>
                  </a:path>
                </a:pathLst>
              </a:custGeom>
              <a:solidFill>
                <a:srgbClr val="DDA43B"/>
              </a:solidFill>
              <a:ln>
                <a:noFill/>
              </a:ln>
            </p:spPr>
          </p:sp>
          <p:sp>
            <p:nvSpPr>
              <p:cNvPr id="51" name="Freeform 51"/>
              <p:cNvSpPr/>
              <p:nvPr/>
            </p:nvSpPr>
            <p:spPr>
              <a:xfrm>
                <a:off x="8555038" y="1792286"/>
                <a:ext cx="111563" cy="111983"/>
              </a:xfrm>
              <a:custGeom>
                <a:avLst/>
                <a:gdLst/>
                <a:ahLst/>
                <a:cxnLst/>
                <a:rect l="l" t="t" r="r" b="b"/>
                <a:pathLst>
                  <a:path w="111563" h="111983">
                    <a:moveTo>
                      <a:pt x="55563" y="2"/>
                    </a:moveTo>
                    <a:cubicBezTo>
                      <a:pt x="85936" y="0"/>
                      <a:pt x="110682" y="24388"/>
                      <a:pt x="111122" y="54758"/>
                    </a:cubicBezTo>
                    <a:cubicBezTo>
                      <a:pt x="111563" y="85128"/>
                      <a:pt x="87535" y="110224"/>
                      <a:pt x="57175" y="111103"/>
                    </a:cubicBezTo>
                    <a:cubicBezTo>
                      <a:pt x="26814" y="111983"/>
                      <a:pt x="1374" y="88320"/>
                      <a:pt x="56" y="57976"/>
                    </a:cubicBezTo>
                    <a:lnTo>
                      <a:pt x="0" y="55564"/>
                    </a:lnTo>
                    <a:lnTo>
                      <a:pt x="56" y="53153"/>
                    </a:lnTo>
                    <a:cubicBezTo>
                      <a:pt x="1347" y="23434"/>
                      <a:pt x="25815" y="3"/>
                      <a:pt x="55563" y="2"/>
                    </a:cubicBezTo>
                    <a:close/>
                  </a:path>
                </a:pathLst>
              </a:custGeom>
              <a:solidFill>
                <a:srgbClr val="DDA43B"/>
              </a:solidFill>
              <a:ln>
                <a:noFill/>
              </a:ln>
            </p:spPr>
          </p:sp>
        </p:grpSp>
        <p:sp>
          <p:nvSpPr>
            <p:cNvPr id="53" name="TextBox 53"/>
            <p:cNvSpPr txBox="1"/>
            <p:nvPr/>
          </p:nvSpPr>
          <p:spPr>
            <a:xfrm>
              <a:off x="8361045" y="2298382"/>
              <a:ext cx="2053511" cy="335280"/>
            </a:xfrm>
            <a:prstGeom prst="rect">
              <a:avLst/>
            </a:prstGeom>
            <a:noFill/>
            <a:ln>
              <a:noFill/>
            </a:ln>
          </p:spPr>
          <p:txBody>
            <a:bodyPr wrap="none" lIns="0" tIns="0" rIns="0" bIns="0" anchor="t" anchorCtr="0">
              <a:spAutoFit/>
            </a:bodyPr>
            <a:lstStyle/>
            <a:p>
              <a:pPr algn="l"/>
              <a:r>
                <a:rPr lang="zh-CN" sz="1650" b="1" dirty="0">
                  <a:solidFill>
                    <a:srgbClr val="1C2E24"/>
                  </a:solidFill>
                  <a:latin typeface="Quicksand"/>
                  <a:ea typeface="Microsoft YaHei"/>
                  <a:cs typeface="Quicksand"/>
                </a:rPr>
                <a:t>SSE 实时同步通道</a:t>
              </a:r>
            </a:p>
          </p:txBody>
        </p:sp>
        <p:sp>
          <p:nvSpPr>
            <p:cNvPr id="54" name="TextBox 54"/>
            <p:cNvSpPr txBox="1"/>
            <p:nvPr/>
          </p:nvSpPr>
          <p:spPr>
            <a:xfrm>
              <a:off x="8368665" y="2696528"/>
              <a:ext cx="2015269"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Plus Jakarta Sans"/>
                  <a:ea typeface="Microsoft YaHei"/>
                  <a:cs typeface="Plus Jakarta Sans"/>
                </a:rPr>
                <a:t>sync_events 变更事件订阅</a:t>
              </a:r>
            </a:p>
          </p:txBody>
        </p:sp>
        <p:sp>
          <p:nvSpPr>
            <p:cNvPr id="55" name="TextBox 55"/>
            <p:cNvSpPr txBox="1"/>
            <p:nvPr/>
          </p:nvSpPr>
          <p:spPr>
            <a:xfrm>
              <a:off x="8367712" y="3117056"/>
              <a:ext cx="296965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sync_events 审计表</a:t>
              </a:r>
              <a:r>
                <a:rPr lang="zh-CN" sz="1125" dirty="0">
                  <a:solidFill>
                    <a:srgbClr val="4D5F54"/>
                  </a:solidFill>
                  <a:latin typeface="Plus Jakarta Sans"/>
                  <a:ea typeface="Microsoft YaHei"/>
                  <a:cs typeface="Plus Jakarta Sans"/>
                </a:rPr>
                <a:t>：任何模块发生变</a:t>
              </a:r>
            </a:p>
          </p:txBody>
        </p:sp>
        <p:sp>
          <p:nvSpPr>
            <p:cNvPr id="56" name="TextBox 56"/>
            <p:cNvSpPr txBox="1"/>
            <p:nvPr/>
          </p:nvSpPr>
          <p:spPr>
            <a:xfrm>
              <a:off x="8367712" y="3383756"/>
              <a:ext cx="28217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更，自动写入事件流水，提供强一致性</a:t>
              </a:r>
            </a:p>
          </p:txBody>
        </p:sp>
        <p:sp>
          <p:nvSpPr>
            <p:cNvPr id="57" name="TextBox 57"/>
            <p:cNvSpPr txBox="1"/>
            <p:nvPr/>
          </p:nvSpPr>
          <p:spPr>
            <a:xfrm>
              <a:off x="8367712" y="3650456"/>
              <a:ext cx="134302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的增量更新证明。</a:t>
              </a:r>
            </a:p>
          </p:txBody>
        </p:sp>
        <p:sp>
          <p:nvSpPr>
            <p:cNvPr id="58" name="TextBox 58"/>
            <p:cNvSpPr txBox="1"/>
            <p:nvPr/>
          </p:nvSpPr>
          <p:spPr>
            <a:xfrm>
              <a:off x="8367712" y="3955256"/>
              <a:ext cx="3010733"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SSE 实时长连接</a:t>
              </a:r>
              <a:r>
                <a:rPr lang="zh-CN" sz="1125" dirty="0">
                  <a:solidFill>
                    <a:srgbClr val="4D5F54"/>
                  </a:solidFill>
                  <a:latin typeface="Plus Jakarta Sans"/>
                  <a:ea typeface="Microsoft YaHei"/>
                  <a:cs typeface="Plus Jakarta Sans"/>
                </a:rPr>
                <a:t>：Server-Sent Events</a:t>
              </a:r>
            </a:p>
          </p:txBody>
        </p:sp>
        <p:sp>
          <p:nvSpPr>
            <p:cNvPr id="59" name="TextBox 59"/>
            <p:cNvSpPr txBox="1"/>
            <p:nvPr/>
          </p:nvSpPr>
          <p:spPr>
            <a:xfrm>
              <a:off x="8367712" y="4221956"/>
              <a:ext cx="2673906"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推流通道，避免传统轮询（Polling）</a:t>
              </a:r>
            </a:p>
          </p:txBody>
        </p:sp>
        <p:sp>
          <p:nvSpPr>
            <p:cNvPr id="60" name="TextBox 60"/>
            <p:cNvSpPr txBox="1"/>
            <p:nvPr/>
          </p:nvSpPr>
          <p:spPr>
            <a:xfrm>
              <a:off x="8367712" y="4488656"/>
              <a:ext cx="2164556"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带来的网络抖动与多余开销。</a:t>
              </a:r>
            </a:p>
          </p:txBody>
        </p:sp>
        <p:sp>
          <p:nvSpPr>
            <p:cNvPr id="61" name="TextBox 61"/>
            <p:cNvSpPr txBox="1"/>
            <p:nvPr/>
          </p:nvSpPr>
          <p:spPr>
            <a:xfrm>
              <a:off x="8367712" y="4793456"/>
              <a:ext cx="2665690"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断线自动补收</a:t>
              </a:r>
              <a:r>
                <a:rPr lang="zh-CN" sz="1125" dirty="0">
                  <a:solidFill>
                    <a:srgbClr val="4D5F54"/>
                  </a:solidFill>
                  <a:latin typeface="Plus Jakarta Sans"/>
                  <a:ea typeface="Microsoft YaHei"/>
                  <a:cs typeface="Plus Jakarta Sans"/>
                </a:rPr>
                <a:t>：基于</a:t>
              </a:r>
              <a:r>
                <a:rPr lang="zh-CN" sz="1125" dirty="0">
                  <a:solidFill>
                    <a:srgbClr val="4D5F54"/>
                  </a:solidFill>
                  <a:latin typeface="Consolas"/>
                  <a:ea typeface="Microsoft YaHei"/>
                  <a:cs typeface="Consolas"/>
                </a:rPr>
                <a:t>since</a:t>
              </a:r>
              <a:r>
                <a:rPr lang="zh-CN" sz="1125" dirty="0">
                  <a:solidFill>
                    <a:srgbClr val="4D5F54"/>
                  </a:solidFill>
                  <a:latin typeface="Plus Jakarta Sans"/>
                  <a:ea typeface="Microsoft YaHei"/>
                  <a:cs typeface="Plus Jakarta Sans"/>
                </a:rPr>
                <a:t>参数，客</a:t>
              </a:r>
            </a:p>
          </p:txBody>
        </p:sp>
        <p:sp>
          <p:nvSpPr>
            <p:cNvPr id="62" name="TextBox 62"/>
            <p:cNvSpPr txBox="1"/>
            <p:nvPr/>
          </p:nvSpPr>
          <p:spPr>
            <a:xfrm>
              <a:off x="8367712" y="5060156"/>
              <a:ext cx="298608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户端重连自动拉取缺失增量，无缝拼接。</a:t>
              </a:r>
            </a:p>
          </p:txBody>
        </p:sp>
      </p:grpSp>
      <p:grpSp>
        <p:nvGrpSpPr>
          <p:cNvPr id="66" name="Group 66"/>
          <p:cNvGrpSpPr/>
          <p:nvPr/>
        </p:nvGrpSpPr>
        <p:grpSpPr>
          <a:xfrm>
            <a:off x="561975" y="6443662"/>
            <a:ext cx="10877550" cy="152400"/>
            <a:chOff x="561975" y="6443662"/>
            <a:chExt cx="10877550" cy="152400"/>
          </a:xfrm>
        </p:grpSpPr>
        <p:sp>
          <p:nvSpPr>
            <p:cNvPr id="64" name="TextBox 64"/>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5" name="TextBox 65"/>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07</a:t>
              </a:r>
            </a:p>
          </p:txBody>
        </p:sp>
      </p:gr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云端大脑层</a:t>
              </a:r>
            </a:p>
          </p:txBody>
        </p:sp>
        <p:sp>
          <p:nvSpPr>
            <p:cNvPr id="5" name="TextBox 5"/>
            <p:cNvSpPr txBox="1"/>
            <p:nvPr/>
          </p:nvSpPr>
          <p:spPr>
            <a:xfrm>
              <a:off x="1836420" y="312420"/>
              <a:ext cx="6851409"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记忆系统：AgentGal 生命周期的降维落地</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8" name="Group 28"/>
          <p:cNvGrpSpPr/>
          <p:nvPr/>
        </p:nvGrpSpPr>
        <p:grpSpPr>
          <a:xfrm>
            <a:off x="550545" y="1203008"/>
            <a:ext cx="2973705" cy="4411980"/>
            <a:chOff x="550545" y="1203008"/>
            <a:chExt cx="2973705" cy="4411980"/>
          </a:xfrm>
        </p:grpSpPr>
        <p:sp>
          <p:nvSpPr>
            <p:cNvPr id="8" name="TextBox 8"/>
            <p:cNvSpPr txBox="1"/>
            <p:nvPr/>
          </p:nvSpPr>
          <p:spPr>
            <a:xfrm>
              <a:off x="550545" y="1203008"/>
              <a:ext cx="2066163" cy="335280"/>
            </a:xfrm>
            <a:prstGeom prst="rect">
              <a:avLst/>
            </a:prstGeom>
            <a:noFill/>
            <a:ln>
              <a:noFill/>
            </a:ln>
          </p:spPr>
          <p:txBody>
            <a:bodyPr wrap="none" lIns="0" tIns="0" rIns="0" bIns="0" anchor="t" anchorCtr="0">
              <a:spAutoFit/>
            </a:bodyPr>
            <a:lstStyle/>
            <a:p>
              <a:pPr algn="l"/>
              <a:r>
                <a:rPr lang="zh-CN" sz="1650" b="1" dirty="0">
                  <a:solidFill>
                    <a:srgbClr val="2B583E"/>
                  </a:solidFill>
                  <a:latin typeface="Quicksand"/>
                  <a:ea typeface="Microsoft YaHei"/>
                  <a:cs typeface="Quicksand"/>
                </a:rPr>
                <a:t>让植物真正认识你</a:t>
              </a:r>
            </a:p>
          </p:txBody>
        </p:sp>
        <p:sp>
          <p:nvSpPr>
            <p:cNvPr id="9" name="TextBox 9"/>
            <p:cNvSpPr txBox="1"/>
            <p:nvPr/>
          </p:nvSpPr>
          <p:spPr>
            <a:xfrm>
              <a:off x="557212" y="1640681"/>
              <a:ext cx="1835944"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项目颠覆了传统的无状态</a:t>
              </a:r>
            </a:p>
          </p:txBody>
        </p:sp>
        <p:sp>
          <p:nvSpPr>
            <p:cNvPr id="10" name="TextBox 10"/>
            <p:cNvSpPr txBox="1"/>
            <p:nvPr/>
          </p:nvSpPr>
          <p:spPr>
            <a:xfrm>
              <a:off x="557212" y="1888331"/>
              <a:ext cx="2000250"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大模型对话，通过将读数与</a:t>
              </a:r>
            </a:p>
          </p:txBody>
        </p:sp>
        <p:sp>
          <p:nvSpPr>
            <p:cNvPr id="11" name="TextBox 11"/>
            <p:cNvSpPr txBox="1"/>
            <p:nvPr/>
          </p:nvSpPr>
          <p:spPr>
            <a:xfrm>
              <a:off x="557212" y="2135981"/>
              <a:ext cx="2016681"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交互转化为植物“脑海”中的</a:t>
              </a:r>
            </a:p>
          </p:txBody>
        </p:sp>
        <p:sp>
          <p:nvSpPr>
            <p:cNvPr id="12" name="TextBox 12"/>
            <p:cNvSpPr txBox="1"/>
            <p:nvPr/>
          </p:nvSpPr>
          <p:spPr>
            <a:xfrm>
              <a:off x="557212" y="2383631"/>
              <a:ext cx="2000250"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长期记忆，实现拟人共鸣。</a:t>
              </a:r>
            </a:p>
          </p:txBody>
        </p:sp>
        <p:sp>
          <p:nvSpPr>
            <p:cNvPr id="13" name="Freeform 13"/>
            <p:cNvSpPr/>
            <p:nvPr/>
          </p:nvSpPr>
          <p:spPr>
            <a:xfrm>
              <a:off x="571500" y="3095625"/>
              <a:ext cx="2952750" cy="2476500"/>
            </a:xfrm>
            <a:custGeom>
              <a:avLst/>
              <a:gdLst/>
              <a:ahLst/>
              <a:cxnLst/>
              <a:rect l="l" t="t" r="r" b="b"/>
              <a:pathLst>
                <a:path w="2952750" h="2476500">
                  <a:moveTo>
                    <a:pt x="76200" y="0"/>
                  </a:moveTo>
                  <a:lnTo>
                    <a:pt x="2876550" y="0"/>
                  </a:lnTo>
                  <a:cubicBezTo>
                    <a:pt x="2918634" y="0"/>
                    <a:pt x="2952750" y="34116"/>
                    <a:pt x="2952750" y="76200"/>
                  </a:cubicBezTo>
                  <a:lnTo>
                    <a:pt x="2952750" y="2400300"/>
                  </a:lnTo>
                  <a:cubicBezTo>
                    <a:pt x="2952750" y="2442384"/>
                    <a:pt x="2918634" y="2476500"/>
                    <a:pt x="2876550" y="2476500"/>
                  </a:cubicBezTo>
                  <a:lnTo>
                    <a:pt x="76200" y="2476500"/>
                  </a:lnTo>
                  <a:cubicBezTo>
                    <a:pt x="34116" y="2476500"/>
                    <a:pt x="0" y="2442384"/>
                    <a:pt x="0" y="2400300"/>
                  </a:cubicBezTo>
                  <a:lnTo>
                    <a:pt x="0" y="76200"/>
                  </a:lnTo>
                  <a:cubicBezTo>
                    <a:pt x="0" y="34116"/>
                    <a:pt x="34116" y="0"/>
                    <a:pt x="76200" y="0"/>
                  </a:cubicBezTo>
                  <a:close/>
                </a:path>
              </a:pathLst>
            </a:custGeom>
            <a:solidFill>
              <a:srgbClr val="FFFFFF"/>
            </a:solidFill>
            <a:ln w="9525">
              <a:solidFill>
                <a:srgbClr val="D1DAD4"/>
              </a:solidFill>
            </a:ln>
          </p:spPr>
        </p:sp>
        <p:sp>
          <p:nvSpPr>
            <p:cNvPr id="14" name="Freeform 14"/>
            <p:cNvSpPr/>
            <p:nvPr/>
          </p:nvSpPr>
          <p:spPr>
            <a:xfrm>
              <a:off x="762000" y="3286125"/>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8E5B3C">
                <a:alpha val="8000"/>
              </a:srgbClr>
            </a:solidFill>
            <a:ln>
              <a:noFill/>
            </a:ln>
          </p:spPr>
        </p:sp>
        <p:grpSp>
          <p:nvGrpSpPr>
            <p:cNvPr id="18" name="Group 18"/>
            <p:cNvGrpSpPr/>
            <p:nvPr/>
          </p:nvGrpSpPr>
          <p:grpSpPr>
            <a:xfrm>
              <a:off x="862012" y="3378200"/>
              <a:ext cx="142876" cy="158750"/>
              <a:chOff x="862012" y="3378200"/>
              <a:chExt cx="142876" cy="158750"/>
            </a:xfrm>
          </p:grpSpPr>
          <p:sp>
            <p:nvSpPr>
              <p:cNvPr id="15" name="Freeform 15"/>
              <p:cNvSpPr/>
              <p:nvPr/>
            </p:nvSpPr>
            <p:spPr>
              <a:xfrm>
                <a:off x="862012" y="3487190"/>
                <a:ext cx="142875" cy="49760"/>
              </a:xfrm>
              <a:custGeom>
                <a:avLst/>
                <a:gdLst/>
                <a:ahLst/>
                <a:cxnLst/>
                <a:rect l="l" t="t" r="r" b="b"/>
                <a:pathLst>
                  <a:path w="142875" h="49760">
                    <a:moveTo>
                      <a:pt x="0" y="0"/>
                    </a:moveTo>
                    <a:cubicBezTo>
                      <a:pt x="15621" y="11962"/>
                      <a:pt x="41545" y="18010"/>
                      <a:pt x="71438" y="18010"/>
                    </a:cubicBezTo>
                    <a:cubicBezTo>
                      <a:pt x="101282" y="18010"/>
                      <a:pt x="127198" y="11978"/>
                      <a:pt x="142875" y="135"/>
                    </a:cubicBezTo>
                    <a:lnTo>
                      <a:pt x="142875" y="18010"/>
                    </a:lnTo>
                    <a:cubicBezTo>
                      <a:pt x="142875" y="37259"/>
                      <a:pt x="111958" y="49252"/>
                      <a:pt x="73874" y="49744"/>
                    </a:cubicBezTo>
                    <a:lnTo>
                      <a:pt x="71438" y="49760"/>
                    </a:lnTo>
                    <a:cubicBezTo>
                      <a:pt x="32242" y="49760"/>
                      <a:pt x="0" y="37671"/>
                      <a:pt x="0" y="18010"/>
                    </a:cubicBezTo>
                    <a:close/>
                  </a:path>
                </a:pathLst>
              </a:custGeom>
              <a:solidFill>
                <a:srgbClr val="8E5B3C"/>
              </a:solidFill>
              <a:ln>
                <a:noFill/>
              </a:ln>
            </p:spPr>
          </p:sp>
          <p:sp>
            <p:nvSpPr>
              <p:cNvPr id="16" name="Freeform 16"/>
              <p:cNvSpPr/>
              <p:nvPr/>
            </p:nvSpPr>
            <p:spPr>
              <a:xfrm>
                <a:off x="862012" y="3439565"/>
                <a:ext cx="142875" cy="49760"/>
              </a:xfrm>
              <a:custGeom>
                <a:avLst/>
                <a:gdLst/>
                <a:ahLst/>
                <a:cxnLst/>
                <a:rect l="l" t="t" r="r" b="b"/>
                <a:pathLst>
                  <a:path w="142875" h="49760">
                    <a:moveTo>
                      <a:pt x="0" y="0"/>
                    </a:moveTo>
                    <a:cubicBezTo>
                      <a:pt x="15621" y="11962"/>
                      <a:pt x="41545" y="18010"/>
                      <a:pt x="71438" y="18010"/>
                    </a:cubicBezTo>
                    <a:cubicBezTo>
                      <a:pt x="101282" y="18010"/>
                      <a:pt x="127198" y="11978"/>
                      <a:pt x="142875" y="135"/>
                    </a:cubicBezTo>
                    <a:lnTo>
                      <a:pt x="142875" y="18010"/>
                    </a:lnTo>
                    <a:cubicBezTo>
                      <a:pt x="142875" y="37671"/>
                      <a:pt x="110633" y="49760"/>
                      <a:pt x="71438" y="49760"/>
                    </a:cubicBezTo>
                    <a:cubicBezTo>
                      <a:pt x="33353" y="49760"/>
                      <a:pt x="1826" y="38346"/>
                      <a:pt x="167" y="19637"/>
                    </a:cubicBezTo>
                    <a:lnTo>
                      <a:pt x="40" y="18836"/>
                    </a:lnTo>
                    <a:lnTo>
                      <a:pt x="0" y="18010"/>
                    </a:lnTo>
                    <a:close/>
                  </a:path>
                </a:pathLst>
              </a:custGeom>
              <a:solidFill>
                <a:srgbClr val="8E5B3C"/>
              </a:solidFill>
              <a:ln>
                <a:noFill/>
              </a:ln>
            </p:spPr>
          </p:sp>
          <p:sp>
            <p:nvSpPr>
              <p:cNvPr id="17" name="Freeform 17"/>
              <p:cNvSpPr/>
              <p:nvPr/>
            </p:nvSpPr>
            <p:spPr>
              <a:xfrm>
                <a:off x="862012" y="3378200"/>
                <a:ext cx="142876" cy="63500"/>
              </a:xfrm>
              <a:custGeom>
                <a:avLst/>
                <a:gdLst/>
                <a:ahLst/>
                <a:cxnLst/>
                <a:rect l="l" t="t" r="r" b="b"/>
                <a:pathLst>
                  <a:path w="142876" h="63500">
                    <a:moveTo>
                      <a:pt x="71438" y="0"/>
                    </a:moveTo>
                    <a:cubicBezTo>
                      <a:pt x="79701" y="0"/>
                      <a:pt x="87662" y="540"/>
                      <a:pt x="95068" y="1572"/>
                    </a:cubicBezTo>
                    <a:lnTo>
                      <a:pt x="98791" y="2135"/>
                    </a:lnTo>
                    <a:cubicBezTo>
                      <a:pt x="103236" y="2876"/>
                      <a:pt x="107432" y="3797"/>
                      <a:pt x="111380" y="4897"/>
                    </a:cubicBezTo>
                    <a:lnTo>
                      <a:pt x="114872" y="5937"/>
                    </a:lnTo>
                    <a:lnTo>
                      <a:pt x="115467" y="6128"/>
                    </a:lnTo>
                    <a:cubicBezTo>
                      <a:pt x="117628" y="6838"/>
                      <a:pt x="119759" y="7632"/>
                      <a:pt x="121857" y="8509"/>
                    </a:cubicBezTo>
                    <a:lnTo>
                      <a:pt x="123437" y="9192"/>
                    </a:lnTo>
                    <a:cubicBezTo>
                      <a:pt x="126268" y="10472"/>
                      <a:pt x="128826" y="11875"/>
                      <a:pt x="131112" y="13398"/>
                    </a:cubicBezTo>
                    <a:cubicBezTo>
                      <a:pt x="131985" y="13981"/>
                      <a:pt x="132814" y="14576"/>
                      <a:pt x="133597" y="15184"/>
                    </a:cubicBezTo>
                    <a:cubicBezTo>
                      <a:pt x="135581" y="16724"/>
                      <a:pt x="137364" y="18505"/>
                      <a:pt x="138907" y="20487"/>
                    </a:cubicBezTo>
                    <a:lnTo>
                      <a:pt x="139629" y="21503"/>
                    </a:lnTo>
                    <a:cubicBezTo>
                      <a:pt x="140000" y="22058"/>
                      <a:pt x="140341" y="22617"/>
                      <a:pt x="140653" y="23178"/>
                    </a:cubicBezTo>
                    <a:lnTo>
                      <a:pt x="141209" y="24281"/>
                    </a:lnTo>
                    <a:cubicBezTo>
                      <a:pt x="142071" y="26133"/>
                      <a:pt x="142600" y="28064"/>
                      <a:pt x="142796" y="30075"/>
                    </a:cubicBezTo>
                    <a:lnTo>
                      <a:pt x="142876" y="31750"/>
                    </a:lnTo>
                    <a:cubicBezTo>
                      <a:pt x="142876" y="51411"/>
                      <a:pt x="110633" y="63500"/>
                      <a:pt x="71438" y="63500"/>
                    </a:cubicBezTo>
                    <a:cubicBezTo>
                      <a:pt x="33354" y="63500"/>
                      <a:pt x="1826" y="52086"/>
                      <a:pt x="167" y="33377"/>
                    </a:cubicBezTo>
                    <a:cubicBezTo>
                      <a:pt x="56" y="32842"/>
                      <a:pt x="0" y="32297"/>
                      <a:pt x="1" y="31750"/>
                    </a:cubicBezTo>
                    <a:lnTo>
                      <a:pt x="40" y="30925"/>
                    </a:lnTo>
                    <a:lnTo>
                      <a:pt x="167" y="30131"/>
                    </a:lnTo>
                    <a:cubicBezTo>
                      <a:pt x="1794" y="11827"/>
                      <a:pt x="31997" y="500"/>
                      <a:pt x="68962" y="16"/>
                    </a:cubicBezTo>
                    <a:close/>
                  </a:path>
                </a:pathLst>
              </a:custGeom>
              <a:solidFill>
                <a:srgbClr val="8E5B3C"/>
              </a:solidFill>
              <a:ln>
                <a:noFill/>
              </a:ln>
            </p:spPr>
          </p:sp>
        </p:grpSp>
        <p:sp>
          <p:nvSpPr>
            <p:cNvPr id="19" name="TextBox 19"/>
            <p:cNvSpPr txBox="1"/>
            <p:nvPr/>
          </p:nvSpPr>
          <p:spPr>
            <a:xfrm>
              <a:off x="1203960" y="3375660"/>
              <a:ext cx="1787900"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BM25 + 向量双路检索</a:t>
              </a:r>
            </a:p>
          </p:txBody>
        </p:sp>
        <p:sp>
          <p:nvSpPr>
            <p:cNvPr id="20" name="TextBox 20"/>
            <p:cNvSpPr txBox="1"/>
            <p:nvPr/>
          </p:nvSpPr>
          <p:spPr>
            <a:xfrm>
              <a:off x="748665" y="3744278"/>
              <a:ext cx="231162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融合 FTS5 (BM25) 与 sqlite-vec</a:t>
              </a:r>
            </a:p>
          </p:txBody>
        </p:sp>
        <p:sp>
          <p:nvSpPr>
            <p:cNvPr id="21" name="TextBox 21"/>
            <p:cNvSpPr txBox="1"/>
            <p:nvPr/>
          </p:nvSpPr>
          <p:spPr>
            <a:xfrm>
              <a:off x="748665" y="3953828"/>
              <a:ext cx="227328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向量进行 Hybrid 双路召回，兼顾</a:t>
              </a:r>
            </a:p>
          </p:txBody>
        </p:sp>
        <p:sp>
          <p:nvSpPr>
            <p:cNvPr id="22" name="TextBox 22"/>
            <p:cNvSpPr txBox="1"/>
            <p:nvPr/>
          </p:nvSpPr>
          <p:spPr>
            <a:xfrm>
              <a:off x="748665" y="4163378"/>
              <a:ext cx="217360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关键词硬匹配与高层语义联想。</a:t>
              </a:r>
            </a:p>
          </p:txBody>
        </p:sp>
        <p:sp>
          <p:nvSpPr>
            <p:cNvPr id="23" name="Freeform 23"/>
            <p:cNvSpPr/>
            <p:nvPr/>
          </p:nvSpPr>
          <p:spPr>
            <a:xfrm>
              <a:off x="762000" y="4524375"/>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2B583E">
                <a:alpha val="8000"/>
              </a:srgbClr>
            </a:solidFill>
            <a:ln>
              <a:noFill/>
            </a:ln>
          </p:spPr>
        </p:sp>
        <p:sp>
          <p:nvSpPr>
            <p:cNvPr id="24" name="TextBox 24"/>
            <p:cNvSpPr txBox="1"/>
            <p:nvPr/>
          </p:nvSpPr>
          <p:spPr>
            <a:xfrm>
              <a:off x="1203960" y="4613910"/>
              <a:ext cx="1631480"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Reranker 精准重排</a:t>
              </a:r>
            </a:p>
          </p:txBody>
        </p:sp>
        <p:sp>
          <p:nvSpPr>
            <p:cNvPr id="25" name="TextBox 25"/>
            <p:cNvSpPr txBox="1"/>
            <p:nvPr/>
          </p:nvSpPr>
          <p:spPr>
            <a:xfrm>
              <a:off x="748665" y="4982528"/>
              <a:ext cx="215827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通过 Rerank 机制对召回结果再</a:t>
              </a:r>
            </a:p>
          </p:txBody>
        </p:sp>
        <p:sp>
          <p:nvSpPr>
            <p:cNvPr id="26" name="TextBox 26"/>
            <p:cNvSpPr txBox="1"/>
            <p:nvPr/>
          </p:nvSpPr>
          <p:spPr>
            <a:xfrm>
              <a:off x="748665" y="5192078"/>
              <a:ext cx="210459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度精准过滤，杜绝大模型“胡言</a:t>
              </a:r>
            </a:p>
          </p:txBody>
        </p:sp>
        <p:sp>
          <p:nvSpPr>
            <p:cNvPr id="27" name="TextBox 27"/>
            <p:cNvSpPr txBox="1"/>
            <p:nvPr/>
          </p:nvSpPr>
          <p:spPr>
            <a:xfrm>
              <a:off x="748665" y="5401628"/>
              <a:ext cx="225028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乱语”编造感知，准确度达100%。</a:t>
              </a:r>
            </a:p>
          </p:txBody>
        </p:sp>
      </p:grpSp>
      <p:grpSp>
        <p:nvGrpSpPr>
          <p:cNvPr id="72" name="Group 72"/>
          <p:cNvGrpSpPr/>
          <p:nvPr/>
        </p:nvGrpSpPr>
        <p:grpSpPr>
          <a:xfrm>
            <a:off x="3810000" y="1143000"/>
            <a:ext cx="7821501" cy="4429125"/>
            <a:chOff x="3810000" y="1143000"/>
            <a:chExt cx="7821501" cy="4429125"/>
          </a:xfrm>
        </p:grpSpPr>
        <p:sp>
          <p:nvSpPr>
            <p:cNvPr id="29" name="Freeform 29"/>
            <p:cNvSpPr/>
            <p:nvPr/>
          </p:nvSpPr>
          <p:spPr>
            <a:xfrm>
              <a:off x="3810000" y="1143000"/>
              <a:ext cx="7810500" cy="4429125"/>
            </a:xfrm>
            <a:custGeom>
              <a:avLst/>
              <a:gdLst/>
              <a:ahLst/>
              <a:cxnLst/>
              <a:rect l="l" t="t" r="r" b="b"/>
              <a:pathLst>
                <a:path w="7810500" h="4429125">
                  <a:moveTo>
                    <a:pt x="152400" y="0"/>
                  </a:moveTo>
                  <a:lnTo>
                    <a:pt x="7658100" y="0"/>
                  </a:lnTo>
                  <a:cubicBezTo>
                    <a:pt x="7742268" y="0"/>
                    <a:pt x="7810500" y="68232"/>
                    <a:pt x="7810500" y="152400"/>
                  </a:cubicBezTo>
                  <a:lnTo>
                    <a:pt x="7810500" y="4276725"/>
                  </a:lnTo>
                  <a:cubicBezTo>
                    <a:pt x="7810500" y="4360893"/>
                    <a:pt x="7742268" y="4429125"/>
                    <a:pt x="7658100" y="4429125"/>
                  </a:cubicBezTo>
                  <a:lnTo>
                    <a:pt x="152400" y="4429125"/>
                  </a:lnTo>
                  <a:cubicBezTo>
                    <a:pt x="68232" y="4429125"/>
                    <a:pt x="0" y="4360893"/>
                    <a:pt x="0" y="4276725"/>
                  </a:cubicBezTo>
                  <a:lnTo>
                    <a:pt x="0" y="152400"/>
                  </a:lnTo>
                  <a:cubicBezTo>
                    <a:pt x="0" y="68232"/>
                    <a:pt x="68232" y="0"/>
                    <a:pt x="152400" y="0"/>
                  </a:cubicBezTo>
                  <a:close/>
                </a:path>
              </a:pathLst>
            </a:custGeom>
            <a:solidFill>
              <a:srgbClr val="FFFFFF"/>
            </a:solidFill>
            <a:ln w="14288">
              <a:solidFill>
                <a:srgbClr val="D1DAD4"/>
              </a:solidFill>
            </a:ln>
          </p:spPr>
        </p:sp>
        <p:grpSp>
          <p:nvGrpSpPr>
            <p:cNvPr id="37" name="Group 37"/>
            <p:cNvGrpSpPr/>
            <p:nvPr/>
          </p:nvGrpSpPr>
          <p:grpSpPr>
            <a:xfrm>
              <a:off x="4191000" y="1428750"/>
              <a:ext cx="3048000" cy="1428750"/>
              <a:chOff x="4191000" y="1428750"/>
              <a:chExt cx="3048000" cy="1428750"/>
            </a:xfrm>
          </p:grpSpPr>
          <p:sp>
            <p:nvSpPr>
              <p:cNvPr id="30" name="Freeform 30"/>
              <p:cNvSpPr/>
              <p:nvPr/>
            </p:nvSpPr>
            <p:spPr>
              <a:xfrm>
                <a:off x="4191000" y="1428750"/>
                <a:ext cx="3048000" cy="1428750"/>
              </a:xfrm>
              <a:custGeom>
                <a:avLst/>
                <a:gdLst/>
                <a:ahLst/>
                <a:cxnLst/>
                <a:rect l="l" t="t" r="r" b="b"/>
                <a:pathLst>
                  <a:path w="3048000" h="1428750">
                    <a:moveTo>
                      <a:pt x="95250" y="0"/>
                    </a:moveTo>
                    <a:lnTo>
                      <a:pt x="2952750" y="0"/>
                    </a:lnTo>
                    <a:cubicBezTo>
                      <a:pt x="3005355" y="0"/>
                      <a:pt x="3048000" y="42645"/>
                      <a:pt x="3048000" y="95250"/>
                    </a:cubicBezTo>
                    <a:lnTo>
                      <a:pt x="3048000" y="1333500"/>
                    </a:lnTo>
                    <a:cubicBezTo>
                      <a:pt x="3048000" y="1386105"/>
                      <a:pt x="3005355" y="1428750"/>
                      <a:pt x="2952750" y="1428750"/>
                    </a:cubicBezTo>
                    <a:lnTo>
                      <a:pt x="95250" y="1428750"/>
                    </a:lnTo>
                    <a:cubicBezTo>
                      <a:pt x="42645" y="1428750"/>
                      <a:pt x="0" y="1386105"/>
                      <a:pt x="0" y="1333500"/>
                    </a:cubicBezTo>
                    <a:lnTo>
                      <a:pt x="0" y="95250"/>
                    </a:lnTo>
                    <a:cubicBezTo>
                      <a:pt x="0" y="42645"/>
                      <a:pt x="42645" y="0"/>
                      <a:pt x="95250" y="0"/>
                    </a:cubicBezTo>
                    <a:close/>
                  </a:path>
                </a:pathLst>
              </a:custGeom>
              <a:solidFill>
                <a:srgbClr val="F4F6F4"/>
              </a:solidFill>
              <a:ln w="9525">
                <a:solidFill>
                  <a:srgbClr val="D1DAD4"/>
                </a:solidFill>
              </a:ln>
            </p:spPr>
          </p:sp>
          <p:sp>
            <p:nvSpPr>
              <p:cNvPr id="31" name="Freeform 31"/>
              <p:cNvSpPr/>
              <p:nvPr/>
            </p:nvSpPr>
            <p:spPr>
              <a:xfrm>
                <a:off x="4381500" y="1571625"/>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2B583E">
                  <a:alpha val="8000"/>
                </a:srgbClr>
              </a:solidFill>
              <a:ln>
                <a:noFill/>
              </a:ln>
            </p:spPr>
          </p:sp>
          <p:sp>
            <p:nvSpPr>
              <p:cNvPr id="32" name="Freeform 32"/>
              <p:cNvSpPr/>
              <p:nvPr/>
            </p:nvSpPr>
            <p:spPr>
              <a:xfrm>
                <a:off x="4492625" y="1682750"/>
                <a:ext cx="158750" cy="158750"/>
              </a:xfrm>
              <a:custGeom>
                <a:avLst/>
                <a:gdLst/>
                <a:ahLst/>
                <a:cxnLst/>
                <a:rect l="l" t="t" r="r" b="b"/>
                <a:pathLst>
                  <a:path w="158750" h="158750">
                    <a:moveTo>
                      <a:pt x="54078" y="76295"/>
                    </a:moveTo>
                    <a:cubicBezTo>
                      <a:pt x="57706" y="73279"/>
                      <a:pt x="61365" y="73279"/>
                      <a:pt x="65080" y="76383"/>
                    </a:cubicBezTo>
                    <a:lnTo>
                      <a:pt x="65937" y="77160"/>
                    </a:lnTo>
                    <a:lnTo>
                      <a:pt x="105513" y="116737"/>
                    </a:lnTo>
                    <a:lnTo>
                      <a:pt x="106259" y="117396"/>
                    </a:lnTo>
                    <a:cubicBezTo>
                      <a:pt x="109419" y="119845"/>
                      <a:pt x="113908" y="119562"/>
                      <a:pt x="116735" y="116735"/>
                    </a:cubicBezTo>
                    <a:cubicBezTo>
                      <a:pt x="119562" y="113908"/>
                      <a:pt x="119845" y="109419"/>
                      <a:pt x="117396" y="106259"/>
                    </a:cubicBezTo>
                    <a:lnTo>
                      <a:pt x="116737" y="105513"/>
                    </a:lnTo>
                    <a:lnTo>
                      <a:pt x="106482" y="95250"/>
                    </a:lnTo>
                    <a:lnTo>
                      <a:pt x="108799" y="92924"/>
                    </a:lnTo>
                    <a:lnTo>
                      <a:pt x="109641" y="92170"/>
                    </a:lnTo>
                    <a:cubicBezTo>
                      <a:pt x="113268" y="89154"/>
                      <a:pt x="116927" y="89154"/>
                      <a:pt x="120642" y="92258"/>
                    </a:cubicBezTo>
                    <a:lnTo>
                      <a:pt x="121499" y="93035"/>
                    </a:lnTo>
                    <a:lnTo>
                      <a:pt x="158599" y="130143"/>
                    </a:lnTo>
                    <a:cubicBezTo>
                      <a:pt x="157046" y="145763"/>
                      <a:pt x="144312" y="157904"/>
                      <a:pt x="128635" y="158710"/>
                    </a:cubicBezTo>
                    <a:lnTo>
                      <a:pt x="127000" y="158750"/>
                    </a:lnTo>
                    <a:lnTo>
                      <a:pt x="31750" y="158750"/>
                    </a:lnTo>
                    <a:cubicBezTo>
                      <a:pt x="15436" y="158749"/>
                      <a:pt x="1778" y="146385"/>
                      <a:pt x="159" y="130151"/>
                    </a:cubicBezTo>
                    <a:lnTo>
                      <a:pt x="53237" y="77049"/>
                    </a:lnTo>
                    <a:lnTo>
                      <a:pt x="54078" y="76295"/>
                    </a:lnTo>
                    <a:close/>
                    <a:moveTo>
                      <a:pt x="127000" y="0"/>
                    </a:moveTo>
                    <a:cubicBezTo>
                      <a:pt x="143918" y="0"/>
                      <a:pt x="157864" y="13266"/>
                      <a:pt x="158710" y="30163"/>
                    </a:cubicBezTo>
                    <a:lnTo>
                      <a:pt x="158750" y="31750"/>
                    </a:lnTo>
                    <a:lnTo>
                      <a:pt x="158750" y="107831"/>
                    </a:lnTo>
                    <a:lnTo>
                      <a:pt x="132612" y="81701"/>
                    </a:lnTo>
                    <a:lnTo>
                      <a:pt x="131421" y="80613"/>
                    </a:lnTo>
                    <a:cubicBezTo>
                      <a:pt x="121452" y="71922"/>
                      <a:pt x="108799" y="71906"/>
                      <a:pt x="98909" y="80478"/>
                    </a:cubicBezTo>
                    <a:lnTo>
                      <a:pt x="97687" y="81590"/>
                    </a:lnTo>
                    <a:lnTo>
                      <a:pt x="95250" y="84018"/>
                    </a:lnTo>
                    <a:lnTo>
                      <a:pt x="77049" y="65826"/>
                    </a:lnTo>
                    <a:lnTo>
                      <a:pt x="75859" y="64738"/>
                    </a:lnTo>
                    <a:cubicBezTo>
                      <a:pt x="65889" y="56047"/>
                      <a:pt x="53237" y="56031"/>
                      <a:pt x="43347" y="64603"/>
                    </a:cubicBezTo>
                    <a:lnTo>
                      <a:pt x="42124" y="65715"/>
                    </a:lnTo>
                    <a:lnTo>
                      <a:pt x="0" y="107831"/>
                    </a:lnTo>
                    <a:lnTo>
                      <a:pt x="0" y="31750"/>
                    </a:lnTo>
                    <a:cubicBezTo>
                      <a:pt x="0" y="14832"/>
                      <a:pt x="13266" y="886"/>
                      <a:pt x="30163" y="40"/>
                    </a:cubicBezTo>
                    <a:lnTo>
                      <a:pt x="31750" y="0"/>
                    </a:lnTo>
                    <a:lnTo>
                      <a:pt x="127000" y="0"/>
                    </a:lnTo>
                    <a:close/>
                    <a:moveTo>
                      <a:pt x="103267" y="39688"/>
                    </a:moveTo>
                    <a:lnTo>
                      <a:pt x="102259" y="39743"/>
                    </a:lnTo>
                    <a:cubicBezTo>
                      <a:pt x="98266" y="40218"/>
                      <a:pt x="95259" y="43604"/>
                      <a:pt x="95259" y="47625"/>
                    </a:cubicBezTo>
                    <a:cubicBezTo>
                      <a:pt x="95259" y="51646"/>
                      <a:pt x="98266" y="55032"/>
                      <a:pt x="102259" y="55507"/>
                    </a:cubicBezTo>
                    <a:lnTo>
                      <a:pt x="103188" y="55563"/>
                    </a:lnTo>
                    <a:lnTo>
                      <a:pt x="104196" y="55507"/>
                    </a:lnTo>
                    <a:cubicBezTo>
                      <a:pt x="108189" y="55032"/>
                      <a:pt x="111196" y="51646"/>
                      <a:pt x="111196" y="47625"/>
                    </a:cubicBezTo>
                    <a:cubicBezTo>
                      <a:pt x="111196" y="43604"/>
                      <a:pt x="108189" y="40218"/>
                      <a:pt x="104196" y="39743"/>
                    </a:cubicBezTo>
                    <a:lnTo>
                      <a:pt x="103267" y="39688"/>
                    </a:lnTo>
                    <a:close/>
                  </a:path>
                </a:pathLst>
              </a:custGeom>
              <a:solidFill>
                <a:srgbClr val="2B583E"/>
              </a:solidFill>
              <a:ln>
                <a:noFill/>
              </a:ln>
            </p:spPr>
          </p:sp>
          <p:sp>
            <p:nvSpPr>
              <p:cNvPr id="33" name="TextBox 33"/>
              <p:cNvSpPr txBox="1"/>
              <p:nvPr/>
            </p:nvSpPr>
            <p:spPr>
              <a:xfrm>
                <a:off x="4888230" y="1664018"/>
                <a:ext cx="2073495"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1. Drafts (草稿记录)</a:t>
                </a:r>
              </a:p>
            </p:txBody>
          </p:sp>
          <p:sp>
            <p:nvSpPr>
              <p:cNvPr id="34" name="TextBox 34"/>
              <p:cNvSpPr txBox="1"/>
              <p:nvPr/>
            </p:nvSpPr>
            <p:spPr>
              <a:xfrm>
                <a:off x="4368165" y="2077402"/>
                <a:ext cx="264899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高频环境传感器读数（土壤/温度/光照</a:t>
                </a:r>
              </a:p>
            </p:txBody>
          </p:sp>
          <p:sp>
            <p:nvSpPr>
              <p:cNvPr id="35" name="TextBox 35"/>
              <p:cNvSpPr txBox="1"/>
              <p:nvPr/>
            </p:nvSpPr>
            <p:spPr>
              <a:xfrm>
                <a:off x="4368165" y="2286952"/>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）与用户零散聊天流，实时被静默写入</a:t>
                </a:r>
              </a:p>
            </p:txBody>
          </p:sp>
          <p:sp>
            <p:nvSpPr>
              <p:cNvPr id="36" name="TextBox 36"/>
              <p:cNvSpPr txBox="1"/>
              <p:nvPr/>
            </p:nvSpPr>
            <p:spPr>
              <a:xfrm>
                <a:off x="4368165" y="2496502"/>
                <a:ext cx="278701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临时草稿流水区，保持底层高性能吞吐。</a:t>
                </a:r>
              </a:p>
            </p:txBody>
          </p:sp>
        </p:grpSp>
        <p:sp>
          <p:nvSpPr>
            <p:cNvPr id="38" name="Freeform 38"/>
            <p:cNvSpPr/>
            <p:nvPr/>
          </p:nvSpPr>
          <p:spPr>
            <a:xfrm>
              <a:off x="7381875" y="2143125"/>
              <a:ext cx="904875" cy="9525"/>
            </a:xfrm>
            <a:custGeom>
              <a:avLst/>
              <a:gdLst/>
              <a:ahLst/>
              <a:cxnLst/>
              <a:rect l="l" t="t" r="r" b="b"/>
              <a:pathLst>
                <a:path w="904875" h="9525">
                  <a:moveTo>
                    <a:pt x="0" y="0"/>
                  </a:moveTo>
                  <a:lnTo>
                    <a:pt x="904875" y="0"/>
                  </a:lnTo>
                </a:path>
              </a:pathLst>
            </a:custGeom>
            <a:solidFill>
              <a:srgbClr val="000000"/>
            </a:solidFill>
            <a:ln w="19050">
              <a:solidFill>
                <a:srgbClr val="2B583E"/>
              </a:solidFill>
              <a:tailEnd type="triangle" w="lg" len="lg"/>
            </a:ln>
          </p:spPr>
        </p:sp>
        <p:sp>
          <p:nvSpPr>
            <p:cNvPr id="39" name="TextBox 39"/>
            <p:cNvSpPr txBox="1"/>
            <p:nvPr/>
          </p:nvSpPr>
          <p:spPr>
            <a:xfrm>
              <a:off x="7362663" y="1950720"/>
              <a:ext cx="933774" cy="182880"/>
            </a:xfrm>
            <a:prstGeom prst="rect">
              <a:avLst/>
            </a:prstGeom>
            <a:noFill/>
            <a:ln>
              <a:noFill/>
            </a:ln>
          </p:spPr>
          <p:txBody>
            <a:bodyPr wrap="none" lIns="0" tIns="0" rIns="0" bIns="0" anchor="t" anchorCtr="0">
              <a:spAutoFit/>
            </a:bodyPr>
            <a:lstStyle/>
            <a:p>
              <a:pPr algn="ctr"/>
              <a:r>
                <a:rPr lang="zh-CN" sz="900" b="1" dirty="0">
                  <a:solidFill>
                    <a:srgbClr val="2B583E"/>
                  </a:solidFill>
                  <a:latin typeface="Plus Jakarta Sans"/>
                  <a:ea typeface="Microsoft YaHei"/>
                  <a:cs typeface="Plus Jakarta Sans"/>
                </a:rPr>
                <a:t>Asynchronous</a:t>
              </a:r>
            </a:p>
          </p:txBody>
        </p:sp>
        <p:grpSp>
          <p:nvGrpSpPr>
            <p:cNvPr id="50" name="Group 50"/>
            <p:cNvGrpSpPr/>
            <p:nvPr/>
          </p:nvGrpSpPr>
          <p:grpSpPr>
            <a:xfrm>
              <a:off x="8429625" y="1428750"/>
              <a:ext cx="3050210" cy="1428750"/>
              <a:chOff x="8429625" y="1428750"/>
              <a:chExt cx="3050210" cy="1428750"/>
            </a:xfrm>
          </p:grpSpPr>
          <p:sp>
            <p:nvSpPr>
              <p:cNvPr id="40" name="Freeform 40"/>
              <p:cNvSpPr/>
              <p:nvPr/>
            </p:nvSpPr>
            <p:spPr>
              <a:xfrm>
                <a:off x="8429625" y="1428750"/>
                <a:ext cx="2952750" cy="1428750"/>
              </a:xfrm>
              <a:custGeom>
                <a:avLst/>
                <a:gdLst/>
                <a:ahLst/>
                <a:cxnLst/>
                <a:rect l="l" t="t" r="r" b="b"/>
                <a:pathLst>
                  <a:path w="2952750" h="1428750">
                    <a:moveTo>
                      <a:pt x="95250" y="0"/>
                    </a:moveTo>
                    <a:lnTo>
                      <a:pt x="2857500" y="0"/>
                    </a:lnTo>
                    <a:cubicBezTo>
                      <a:pt x="2910105" y="0"/>
                      <a:pt x="2952750" y="42645"/>
                      <a:pt x="2952750" y="95250"/>
                    </a:cubicBezTo>
                    <a:lnTo>
                      <a:pt x="2952750" y="1333500"/>
                    </a:lnTo>
                    <a:cubicBezTo>
                      <a:pt x="2952750" y="1386105"/>
                      <a:pt x="2910105" y="1428750"/>
                      <a:pt x="2857500" y="1428750"/>
                    </a:cubicBezTo>
                    <a:lnTo>
                      <a:pt x="95250" y="1428750"/>
                    </a:lnTo>
                    <a:cubicBezTo>
                      <a:pt x="42645" y="1428750"/>
                      <a:pt x="0" y="1386105"/>
                      <a:pt x="0" y="1333500"/>
                    </a:cubicBezTo>
                    <a:lnTo>
                      <a:pt x="0" y="95250"/>
                    </a:lnTo>
                    <a:cubicBezTo>
                      <a:pt x="0" y="42645"/>
                      <a:pt x="42645" y="0"/>
                      <a:pt x="95250" y="0"/>
                    </a:cubicBezTo>
                    <a:close/>
                  </a:path>
                </a:pathLst>
              </a:custGeom>
              <a:solidFill>
                <a:srgbClr val="F4F6F4"/>
              </a:solidFill>
              <a:ln w="9525">
                <a:solidFill>
                  <a:srgbClr val="D1DAD4"/>
                </a:solidFill>
              </a:ln>
            </p:spPr>
          </p:sp>
          <p:sp>
            <p:nvSpPr>
              <p:cNvPr id="41" name="Freeform 41"/>
              <p:cNvSpPr/>
              <p:nvPr/>
            </p:nvSpPr>
            <p:spPr>
              <a:xfrm>
                <a:off x="8620125" y="1571625"/>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8E5B3C">
                  <a:alpha val="8000"/>
                </a:srgbClr>
              </a:solidFill>
              <a:ln>
                <a:noFill/>
              </a:ln>
            </p:spPr>
          </p:sp>
          <p:grpSp>
            <p:nvGrpSpPr>
              <p:cNvPr id="45" name="Group 45"/>
              <p:cNvGrpSpPr/>
              <p:nvPr/>
            </p:nvGrpSpPr>
            <p:grpSpPr>
              <a:xfrm>
                <a:off x="8739187" y="1682750"/>
                <a:ext cx="142876" cy="158750"/>
                <a:chOff x="8739187" y="1682750"/>
                <a:chExt cx="142876" cy="158750"/>
              </a:xfrm>
            </p:grpSpPr>
            <p:sp>
              <p:nvSpPr>
                <p:cNvPr id="42" name="Freeform 42"/>
                <p:cNvSpPr/>
                <p:nvPr/>
              </p:nvSpPr>
              <p:spPr>
                <a:xfrm>
                  <a:off x="8739188" y="1791740"/>
                  <a:ext cx="142875" cy="49760"/>
                </a:xfrm>
                <a:custGeom>
                  <a:avLst/>
                  <a:gdLst/>
                  <a:ahLst/>
                  <a:cxnLst/>
                  <a:rect l="l" t="t" r="r" b="b"/>
                  <a:pathLst>
                    <a:path w="142875" h="49760">
                      <a:moveTo>
                        <a:pt x="0" y="0"/>
                      </a:moveTo>
                      <a:cubicBezTo>
                        <a:pt x="15621" y="11962"/>
                        <a:pt x="41545" y="18010"/>
                        <a:pt x="71438" y="18010"/>
                      </a:cubicBezTo>
                      <a:cubicBezTo>
                        <a:pt x="101282" y="18010"/>
                        <a:pt x="127198" y="11978"/>
                        <a:pt x="142875" y="135"/>
                      </a:cubicBezTo>
                      <a:lnTo>
                        <a:pt x="142875" y="18010"/>
                      </a:lnTo>
                      <a:cubicBezTo>
                        <a:pt x="142875" y="37259"/>
                        <a:pt x="111958" y="49252"/>
                        <a:pt x="73874" y="49744"/>
                      </a:cubicBezTo>
                      <a:lnTo>
                        <a:pt x="71438" y="49760"/>
                      </a:lnTo>
                      <a:cubicBezTo>
                        <a:pt x="32242" y="49760"/>
                        <a:pt x="0" y="37671"/>
                        <a:pt x="0" y="18010"/>
                      </a:cubicBezTo>
                      <a:close/>
                    </a:path>
                  </a:pathLst>
                </a:custGeom>
                <a:solidFill>
                  <a:srgbClr val="8E5B3C"/>
                </a:solidFill>
                <a:ln>
                  <a:noFill/>
                </a:ln>
              </p:spPr>
            </p:sp>
            <p:sp>
              <p:nvSpPr>
                <p:cNvPr id="43" name="Freeform 43"/>
                <p:cNvSpPr/>
                <p:nvPr/>
              </p:nvSpPr>
              <p:spPr>
                <a:xfrm>
                  <a:off x="8739188" y="1744115"/>
                  <a:ext cx="142875" cy="49760"/>
                </a:xfrm>
                <a:custGeom>
                  <a:avLst/>
                  <a:gdLst/>
                  <a:ahLst/>
                  <a:cxnLst/>
                  <a:rect l="l" t="t" r="r" b="b"/>
                  <a:pathLst>
                    <a:path w="142875" h="49760">
                      <a:moveTo>
                        <a:pt x="0" y="0"/>
                      </a:moveTo>
                      <a:cubicBezTo>
                        <a:pt x="15621" y="11962"/>
                        <a:pt x="41545" y="18010"/>
                        <a:pt x="71438" y="18010"/>
                      </a:cubicBezTo>
                      <a:cubicBezTo>
                        <a:pt x="101282" y="18010"/>
                        <a:pt x="127198" y="11978"/>
                        <a:pt x="142875" y="135"/>
                      </a:cubicBezTo>
                      <a:lnTo>
                        <a:pt x="142875" y="18010"/>
                      </a:lnTo>
                      <a:cubicBezTo>
                        <a:pt x="142875" y="37671"/>
                        <a:pt x="110633" y="49760"/>
                        <a:pt x="71438" y="49760"/>
                      </a:cubicBezTo>
                      <a:cubicBezTo>
                        <a:pt x="33353" y="49760"/>
                        <a:pt x="1826" y="38346"/>
                        <a:pt x="167" y="19637"/>
                      </a:cubicBezTo>
                      <a:lnTo>
                        <a:pt x="40" y="18836"/>
                      </a:lnTo>
                      <a:lnTo>
                        <a:pt x="0" y="18010"/>
                      </a:lnTo>
                      <a:close/>
                    </a:path>
                  </a:pathLst>
                </a:custGeom>
                <a:solidFill>
                  <a:srgbClr val="8E5B3C"/>
                </a:solidFill>
                <a:ln>
                  <a:noFill/>
                </a:ln>
              </p:spPr>
            </p:sp>
            <p:sp>
              <p:nvSpPr>
                <p:cNvPr id="44" name="Freeform 44"/>
                <p:cNvSpPr/>
                <p:nvPr/>
              </p:nvSpPr>
              <p:spPr>
                <a:xfrm>
                  <a:off x="8739187" y="1682750"/>
                  <a:ext cx="142876" cy="63500"/>
                </a:xfrm>
                <a:custGeom>
                  <a:avLst/>
                  <a:gdLst/>
                  <a:ahLst/>
                  <a:cxnLst/>
                  <a:rect l="l" t="t" r="r" b="b"/>
                  <a:pathLst>
                    <a:path w="142876" h="63500">
                      <a:moveTo>
                        <a:pt x="71438" y="0"/>
                      </a:moveTo>
                      <a:cubicBezTo>
                        <a:pt x="79701" y="0"/>
                        <a:pt x="87662" y="540"/>
                        <a:pt x="95068" y="1572"/>
                      </a:cubicBezTo>
                      <a:lnTo>
                        <a:pt x="98791" y="2135"/>
                      </a:lnTo>
                      <a:cubicBezTo>
                        <a:pt x="103236" y="2876"/>
                        <a:pt x="107432" y="3797"/>
                        <a:pt x="111380" y="4897"/>
                      </a:cubicBezTo>
                      <a:lnTo>
                        <a:pt x="114872" y="5937"/>
                      </a:lnTo>
                      <a:lnTo>
                        <a:pt x="115467" y="6128"/>
                      </a:lnTo>
                      <a:cubicBezTo>
                        <a:pt x="117628" y="6838"/>
                        <a:pt x="119759" y="7632"/>
                        <a:pt x="121857" y="8509"/>
                      </a:cubicBezTo>
                      <a:lnTo>
                        <a:pt x="123437" y="9192"/>
                      </a:lnTo>
                      <a:cubicBezTo>
                        <a:pt x="126268" y="10472"/>
                        <a:pt x="128826" y="11875"/>
                        <a:pt x="131112" y="13398"/>
                      </a:cubicBezTo>
                      <a:cubicBezTo>
                        <a:pt x="131985" y="13981"/>
                        <a:pt x="132814" y="14576"/>
                        <a:pt x="133597" y="15184"/>
                      </a:cubicBezTo>
                      <a:cubicBezTo>
                        <a:pt x="135581" y="16724"/>
                        <a:pt x="137364" y="18505"/>
                        <a:pt x="138907" y="20487"/>
                      </a:cubicBezTo>
                      <a:lnTo>
                        <a:pt x="139629" y="21503"/>
                      </a:lnTo>
                      <a:cubicBezTo>
                        <a:pt x="140000" y="22058"/>
                        <a:pt x="140341" y="22617"/>
                        <a:pt x="140653" y="23178"/>
                      </a:cubicBezTo>
                      <a:lnTo>
                        <a:pt x="141209" y="24281"/>
                      </a:lnTo>
                      <a:cubicBezTo>
                        <a:pt x="142071" y="26133"/>
                        <a:pt x="142600" y="28064"/>
                        <a:pt x="142796" y="30075"/>
                      </a:cubicBezTo>
                      <a:lnTo>
                        <a:pt x="142876" y="31750"/>
                      </a:lnTo>
                      <a:cubicBezTo>
                        <a:pt x="142876" y="51411"/>
                        <a:pt x="110633" y="63500"/>
                        <a:pt x="71438" y="63500"/>
                      </a:cubicBezTo>
                      <a:cubicBezTo>
                        <a:pt x="33354" y="63500"/>
                        <a:pt x="1826" y="52086"/>
                        <a:pt x="167" y="33377"/>
                      </a:cubicBezTo>
                      <a:cubicBezTo>
                        <a:pt x="56" y="32842"/>
                        <a:pt x="0" y="32297"/>
                        <a:pt x="1" y="31750"/>
                      </a:cubicBezTo>
                      <a:lnTo>
                        <a:pt x="40" y="30925"/>
                      </a:lnTo>
                      <a:lnTo>
                        <a:pt x="167" y="30131"/>
                      </a:lnTo>
                      <a:cubicBezTo>
                        <a:pt x="1794" y="11827"/>
                        <a:pt x="31997" y="500"/>
                        <a:pt x="68962" y="16"/>
                      </a:cubicBezTo>
                      <a:close/>
                    </a:path>
                  </a:pathLst>
                </a:custGeom>
                <a:solidFill>
                  <a:srgbClr val="8E5B3C"/>
                </a:solidFill>
                <a:ln>
                  <a:noFill/>
                </a:ln>
              </p:spPr>
            </p:sp>
          </p:grpSp>
          <p:sp>
            <p:nvSpPr>
              <p:cNvPr id="46" name="TextBox 46"/>
              <p:cNvSpPr txBox="1"/>
              <p:nvPr/>
            </p:nvSpPr>
            <p:spPr>
              <a:xfrm>
                <a:off x="9126855" y="1664018"/>
                <a:ext cx="2352980"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2. Consolidation (整合)</a:t>
                </a:r>
              </a:p>
            </p:txBody>
          </p:sp>
          <p:sp>
            <p:nvSpPr>
              <p:cNvPr id="47" name="TextBox 47"/>
              <p:cNvSpPr txBox="1"/>
              <p:nvPr/>
            </p:nvSpPr>
            <p:spPr>
              <a:xfrm>
                <a:off x="8606790" y="2077402"/>
                <a:ext cx="217360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系统后台异步任务定时唤醒，对</a:t>
                </a:r>
              </a:p>
            </p:txBody>
          </p:sp>
          <p:sp>
            <p:nvSpPr>
              <p:cNvPr id="48" name="TextBox 48"/>
              <p:cNvSpPr txBox="1"/>
              <p:nvPr/>
            </p:nvSpPr>
            <p:spPr>
              <a:xfrm>
                <a:off x="8606790" y="2286952"/>
                <a:ext cx="217360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一段时间内的读数波动与对话流</a:t>
                </a:r>
              </a:p>
            </p:txBody>
          </p:sp>
          <p:sp>
            <p:nvSpPr>
              <p:cNvPr id="49" name="TextBox 49"/>
              <p:cNvSpPr txBox="1"/>
              <p:nvPr/>
            </p:nvSpPr>
            <p:spPr>
              <a:xfrm>
                <a:off x="8606790" y="2496502"/>
                <a:ext cx="248031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进行聚类分析，提炼核心因果事实。</a:t>
                </a:r>
              </a:p>
            </p:txBody>
          </p:sp>
        </p:grpSp>
        <p:sp>
          <p:nvSpPr>
            <p:cNvPr id="51" name="Freeform 51"/>
            <p:cNvSpPr/>
            <p:nvPr/>
          </p:nvSpPr>
          <p:spPr>
            <a:xfrm>
              <a:off x="9906000" y="3000375"/>
              <a:ext cx="9525" cy="762000"/>
            </a:xfrm>
            <a:custGeom>
              <a:avLst/>
              <a:gdLst/>
              <a:ahLst/>
              <a:cxnLst/>
              <a:rect l="l" t="t" r="r" b="b"/>
              <a:pathLst>
                <a:path w="9525" h="762000">
                  <a:moveTo>
                    <a:pt x="0" y="0"/>
                  </a:moveTo>
                  <a:lnTo>
                    <a:pt x="0" y="762000"/>
                  </a:lnTo>
                </a:path>
              </a:pathLst>
            </a:custGeom>
            <a:solidFill>
              <a:srgbClr val="000000"/>
            </a:solidFill>
            <a:ln w="19050">
              <a:solidFill>
                <a:srgbClr val="2B583E"/>
              </a:solidFill>
              <a:tailEnd type="triangle" w="lg" len="lg"/>
            </a:ln>
          </p:spPr>
        </p:sp>
        <p:sp>
          <p:nvSpPr>
            <p:cNvPr id="52" name="TextBox 52"/>
            <p:cNvSpPr txBox="1"/>
            <p:nvPr/>
          </p:nvSpPr>
          <p:spPr>
            <a:xfrm>
              <a:off x="10008870" y="3331845"/>
              <a:ext cx="747451"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Synthesize</a:t>
              </a:r>
            </a:p>
          </p:txBody>
        </p:sp>
        <p:grpSp>
          <p:nvGrpSpPr>
            <p:cNvPr id="59" name="Group 59"/>
            <p:cNvGrpSpPr/>
            <p:nvPr/>
          </p:nvGrpSpPr>
          <p:grpSpPr>
            <a:xfrm>
              <a:off x="8429625" y="3952875"/>
              <a:ext cx="3201876" cy="1428750"/>
              <a:chOff x="8429625" y="3952875"/>
              <a:chExt cx="3201876" cy="1428750"/>
            </a:xfrm>
          </p:grpSpPr>
          <p:sp>
            <p:nvSpPr>
              <p:cNvPr id="53" name="Freeform 53"/>
              <p:cNvSpPr/>
              <p:nvPr/>
            </p:nvSpPr>
            <p:spPr>
              <a:xfrm>
                <a:off x="8429625" y="3952875"/>
                <a:ext cx="2952750" cy="1428750"/>
              </a:xfrm>
              <a:custGeom>
                <a:avLst/>
                <a:gdLst/>
                <a:ahLst/>
                <a:cxnLst/>
                <a:rect l="l" t="t" r="r" b="b"/>
                <a:pathLst>
                  <a:path w="2952750" h="1428750">
                    <a:moveTo>
                      <a:pt x="95250" y="0"/>
                    </a:moveTo>
                    <a:lnTo>
                      <a:pt x="2857500" y="0"/>
                    </a:lnTo>
                    <a:cubicBezTo>
                      <a:pt x="2910105" y="0"/>
                      <a:pt x="2952750" y="42645"/>
                      <a:pt x="2952750" y="95250"/>
                    </a:cubicBezTo>
                    <a:lnTo>
                      <a:pt x="2952750" y="1333500"/>
                    </a:lnTo>
                    <a:cubicBezTo>
                      <a:pt x="2952750" y="1386105"/>
                      <a:pt x="2910105" y="1428750"/>
                      <a:pt x="2857500" y="1428750"/>
                    </a:cubicBezTo>
                    <a:lnTo>
                      <a:pt x="95250" y="1428750"/>
                    </a:lnTo>
                    <a:cubicBezTo>
                      <a:pt x="42645" y="1428750"/>
                      <a:pt x="0" y="1386105"/>
                      <a:pt x="0" y="1333500"/>
                    </a:cubicBezTo>
                    <a:lnTo>
                      <a:pt x="0" y="95250"/>
                    </a:lnTo>
                    <a:cubicBezTo>
                      <a:pt x="0" y="42645"/>
                      <a:pt x="42645" y="0"/>
                      <a:pt x="95250" y="0"/>
                    </a:cubicBezTo>
                    <a:close/>
                  </a:path>
                </a:pathLst>
              </a:custGeom>
              <a:solidFill>
                <a:srgbClr val="F4F6F4"/>
              </a:solidFill>
              <a:ln w="9525">
                <a:solidFill>
                  <a:srgbClr val="D1DAD4"/>
                </a:solidFill>
              </a:ln>
            </p:spPr>
          </p:sp>
          <p:sp>
            <p:nvSpPr>
              <p:cNvPr id="54" name="Freeform 54"/>
              <p:cNvSpPr/>
              <p:nvPr/>
            </p:nvSpPr>
            <p:spPr>
              <a:xfrm>
                <a:off x="8620125" y="4095750"/>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DDA43B">
                  <a:alpha val="8000"/>
                </a:srgbClr>
              </a:solidFill>
              <a:ln>
                <a:noFill/>
              </a:ln>
            </p:spPr>
          </p:sp>
          <p:sp>
            <p:nvSpPr>
              <p:cNvPr id="55" name="TextBox 55"/>
              <p:cNvSpPr txBox="1"/>
              <p:nvPr/>
            </p:nvSpPr>
            <p:spPr>
              <a:xfrm>
                <a:off x="9126855" y="4188142"/>
                <a:ext cx="2187359"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3. Episode (生命片段)</a:t>
                </a:r>
              </a:p>
            </p:txBody>
          </p:sp>
          <p:sp>
            <p:nvSpPr>
              <p:cNvPr id="56" name="TextBox 56"/>
              <p:cNvSpPr txBox="1"/>
              <p:nvPr/>
            </p:nvSpPr>
            <p:spPr>
              <a:xfrm>
                <a:off x="8606790" y="4601528"/>
                <a:ext cx="217360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事实被加工为一段带有时空印记</a:t>
                </a:r>
              </a:p>
            </p:txBody>
          </p:sp>
          <p:sp>
            <p:nvSpPr>
              <p:cNvPr id="57" name="TextBox 57"/>
              <p:cNvSpPr txBox="1"/>
              <p:nvPr/>
            </p:nvSpPr>
            <p:spPr>
              <a:xfrm>
                <a:off x="8606790" y="4811078"/>
                <a:ext cx="241130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的植物主观叙事（如：“星期四下午</a:t>
                </a:r>
              </a:p>
            </p:txBody>
          </p:sp>
          <p:sp>
            <p:nvSpPr>
              <p:cNvPr id="58" name="TextBox 58"/>
              <p:cNvSpPr txBox="1"/>
              <p:nvPr/>
            </p:nvSpPr>
            <p:spPr>
              <a:xfrm>
                <a:off x="8606790" y="5020628"/>
                <a:ext cx="302471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，我的泥土非常干燥，雅宁为我浇了水”）。</a:t>
                </a:r>
              </a:p>
            </p:txBody>
          </p:sp>
        </p:grpSp>
        <p:sp>
          <p:nvSpPr>
            <p:cNvPr id="60" name="Freeform 60"/>
            <p:cNvSpPr/>
            <p:nvPr/>
          </p:nvSpPr>
          <p:spPr>
            <a:xfrm>
              <a:off x="7381875" y="4667250"/>
              <a:ext cx="904875" cy="9525"/>
            </a:xfrm>
            <a:custGeom>
              <a:avLst/>
              <a:gdLst/>
              <a:ahLst/>
              <a:cxnLst/>
              <a:rect l="l" t="t" r="r" b="b"/>
              <a:pathLst>
                <a:path w="904875" h="9525">
                  <a:moveTo>
                    <a:pt x="904875" y="0"/>
                  </a:moveTo>
                  <a:lnTo>
                    <a:pt x="0" y="0"/>
                  </a:lnTo>
                </a:path>
              </a:pathLst>
            </a:custGeom>
            <a:solidFill>
              <a:srgbClr val="000000"/>
            </a:solidFill>
            <a:ln w="19050">
              <a:solidFill>
                <a:srgbClr val="2B583E"/>
              </a:solidFill>
              <a:tailEnd type="triangle" w="lg" len="lg"/>
            </a:ln>
          </p:spPr>
        </p:sp>
        <p:sp>
          <p:nvSpPr>
            <p:cNvPr id="61" name="TextBox 61"/>
            <p:cNvSpPr txBox="1"/>
            <p:nvPr/>
          </p:nvSpPr>
          <p:spPr>
            <a:xfrm>
              <a:off x="7359213" y="4474845"/>
              <a:ext cx="940675" cy="182880"/>
            </a:xfrm>
            <a:prstGeom prst="rect">
              <a:avLst/>
            </a:prstGeom>
            <a:noFill/>
            <a:ln>
              <a:noFill/>
            </a:ln>
          </p:spPr>
          <p:txBody>
            <a:bodyPr wrap="none" lIns="0" tIns="0" rIns="0" bIns="0" anchor="t" anchorCtr="0">
              <a:spAutoFit/>
            </a:bodyPr>
            <a:lstStyle/>
            <a:p>
              <a:pPr algn="ctr"/>
              <a:r>
                <a:rPr lang="zh-CN" sz="900" b="1" dirty="0">
                  <a:solidFill>
                    <a:srgbClr val="2B583E"/>
                  </a:solidFill>
                  <a:latin typeface="Plus Jakarta Sans"/>
                  <a:ea typeface="Microsoft YaHei"/>
                  <a:cs typeface="Plus Jakarta Sans"/>
                </a:rPr>
                <a:t>Vectorization</a:t>
              </a:r>
            </a:p>
          </p:txBody>
        </p:sp>
        <p:grpSp>
          <p:nvGrpSpPr>
            <p:cNvPr id="69" name="Group 69"/>
            <p:cNvGrpSpPr/>
            <p:nvPr/>
          </p:nvGrpSpPr>
          <p:grpSpPr>
            <a:xfrm>
              <a:off x="4191000" y="3952875"/>
              <a:ext cx="3774800" cy="1428750"/>
              <a:chOff x="4191000" y="3952875"/>
              <a:chExt cx="3774800" cy="1428750"/>
            </a:xfrm>
          </p:grpSpPr>
          <p:sp>
            <p:nvSpPr>
              <p:cNvPr id="62" name="Freeform 62"/>
              <p:cNvSpPr/>
              <p:nvPr/>
            </p:nvSpPr>
            <p:spPr>
              <a:xfrm>
                <a:off x="4191000" y="3952875"/>
                <a:ext cx="3048000" cy="1428750"/>
              </a:xfrm>
              <a:custGeom>
                <a:avLst/>
                <a:gdLst/>
                <a:ahLst/>
                <a:cxnLst/>
                <a:rect l="l" t="t" r="r" b="b"/>
                <a:pathLst>
                  <a:path w="3048000" h="1428750">
                    <a:moveTo>
                      <a:pt x="95250" y="0"/>
                    </a:moveTo>
                    <a:lnTo>
                      <a:pt x="2952750" y="0"/>
                    </a:lnTo>
                    <a:cubicBezTo>
                      <a:pt x="3005355" y="0"/>
                      <a:pt x="3048000" y="42645"/>
                      <a:pt x="3048000" y="95250"/>
                    </a:cubicBezTo>
                    <a:lnTo>
                      <a:pt x="3048000" y="1333500"/>
                    </a:lnTo>
                    <a:cubicBezTo>
                      <a:pt x="3048000" y="1386105"/>
                      <a:pt x="3005355" y="1428750"/>
                      <a:pt x="2952750" y="1428750"/>
                    </a:cubicBezTo>
                    <a:lnTo>
                      <a:pt x="95250" y="1428750"/>
                    </a:lnTo>
                    <a:cubicBezTo>
                      <a:pt x="42645" y="1428750"/>
                      <a:pt x="0" y="1386105"/>
                      <a:pt x="0" y="1333500"/>
                    </a:cubicBezTo>
                    <a:lnTo>
                      <a:pt x="0" y="95250"/>
                    </a:lnTo>
                    <a:cubicBezTo>
                      <a:pt x="0" y="42645"/>
                      <a:pt x="42645" y="0"/>
                      <a:pt x="95250" y="0"/>
                    </a:cubicBezTo>
                    <a:close/>
                  </a:path>
                </a:pathLst>
              </a:custGeom>
              <a:solidFill>
                <a:srgbClr val="F4F6F4"/>
              </a:solidFill>
              <a:ln w="9525">
                <a:solidFill>
                  <a:srgbClr val="D1DAD4"/>
                </a:solidFill>
              </a:ln>
            </p:spPr>
          </p:sp>
          <p:sp>
            <p:nvSpPr>
              <p:cNvPr id="63" name="Freeform 63"/>
              <p:cNvSpPr/>
              <p:nvPr/>
            </p:nvSpPr>
            <p:spPr>
              <a:xfrm>
                <a:off x="4381500" y="4095750"/>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2B583E">
                  <a:alpha val="8000"/>
                </a:srgbClr>
              </a:solidFill>
              <a:ln>
                <a:noFill/>
              </a:ln>
            </p:spPr>
          </p:sp>
          <p:sp>
            <p:nvSpPr>
              <p:cNvPr id="64" name="Freeform 64"/>
              <p:cNvSpPr/>
              <p:nvPr/>
            </p:nvSpPr>
            <p:spPr>
              <a:xfrm>
                <a:off x="4489349" y="4212975"/>
                <a:ext cx="165089" cy="145489"/>
              </a:xfrm>
              <a:custGeom>
                <a:avLst/>
                <a:gdLst/>
                <a:ahLst/>
                <a:cxnLst/>
                <a:rect l="l" t="t" r="r" b="b"/>
                <a:pathLst>
                  <a:path w="165089" h="145489">
                    <a:moveTo>
                      <a:pt x="42797" y="2425"/>
                    </a:moveTo>
                    <a:cubicBezTo>
                      <a:pt x="57027" y="0"/>
                      <a:pt x="71588" y="4160"/>
                      <a:pt x="82389" y="13735"/>
                    </a:cubicBezTo>
                    <a:lnTo>
                      <a:pt x="82683" y="13997"/>
                    </a:lnTo>
                    <a:lnTo>
                      <a:pt x="82953" y="13759"/>
                    </a:lnTo>
                    <a:cubicBezTo>
                      <a:pt x="93249" y="4724"/>
                      <a:pt x="106937" y="559"/>
                      <a:pt x="120521" y="2329"/>
                    </a:cubicBezTo>
                    <a:lnTo>
                      <a:pt x="122474" y="2615"/>
                    </a:lnTo>
                    <a:cubicBezTo>
                      <a:pt x="139717" y="5592"/>
                      <a:pt x="153939" y="17785"/>
                      <a:pt x="159514" y="34372"/>
                    </a:cubicBezTo>
                    <a:cubicBezTo>
                      <a:pt x="165089" y="50958"/>
                      <a:pt x="161119" y="69266"/>
                      <a:pt x="149176" y="82054"/>
                    </a:cubicBezTo>
                    <a:lnTo>
                      <a:pt x="147747" y="83522"/>
                    </a:lnTo>
                    <a:lnTo>
                      <a:pt x="147366" y="83847"/>
                    </a:lnTo>
                    <a:lnTo>
                      <a:pt x="88231" y="142418"/>
                    </a:lnTo>
                    <a:cubicBezTo>
                      <a:pt x="85409" y="145211"/>
                      <a:pt x="80957" y="145489"/>
                      <a:pt x="77809" y="143069"/>
                    </a:cubicBezTo>
                    <a:lnTo>
                      <a:pt x="77063" y="142418"/>
                    </a:lnTo>
                    <a:lnTo>
                      <a:pt x="17588" y="83506"/>
                    </a:lnTo>
                    <a:cubicBezTo>
                      <a:pt x="4740" y="71006"/>
                      <a:pt x="0" y="52350"/>
                      <a:pt x="5322" y="35233"/>
                    </a:cubicBezTo>
                    <a:cubicBezTo>
                      <a:pt x="10644" y="18116"/>
                      <a:pt x="25127" y="5437"/>
                      <a:pt x="42797" y="2425"/>
                    </a:cubicBezTo>
                    <a:close/>
                  </a:path>
                </a:pathLst>
              </a:custGeom>
              <a:solidFill>
                <a:srgbClr val="2B583E"/>
              </a:solidFill>
              <a:ln>
                <a:noFill/>
              </a:ln>
            </p:spPr>
          </p:sp>
          <p:sp>
            <p:nvSpPr>
              <p:cNvPr id="65" name="TextBox 65"/>
              <p:cNvSpPr txBox="1"/>
              <p:nvPr/>
            </p:nvSpPr>
            <p:spPr>
              <a:xfrm>
                <a:off x="4888230" y="4188142"/>
                <a:ext cx="3077570"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4. Understanding (认知与人设)</a:t>
                </a:r>
              </a:p>
            </p:txBody>
          </p:sp>
          <p:sp>
            <p:nvSpPr>
              <p:cNvPr id="66" name="TextBox 66"/>
              <p:cNvSpPr txBox="1"/>
              <p:nvPr/>
            </p:nvSpPr>
            <p:spPr>
              <a:xfrm>
                <a:off x="4368165" y="4601528"/>
                <a:ext cx="251098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高重要度 Episode 被转化为向量写入</a:t>
                </a:r>
              </a:p>
            </p:txBody>
          </p:sp>
          <p:sp>
            <p:nvSpPr>
              <p:cNvPr id="67" name="TextBox 67"/>
              <p:cNvSpPr txBox="1"/>
              <p:nvPr/>
            </p:nvSpPr>
            <p:spPr>
              <a:xfrm>
                <a:off x="4368165" y="4811078"/>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长期记忆，永久融入植物的认知世界，</a:t>
                </a:r>
              </a:p>
            </p:txBody>
          </p:sp>
          <p:sp>
            <p:nvSpPr>
              <p:cNvPr id="68" name="TextBox 68"/>
              <p:cNvSpPr txBox="1"/>
              <p:nvPr/>
            </p:nvSpPr>
            <p:spPr>
              <a:xfrm>
                <a:off x="4368165" y="5020628"/>
                <a:ext cx="278701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对后续的所有对话提供稳定的人设基础。</a:t>
                </a:r>
              </a:p>
            </p:txBody>
          </p:sp>
        </p:grpSp>
        <p:sp>
          <p:nvSpPr>
            <p:cNvPr id="70" name="Freeform 70"/>
            <p:cNvSpPr/>
            <p:nvPr/>
          </p:nvSpPr>
          <p:spPr>
            <a:xfrm>
              <a:off x="5715000" y="3000375"/>
              <a:ext cx="9525" cy="809625"/>
            </a:xfrm>
            <a:custGeom>
              <a:avLst/>
              <a:gdLst/>
              <a:ahLst/>
              <a:cxnLst/>
              <a:rect l="l" t="t" r="r" b="b"/>
              <a:pathLst>
                <a:path w="9525" h="809625">
                  <a:moveTo>
                    <a:pt x="0" y="809625"/>
                  </a:moveTo>
                  <a:lnTo>
                    <a:pt x="0" y="0"/>
                  </a:lnTo>
                </a:path>
              </a:pathLst>
            </a:custGeom>
            <a:solidFill>
              <a:srgbClr val="000000"/>
            </a:solidFill>
            <a:ln w="19050">
              <a:solidFill>
                <a:srgbClr val="2B583E"/>
              </a:solidFill>
              <a:tailEnd type="triangle" w="lg" len="lg"/>
            </a:ln>
          </p:spPr>
        </p:sp>
        <p:sp>
          <p:nvSpPr>
            <p:cNvPr id="71" name="TextBox 71"/>
            <p:cNvSpPr txBox="1"/>
            <p:nvPr/>
          </p:nvSpPr>
          <p:spPr>
            <a:xfrm>
              <a:off x="5817870" y="3331845"/>
              <a:ext cx="754351"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Recall Loop</a:t>
              </a:r>
            </a:p>
          </p:txBody>
        </p:sp>
      </p:grpSp>
      <p:grpSp>
        <p:nvGrpSpPr>
          <p:cNvPr id="75" name="Group 75"/>
          <p:cNvGrpSpPr/>
          <p:nvPr/>
        </p:nvGrpSpPr>
        <p:grpSpPr>
          <a:xfrm>
            <a:off x="561975" y="6443662"/>
            <a:ext cx="10877550" cy="152400"/>
            <a:chOff x="561975" y="6443662"/>
            <a:chExt cx="10877550" cy="152400"/>
          </a:xfrm>
        </p:grpSpPr>
        <p:sp>
          <p:nvSpPr>
            <p:cNvPr id="73" name="TextBox 73"/>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74" name="TextBox 74"/>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08</a:t>
              </a:r>
            </a:p>
          </p:txBody>
        </p:sp>
      </p:gr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云端大脑层</a:t>
              </a:r>
            </a:p>
          </p:txBody>
        </p:sp>
        <p:sp>
          <p:nvSpPr>
            <p:cNvPr id="5" name="TextBox 5"/>
            <p:cNvSpPr txBox="1"/>
            <p:nvPr/>
          </p:nvSpPr>
          <p:spPr>
            <a:xfrm>
              <a:off x="1836420" y="312420"/>
              <a:ext cx="5452834"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主动发言 Engine 与和风天气代理</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7" name="Group 27"/>
          <p:cNvGrpSpPr/>
          <p:nvPr/>
        </p:nvGrpSpPr>
        <p:grpSpPr>
          <a:xfrm>
            <a:off x="550545" y="1203008"/>
            <a:ext cx="7100411" cy="3659504"/>
            <a:chOff x="550545" y="1203008"/>
            <a:chExt cx="7100411" cy="3659504"/>
          </a:xfrm>
        </p:grpSpPr>
        <p:sp>
          <p:nvSpPr>
            <p:cNvPr id="8" name="TextBox 8"/>
            <p:cNvSpPr txBox="1"/>
            <p:nvPr/>
          </p:nvSpPr>
          <p:spPr>
            <a:xfrm>
              <a:off x="550545" y="1203008"/>
              <a:ext cx="2825258" cy="335280"/>
            </a:xfrm>
            <a:prstGeom prst="rect">
              <a:avLst/>
            </a:prstGeom>
            <a:noFill/>
            <a:ln>
              <a:noFill/>
            </a:ln>
          </p:spPr>
          <p:txBody>
            <a:bodyPr wrap="none" lIns="0" tIns="0" rIns="0" bIns="0" anchor="t" anchorCtr="0">
              <a:spAutoFit/>
            </a:bodyPr>
            <a:lstStyle/>
            <a:p>
              <a:pPr algn="l"/>
              <a:r>
                <a:rPr lang="zh-CN" sz="1650" b="1" dirty="0">
                  <a:solidFill>
                    <a:srgbClr val="2B583E"/>
                  </a:solidFill>
                  <a:latin typeface="Quicksand"/>
                  <a:ea typeface="Microsoft YaHei"/>
                  <a:cs typeface="Quicksand"/>
                </a:rPr>
                <a:t>从物理事实，到情感牵挂</a:t>
              </a:r>
            </a:p>
          </p:txBody>
        </p:sp>
        <p:sp>
          <p:nvSpPr>
            <p:cNvPr id="9" name="TextBox 9"/>
            <p:cNvSpPr txBox="1"/>
            <p:nvPr/>
          </p:nvSpPr>
          <p:spPr>
            <a:xfrm>
              <a:off x="557212" y="1640681"/>
              <a:ext cx="7093744"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植物不会无病呻吟。每一次主动发言，都建立在真实客观的数据事件与极其严苛的冷却机制之上。</a:t>
              </a:r>
            </a:p>
          </p:txBody>
        </p:sp>
        <p:grpSp>
          <p:nvGrpSpPr>
            <p:cNvPr id="14" name="Group 14"/>
            <p:cNvGrpSpPr/>
            <p:nvPr/>
          </p:nvGrpSpPr>
          <p:grpSpPr>
            <a:xfrm>
              <a:off x="628650" y="2343150"/>
              <a:ext cx="5079016" cy="519112"/>
              <a:chOff x="628650" y="2343150"/>
              <a:chExt cx="5079016" cy="519112"/>
            </a:xfrm>
          </p:grpSpPr>
          <p:sp>
            <p:nvSpPr>
              <p:cNvPr id="10" name="Ellipse 10"/>
              <p:cNvSpPr/>
              <p:nvPr/>
            </p:nvSpPr>
            <p:spPr>
              <a:xfrm>
                <a:off x="628650" y="2343150"/>
                <a:ext cx="266700" cy="266700"/>
              </a:xfrm>
              <a:prstGeom prst="ellipse">
                <a:avLst/>
              </a:prstGeom>
              <a:solidFill>
                <a:srgbClr val="8E5B3C"/>
              </a:solidFill>
              <a:ln>
                <a:noFill/>
              </a:ln>
            </p:spPr>
          </p:sp>
          <p:sp>
            <p:nvSpPr>
              <p:cNvPr id="11" name="TextBox 11"/>
              <p:cNvSpPr txBox="1"/>
              <p:nvPr/>
            </p:nvSpPr>
            <p:spPr>
              <a:xfrm>
                <a:off x="708500" y="241887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Plus Jakarta Sans"/>
                    <a:ea typeface="Microsoft YaHei"/>
                    <a:cs typeface="Plus Jakarta Sans"/>
                  </a:rPr>
                  <a:t>A</a:t>
                </a:r>
              </a:p>
            </p:txBody>
          </p:sp>
          <p:sp>
            <p:nvSpPr>
              <p:cNvPr id="12" name="TextBox 12"/>
              <p:cNvSpPr txBox="1"/>
              <p:nvPr/>
            </p:nvSpPr>
            <p:spPr>
              <a:xfrm>
                <a:off x="1032510" y="2394585"/>
                <a:ext cx="2864434"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监听环境事件源与 QWeather 天气</a:t>
                </a:r>
              </a:p>
            </p:txBody>
          </p:sp>
          <p:sp>
            <p:nvSpPr>
              <p:cNvPr id="13" name="TextBox 13"/>
              <p:cNvSpPr txBox="1"/>
              <p:nvPr/>
            </p:nvSpPr>
            <p:spPr>
              <a:xfrm>
                <a:off x="1034415" y="2648902"/>
                <a:ext cx="467325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传感器捕捉到“长期缺水”、“持续高温”或和风天气预警“即将降雨”。</a:t>
                </a:r>
              </a:p>
            </p:txBody>
          </p:sp>
        </p:grpSp>
        <p:sp>
          <p:nvSpPr>
            <p:cNvPr id="15" name="Freeform 15"/>
            <p:cNvSpPr/>
            <p:nvPr/>
          </p:nvSpPr>
          <p:spPr>
            <a:xfrm>
              <a:off x="762000" y="2905125"/>
              <a:ext cx="9525" cy="285750"/>
            </a:xfrm>
            <a:custGeom>
              <a:avLst/>
              <a:gdLst/>
              <a:ahLst/>
              <a:cxnLst/>
              <a:rect l="l" t="t" r="r" b="b"/>
              <a:pathLst>
                <a:path w="9525" h="285750">
                  <a:moveTo>
                    <a:pt x="0" y="0"/>
                  </a:moveTo>
                  <a:lnTo>
                    <a:pt x="0" y="285750"/>
                  </a:lnTo>
                </a:path>
              </a:pathLst>
            </a:custGeom>
            <a:solidFill>
              <a:srgbClr val="000000"/>
            </a:solidFill>
            <a:ln w="14288">
              <a:solidFill>
                <a:srgbClr val="8E5B3C"/>
              </a:solidFill>
              <a:custDash>
                <a:ds d="200000" sp="200000"/>
              </a:custDash>
              <a:tailEnd type="triangle" w="lg" len="lg"/>
            </a:ln>
          </p:spPr>
        </p:sp>
        <p:grpSp>
          <p:nvGrpSpPr>
            <p:cNvPr id="20" name="Group 20"/>
            <p:cNvGrpSpPr/>
            <p:nvPr/>
          </p:nvGrpSpPr>
          <p:grpSpPr>
            <a:xfrm>
              <a:off x="628650" y="3343275"/>
              <a:ext cx="5033010" cy="519113"/>
              <a:chOff x="628650" y="3343275"/>
              <a:chExt cx="5033010" cy="519113"/>
            </a:xfrm>
          </p:grpSpPr>
          <p:sp>
            <p:nvSpPr>
              <p:cNvPr id="16" name="Ellipse 16"/>
              <p:cNvSpPr/>
              <p:nvPr/>
            </p:nvSpPr>
            <p:spPr>
              <a:xfrm>
                <a:off x="628650" y="3343275"/>
                <a:ext cx="266700" cy="266700"/>
              </a:xfrm>
              <a:prstGeom prst="ellipse">
                <a:avLst/>
              </a:prstGeom>
              <a:solidFill>
                <a:srgbClr val="2B583E"/>
              </a:solidFill>
              <a:ln>
                <a:noFill/>
              </a:ln>
            </p:spPr>
          </p:sp>
          <p:sp>
            <p:nvSpPr>
              <p:cNvPr id="17" name="TextBox 17"/>
              <p:cNvSpPr txBox="1"/>
              <p:nvPr/>
            </p:nvSpPr>
            <p:spPr>
              <a:xfrm>
                <a:off x="708500" y="3418999"/>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Plus Jakarta Sans"/>
                    <a:ea typeface="Microsoft YaHei"/>
                    <a:cs typeface="Plus Jakarta Sans"/>
                  </a:rPr>
                  <a:t>B</a:t>
                </a:r>
              </a:p>
            </p:txBody>
          </p:sp>
          <p:sp>
            <p:nvSpPr>
              <p:cNvPr id="18" name="TextBox 18"/>
              <p:cNvSpPr txBox="1"/>
              <p:nvPr/>
            </p:nvSpPr>
            <p:spPr>
              <a:xfrm>
                <a:off x="1032510" y="3394710"/>
                <a:ext cx="2652808"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发言冷却阀门 (Cooldown Lock)</a:t>
                </a:r>
              </a:p>
            </p:txBody>
          </p:sp>
          <p:sp>
            <p:nvSpPr>
              <p:cNvPr id="19" name="TextBox 19"/>
              <p:cNvSpPr txBox="1"/>
              <p:nvPr/>
            </p:nvSpPr>
            <p:spPr>
              <a:xfrm>
                <a:off x="1034415" y="3649028"/>
                <a:ext cx="462724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严格规避持续刷屏造成的用户打扰，设定不同事件的发言间隔阈值。</a:t>
                </a:r>
              </a:p>
            </p:txBody>
          </p:sp>
        </p:grpSp>
        <p:sp>
          <p:nvSpPr>
            <p:cNvPr id="21" name="Freeform 21"/>
            <p:cNvSpPr/>
            <p:nvPr/>
          </p:nvSpPr>
          <p:spPr>
            <a:xfrm>
              <a:off x="762000" y="3905250"/>
              <a:ext cx="9525" cy="285750"/>
            </a:xfrm>
            <a:custGeom>
              <a:avLst/>
              <a:gdLst/>
              <a:ahLst/>
              <a:cxnLst/>
              <a:rect l="l" t="t" r="r" b="b"/>
              <a:pathLst>
                <a:path w="9525" h="285750">
                  <a:moveTo>
                    <a:pt x="0" y="0"/>
                  </a:moveTo>
                  <a:lnTo>
                    <a:pt x="0" y="285750"/>
                  </a:lnTo>
                </a:path>
              </a:pathLst>
            </a:custGeom>
            <a:solidFill>
              <a:srgbClr val="000000"/>
            </a:solidFill>
            <a:ln w="14288">
              <a:solidFill>
                <a:srgbClr val="8E5B3C"/>
              </a:solidFill>
              <a:custDash>
                <a:ds d="200000" sp="200000"/>
              </a:custDash>
              <a:tailEnd type="triangle" w="lg" len="lg"/>
            </a:ln>
          </p:spPr>
        </p:sp>
        <p:grpSp>
          <p:nvGrpSpPr>
            <p:cNvPr id="26" name="Group 26"/>
            <p:cNvGrpSpPr/>
            <p:nvPr/>
          </p:nvGrpSpPr>
          <p:grpSpPr>
            <a:xfrm>
              <a:off x="628650" y="4343400"/>
              <a:ext cx="6551200" cy="519112"/>
              <a:chOff x="628650" y="4343400"/>
              <a:chExt cx="6551200" cy="519112"/>
            </a:xfrm>
          </p:grpSpPr>
          <p:sp>
            <p:nvSpPr>
              <p:cNvPr id="22" name="Ellipse 22"/>
              <p:cNvSpPr/>
              <p:nvPr/>
            </p:nvSpPr>
            <p:spPr>
              <a:xfrm>
                <a:off x="628650" y="4343400"/>
                <a:ext cx="266700" cy="266700"/>
              </a:xfrm>
              <a:prstGeom prst="ellipse">
                <a:avLst/>
              </a:prstGeom>
              <a:solidFill>
                <a:srgbClr val="DDA43B"/>
              </a:solidFill>
              <a:ln>
                <a:noFill/>
              </a:ln>
            </p:spPr>
          </p:sp>
          <p:sp>
            <p:nvSpPr>
              <p:cNvPr id="23" name="TextBox 23"/>
              <p:cNvSpPr txBox="1"/>
              <p:nvPr/>
            </p:nvSpPr>
            <p:spPr>
              <a:xfrm>
                <a:off x="708500" y="441912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Plus Jakarta Sans"/>
                    <a:ea typeface="Microsoft YaHei"/>
                    <a:cs typeface="Plus Jakarta Sans"/>
                  </a:rPr>
                  <a:t>C</a:t>
                </a:r>
              </a:p>
            </p:txBody>
          </p:sp>
          <p:sp>
            <p:nvSpPr>
              <p:cNvPr id="24" name="TextBox 24"/>
              <p:cNvSpPr txBox="1"/>
              <p:nvPr/>
            </p:nvSpPr>
            <p:spPr>
              <a:xfrm>
                <a:off x="1032510" y="4394835"/>
                <a:ext cx="1502664"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生成客观事件事实</a:t>
                </a:r>
              </a:p>
            </p:txBody>
          </p:sp>
          <p:sp>
            <p:nvSpPr>
              <p:cNvPr id="25" name="TextBox 25"/>
              <p:cNvSpPr txBox="1"/>
              <p:nvPr/>
            </p:nvSpPr>
            <p:spPr>
              <a:xfrm>
                <a:off x="1034415" y="4649152"/>
                <a:ext cx="614543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提炼为结构化事实（如：</a:t>
                </a:r>
                <a:r>
                  <a:rPr lang="zh-CN" sz="1050" dirty="0">
                    <a:solidFill>
                      <a:srgbClr val="8E5B3C"/>
                    </a:solidFill>
                    <a:latin typeface="Consolas"/>
                    <a:ea typeface="Microsoft YaHei"/>
                    <a:cs typeface="Consolas"/>
                  </a:rPr>
                  <a:t>{"event": "rain_forecast", "hours": 3}</a:t>
                </a:r>
                <a:r>
                  <a:rPr lang="zh-CN" sz="1050" dirty="0">
                    <a:solidFill>
                      <a:srgbClr val="4D5F54"/>
                    </a:solidFill>
                    <a:latin typeface="Plus Jakarta Sans"/>
                    <a:ea typeface="Microsoft YaHei"/>
                    <a:cs typeface="Plus Jakarta Sans"/>
                  </a:rPr>
                  <a:t>），输入大脑中枢。</a:t>
                </a:r>
              </a:p>
            </p:txBody>
          </p:sp>
        </p:grpSp>
      </p:grpSp>
      <p:grpSp>
        <p:nvGrpSpPr>
          <p:cNvPr id="61" name="Group 61"/>
          <p:cNvGrpSpPr/>
          <p:nvPr/>
        </p:nvGrpSpPr>
        <p:grpSpPr>
          <a:xfrm>
            <a:off x="6265545" y="1203008"/>
            <a:ext cx="5371380" cy="4464367"/>
            <a:chOff x="6265545" y="1203008"/>
            <a:chExt cx="5371380" cy="4464367"/>
          </a:xfrm>
        </p:grpSpPr>
        <p:sp>
          <p:nvSpPr>
            <p:cNvPr id="28" name="TextBox 28"/>
            <p:cNvSpPr txBox="1"/>
            <p:nvPr/>
          </p:nvSpPr>
          <p:spPr>
            <a:xfrm>
              <a:off x="6265545" y="1203008"/>
              <a:ext cx="3078289" cy="335280"/>
            </a:xfrm>
            <a:prstGeom prst="rect">
              <a:avLst/>
            </a:prstGeom>
            <a:noFill/>
            <a:ln>
              <a:noFill/>
            </a:ln>
          </p:spPr>
          <p:txBody>
            <a:bodyPr wrap="none" lIns="0" tIns="0" rIns="0" bIns="0" anchor="t" anchorCtr="0">
              <a:spAutoFit/>
            </a:bodyPr>
            <a:lstStyle/>
            <a:p>
              <a:pPr algn="l"/>
              <a:r>
                <a:rPr lang="zh-CN" sz="1650" b="1" dirty="0">
                  <a:solidFill>
                    <a:srgbClr val="8E5B3C"/>
                  </a:solidFill>
                  <a:latin typeface="Quicksand"/>
                  <a:ea typeface="Microsoft YaHei"/>
                  <a:cs typeface="Quicksand"/>
                </a:rPr>
                <a:t>大模型润色与人文视角转译</a:t>
              </a:r>
            </a:p>
          </p:txBody>
        </p:sp>
        <p:grpSp>
          <p:nvGrpSpPr>
            <p:cNvPr id="46" name="Group 46"/>
            <p:cNvGrpSpPr/>
            <p:nvPr/>
          </p:nvGrpSpPr>
          <p:grpSpPr>
            <a:xfrm>
              <a:off x="6286500" y="1762125"/>
              <a:ext cx="5350425" cy="1171575"/>
              <a:chOff x="6286500" y="1762125"/>
              <a:chExt cx="5350425" cy="1171575"/>
            </a:xfrm>
          </p:grpSpPr>
          <p:sp>
            <p:nvSpPr>
              <p:cNvPr id="29" name="Freeform 29"/>
              <p:cNvSpPr/>
              <p:nvPr/>
            </p:nvSpPr>
            <p:spPr>
              <a:xfrm>
                <a:off x="6286500" y="1762125"/>
                <a:ext cx="5143500" cy="1047750"/>
              </a:xfrm>
              <a:custGeom>
                <a:avLst/>
                <a:gdLst/>
                <a:ahLst/>
                <a:cxnLst/>
                <a:rect l="l" t="t" r="r" b="b"/>
                <a:pathLst>
                  <a:path w="5143500" h="1047750">
                    <a:moveTo>
                      <a:pt x="114300" y="0"/>
                    </a:moveTo>
                    <a:lnTo>
                      <a:pt x="5029200" y="0"/>
                    </a:lnTo>
                    <a:cubicBezTo>
                      <a:pt x="5092326" y="0"/>
                      <a:pt x="5143500" y="51174"/>
                      <a:pt x="5143500" y="114300"/>
                    </a:cubicBezTo>
                    <a:lnTo>
                      <a:pt x="5143500" y="933450"/>
                    </a:lnTo>
                    <a:cubicBezTo>
                      <a:pt x="5143500" y="996576"/>
                      <a:pt x="5092326" y="1047750"/>
                      <a:pt x="5029200" y="1047750"/>
                    </a:cubicBezTo>
                    <a:lnTo>
                      <a:pt x="114300" y="1047750"/>
                    </a:lnTo>
                    <a:cubicBezTo>
                      <a:pt x="51174" y="1047750"/>
                      <a:pt x="0" y="996576"/>
                      <a:pt x="0" y="933450"/>
                    </a:cubicBezTo>
                    <a:lnTo>
                      <a:pt x="0" y="114300"/>
                    </a:lnTo>
                    <a:cubicBezTo>
                      <a:pt x="0" y="51174"/>
                      <a:pt x="51174" y="0"/>
                      <a:pt x="114300" y="0"/>
                    </a:cubicBezTo>
                    <a:close/>
                  </a:path>
                </a:pathLst>
              </a:custGeom>
              <a:solidFill>
                <a:srgbClr val="FFFFFF"/>
              </a:solidFill>
              <a:ln w="9525">
                <a:solidFill>
                  <a:srgbClr val="D1DAD4"/>
                </a:solidFill>
              </a:ln>
            </p:spPr>
          </p:sp>
          <p:sp>
            <p:nvSpPr>
              <p:cNvPr id="30" name="Polygon 30"/>
              <p:cNvSpPr/>
              <p:nvPr/>
            </p:nvSpPr>
            <p:spPr>
              <a:xfrm>
                <a:off x="6477000" y="2809875"/>
                <a:ext cx="190500" cy="123825"/>
              </a:xfrm>
              <a:custGeom>
                <a:avLst/>
                <a:gdLst/>
                <a:ahLst/>
                <a:cxnLst/>
                <a:rect l="l" t="t" r="r" b="b"/>
                <a:pathLst>
                  <a:path w="190500" h="123825">
                    <a:moveTo>
                      <a:pt x="0" y="0"/>
                    </a:moveTo>
                    <a:lnTo>
                      <a:pt x="95250" y="123825"/>
                    </a:lnTo>
                    <a:lnTo>
                      <a:pt x="190500" y="0"/>
                    </a:lnTo>
                    <a:close/>
                  </a:path>
                </a:pathLst>
              </a:custGeom>
              <a:solidFill>
                <a:srgbClr val="FFFFFF"/>
              </a:solidFill>
              <a:ln w="9525">
                <a:solidFill>
                  <a:srgbClr val="D1DAD4"/>
                </a:solidFill>
              </a:ln>
            </p:spPr>
          </p:sp>
          <p:sp>
            <p:nvSpPr>
              <p:cNvPr id="31" name="Polygon 31"/>
              <p:cNvSpPr/>
              <p:nvPr/>
            </p:nvSpPr>
            <p:spPr>
              <a:xfrm>
                <a:off x="6486525" y="2800350"/>
                <a:ext cx="171450" cy="104775"/>
              </a:xfrm>
              <a:custGeom>
                <a:avLst/>
                <a:gdLst/>
                <a:ahLst/>
                <a:cxnLst/>
                <a:rect l="l" t="t" r="r" b="b"/>
                <a:pathLst>
                  <a:path w="171450" h="104775">
                    <a:moveTo>
                      <a:pt x="0" y="0"/>
                    </a:moveTo>
                    <a:lnTo>
                      <a:pt x="85725" y="104775"/>
                    </a:lnTo>
                    <a:lnTo>
                      <a:pt x="171450" y="0"/>
                    </a:lnTo>
                    <a:close/>
                  </a:path>
                </a:pathLst>
              </a:custGeom>
              <a:solidFill>
                <a:srgbClr val="FFFFFF"/>
              </a:solidFill>
              <a:ln>
                <a:noFill/>
              </a:ln>
            </p:spPr>
          </p:sp>
          <p:sp>
            <p:nvSpPr>
              <p:cNvPr id="32" name="Freeform 32"/>
              <p:cNvSpPr/>
              <p:nvPr/>
            </p:nvSpPr>
            <p:spPr>
              <a:xfrm>
                <a:off x="6524625" y="1952625"/>
                <a:ext cx="228600" cy="228600"/>
              </a:xfrm>
              <a:custGeom>
                <a:avLst/>
                <a:gdLst/>
                <a:ahLst/>
                <a:cxnLst/>
                <a:rect l="l" t="t" r="r" b="b"/>
                <a:pathLst>
                  <a:path w="228600" h="228600">
                    <a:moveTo>
                      <a:pt x="114300" y="0"/>
                    </a:moveTo>
                    <a:lnTo>
                      <a:pt x="114300" y="0"/>
                    </a:lnTo>
                    <a:cubicBezTo>
                      <a:pt x="177426" y="0"/>
                      <a:pt x="228600" y="51174"/>
                      <a:pt x="228600" y="114300"/>
                    </a:cubicBezTo>
                    <a:lnTo>
                      <a:pt x="228600" y="114300"/>
                    </a:lnTo>
                    <a:cubicBezTo>
                      <a:pt x="228600" y="177426"/>
                      <a:pt x="177426" y="228600"/>
                      <a:pt x="114300" y="228600"/>
                    </a:cubicBezTo>
                    <a:lnTo>
                      <a:pt x="114300" y="228600"/>
                    </a:lnTo>
                    <a:cubicBezTo>
                      <a:pt x="51174" y="228600"/>
                      <a:pt x="0" y="177426"/>
                      <a:pt x="0" y="114300"/>
                    </a:cubicBezTo>
                    <a:lnTo>
                      <a:pt x="0" y="114300"/>
                    </a:lnTo>
                    <a:cubicBezTo>
                      <a:pt x="0" y="51174"/>
                      <a:pt x="51174" y="0"/>
                      <a:pt x="114300" y="0"/>
                    </a:cubicBezTo>
                    <a:close/>
                  </a:path>
                </a:pathLst>
              </a:custGeom>
              <a:solidFill>
                <a:srgbClr val="2B583E">
                  <a:alpha val="8000"/>
                </a:srgbClr>
              </a:solidFill>
              <a:ln>
                <a:noFill/>
              </a:ln>
            </p:spPr>
          </p:sp>
          <p:grpSp>
            <p:nvGrpSpPr>
              <p:cNvPr id="42" name="Group 42"/>
              <p:cNvGrpSpPr/>
              <p:nvPr/>
            </p:nvGrpSpPr>
            <p:grpSpPr>
              <a:xfrm>
                <a:off x="6591166" y="2019300"/>
                <a:ext cx="95518" cy="95384"/>
                <a:chOff x="6591166" y="2019300"/>
                <a:chExt cx="95518" cy="95384"/>
              </a:xfrm>
            </p:grpSpPr>
            <p:sp>
              <p:nvSpPr>
                <p:cNvPr id="33" name="Freeform 33"/>
                <p:cNvSpPr/>
                <p:nvPr/>
              </p:nvSpPr>
              <p:spPr>
                <a:xfrm>
                  <a:off x="6634162" y="2100262"/>
                  <a:ext cx="9525" cy="14422"/>
                </a:xfrm>
                <a:custGeom>
                  <a:avLst/>
                  <a:gdLst/>
                  <a:ahLst/>
                  <a:cxnLst/>
                  <a:rect l="l" t="t" r="r" b="b"/>
                  <a:pathLst>
                    <a:path w="9525" h="14422">
                      <a:moveTo>
                        <a:pt x="4762" y="0"/>
                      </a:moveTo>
                      <a:cubicBezTo>
                        <a:pt x="7177" y="0"/>
                        <a:pt x="9209" y="1807"/>
                        <a:pt x="9492" y="4205"/>
                      </a:cubicBezTo>
                      <a:lnTo>
                        <a:pt x="9525" y="4762"/>
                      </a:lnTo>
                      <a:lnTo>
                        <a:pt x="9525" y="9525"/>
                      </a:lnTo>
                      <a:cubicBezTo>
                        <a:pt x="9522" y="12045"/>
                        <a:pt x="7557" y="14126"/>
                        <a:pt x="5042" y="14274"/>
                      </a:cubicBezTo>
                      <a:cubicBezTo>
                        <a:pt x="2526" y="14422"/>
                        <a:pt x="331" y="12584"/>
                        <a:pt x="33" y="10082"/>
                      </a:cubicBezTo>
                      <a:lnTo>
                        <a:pt x="0" y="9525"/>
                      </a:lnTo>
                      <a:lnTo>
                        <a:pt x="0" y="4762"/>
                      </a:lnTo>
                      <a:cubicBezTo>
                        <a:pt x="0" y="2132"/>
                        <a:pt x="2132" y="0"/>
                        <a:pt x="4762" y="0"/>
                      </a:cubicBezTo>
                      <a:close/>
                    </a:path>
                  </a:pathLst>
                </a:custGeom>
                <a:solidFill>
                  <a:srgbClr val="2B583E"/>
                </a:solidFill>
                <a:ln>
                  <a:noFill/>
                </a:ln>
              </p:spPr>
            </p:sp>
            <p:sp>
              <p:nvSpPr>
                <p:cNvPr id="34" name="Freeform 34"/>
                <p:cNvSpPr/>
                <p:nvPr/>
              </p:nvSpPr>
              <p:spPr>
                <a:xfrm>
                  <a:off x="6660834" y="2088746"/>
                  <a:ext cx="13798" cy="13957"/>
                </a:xfrm>
                <a:custGeom>
                  <a:avLst/>
                  <a:gdLst/>
                  <a:ahLst/>
                  <a:cxnLst/>
                  <a:rect l="l" t="t" r="r" b="b"/>
                  <a:pathLst>
                    <a:path w="13798" h="13957">
                      <a:moveTo>
                        <a:pt x="8157" y="1562"/>
                      </a:moveTo>
                      <a:lnTo>
                        <a:pt x="8604" y="1958"/>
                      </a:lnTo>
                      <a:lnTo>
                        <a:pt x="11938" y="5291"/>
                      </a:lnTo>
                      <a:cubicBezTo>
                        <a:pt x="13711" y="7070"/>
                        <a:pt x="13798" y="9920"/>
                        <a:pt x="12137" y="11803"/>
                      </a:cubicBezTo>
                      <a:cubicBezTo>
                        <a:pt x="10476" y="13687"/>
                        <a:pt x="7638" y="13957"/>
                        <a:pt x="5652" y="12421"/>
                      </a:cubicBezTo>
                      <a:lnTo>
                        <a:pt x="5204" y="12026"/>
                      </a:lnTo>
                      <a:lnTo>
                        <a:pt x="1870" y="8692"/>
                      </a:lnTo>
                      <a:cubicBezTo>
                        <a:pt x="170" y="6994"/>
                        <a:pt x="0" y="4296"/>
                        <a:pt x="1475" y="2399"/>
                      </a:cubicBezTo>
                      <a:cubicBezTo>
                        <a:pt x="2949" y="502"/>
                        <a:pt x="5606" y="0"/>
                        <a:pt x="7671" y="1229"/>
                      </a:cubicBezTo>
                      <a:lnTo>
                        <a:pt x="8157" y="1562"/>
                      </a:lnTo>
                      <a:close/>
                    </a:path>
                  </a:pathLst>
                </a:custGeom>
                <a:solidFill>
                  <a:srgbClr val="2B583E"/>
                </a:solidFill>
                <a:ln>
                  <a:noFill/>
                </a:ln>
              </p:spPr>
            </p:sp>
            <p:sp>
              <p:nvSpPr>
                <p:cNvPr id="35" name="Freeform 35"/>
                <p:cNvSpPr/>
                <p:nvPr/>
              </p:nvSpPr>
              <p:spPr>
                <a:xfrm>
                  <a:off x="6603147" y="2088845"/>
                  <a:ext cx="13865" cy="13787"/>
                </a:xfrm>
                <a:custGeom>
                  <a:avLst/>
                  <a:gdLst/>
                  <a:ahLst/>
                  <a:cxnLst/>
                  <a:rect l="l" t="t" r="r" b="b"/>
                  <a:pathLst>
                    <a:path w="13865" h="13787">
                      <a:moveTo>
                        <a:pt x="11999" y="1859"/>
                      </a:moveTo>
                      <a:cubicBezTo>
                        <a:pt x="13696" y="3556"/>
                        <a:pt x="13865" y="6250"/>
                        <a:pt x="12395" y="8146"/>
                      </a:cubicBezTo>
                      <a:lnTo>
                        <a:pt x="11999" y="8593"/>
                      </a:lnTo>
                      <a:lnTo>
                        <a:pt x="8666" y="11927"/>
                      </a:lnTo>
                      <a:cubicBezTo>
                        <a:pt x="6887" y="13700"/>
                        <a:pt x="4037" y="13787"/>
                        <a:pt x="2154" y="12126"/>
                      </a:cubicBezTo>
                      <a:cubicBezTo>
                        <a:pt x="270" y="10465"/>
                        <a:pt x="0" y="7627"/>
                        <a:pt x="1536" y="5641"/>
                      </a:cubicBezTo>
                      <a:lnTo>
                        <a:pt x="1931" y="5193"/>
                      </a:lnTo>
                      <a:lnTo>
                        <a:pt x="5265" y="1859"/>
                      </a:lnTo>
                      <a:cubicBezTo>
                        <a:pt x="7125" y="0"/>
                        <a:pt x="10140" y="0"/>
                        <a:pt x="11999" y="1859"/>
                      </a:cubicBezTo>
                      <a:close/>
                    </a:path>
                  </a:pathLst>
                </a:custGeom>
                <a:solidFill>
                  <a:srgbClr val="2B583E"/>
                </a:solidFill>
                <a:ln>
                  <a:noFill/>
                </a:ln>
              </p:spPr>
            </p:sp>
            <p:sp>
              <p:nvSpPr>
                <p:cNvPr id="36" name="Freeform 36"/>
                <p:cNvSpPr/>
                <p:nvPr/>
              </p:nvSpPr>
              <p:spPr>
                <a:xfrm>
                  <a:off x="6591166" y="2062162"/>
                  <a:ext cx="14556" cy="9525"/>
                </a:xfrm>
                <a:custGeom>
                  <a:avLst/>
                  <a:gdLst/>
                  <a:ahLst/>
                  <a:cxnLst/>
                  <a:rect l="l" t="t" r="r" b="b"/>
                  <a:pathLst>
                    <a:path w="14556" h="9525">
                      <a:moveTo>
                        <a:pt x="9659" y="0"/>
                      </a:moveTo>
                      <a:cubicBezTo>
                        <a:pt x="12179" y="3"/>
                        <a:pt x="14261" y="1968"/>
                        <a:pt x="14408" y="4483"/>
                      </a:cubicBezTo>
                      <a:cubicBezTo>
                        <a:pt x="14556" y="6999"/>
                        <a:pt x="12719" y="9194"/>
                        <a:pt x="10216" y="9492"/>
                      </a:cubicBezTo>
                      <a:lnTo>
                        <a:pt x="9659" y="9525"/>
                      </a:lnTo>
                      <a:lnTo>
                        <a:pt x="4897" y="9525"/>
                      </a:lnTo>
                      <a:cubicBezTo>
                        <a:pt x="2377" y="9522"/>
                        <a:pt x="295" y="7557"/>
                        <a:pt x="148" y="5042"/>
                      </a:cubicBezTo>
                      <a:cubicBezTo>
                        <a:pt x="0" y="2526"/>
                        <a:pt x="1837" y="331"/>
                        <a:pt x="4339" y="33"/>
                      </a:cubicBezTo>
                      <a:lnTo>
                        <a:pt x="4897" y="0"/>
                      </a:lnTo>
                      <a:lnTo>
                        <a:pt x="9659" y="0"/>
                      </a:lnTo>
                      <a:close/>
                    </a:path>
                  </a:pathLst>
                </a:custGeom>
                <a:solidFill>
                  <a:srgbClr val="2B583E"/>
                </a:solidFill>
                <a:ln>
                  <a:noFill/>
                </a:ln>
              </p:spPr>
            </p:sp>
            <p:sp>
              <p:nvSpPr>
                <p:cNvPr id="37" name="Freeform 37"/>
                <p:cNvSpPr/>
                <p:nvPr/>
              </p:nvSpPr>
              <p:spPr>
                <a:xfrm>
                  <a:off x="6672128" y="2062162"/>
                  <a:ext cx="14556" cy="9525"/>
                </a:xfrm>
                <a:custGeom>
                  <a:avLst/>
                  <a:gdLst/>
                  <a:ahLst/>
                  <a:cxnLst/>
                  <a:rect l="l" t="t" r="r" b="b"/>
                  <a:pathLst>
                    <a:path w="14556" h="9525">
                      <a:moveTo>
                        <a:pt x="9659" y="0"/>
                      </a:moveTo>
                      <a:cubicBezTo>
                        <a:pt x="12179" y="3"/>
                        <a:pt x="14261" y="1968"/>
                        <a:pt x="14408" y="4483"/>
                      </a:cubicBezTo>
                      <a:cubicBezTo>
                        <a:pt x="14556" y="6999"/>
                        <a:pt x="12719" y="9194"/>
                        <a:pt x="10216" y="9492"/>
                      </a:cubicBezTo>
                      <a:lnTo>
                        <a:pt x="9659" y="9525"/>
                      </a:lnTo>
                      <a:lnTo>
                        <a:pt x="4897" y="9525"/>
                      </a:lnTo>
                      <a:cubicBezTo>
                        <a:pt x="2377" y="9522"/>
                        <a:pt x="295" y="7557"/>
                        <a:pt x="148" y="5042"/>
                      </a:cubicBezTo>
                      <a:cubicBezTo>
                        <a:pt x="0" y="2526"/>
                        <a:pt x="1837" y="331"/>
                        <a:pt x="4339" y="33"/>
                      </a:cubicBezTo>
                      <a:lnTo>
                        <a:pt x="4897" y="0"/>
                      </a:lnTo>
                      <a:lnTo>
                        <a:pt x="9659" y="0"/>
                      </a:lnTo>
                      <a:close/>
                    </a:path>
                  </a:pathLst>
                </a:custGeom>
                <a:solidFill>
                  <a:srgbClr val="2B583E"/>
                </a:solidFill>
                <a:ln>
                  <a:noFill/>
                </a:ln>
              </p:spPr>
            </p:sp>
            <p:sp>
              <p:nvSpPr>
                <p:cNvPr id="38" name="Freeform 38"/>
                <p:cNvSpPr/>
                <p:nvPr/>
              </p:nvSpPr>
              <p:spPr>
                <a:xfrm>
                  <a:off x="6603217" y="2031128"/>
                  <a:ext cx="13788" cy="13949"/>
                </a:xfrm>
                <a:custGeom>
                  <a:avLst/>
                  <a:gdLst/>
                  <a:ahLst/>
                  <a:cxnLst/>
                  <a:rect l="l" t="t" r="r" b="b"/>
                  <a:pathLst>
                    <a:path w="13788" h="13949">
                      <a:moveTo>
                        <a:pt x="8147" y="1554"/>
                      </a:moveTo>
                      <a:lnTo>
                        <a:pt x="8595" y="1950"/>
                      </a:lnTo>
                      <a:lnTo>
                        <a:pt x="11929" y="5283"/>
                      </a:lnTo>
                      <a:cubicBezTo>
                        <a:pt x="13701" y="7062"/>
                        <a:pt x="13788" y="9911"/>
                        <a:pt x="12128" y="11795"/>
                      </a:cubicBezTo>
                      <a:cubicBezTo>
                        <a:pt x="10467" y="13679"/>
                        <a:pt x="7629" y="13949"/>
                        <a:pt x="5642" y="12413"/>
                      </a:cubicBezTo>
                      <a:lnTo>
                        <a:pt x="5195" y="12017"/>
                      </a:lnTo>
                      <a:lnTo>
                        <a:pt x="1861" y="8684"/>
                      </a:lnTo>
                      <a:cubicBezTo>
                        <a:pt x="167" y="6986"/>
                        <a:pt x="0" y="4293"/>
                        <a:pt x="1471" y="2399"/>
                      </a:cubicBezTo>
                      <a:cubicBezTo>
                        <a:pt x="2942" y="505"/>
                        <a:pt x="5592" y="0"/>
                        <a:pt x="7657" y="1221"/>
                      </a:cubicBezTo>
                      <a:lnTo>
                        <a:pt x="8143" y="1554"/>
                      </a:lnTo>
                      <a:close/>
                    </a:path>
                  </a:pathLst>
                </a:custGeom>
                <a:solidFill>
                  <a:srgbClr val="2B583E"/>
                </a:solidFill>
                <a:ln>
                  <a:noFill/>
                </a:ln>
              </p:spPr>
            </p:sp>
            <p:sp>
              <p:nvSpPr>
                <p:cNvPr id="39" name="Freeform 39"/>
                <p:cNvSpPr/>
                <p:nvPr/>
              </p:nvSpPr>
              <p:spPr>
                <a:xfrm>
                  <a:off x="6660773" y="2031219"/>
                  <a:ext cx="13865" cy="13787"/>
                </a:xfrm>
                <a:custGeom>
                  <a:avLst/>
                  <a:gdLst/>
                  <a:ahLst/>
                  <a:cxnLst/>
                  <a:rect l="l" t="t" r="r" b="b"/>
                  <a:pathLst>
                    <a:path w="13865" h="13787">
                      <a:moveTo>
                        <a:pt x="11999" y="1859"/>
                      </a:moveTo>
                      <a:cubicBezTo>
                        <a:pt x="13696" y="3556"/>
                        <a:pt x="13865" y="6250"/>
                        <a:pt x="12395" y="8146"/>
                      </a:cubicBezTo>
                      <a:lnTo>
                        <a:pt x="11999" y="8593"/>
                      </a:lnTo>
                      <a:lnTo>
                        <a:pt x="8666" y="11927"/>
                      </a:lnTo>
                      <a:cubicBezTo>
                        <a:pt x="6887" y="13700"/>
                        <a:pt x="4037" y="13787"/>
                        <a:pt x="2154" y="12126"/>
                      </a:cubicBezTo>
                      <a:cubicBezTo>
                        <a:pt x="270" y="10465"/>
                        <a:pt x="0" y="7627"/>
                        <a:pt x="1536" y="5641"/>
                      </a:cubicBezTo>
                      <a:lnTo>
                        <a:pt x="1931" y="5193"/>
                      </a:lnTo>
                      <a:lnTo>
                        <a:pt x="5265" y="1859"/>
                      </a:lnTo>
                      <a:cubicBezTo>
                        <a:pt x="7125" y="0"/>
                        <a:pt x="10140" y="0"/>
                        <a:pt x="11999" y="1859"/>
                      </a:cubicBezTo>
                      <a:close/>
                    </a:path>
                  </a:pathLst>
                </a:custGeom>
                <a:solidFill>
                  <a:srgbClr val="2B583E"/>
                </a:solidFill>
                <a:ln>
                  <a:noFill/>
                </a:ln>
              </p:spPr>
            </p:sp>
            <p:sp>
              <p:nvSpPr>
                <p:cNvPr id="40" name="Freeform 40"/>
                <p:cNvSpPr/>
                <p:nvPr/>
              </p:nvSpPr>
              <p:spPr>
                <a:xfrm>
                  <a:off x="6634162" y="2019300"/>
                  <a:ext cx="9525" cy="14422"/>
                </a:xfrm>
                <a:custGeom>
                  <a:avLst/>
                  <a:gdLst/>
                  <a:ahLst/>
                  <a:cxnLst/>
                  <a:rect l="l" t="t" r="r" b="b"/>
                  <a:pathLst>
                    <a:path w="9525" h="14422">
                      <a:moveTo>
                        <a:pt x="4762" y="0"/>
                      </a:moveTo>
                      <a:cubicBezTo>
                        <a:pt x="7177" y="0"/>
                        <a:pt x="9209" y="1807"/>
                        <a:pt x="9492" y="4205"/>
                      </a:cubicBezTo>
                      <a:lnTo>
                        <a:pt x="9525" y="4762"/>
                      </a:lnTo>
                      <a:lnTo>
                        <a:pt x="9525" y="9525"/>
                      </a:lnTo>
                      <a:cubicBezTo>
                        <a:pt x="9522" y="12045"/>
                        <a:pt x="7557" y="14126"/>
                        <a:pt x="5042" y="14274"/>
                      </a:cubicBezTo>
                      <a:cubicBezTo>
                        <a:pt x="2526" y="14422"/>
                        <a:pt x="331" y="12584"/>
                        <a:pt x="33" y="10082"/>
                      </a:cubicBezTo>
                      <a:lnTo>
                        <a:pt x="0" y="9525"/>
                      </a:lnTo>
                      <a:lnTo>
                        <a:pt x="0" y="4762"/>
                      </a:lnTo>
                      <a:cubicBezTo>
                        <a:pt x="0" y="2132"/>
                        <a:pt x="2132" y="0"/>
                        <a:pt x="4762" y="0"/>
                      </a:cubicBezTo>
                      <a:close/>
                    </a:path>
                  </a:pathLst>
                </a:custGeom>
                <a:solidFill>
                  <a:srgbClr val="2B583E"/>
                </a:solidFill>
                <a:ln>
                  <a:noFill/>
                </a:ln>
              </p:spPr>
            </p:sp>
            <p:sp>
              <p:nvSpPr>
                <p:cNvPr id="41" name="Freeform 41"/>
                <p:cNvSpPr/>
                <p:nvPr/>
              </p:nvSpPr>
              <p:spPr>
                <a:xfrm>
                  <a:off x="6615112" y="2043112"/>
                  <a:ext cx="47813" cy="47993"/>
                </a:xfrm>
                <a:custGeom>
                  <a:avLst/>
                  <a:gdLst/>
                  <a:ahLst/>
                  <a:cxnLst/>
                  <a:rect l="l" t="t" r="r" b="b"/>
                  <a:pathLst>
                    <a:path w="47813" h="47993">
                      <a:moveTo>
                        <a:pt x="23812" y="1"/>
                      </a:moveTo>
                      <a:cubicBezTo>
                        <a:pt x="36830" y="0"/>
                        <a:pt x="47435" y="10452"/>
                        <a:pt x="47624" y="23468"/>
                      </a:cubicBezTo>
                      <a:cubicBezTo>
                        <a:pt x="47813" y="36483"/>
                        <a:pt x="37515" y="47239"/>
                        <a:pt x="24503" y="47616"/>
                      </a:cubicBezTo>
                      <a:cubicBezTo>
                        <a:pt x="11492" y="47993"/>
                        <a:pt x="589" y="37852"/>
                        <a:pt x="24" y="24847"/>
                      </a:cubicBezTo>
                      <a:lnTo>
                        <a:pt x="0" y="23813"/>
                      </a:lnTo>
                      <a:lnTo>
                        <a:pt x="24" y="22780"/>
                      </a:lnTo>
                      <a:cubicBezTo>
                        <a:pt x="577" y="10043"/>
                        <a:pt x="11064" y="1"/>
                        <a:pt x="23812" y="1"/>
                      </a:cubicBezTo>
                      <a:close/>
                    </a:path>
                  </a:pathLst>
                </a:custGeom>
                <a:solidFill>
                  <a:srgbClr val="2B583E"/>
                </a:solidFill>
                <a:ln>
                  <a:noFill/>
                </a:ln>
              </p:spPr>
            </p:sp>
          </p:grpSp>
          <p:sp>
            <p:nvSpPr>
              <p:cNvPr id="43" name="TextBox 43"/>
              <p:cNvSpPr txBox="1"/>
              <p:nvPr/>
            </p:nvSpPr>
            <p:spPr>
              <a:xfrm>
                <a:off x="6845618" y="2009299"/>
                <a:ext cx="2222690" cy="198120"/>
              </a:xfrm>
              <a:prstGeom prst="rect">
                <a:avLst/>
              </a:prstGeom>
              <a:noFill/>
              <a:ln>
                <a:noFill/>
              </a:ln>
            </p:spPr>
            <p:txBody>
              <a:bodyPr wrap="none" lIns="0" tIns="0" rIns="0" bIns="0" anchor="t" anchorCtr="0">
                <a:spAutoFit/>
              </a:bodyPr>
              <a:lstStyle/>
              <a:p>
                <a:pPr algn="l"/>
                <a:r>
                  <a:rPr lang="zh-CN" sz="975" b="1" dirty="0">
                    <a:solidFill>
                      <a:srgbClr val="8E5B3C"/>
                    </a:solidFill>
                    <a:latin typeface="Plus Jakarta Sans"/>
                    <a:ea typeface="Microsoft YaHei"/>
                    <a:cs typeface="Plus Jakarta Sans"/>
                  </a:rPr>
                  <a:t>和风天气降雨预警 · 3小时后下雨</a:t>
                </a:r>
              </a:p>
            </p:txBody>
          </p:sp>
          <p:sp>
            <p:nvSpPr>
              <p:cNvPr id="44" name="TextBox 44"/>
              <p:cNvSpPr txBox="1"/>
              <p:nvPr/>
            </p:nvSpPr>
            <p:spPr>
              <a:xfrm>
                <a:off x="6510338" y="2307431"/>
                <a:ext cx="5126587" cy="228600"/>
              </a:xfrm>
              <a:prstGeom prst="rect">
                <a:avLst/>
              </a:prstGeom>
              <a:noFill/>
              <a:ln>
                <a:noFill/>
              </a:ln>
            </p:spPr>
            <p:txBody>
              <a:bodyPr wrap="none" lIns="0" tIns="0" rIns="0" bIns="0" anchor="t" anchorCtr="0">
                <a:spAutoFit/>
              </a:bodyPr>
              <a:lstStyle/>
              <a:p>
                <a:pPr algn="l"/>
                <a:r>
                  <a:rPr lang="zh-CN" sz="1125" b="1" i="1" dirty="0">
                    <a:solidFill>
                      <a:srgbClr val="1C2E24"/>
                    </a:solidFill>
                    <a:latin typeface="Plus Jakarta Sans"/>
                    <a:ea typeface="Microsoft YaHei"/>
                    <a:cs typeface="Plus Jakarta Sans"/>
                  </a:rPr>
                  <a:t>“主人主人！窗外要飘来大雨云啦，我虽然爱水，但我不喜欢打雷，</a:t>
                </a:r>
              </a:p>
            </p:txBody>
          </p:sp>
          <p:sp>
            <p:nvSpPr>
              <p:cNvPr id="45" name="TextBox 45"/>
              <p:cNvSpPr txBox="1"/>
              <p:nvPr/>
            </p:nvSpPr>
            <p:spPr>
              <a:xfrm>
                <a:off x="6510338" y="2545556"/>
                <a:ext cx="2090208" cy="228600"/>
              </a:xfrm>
              <a:prstGeom prst="rect">
                <a:avLst/>
              </a:prstGeom>
              <a:noFill/>
              <a:ln>
                <a:noFill/>
              </a:ln>
            </p:spPr>
            <p:txBody>
              <a:bodyPr wrap="none" lIns="0" tIns="0" rIns="0" bIns="0" anchor="t" anchorCtr="0">
                <a:spAutoFit/>
              </a:bodyPr>
              <a:lstStyle/>
              <a:p>
                <a:pPr algn="l"/>
                <a:r>
                  <a:rPr lang="zh-CN" sz="1125" b="1" dirty="0">
                    <a:solidFill>
                      <a:srgbClr val="2B583E"/>
                    </a:solidFill>
                    <a:latin typeface="Plus Jakarta Sans"/>
                    <a:ea typeface="Microsoft YaHei"/>
                    <a:cs typeface="Plus Jakarta Sans"/>
                  </a:rPr>
                  <a:t>等会记得带我回房间噢 🌧️”</a:t>
                </a:r>
              </a:p>
            </p:txBody>
          </p:sp>
        </p:grpSp>
        <p:grpSp>
          <p:nvGrpSpPr>
            <p:cNvPr id="55" name="Group 55"/>
            <p:cNvGrpSpPr/>
            <p:nvPr/>
          </p:nvGrpSpPr>
          <p:grpSpPr>
            <a:xfrm>
              <a:off x="6286500" y="3190875"/>
              <a:ext cx="5143500" cy="1171575"/>
              <a:chOff x="6286500" y="3190875"/>
              <a:chExt cx="5143500" cy="1171575"/>
            </a:xfrm>
          </p:grpSpPr>
          <p:sp>
            <p:nvSpPr>
              <p:cNvPr id="47" name="Freeform 47"/>
              <p:cNvSpPr/>
              <p:nvPr/>
            </p:nvSpPr>
            <p:spPr>
              <a:xfrm>
                <a:off x="6286500" y="3190875"/>
                <a:ext cx="5143500" cy="1047750"/>
              </a:xfrm>
              <a:custGeom>
                <a:avLst/>
                <a:gdLst/>
                <a:ahLst/>
                <a:cxnLst/>
                <a:rect l="l" t="t" r="r" b="b"/>
                <a:pathLst>
                  <a:path w="5143500" h="1047750">
                    <a:moveTo>
                      <a:pt x="114300" y="0"/>
                    </a:moveTo>
                    <a:lnTo>
                      <a:pt x="5029200" y="0"/>
                    </a:lnTo>
                    <a:cubicBezTo>
                      <a:pt x="5092326" y="0"/>
                      <a:pt x="5143500" y="51174"/>
                      <a:pt x="5143500" y="114300"/>
                    </a:cubicBezTo>
                    <a:lnTo>
                      <a:pt x="5143500" y="933450"/>
                    </a:lnTo>
                    <a:cubicBezTo>
                      <a:pt x="5143500" y="996576"/>
                      <a:pt x="5092326" y="1047750"/>
                      <a:pt x="5029200" y="1047750"/>
                    </a:cubicBezTo>
                    <a:lnTo>
                      <a:pt x="114300" y="1047750"/>
                    </a:lnTo>
                    <a:cubicBezTo>
                      <a:pt x="51174" y="1047750"/>
                      <a:pt x="0" y="996576"/>
                      <a:pt x="0" y="933450"/>
                    </a:cubicBezTo>
                    <a:lnTo>
                      <a:pt x="0" y="114300"/>
                    </a:lnTo>
                    <a:cubicBezTo>
                      <a:pt x="0" y="51174"/>
                      <a:pt x="51174" y="0"/>
                      <a:pt x="114300" y="0"/>
                    </a:cubicBezTo>
                    <a:close/>
                  </a:path>
                </a:pathLst>
              </a:custGeom>
              <a:solidFill>
                <a:srgbClr val="FFFFFF"/>
              </a:solidFill>
              <a:ln w="9525">
                <a:solidFill>
                  <a:srgbClr val="D1DAD4"/>
                </a:solidFill>
              </a:ln>
            </p:spPr>
          </p:sp>
          <p:sp>
            <p:nvSpPr>
              <p:cNvPr id="48" name="Polygon 48"/>
              <p:cNvSpPr/>
              <p:nvPr/>
            </p:nvSpPr>
            <p:spPr>
              <a:xfrm>
                <a:off x="6477000" y="4238625"/>
                <a:ext cx="190500" cy="123825"/>
              </a:xfrm>
              <a:custGeom>
                <a:avLst/>
                <a:gdLst/>
                <a:ahLst/>
                <a:cxnLst/>
                <a:rect l="l" t="t" r="r" b="b"/>
                <a:pathLst>
                  <a:path w="190500" h="123825">
                    <a:moveTo>
                      <a:pt x="0" y="0"/>
                    </a:moveTo>
                    <a:lnTo>
                      <a:pt x="95250" y="123825"/>
                    </a:lnTo>
                    <a:lnTo>
                      <a:pt x="190500" y="0"/>
                    </a:lnTo>
                    <a:close/>
                  </a:path>
                </a:pathLst>
              </a:custGeom>
              <a:solidFill>
                <a:srgbClr val="FFFFFF"/>
              </a:solidFill>
              <a:ln w="9525">
                <a:solidFill>
                  <a:srgbClr val="D1DAD4"/>
                </a:solidFill>
              </a:ln>
            </p:spPr>
          </p:sp>
          <p:sp>
            <p:nvSpPr>
              <p:cNvPr id="49" name="Polygon 49"/>
              <p:cNvSpPr/>
              <p:nvPr/>
            </p:nvSpPr>
            <p:spPr>
              <a:xfrm>
                <a:off x="6486525" y="4229100"/>
                <a:ext cx="171450" cy="104775"/>
              </a:xfrm>
              <a:custGeom>
                <a:avLst/>
                <a:gdLst/>
                <a:ahLst/>
                <a:cxnLst/>
                <a:rect l="l" t="t" r="r" b="b"/>
                <a:pathLst>
                  <a:path w="171450" h="104775">
                    <a:moveTo>
                      <a:pt x="0" y="0"/>
                    </a:moveTo>
                    <a:lnTo>
                      <a:pt x="85725" y="104775"/>
                    </a:lnTo>
                    <a:lnTo>
                      <a:pt x="171450" y="0"/>
                    </a:lnTo>
                    <a:close/>
                  </a:path>
                </a:pathLst>
              </a:custGeom>
              <a:solidFill>
                <a:srgbClr val="FFFFFF"/>
              </a:solidFill>
              <a:ln>
                <a:noFill/>
              </a:ln>
            </p:spPr>
          </p:sp>
          <p:sp>
            <p:nvSpPr>
              <p:cNvPr id="50" name="Freeform 50"/>
              <p:cNvSpPr/>
              <p:nvPr/>
            </p:nvSpPr>
            <p:spPr>
              <a:xfrm>
                <a:off x="6524625" y="3381375"/>
                <a:ext cx="228600" cy="228600"/>
              </a:xfrm>
              <a:custGeom>
                <a:avLst/>
                <a:gdLst/>
                <a:ahLst/>
                <a:cxnLst/>
                <a:rect l="l" t="t" r="r" b="b"/>
                <a:pathLst>
                  <a:path w="228600" h="228600">
                    <a:moveTo>
                      <a:pt x="114300" y="0"/>
                    </a:moveTo>
                    <a:lnTo>
                      <a:pt x="114300" y="0"/>
                    </a:lnTo>
                    <a:cubicBezTo>
                      <a:pt x="177426" y="0"/>
                      <a:pt x="228600" y="51174"/>
                      <a:pt x="228600" y="114300"/>
                    </a:cubicBezTo>
                    <a:lnTo>
                      <a:pt x="228600" y="114300"/>
                    </a:lnTo>
                    <a:cubicBezTo>
                      <a:pt x="228600" y="177426"/>
                      <a:pt x="177426" y="228600"/>
                      <a:pt x="114300" y="228600"/>
                    </a:cubicBezTo>
                    <a:lnTo>
                      <a:pt x="114300" y="228600"/>
                    </a:lnTo>
                    <a:cubicBezTo>
                      <a:pt x="51174" y="228600"/>
                      <a:pt x="0" y="177426"/>
                      <a:pt x="0" y="114300"/>
                    </a:cubicBezTo>
                    <a:lnTo>
                      <a:pt x="0" y="114300"/>
                    </a:lnTo>
                    <a:cubicBezTo>
                      <a:pt x="0" y="51174"/>
                      <a:pt x="51174" y="0"/>
                      <a:pt x="114300" y="0"/>
                    </a:cubicBezTo>
                    <a:close/>
                  </a:path>
                </a:pathLst>
              </a:custGeom>
              <a:solidFill>
                <a:srgbClr val="D64535">
                  <a:alpha val="8000"/>
                </a:srgbClr>
              </a:solidFill>
              <a:ln>
                <a:noFill/>
              </a:ln>
            </p:spPr>
          </p:sp>
          <p:sp>
            <p:nvSpPr>
              <p:cNvPr id="51" name="Freeform 51"/>
              <p:cNvSpPr/>
              <p:nvPr/>
            </p:nvSpPr>
            <p:spPr>
              <a:xfrm>
                <a:off x="6595980" y="3452812"/>
                <a:ext cx="85808" cy="90770"/>
              </a:xfrm>
              <a:custGeom>
                <a:avLst/>
                <a:gdLst/>
                <a:ahLst/>
                <a:cxnLst/>
                <a:rect l="l" t="t" r="r" b="b"/>
                <a:pathLst>
                  <a:path w="85808" h="90770">
                    <a:moveTo>
                      <a:pt x="345" y="53950"/>
                    </a:moveTo>
                    <a:lnTo>
                      <a:pt x="259" y="53149"/>
                    </a:lnTo>
                    <a:lnTo>
                      <a:pt x="240" y="52945"/>
                    </a:lnTo>
                    <a:cubicBezTo>
                      <a:pt x="75" y="51172"/>
                      <a:pt x="0" y="49391"/>
                      <a:pt x="16" y="47611"/>
                    </a:cubicBezTo>
                    <a:cubicBezTo>
                      <a:pt x="102" y="17655"/>
                      <a:pt x="20447" y="0"/>
                      <a:pt x="61929" y="0"/>
                    </a:cubicBezTo>
                    <a:lnTo>
                      <a:pt x="81045" y="0"/>
                    </a:lnTo>
                    <a:cubicBezTo>
                      <a:pt x="83676" y="0"/>
                      <a:pt x="85808" y="2132"/>
                      <a:pt x="85808" y="4762"/>
                    </a:cubicBezTo>
                    <a:lnTo>
                      <a:pt x="85798" y="14559"/>
                    </a:lnTo>
                    <a:cubicBezTo>
                      <a:pt x="83427" y="55997"/>
                      <a:pt x="63224" y="76200"/>
                      <a:pt x="28658" y="76200"/>
                    </a:cubicBezTo>
                    <a:lnTo>
                      <a:pt x="16128" y="76200"/>
                    </a:lnTo>
                    <a:cubicBezTo>
                      <a:pt x="15308" y="79506"/>
                      <a:pt x="14712" y="82863"/>
                      <a:pt x="14342" y="86249"/>
                    </a:cubicBezTo>
                    <a:cubicBezTo>
                      <a:pt x="14155" y="87940"/>
                      <a:pt x="13079" y="89403"/>
                      <a:pt x="11521" y="90087"/>
                    </a:cubicBezTo>
                    <a:cubicBezTo>
                      <a:pt x="9963" y="90770"/>
                      <a:pt x="8158" y="90570"/>
                      <a:pt x="6787" y="89563"/>
                    </a:cubicBezTo>
                    <a:cubicBezTo>
                      <a:pt x="5416" y="88555"/>
                      <a:pt x="4687" y="86892"/>
                      <a:pt x="4874" y="85201"/>
                    </a:cubicBezTo>
                    <a:cubicBezTo>
                      <a:pt x="5426" y="80223"/>
                      <a:pt x="6347" y="75544"/>
                      <a:pt x="7636" y="71166"/>
                    </a:cubicBezTo>
                    <a:lnTo>
                      <a:pt x="7074" y="70471"/>
                    </a:lnTo>
                    <a:lnTo>
                      <a:pt x="6084" y="69137"/>
                    </a:lnTo>
                    <a:lnTo>
                      <a:pt x="5336" y="68047"/>
                    </a:lnTo>
                    <a:lnTo>
                      <a:pt x="4469" y="66651"/>
                    </a:lnTo>
                    <a:lnTo>
                      <a:pt x="4002" y="65837"/>
                    </a:lnTo>
                    <a:lnTo>
                      <a:pt x="3693" y="65256"/>
                    </a:lnTo>
                    <a:cubicBezTo>
                      <a:pt x="2936" y="63818"/>
                      <a:pt x="2304" y="62319"/>
                      <a:pt x="1802" y="60774"/>
                    </a:cubicBezTo>
                    <a:lnTo>
                      <a:pt x="1459" y="59646"/>
                    </a:lnTo>
                    <a:lnTo>
                      <a:pt x="1054" y="58088"/>
                    </a:lnTo>
                    <a:lnTo>
                      <a:pt x="783" y="56812"/>
                    </a:lnTo>
                    <a:lnTo>
                      <a:pt x="578" y="55659"/>
                    </a:lnTo>
                    <a:close/>
                    <a:moveTo>
                      <a:pt x="41012" y="33747"/>
                    </a:moveTo>
                    <a:cubicBezTo>
                      <a:pt x="27462" y="39772"/>
                      <a:pt x="17895" y="48654"/>
                      <a:pt x="11922" y="60336"/>
                    </a:cubicBezTo>
                    <a:cubicBezTo>
                      <a:pt x="12233" y="60971"/>
                      <a:pt x="12580" y="61606"/>
                      <a:pt x="12961" y="62241"/>
                    </a:cubicBezTo>
                    <a:lnTo>
                      <a:pt x="13842" y="63579"/>
                    </a:lnTo>
                    <a:lnTo>
                      <a:pt x="14175" y="64041"/>
                    </a:lnTo>
                    <a:cubicBezTo>
                      <a:pt x="14556" y="64562"/>
                      <a:pt x="14966" y="65084"/>
                      <a:pt x="15404" y="65608"/>
                    </a:cubicBezTo>
                    <a:lnTo>
                      <a:pt x="16342" y="66675"/>
                    </a:lnTo>
                    <a:lnTo>
                      <a:pt x="19433" y="66675"/>
                    </a:lnTo>
                    <a:cubicBezTo>
                      <a:pt x="24372" y="55859"/>
                      <a:pt x="32658" y="47882"/>
                      <a:pt x="44879" y="42453"/>
                    </a:cubicBezTo>
                    <a:cubicBezTo>
                      <a:pt x="47283" y="41385"/>
                      <a:pt x="48366" y="38570"/>
                      <a:pt x="47298" y="36166"/>
                    </a:cubicBezTo>
                    <a:cubicBezTo>
                      <a:pt x="46230" y="33762"/>
                      <a:pt x="43416" y="32679"/>
                      <a:pt x="41012" y="33747"/>
                    </a:cubicBezTo>
                  </a:path>
                </a:pathLst>
              </a:custGeom>
              <a:solidFill>
                <a:srgbClr val="D64535"/>
              </a:solidFill>
              <a:ln>
                <a:noFill/>
              </a:ln>
            </p:spPr>
          </p:sp>
          <p:sp>
            <p:nvSpPr>
              <p:cNvPr id="52" name="TextBox 52"/>
              <p:cNvSpPr txBox="1"/>
              <p:nvPr/>
            </p:nvSpPr>
            <p:spPr>
              <a:xfrm>
                <a:off x="6845618" y="3438049"/>
                <a:ext cx="1602187" cy="198120"/>
              </a:xfrm>
              <a:prstGeom prst="rect">
                <a:avLst/>
              </a:prstGeom>
              <a:noFill/>
              <a:ln>
                <a:noFill/>
              </a:ln>
            </p:spPr>
            <p:txBody>
              <a:bodyPr wrap="none" lIns="0" tIns="0" rIns="0" bIns="0" anchor="t" anchorCtr="0">
                <a:spAutoFit/>
              </a:bodyPr>
              <a:lstStyle/>
              <a:p>
                <a:pPr algn="l"/>
                <a:r>
                  <a:rPr lang="zh-CN" sz="975" b="1" dirty="0">
                    <a:solidFill>
                      <a:srgbClr val="D64535"/>
                    </a:solidFill>
                    <a:latin typeface="Plus Jakarta Sans"/>
                    <a:ea typeface="Microsoft YaHei"/>
                    <a:cs typeface="Plus Jakarta Sans"/>
                  </a:rPr>
                  <a:t>土壤湿度严重干旱 · 18%</a:t>
                </a:r>
              </a:p>
            </p:txBody>
          </p:sp>
          <p:sp>
            <p:nvSpPr>
              <p:cNvPr id="53" name="TextBox 53"/>
              <p:cNvSpPr txBox="1"/>
              <p:nvPr/>
            </p:nvSpPr>
            <p:spPr>
              <a:xfrm>
                <a:off x="6510338" y="3736181"/>
                <a:ext cx="4031075" cy="228600"/>
              </a:xfrm>
              <a:prstGeom prst="rect">
                <a:avLst/>
              </a:prstGeom>
              <a:noFill/>
              <a:ln>
                <a:noFill/>
              </a:ln>
            </p:spPr>
            <p:txBody>
              <a:bodyPr wrap="none" lIns="0" tIns="0" rIns="0" bIns="0" anchor="t" anchorCtr="0">
                <a:spAutoFit/>
              </a:bodyPr>
              <a:lstStyle/>
              <a:p>
                <a:pPr algn="l"/>
                <a:r>
                  <a:rPr lang="zh-CN" sz="1125" b="1" i="1" dirty="0">
                    <a:solidFill>
                      <a:srgbClr val="1C2E24"/>
                    </a:solidFill>
                    <a:latin typeface="Plus Jakarta Sans"/>
                    <a:ea typeface="Microsoft YaHei"/>
                    <a:cs typeface="Plus Jakarta Sans"/>
                  </a:rPr>
                  <a:t>“我的泥土已经变得干巴巴的，感觉叶子有些重了...</a:t>
                </a:r>
              </a:p>
            </p:txBody>
          </p:sp>
          <p:sp>
            <p:nvSpPr>
              <p:cNvPr id="54" name="TextBox 54"/>
              <p:cNvSpPr txBox="1"/>
              <p:nvPr/>
            </p:nvSpPr>
            <p:spPr>
              <a:xfrm>
                <a:off x="6510338" y="3974306"/>
                <a:ext cx="4238101" cy="228600"/>
              </a:xfrm>
              <a:prstGeom prst="rect">
                <a:avLst/>
              </a:prstGeom>
              <a:noFill/>
              <a:ln>
                <a:noFill/>
              </a:ln>
            </p:spPr>
            <p:txBody>
              <a:bodyPr wrap="none" lIns="0" tIns="0" rIns="0" bIns="0" anchor="t" anchorCtr="0">
                <a:spAutoFit/>
              </a:bodyPr>
              <a:lstStyle/>
              <a:p>
                <a:pPr algn="l"/>
                <a:r>
                  <a:rPr lang="zh-CN" sz="1125" b="1" dirty="0">
                    <a:solidFill>
                      <a:srgbClr val="8E5B3C"/>
                    </a:solidFill>
                    <a:latin typeface="Plus Jakarta Sans"/>
                    <a:ea typeface="Microsoft YaHei"/>
                    <a:cs typeface="Plus Jakarta Sans"/>
                  </a:rPr>
                  <a:t>现在可以为我送来一杯水吗？我好想念湿润的感觉呀 ☕”</a:t>
                </a:r>
              </a:p>
            </p:txBody>
          </p:sp>
        </p:grpSp>
        <p:sp>
          <p:nvSpPr>
            <p:cNvPr id="56" name="Freeform 56"/>
            <p:cNvSpPr/>
            <p:nvPr/>
          </p:nvSpPr>
          <p:spPr>
            <a:xfrm>
              <a:off x="6286500" y="4572000"/>
              <a:ext cx="5143500" cy="1095375"/>
            </a:xfrm>
            <a:custGeom>
              <a:avLst/>
              <a:gdLst/>
              <a:ahLst/>
              <a:cxnLst/>
              <a:rect l="l" t="t" r="r" b="b"/>
              <a:pathLst>
                <a:path w="5143500" h="1095375">
                  <a:moveTo>
                    <a:pt x="76200" y="0"/>
                  </a:moveTo>
                  <a:lnTo>
                    <a:pt x="5067300" y="0"/>
                  </a:lnTo>
                  <a:cubicBezTo>
                    <a:pt x="5109384" y="0"/>
                    <a:pt x="5143500" y="34116"/>
                    <a:pt x="5143500" y="76200"/>
                  </a:cubicBezTo>
                  <a:lnTo>
                    <a:pt x="5143500" y="1019175"/>
                  </a:lnTo>
                  <a:cubicBezTo>
                    <a:pt x="5143500" y="1061259"/>
                    <a:pt x="5109384" y="1095375"/>
                    <a:pt x="5067300" y="1095375"/>
                  </a:cubicBezTo>
                  <a:lnTo>
                    <a:pt x="76200" y="1095375"/>
                  </a:lnTo>
                  <a:cubicBezTo>
                    <a:pt x="34116" y="1095375"/>
                    <a:pt x="0" y="1061259"/>
                    <a:pt x="0" y="1019175"/>
                  </a:cubicBezTo>
                  <a:lnTo>
                    <a:pt x="0" y="76200"/>
                  </a:lnTo>
                  <a:cubicBezTo>
                    <a:pt x="0" y="34116"/>
                    <a:pt x="34116" y="0"/>
                    <a:pt x="76200" y="0"/>
                  </a:cubicBezTo>
                  <a:close/>
                </a:path>
              </a:pathLst>
            </a:custGeom>
            <a:solidFill>
              <a:srgbClr val="2B583E">
                <a:alpha val="4000"/>
              </a:srgbClr>
            </a:solidFill>
            <a:ln w="9525">
              <a:solidFill>
                <a:srgbClr val="D1DAD4"/>
              </a:solidFill>
            </a:ln>
          </p:spPr>
        </p:sp>
        <p:sp>
          <p:nvSpPr>
            <p:cNvPr id="57" name="Freeform 57"/>
            <p:cNvSpPr/>
            <p:nvPr/>
          </p:nvSpPr>
          <p:spPr>
            <a:xfrm>
              <a:off x="6492383" y="4815602"/>
              <a:ext cx="350726" cy="314023"/>
            </a:xfrm>
            <a:custGeom>
              <a:avLst/>
              <a:gdLst/>
              <a:ahLst/>
              <a:cxnLst/>
              <a:rect l="l" t="t" r="r" b="b"/>
              <a:pathLst>
                <a:path w="350726" h="314023">
                  <a:moveTo>
                    <a:pt x="77026" y="43894"/>
                  </a:moveTo>
                  <a:cubicBezTo>
                    <a:pt x="138922" y="0"/>
                    <a:pt x="227330" y="3588"/>
                    <a:pt x="284559" y="52388"/>
                  </a:cubicBezTo>
                  <a:cubicBezTo>
                    <a:pt x="342773" y="102060"/>
                    <a:pt x="350726" y="183166"/>
                    <a:pt x="302847" y="241268"/>
                  </a:cubicBezTo>
                  <a:cubicBezTo>
                    <a:pt x="257746" y="295989"/>
                    <a:pt x="176403" y="314023"/>
                    <a:pt x="108680" y="285798"/>
                  </a:cubicBezTo>
                  <a:lnTo>
                    <a:pt x="104981" y="284194"/>
                  </a:lnTo>
                  <a:lnTo>
                    <a:pt x="35544" y="298974"/>
                  </a:lnTo>
                  <a:lnTo>
                    <a:pt x="34909" y="299069"/>
                  </a:lnTo>
                  <a:lnTo>
                    <a:pt x="34354" y="299180"/>
                  </a:lnTo>
                  <a:lnTo>
                    <a:pt x="34068" y="299180"/>
                  </a:lnTo>
                  <a:lnTo>
                    <a:pt x="33718" y="299260"/>
                  </a:lnTo>
                  <a:lnTo>
                    <a:pt x="33115" y="299260"/>
                  </a:lnTo>
                  <a:lnTo>
                    <a:pt x="32591" y="299323"/>
                  </a:lnTo>
                  <a:lnTo>
                    <a:pt x="32258" y="299307"/>
                  </a:lnTo>
                  <a:lnTo>
                    <a:pt x="31893" y="299323"/>
                  </a:lnTo>
                  <a:lnTo>
                    <a:pt x="31369" y="299276"/>
                  </a:lnTo>
                  <a:lnTo>
                    <a:pt x="30813" y="299276"/>
                  </a:lnTo>
                  <a:lnTo>
                    <a:pt x="30464" y="299212"/>
                  </a:lnTo>
                  <a:lnTo>
                    <a:pt x="30115" y="299180"/>
                  </a:lnTo>
                  <a:lnTo>
                    <a:pt x="29559" y="299069"/>
                  </a:lnTo>
                  <a:lnTo>
                    <a:pt x="29019" y="298990"/>
                  </a:lnTo>
                  <a:lnTo>
                    <a:pt x="28765" y="298926"/>
                  </a:lnTo>
                  <a:lnTo>
                    <a:pt x="28385" y="298847"/>
                  </a:lnTo>
                  <a:lnTo>
                    <a:pt x="27607" y="298593"/>
                  </a:lnTo>
                  <a:lnTo>
                    <a:pt x="27226" y="298513"/>
                  </a:lnTo>
                  <a:lnTo>
                    <a:pt x="27051" y="298434"/>
                  </a:lnTo>
                  <a:lnTo>
                    <a:pt x="26702" y="298323"/>
                  </a:lnTo>
                  <a:lnTo>
                    <a:pt x="25987" y="298006"/>
                  </a:lnTo>
                  <a:lnTo>
                    <a:pt x="25511" y="297815"/>
                  </a:lnTo>
                  <a:lnTo>
                    <a:pt x="25336" y="297720"/>
                  </a:lnTo>
                  <a:lnTo>
                    <a:pt x="25114" y="297625"/>
                  </a:lnTo>
                  <a:lnTo>
                    <a:pt x="24622" y="297339"/>
                  </a:lnTo>
                  <a:lnTo>
                    <a:pt x="23908" y="296958"/>
                  </a:lnTo>
                  <a:lnTo>
                    <a:pt x="23654" y="296783"/>
                  </a:lnTo>
                  <a:lnTo>
                    <a:pt x="23066" y="296370"/>
                  </a:lnTo>
                  <a:lnTo>
                    <a:pt x="22431" y="295942"/>
                  </a:lnTo>
                  <a:lnTo>
                    <a:pt x="22400" y="295878"/>
                  </a:lnTo>
                  <a:lnTo>
                    <a:pt x="22193" y="295735"/>
                  </a:lnTo>
                  <a:lnTo>
                    <a:pt x="21511" y="295100"/>
                  </a:lnTo>
                  <a:lnTo>
                    <a:pt x="21114" y="294783"/>
                  </a:lnTo>
                  <a:lnTo>
                    <a:pt x="21019" y="294672"/>
                  </a:lnTo>
                  <a:lnTo>
                    <a:pt x="20130" y="293687"/>
                  </a:lnTo>
                  <a:lnTo>
                    <a:pt x="19923" y="293465"/>
                  </a:lnTo>
                  <a:lnTo>
                    <a:pt x="19749" y="293243"/>
                  </a:lnTo>
                  <a:lnTo>
                    <a:pt x="19129" y="292354"/>
                  </a:lnTo>
                  <a:lnTo>
                    <a:pt x="18907" y="292052"/>
                  </a:lnTo>
                  <a:lnTo>
                    <a:pt x="18828" y="291894"/>
                  </a:lnTo>
                  <a:lnTo>
                    <a:pt x="18161" y="290735"/>
                  </a:lnTo>
                  <a:lnTo>
                    <a:pt x="18050" y="290544"/>
                  </a:lnTo>
                  <a:lnTo>
                    <a:pt x="17986" y="290417"/>
                  </a:lnTo>
                  <a:lnTo>
                    <a:pt x="17875" y="290227"/>
                  </a:lnTo>
                  <a:lnTo>
                    <a:pt x="17653" y="289624"/>
                  </a:lnTo>
                  <a:lnTo>
                    <a:pt x="17336" y="288957"/>
                  </a:lnTo>
                  <a:lnTo>
                    <a:pt x="17272" y="288703"/>
                  </a:lnTo>
                  <a:lnTo>
                    <a:pt x="17208" y="288544"/>
                  </a:lnTo>
                  <a:lnTo>
                    <a:pt x="16939" y="287576"/>
                  </a:lnTo>
                  <a:lnTo>
                    <a:pt x="16827" y="287290"/>
                  </a:lnTo>
                  <a:lnTo>
                    <a:pt x="16796" y="287052"/>
                  </a:lnTo>
                  <a:lnTo>
                    <a:pt x="16716" y="286750"/>
                  </a:lnTo>
                  <a:lnTo>
                    <a:pt x="16637" y="286226"/>
                  </a:lnTo>
                  <a:lnTo>
                    <a:pt x="16510" y="285559"/>
                  </a:lnTo>
                  <a:lnTo>
                    <a:pt x="16478" y="285067"/>
                  </a:lnTo>
                  <a:lnTo>
                    <a:pt x="16431" y="284909"/>
                  </a:lnTo>
                  <a:lnTo>
                    <a:pt x="16431" y="284655"/>
                  </a:lnTo>
                  <a:lnTo>
                    <a:pt x="16367" y="283797"/>
                  </a:lnTo>
                  <a:lnTo>
                    <a:pt x="16383" y="283226"/>
                  </a:lnTo>
                  <a:lnTo>
                    <a:pt x="16399" y="282861"/>
                  </a:lnTo>
                  <a:lnTo>
                    <a:pt x="16431" y="282019"/>
                  </a:lnTo>
                  <a:lnTo>
                    <a:pt x="16494" y="281622"/>
                  </a:lnTo>
                  <a:lnTo>
                    <a:pt x="16494" y="281321"/>
                  </a:lnTo>
                  <a:lnTo>
                    <a:pt x="16621" y="280765"/>
                  </a:lnTo>
                  <a:lnTo>
                    <a:pt x="16700" y="280226"/>
                  </a:lnTo>
                  <a:lnTo>
                    <a:pt x="16780" y="279908"/>
                  </a:lnTo>
                  <a:lnTo>
                    <a:pt x="16843" y="279590"/>
                  </a:lnTo>
                  <a:lnTo>
                    <a:pt x="17129" y="278638"/>
                  </a:lnTo>
                  <a:lnTo>
                    <a:pt x="17177" y="278432"/>
                  </a:lnTo>
                  <a:lnTo>
                    <a:pt x="35433" y="223663"/>
                  </a:lnTo>
                  <a:lnTo>
                    <a:pt x="35084" y="223076"/>
                  </a:lnTo>
                  <a:cubicBezTo>
                    <a:pt x="0" y="163592"/>
                    <a:pt x="15891" y="89868"/>
                    <a:pt x="73390" y="46561"/>
                  </a:cubicBezTo>
                  <a:close/>
                </a:path>
              </a:pathLst>
            </a:custGeom>
            <a:solidFill>
              <a:srgbClr val="2B583E"/>
            </a:solidFill>
            <a:ln>
              <a:noFill/>
            </a:ln>
          </p:spPr>
        </p:sp>
        <p:sp>
          <p:nvSpPr>
            <p:cNvPr id="58" name="TextBox 58"/>
            <p:cNvSpPr txBox="1"/>
            <p:nvPr/>
          </p:nvSpPr>
          <p:spPr>
            <a:xfrm>
              <a:off x="6987540" y="4792028"/>
              <a:ext cx="4374213" cy="213360"/>
            </a:xfrm>
            <a:prstGeom prst="rect">
              <a:avLst/>
            </a:prstGeom>
            <a:noFill/>
            <a:ln>
              <a:noFill/>
            </a:ln>
          </p:spPr>
          <p:txBody>
            <a:bodyPr wrap="none" lIns="0" tIns="0" rIns="0" bIns="0" anchor="t" anchorCtr="0">
              <a:spAutoFit/>
            </a:bodyPr>
            <a:lstStyle/>
            <a:p>
              <a:pPr algn="l"/>
              <a:r>
                <a:rPr lang="zh-CN" sz="1050" b="1" dirty="0">
                  <a:solidFill>
                    <a:srgbClr val="1C2E24"/>
                  </a:solidFill>
                  <a:latin typeface="Plus Jakarta Sans"/>
                  <a:ea typeface="Microsoft YaHei"/>
                  <a:cs typeface="Plus Jakarta Sans"/>
                </a:rPr>
                <a:t>通过将物理阈值警报彻底转变为有温度的植物第一人称发言，</a:t>
              </a:r>
            </a:p>
          </p:txBody>
        </p:sp>
        <p:sp>
          <p:nvSpPr>
            <p:cNvPr id="59" name="TextBox 59"/>
            <p:cNvSpPr txBox="1"/>
            <p:nvPr/>
          </p:nvSpPr>
          <p:spPr>
            <a:xfrm>
              <a:off x="6987540" y="5030152"/>
              <a:ext cx="398316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用户对“水分 18%”的</a:t>
              </a:r>
              <a:r>
                <a:rPr lang="zh-CN" sz="1050" b="1" dirty="0">
                  <a:solidFill>
                    <a:srgbClr val="D64535"/>
                  </a:solidFill>
                  <a:latin typeface="Plus Jakarta Sans"/>
                  <a:ea typeface="Microsoft YaHei"/>
                  <a:cs typeface="Plus Jakarta Sans"/>
                </a:rPr>
                <a:t>焦虑感</a:t>
              </a:r>
              <a:r>
                <a:rPr lang="zh-CN" sz="1050" dirty="0">
                  <a:solidFill>
                    <a:srgbClr val="4D5F54"/>
                  </a:solidFill>
                  <a:latin typeface="Plus Jakarta Sans"/>
                  <a:ea typeface="Microsoft YaHei"/>
                  <a:cs typeface="Plus Jakarta Sans"/>
                </a:rPr>
                <a:t>变为了对植物的</a:t>
              </a:r>
              <a:r>
                <a:rPr lang="zh-CN" sz="1050" b="1" dirty="0">
                  <a:solidFill>
                    <a:srgbClr val="2B583E"/>
                  </a:solidFill>
                  <a:latin typeface="Plus Jakarta Sans"/>
                  <a:ea typeface="Microsoft YaHei"/>
                  <a:cs typeface="Plus Jakarta Sans"/>
                </a:rPr>
                <a:t>关怀与牵挂感</a:t>
              </a:r>
              <a:r>
                <a:rPr lang="zh-CN" sz="1050" dirty="0">
                  <a:solidFill>
                    <a:srgbClr val="4D5F54"/>
                  </a:solidFill>
                  <a:latin typeface="Plus Jakarta Sans"/>
                  <a:ea typeface="Microsoft YaHei"/>
                  <a:cs typeface="Plus Jakarta Sans"/>
                </a:rPr>
                <a:t>，</a:t>
              </a:r>
            </a:p>
          </p:txBody>
        </p:sp>
        <p:sp>
          <p:nvSpPr>
            <p:cNvPr id="60" name="TextBox 60"/>
            <p:cNvSpPr txBox="1"/>
            <p:nvPr/>
          </p:nvSpPr>
          <p:spPr>
            <a:xfrm>
              <a:off x="6987540" y="5268278"/>
              <a:ext cx="2602992" cy="213360"/>
            </a:xfrm>
            <a:prstGeom prst="rect">
              <a:avLst/>
            </a:prstGeom>
            <a:noFill/>
            <a:ln>
              <a:noFill/>
            </a:ln>
          </p:spPr>
          <p:txBody>
            <a:bodyPr wrap="none" lIns="0" tIns="0" rIns="0" bIns="0" anchor="t" anchorCtr="0">
              <a:spAutoFit/>
            </a:bodyPr>
            <a:lstStyle/>
            <a:p>
              <a:pPr algn="l"/>
              <a:r>
                <a:rPr lang="zh-CN" sz="1050" b="1" dirty="0">
                  <a:solidFill>
                    <a:srgbClr val="2B583E"/>
                  </a:solidFill>
                  <a:latin typeface="Plus Jakarta Sans"/>
                  <a:ea typeface="Microsoft YaHei"/>
                  <a:cs typeface="Plus Jakarta Sans"/>
                </a:rPr>
                <a:t>这是我们人文科技融合的核心表现。</a:t>
              </a:r>
            </a:p>
          </p:txBody>
        </p:sp>
      </p:grpSp>
      <p:grpSp>
        <p:nvGrpSpPr>
          <p:cNvPr id="64" name="Group 64"/>
          <p:cNvGrpSpPr/>
          <p:nvPr/>
        </p:nvGrpSpPr>
        <p:grpSpPr>
          <a:xfrm>
            <a:off x="561975" y="6443662"/>
            <a:ext cx="10877550" cy="152400"/>
            <a:chOff x="561975" y="6443662"/>
            <a:chExt cx="10877550" cy="152400"/>
          </a:xfrm>
        </p:grpSpPr>
        <p:sp>
          <p:nvSpPr>
            <p:cNvPr id="62" name="TextBox 6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3" name="TextBox 63"/>
            <p:cNvSpPr txBox="1"/>
            <p:nvPr/>
          </p:nvSpPr>
          <p:spPr>
            <a:xfrm>
              <a:off x="11299984" y="6443662"/>
              <a:ext cx="139541"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09</a:t>
              </a:r>
            </a:p>
          </p:txBody>
        </p:sp>
      </p:gr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终端体验层</a:t>
              </a:r>
            </a:p>
          </p:txBody>
        </p:sp>
        <p:sp>
          <p:nvSpPr>
            <p:cNvPr id="5" name="TextBox 5"/>
            <p:cNvSpPr txBox="1"/>
            <p:nvPr/>
          </p:nvSpPr>
          <p:spPr>
            <a:xfrm>
              <a:off x="1836420" y="312420"/>
              <a:ext cx="7808328"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桌面客户端：轻量 Tauri v2 与 Dashboard 设计</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8" name="Group 28"/>
          <p:cNvGrpSpPr/>
          <p:nvPr/>
        </p:nvGrpSpPr>
        <p:grpSpPr>
          <a:xfrm>
            <a:off x="571500" y="1143000"/>
            <a:ext cx="6173509" cy="4381500"/>
            <a:chOff x="571500" y="1143000"/>
            <a:chExt cx="6173509" cy="4381500"/>
          </a:xfrm>
        </p:grpSpPr>
        <p:sp>
          <p:nvSpPr>
            <p:cNvPr id="8" name="Freeform 8"/>
            <p:cNvSpPr/>
            <p:nvPr/>
          </p:nvSpPr>
          <p:spPr>
            <a:xfrm>
              <a:off x="571500" y="1143000"/>
              <a:ext cx="5334000" cy="4381500"/>
            </a:xfrm>
            <a:custGeom>
              <a:avLst/>
              <a:gdLst/>
              <a:ahLst/>
              <a:cxnLst/>
              <a:rect l="l" t="t" r="r" b="b"/>
              <a:pathLst>
                <a:path w="5334000" h="4381500">
                  <a:moveTo>
                    <a:pt x="114300" y="0"/>
                  </a:moveTo>
                  <a:lnTo>
                    <a:pt x="5219700" y="0"/>
                  </a:lnTo>
                  <a:cubicBezTo>
                    <a:pt x="5282826" y="0"/>
                    <a:pt x="5334000" y="51174"/>
                    <a:pt x="5334000" y="114300"/>
                  </a:cubicBezTo>
                  <a:lnTo>
                    <a:pt x="5334000" y="4267200"/>
                  </a:lnTo>
                  <a:cubicBezTo>
                    <a:pt x="5334000" y="4330326"/>
                    <a:pt x="5282826" y="4381500"/>
                    <a:pt x="52197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9" name="Freeform 9"/>
            <p:cNvSpPr/>
            <p:nvPr/>
          </p:nvSpPr>
          <p:spPr>
            <a:xfrm>
              <a:off x="571500" y="1143000"/>
              <a:ext cx="5334000" cy="142875"/>
            </a:xfrm>
            <a:custGeom>
              <a:avLst/>
              <a:gdLst/>
              <a:ahLst/>
              <a:cxnLst/>
              <a:rect l="l" t="t" r="r" b="b"/>
              <a:pathLst>
                <a:path w="5334000" h="142875">
                  <a:moveTo>
                    <a:pt x="0" y="114300"/>
                  </a:moveTo>
                  <a:cubicBezTo>
                    <a:pt x="0" y="51174"/>
                    <a:pt x="51174" y="0"/>
                    <a:pt x="114300" y="0"/>
                  </a:cubicBezTo>
                  <a:lnTo>
                    <a:pt x="5219700" y="0"/>
                  </a:lnTo>
                  <a:cubicBezTo>
                    <a:pt x="5282826" y="0"/>
                    <a:pt x="5334000" y="51174"/>
                    <a:pt x="5334000" y="114300"/>
                  </a:cubicBezTo>
                  <a:lnTo>
                    <a:pt x="5334000" y="142875"/>
                  </a:lnTo>
                  <a:lnTo>
                    <a:pt x="0" y="142875"/>
                  </a:lnTo>
                  <a:close/>
                </a:path>
              </a:pathLst>
            </a:custGeom>
            <a:solidFill>
              <a:srgbClr val="2B583E"/>
            </a:solidFill>
            <a:ln>
              <a:noFill/>
            </a:ln>
          </p:spPr>
        </p:sp>
        <p:sp>
          <p:nvSpPr>
            <p:cNvPr id="10" name="Freeform 10"/>
            <p:cNvSpPr/>
            <p:nvPr/>
          </p:nvSpPr>
          <p:spPr>
            <a:xfrm>
              <a:off x="857250" y="1476375"/>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2B583E">
                <a:alpha val="8000"/>
              </a:srgbClr>
            </a:solidFill>
            <a:ln>
              <a:noFill/>
            </a:ln>
          </p:spPr>
        </p:sp>
        <p:sp>
          <p:nvSpPr>
            <p:cNvPr id="11" name="TextBox 11"/>
            <p:cNvSpPr txBox="1"/>
            <p:nvPr/>
          </p:nvSpPr>
          <p:spPr>
            <a:xfrm>
              <a:off x="1362075" y="1562100"/>
              <a:ext cx="2844451" cy="304800"/>
            </a:xfrm>
            <a:prstGeom prst="rect">
              <a:avLst/>
            </a:prstGeom>
            <a:noFill/>
            <a:ln>
              <a:noFill/>
            </a:ln>
          </p:spPr>
          <p:txBody>
            <a:bodyPr wrap="none" lIns="0" tIns="0" rIns="0" bIns="0" anchor="t" anchorCtr="0">
              <a:spAutoFit/>
            </a:bodyPr>
            <a:lstStyle/>
            <a:p>
              <a:pPr algn="l"/>
              <a:r>
                <a:rPr lang="zh-CN" sz="1500" b="1" dirty="0">
                  <a:solidFill>
                    <a:srgbClr val="1C2E24"/>
                  </a:solidFill>
                  <a:latin typeface="Quicksand"/>
                  <a:ea typeface="Microsoft YaHei"/>
                  <a:cs typeface="Quicksand"/>
                </a:rPr>
                <a:t>Tauri v2 极致轻量桌面骨架</a:t>
              </a:r>
            </a:p>
          </p:txBody>
        </p:sp>
        <p:sp>
          <p:nvSpPr>
            <p:cNvPr id="12" name="TextBox 12"/>
            <p:cNvSpPr txBox="1"/>
            <p:nvPr/>
          </p:nvSpPr>
          <p:spPr>
            <a:xfrm>
              <a:off x="1368742" y="1847374"/>
              <a:ext cx="2075307" cy="198120"/>
            </a:xfrm>
            <a:prstGeom prst="rect">
              <a:avLst/>
            </a:prstGeom>
            <a:noFill/>
            <a:ln>
              <a:noFill/>
            </a:ln>
          </p:spPr>
          <p:txBody>
            <a:bodyPr wrap="none" lIns="0" tIns="0" rIns="0" bIns="0" anchor="t" anchorCtr="0">
              <a:spAutoFit/>
            </a:bodyPr>
            <a:lstStyle/>
            <a:p>
              <a:pPr algn="l"/>
              <a:r>
                <a:rPr lang="zh-CN" sz="975" dirty="0">
                  <a:solidFill>
                    <a:srgbClr val="809085"/>
                  </a:solidFill>
                  <a:latin typeface="Plus Jakarta Sans"/>
                  <a:ea typeface="Microsoft YaHei"/>
                  <a:cs typeface="Plus Jakarta Sans"/>
                </a:rPr>
                <a:t>深度融合 React 18 + Vite 5 + TS</a:t>
              </a:r>
            </a:p>
          </p:txBody>
        </p:sp>
        <p:grpSp>
          <p:nvGrpSpPr>
            <p:cNvPr id="17" name="Group 17"/>
            <p:cNvGrpSpPr/>
            <p:nvPr/>
          </p:nvGrpSpPr>
          <p:grpSpPr>
            <a:xfrm>
              <a:off x="857250" y="2299335"/>
              <a:ext cx="5845040" cy="441484"/>
              <a:chOff x="857250" y="2299335"/>
              <a:chExt cx="5845040" cy="441484"/>
            </a:xfrm>
          </p:grpSpPr>
          <p:sp>
            <p:nvSpPr>
              <p:cNvPr id="13" name="Ellipse 13"/>
              <p:cNvSpPr/>
              <p:nvPr/>
            </p:nvSpPr>
            <p:spPr>
              <a:xfrm>
                <a:off x="857250" y="2333625"/>
                <a:ext cx="285750" cy="285750"/>
              </a:xfrm>
              <a:prstGeom prst="ellipse">
                <a:avLst/>
              </a:prstGeom>
              <a:solidFill>
                <a:srgbClr val="2B583E">
                  <a:alpha val="10000"/>
                </a:srgbClr>
              </a:solidFill>
              <a:ln>
                <a:noFill/>
              </a:ln>
            </p:spPr>
          </p:sp>
          <p:sp>
            <p:nvSpPr>
              <p:cNvPr id="14" name="TextBox 14"/>
              <p:cNvSpPr txBox="1"/>
              <p:nvPr/>
            </p:nvSpPr>
            <p:spPr>
              <a:xfrm>
                <a:off x="942509" y="2410778"/>
                <a:ext cx="115231" cy="213360"/>
              </a:xfrm>
              <a:prstGeom prst="rect">
                <a:avLst/>
              </a:prstGeom>
              <a:noFill/>
              <a:ln>
                <a:noFill/>
              </a:ln>
            </p:spPr>
            <p:txBody>
              <a:bodyPr wrap="none" lIns="0" tIns="0" rIns="0" bIns="0" anchor="t" anchorCtr="0">
                <a:spAutoFit/>
              </a:bodyPr>
              <a:lstStyle/>
              <a:p>
                <a:pPr algn="ctr"/>
                <a:r>
                  <a:rPr lang="zh-CN" sz="1050" b="1" dirty="0">
                    <a:solidFill>
                      <a:srgbClr val="2B583E"/>
                    </a:solidFill>
                    <a:latin typeface="Plus Jakarta Sans"/>
                    <a:ea typeface="Microsoft YaHei"/>
                    <a:cs typeface="Plus Jakarta Sans"/>
                  </a:rPr>
                  <a:t>✔</a:t>
                </a:r>
              </a:p>
            </p:txBody>
          </p:sp>
          <p:sp>
            <p:nvSpPr>
              <p:cNvPr id="15" name="TextBox 15"/>
              <p:cNvSpPr txBox="1"/>
              <p:nvPr/>
            </p:nvSpPr>
            <p:spPr>
              <a:xfrm>
                <a:off x="1270635" y="2299335"/>
                <a:ext cx="2422779"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极小安装包体积与冷启动开销</a:t>
                </a:r>
              </a:p>
            </p:txBody>
          </p:sp>
          <p:sp>
            <p:nvSpPr>
              <p:cNvPr id="16" name="TextBox 16"/>
              <p:cNvSpPr txBox="1"/>
              <p:nvPr/>
            </p:nvSpPr>
            <p:spPr>
              <a:xfrm>
                <a:off x="1273492" y="2542699"/>
                <a:ext cx="5428798"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基于 Tauri v2 渲染引擎，冷启动冷启动内存低至数MB，包体积仅为 Electron 的 5%。</a:t>
                </a:r>
              </a:p>
            </p:txBody>
          </p:sp>
        </p:grpSp>
        <p:grpSp>
          <p:nvGrpSpPr>
            <p:cNvPr id="22" name="Group 22"/>
            <p:cNvGrpSpPr/>
            <p:nvPr/>
          </p:nvGrpSpPr>
          <p:grpSpPr>
            <a:xfrm>
              <a:off x="857250" y="3156585"/>
              <a:ext cx="5759600" cy="441484"/>
              <a:chOff x="857250" y="3156585"/>
              <a:chExt cx="5759600" cy="441484"/>
            </a:xfrm>
          </p:grpSpPr>
          <p:sp>
            <p:nvSpPr>
              <p:cNvPr id="18" name="Ellipse 18"/>
              <p:cNvSpPr/>
              <p:nvPr/>
            </p:nvSpPr>
            <p:spPr>
              <a:xfrm>
                <a:off x="857250" y="3190875"/>
                <a:ext cx="285750" cy="285750"/>
              </a:xfrm>
              <a:prstGeom prst="ellipse">
                <a:avLst/>
              </a:prstGeom>
              <a:solidFill>
                <a:srgbClr val="2B583E">
                  <a:alpha val="10000"/>
                </a:srgbClr>
              </a:solidFill>
              <a:ln>
                <a:noFill/>
              </a:ln>
            </p:spPr>
          </p:sp>
          <p:sp>
            <p:nvSpPr>
              <p:cNvPr id="19" name="TextBox 19"/>
              <p:cNvSpPr txBox="1"/>
              <p:nvPr/>
            </p:nvSpPr>
            <p:spPr>
              <a:xfrm>
                <a:off x="942509" y="3363278"/>
                <a:ext cx="115231" cy="213360"/>
              </a:xfrm>
              <a:prstGeom prst="rect">
                <a:avLst/>
              </a:prstGeom>
              <a:noFill/>
              <a:ln>
                <a:noFill/>
              </a:ln>
            </p:spPr>
            <p:txBody>
              <a:bodyPr wrap="none" lIns="0" tIns="0" rIns="0" bIns="0" anchor="t" anchorCtr="0">
                <a:spAutoFit/>
              </a:bodyPr>
              <a:lstStyle/>
              <a:p>
                <a:pPr algn="ctr"/>
                <a:r>
                  <a:rPr lang="zh-CN" sz="1050" b="1" dirty="0">
                    <a:solidFill>
                      <a:srgbClr val="2B583E"/>
                    </a:solidFill>
                    <a:latin typeface="Plus Jakarta Sans"/>
                    <a:ea typeface="Microsoft YaHei"/>
                    <a:cs typeface="Plus Jakarta Sans"/>
                  </a:rPr>
                  <a:t>✔</a:t>
                </a:r>
              </a:p>
            </p:txBody>
          </p:sp>
          <p:sp>
            <p:nvSpPr>
              <p:cNvPr id="20" name="TextBox 20"/>
              <p:cNvSpPr txBox="1"/>
              <p:nvPr/>
            </p:nvSpPr>
            <p:spPr>
              <a:xfrm>
                <a:off x="1270635" y="3156585"/>
                <a:ext cx="1686687"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多植物路由动态控制</a:t>
                </a:r>
              </a:p>
            </p:txBody>
          </p:sp>
          <p:sp>
            <p:nvSpPr>
              <p:cNvPr id="21" name="TextBox 21"/>
              <p:cNvSpPr txBox="1"/>
              <p:nvPr/>
            </p:nvSpPr>
            <p:spPr>
              <a:xfrm>
                <a:off x="1273492" y="3399949"/>
                <a:ext cx="5343358"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客户端统筹编码</a:t>
                </a:r>
                <a:r>
                  <a:rPr lang="zh-CN" sz="975" dirty="0">
                    <a:solidFill>
                      <a:srgbClr val="8E5B3C"/>
                    </a:solidFill>
                    <a:latin typeface="Consolas"/>
                    <a:ea typeface="Microsoft YaHei"/>
                    <a:cs typeface="Consolas"/>
                  </a:rPr>
                  <a:t>plantId</a:t>
                </a:r>
                <a:r>
                  <a:rPr lang="zh-CN" sz="975" dirty="0">
                    <a:solidFill>
                      <a:srgbClr val="4D5F54"/>
                    </a:solidFill>
                    <a:latin typeface="Plus Jakarta Sans"/>
                    <a:ea typeface="Microsoft YaHei"/>
                    <a:cs typeface="Plus Jakarta Sans"/>
                  </a:rPr>
                  <a:t>，支持在同一个主应用中动态加载并无感切换多盆植物档案。</a:t>
                </a:r>
              </a:p>
            </p:txBody>
          </p:sp>
        </p:grpSp>
        <p:grpSp>
          <p:nvGrpSpPr>
            <p:cNvPr id="27" name="Group 27"/>
            <p:cNvGrpSpPr/>
            <p:nvPr/>
          </p:nvGrpSpPr>
          <p:grpSpPr>
            <a:xfrm>
              <a:off x="857250" y="4013835"/>
              <a:ext cx="5887759" cy="441484"/>
              <a:chOff x="857250" y="4013835"/>
              <a:chExt cx="5887759" cy="441484"/>
            </a:xfrm>
          </p:grpSpPr>
          <p:sp>
            <p:nvSpPr>
              <p:cNvPr id="23" name="Ellipse 23"/>
              <p:cNvSpPr/>
              <p:nvPr/>
            </p:nvSpPr>
            <p:spPr>
              <a:xfrm>
                <a:off x="857250" y="4048125"/>
                <a:ext cx="285750" cy="285750"/>
              </a:xfrm>
              <a:prstGeom prst="ellipse">
                <a:avLst/>
              </a:prstGeom>
              <a:solidFill>
                <a:srgbClr val="2B583E">
                  <a:alpha val="10000"/>
                </a:srgbClr>
              </a:solidFill>
              <a:ln>
                <a:noFill/>
              </a:ln>
            </p:spPr>
          </p:sp>
          <p:sp>
            <p:nvSpPr>
              <p:cNvPr id="24" name="TextBox 24"/>
              <p:cNvSpPr txBox="1"/>
              <p:nvPr/>
            </p:nvSpPr>
            <p:spPr>
              <a:xfrm>
                <a:off x="942509" y="4125278"/>
                <a:ext cx="115231" cy="213360"/>
              </a:xfrm>
              <a:prstGeom prst="rect">
                <a:avLst/>
              </a:prstGeom>
              <a:noFill/>
              <a:ln>
                <a:noFill/>
              </a:ln>
            </p:spPr>
            <p:txBody>
              <a:bodyPr wrap="none" lIns="0" tIns="0" rIns="0" bIns="0" anchor="t" anchorCtr="0">
                <a:spAutoFit/>
              </a:bodyPr>
              <a:lstStyle/>
              <a:p>
                <a:pPr algn="ctr"/>
                <a:r>
                  <a:rPr lang="zh-CN" sz="1050" b="1" dirty="0">
                    <a:solidFill>
                      <a:srgbClr val="2B583E"/>
                    </a:solidFill>
                    <a:latin typeface="Plus Jakarta Sans"/>
                    <a:ea typeface="Microsoft YaHei"/>
                    <a:cs typeface="Plus Jakarta Sans"/>
                  </a:rPr>
                  <a:t>✔</a:t>
                </a:r>
              </a:p>
            </p:txBody>
          </p:sp>
          <p:sp>
            <p:nvSpPr>
              <p:cNvPr id="25" name="TextBox 25"/>
              <p:cNvSpPr txBox="1"/>
              <p:nvPr/>
            </p:nvSpPr>
            <p:spPr>
              <a:xfrm>
                <a:off x="1270635" y="4013835"/>
                <a:ext cx="1861509"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SSE 增量流式实时刷新</a:t>
                </a:r>
              </a:p>
            </p:txBody>
          </p:sp>
          <p:sp>
            <p:nvSpPr>
              <p:cNvPr id="26" name="TextBox 26"/>
              <p:cNvSpPr txBox="1"/>
              <p:nvPr/>
            </p:nvSpPr>
            <p:spPr>
              <a:xfrm>
                <a:off x="1273492" y="4257199"/>
                <a:ext cx="5471517"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根部静默订阅 SSE 通道，任意设备上传读数都会动态同步至全部前端组件，无感刷新。</a:t>
                </a:r>
              </a:p>
            </p:txBody>
          </p:sp>
        </p:grpSp>
      </p:grpSp>
      <p:grpSp>
        <p:nvGrpSpPr>
          <p:cNvPr id="59" name="Group 59"/>
          <p:cNvGrpSpPr/>
          <p:nvPr/>
        </p:nvGrpSpPr>
        <p:grpSpPr>
          <a:xfrm>
            <a:off x="6286500" y="1143000"/>
            <a:ext cx="7035022" cy="4381500"/>
            <a:chOff x="6286500" y="1143000"/>
            <a:chExt cx="7035022" cy="4381500"/>
          </a:xfrm>
        </p:grpSpPr>
        <p:sp>
          <p:nvSpPr>
            <p:cNvPr id="29" name="Freeform 29"/>
            <p:cNvSpPr/>
            <p:nvPr/>
          </p:nvSpPr>
          <p:spPr>
            <a:xfrm>
              <a:off x="6286500" y="1143000"/>
              <a:ext cx="5334000" cy="4381500"/>
            </a:xfrm>
            <a:custGeom>
              <a:avLst/>
              <a:gdLst/>
              <a:ahLst/>
              <a:cxnLst/>
              <a:rect l="l" t="t" r="r" b="b"/>
              <a:pathLst>
                <a:path w="5334000" h="4381500">
                  <a:moveTo>
                    <a:pt x="114300" y="0"/>
                  </a:moveTo>
                  <a:lnTo>
                    <a:pt x="5219700" y="0"/>
                  </a:lnTo>
                  <a:cubicBezTo>
                    <a:pt x="5282826" y="0"/>
                    <a:pt x="5334000" y="51174"/>
                    <a:pt x="5334000" y="114300"/>
                  </a:cubicBezTo>
                  <a:lnTo>
                    <a:pt x="5334000" y="4267200"/>
                  </a:lnTo>
                  <a:cubicBezTo>
                    <a:pt x="5334000" y="4330326"/>
                    <a:pt x="5282826" y="4381500"/>
                    <a:pt x="52197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30" name="Freeform 30"/>
            <p:cNvSpPr/>
            <p:nvPr/>
          </p:nvSpPr>
          <p:spPr>
            <a:xfrm>
              <a:off x="6286500" y="1143000"/>
              <a:ext cx="5334000" cy="142875"/>
            </a:xfrm>
            <a:custGeom>
              <a:avLst/>
              <a:gdLst/>
              <a:ahLst/>
              <a:cxnLst/>
              <a:rect l="l" t="t" r="r" b="b"/>
              <a:pathLst>
                <a:path w="5334000" h="142875">
                  <a:moveTo>
                    <a:pt x="0" y="114300"/>
                  </a:moveTo>
                  <a:cubicBezTo>
                    <a:pt x="0" y="51174"/>
                    <a:pt x="51174" y="0"/>
                    <a:pt x="114300" y="0"/>
                  </a:cubicBezTo>
                  <a:lnTo>
                    <a:pt x="5219700" y="0"/>
                  </a:lnTo>
                  <a:cubicBezTo>
                    <a:pt x="5282826" y="0"/>
                    <a:pt x="5334000" y="51174"/>
                    <a:pt x="5334000" y="114300"/>
                  </a:cubicBezTo>
                  <a:lnTo>
                    <a:pt x="5334000" y="142875"/>
                  </a:lnTo>
                  <a:lnTo>
                    <a:pt x="0" y="142875"/>
                  </a:lnTo>
                  <a:close/>
                </a:path>
              </a:pathLst>
            </a:custGeom>
            <a:solidFill>
              <a:srgbClr val="8E5B3C"/>
            </a:solidFill>
            <a:ln>
              <a:noFill/>
            </a:ln>
          </p:spPr>
        </p:sp>
        <p:sp>
          <p:nvSpPr>
            <p:cNvPr id="31" name="Freeform 31"/>
            <p:cNvSpPr/>
            <p:nvPr/>
          </p:nvSpPr>
          <p:spPr>
            <a:xfrm>
              <a:off x="6572250" y="1476375"/>
              <a:ext cx="381000" cy="381000"/>
            </a:xfrm>
            <a:custGeom>
              <a:avLst/>
              <a:gdLst/>
              <a:ahLst/>
              <a:cxnLst/>
              <a:rect l="l" t="t" r="r" b="b"/>
              <a:pathLst>
                <a:path w="381000" h="381000">
                  <a:moveTo>
                    <a:pt x="190500" y="0"/>
                  </a:moveTo>
                  <a:lnTo>
                    <a:pt x="190500" y="0"/>
                  </a:lnTo>
                  <a:cubicBezTo>
                    <a:pt x="295710" y="0"/>
                    <a:pt x="381000" y="85290"/>
                    <a:pt x="381000" y="190500"/>
                  </a:cubicBezTo>
                  <a:lnTo>
                    <a:pt x="381000" y="190500"/>
                  </a:lnTo>
                  <a:cubicBezTo>
                    <a:pt x="381000" y="295710"/>
                    <a:pt x="295710" y="381000"/>
                    <a:pt x="190500" y="381000"/>
                  </a:cubicBezTo>
                  <a:lnTo>
                    <a:pt x="190500" y="381000"/>
                  </a:lnTo>
                  <a:cubicBezTo>
                    <a:pt x="85290" y="381000"/>
                    <a:pt x="0" y="295710"/>
                    <a:pt x="0" y="190500"/>
                  </a:cubicBezTo>
                  <a:lnTo>
                    <a:pt x="0" y="190500"/>
                  </a:lnTo>
                  <a:cubicBezTo>
                    <a:pt x="0" y="85290"/>
                    <a:pt x="85290" y="0"/>
                    <a:pt x="190500" y="0"/>
                  </a:cubicBezTo>
                  <a:close/>
                </a:path>
              </a:pathLst>
            </a:custGeom>
            <a:solidFill>
              <a:srgbClr val="8E5B3C">
                <a:alpha val="8000"/>
              </a:srgbClr>
            </a:solidFill>
            <a:ln>
              <a:noFill/>
            </a:ln>
          </p:spPr>
        </p:sp>
        <p:grpSp>
          <p:nvGrpSpPr>
            <p:cNvPr id="41" name="Group 41"/>
            <p:cNvGrpSpPr/>
            <p:nvPr/>
          </p:nvGrpSpPr>
          <p:grpSpPr>
            <a:xfrm>
              <a:off x="6667232" y="1571625"/>
              <a:ext cx="191037" cy="190768"/>
              <a:chOff x="6667232" y="1571625"/>
              <a:chExt cx="191037" cy="190768"/>
            </a:xfrm>
          </p:grpSpPr>
          <p:sp>
            <p:nvSpPr>
              <p:cNvPr id="32" name="Freeform 32"/>
              <p:cNvSpPr/>
              <p:nvPr/>
            </p:nvSpPr>
            <p:spPr>
              <a:xfrm>
                <a:off x="6753225" y="1733550"/>
                <a:ext cx="19050" cy="28843"/>
              </a:xfrm>
              <a:custGeom>
                <a:avLst/>
                <a:gdLst/>
                <a:ahLst/>
                <a:cxnLst/>
                <a:rect l="l" t="t" r="r" b="b"/>
                <a:pathLst>
                  <a:path w="19050" h="28843">
                    <a:moveTo>
                      <a:pt x="9525" y="0"/>
                    </a:moveTo>
                    <a:cubicBezTo>
                      <a:pt x="14354" y="1"/>
                      <a:pt x="18418" y="3615"/>
                      <a:pt x="18983" y="8411"/>
                    </a:cubicBezTo>
                    <a:lnTo>
                      <a:pt x="19050" y="9525"/>
                    </a:lnTo>
                    <a:lnTo>
                      <a:pt x="19050" y="19050"/>
                    </a:lnTo>
                    <a:cubicBezTo>
                      <a:pt x="19044" y="24090"/>
                      <a:pt x="15114" y="28253"/>
                      <a:pt x="10083" y="28548"/>
                    </a:cubicBezTo>
                    <a:cubicBezTo>
                      <a:pt x="5052" y="28843"/>
                      <a:pt x="662" y="25169"/>
                      <a:pt x="67" y="20164"/>
                    </a:cubicBezTo>
                    <a:lnTo>
                      <a:pt x="0" y="19050"/>
                    </a:lnTo>
                    <a:lnTo>
                      <a:pt x="0" y="9525"/>
                    </a:lnTo>
                    <a:cubicBezTo>
                      <a:pt x="0" y="4264"/>
                      <a:pt x="4264" y="0"/>
                      <a:pt x="9525" y="0"/>
                    </a:cubicBezTo>
                    <a:close/>
                  </a:path>
                </a:pathLst>
              </a:custGeom>
              <a:solidFill>
                <a:srgbClr val="8E5B3C"/>
              </a:solidFill>
              <a:ln>
                <a:noFill/>
              </a:ln>
            </p:spPr>
          </p:sp>
          <p:sp>
            <p:nvSpPr>
              <p:cNvPr id="33" name="Freeform 33"/>
              <p:cNvSpPr/>
              <p:nvPr/>
            </p:nvSpPr>
            <p:spPr>
              <a:xfrm>
                <a:off x="6806568" y="1710518"/>
                <a:ext cx="27595" cy="27914"/>
              </a:xfrm>
              <a:custGeom>
                <a:avLst/>
                <a:gdLst/>
                <a:ahLst/>
                <a:cxnLst/>
                <a:rect l="l" t="t" r="r" b="b"/>
                <a:pathLst>
                  <a:path w="27595" h="27914">
                    <a:moveTo>
                      <a:pt x="16313" y="3125"/>
                    </a:moveTo>
                    <a:lnTo>
                      <a:pt x="17209" y="3915"/>
                    </a:lnTo>
                    <a:lnTo>
                      <a:pt x="23876" y="10583"/>
                    </a:lnTo>
                    <a:cubicBezTo>
                      <a:pt x="27421" y="14140"/>
                      <a:pt x="27595" y="19839"/>
                      <a:pt x="24274" y="23606"/>
                    </a:cubicBezTo>
                    <a:cubicBezTo>
                      <a:pt x="20952" y="27373"/>
                      <a:pt x="15276" y="27914"/>
                      <a:pt x="11303" y="24842"/>
                    </a:cubicBezTo>
                    <a:lnTo>
                      <a:pt x="10408" y="24051"/>
                    </a:lnTo>
                    <a:lnTo>
                      <a:pt x="3740" y="17384"/>
                    </a:lnTo>
                    <a:cubicBezTo>
                      <a:pt x="339" y="13989"/>
                      <a:pt x="0" y="8592"/>
                      <a:pt x="2949" y="4797"/>
                    </a:cubicBezTo>
                    <a:cubicBezTo>
                      <a:pt x="5899" y="1003"/>
                      <a:pt x="11212" y="0"/>
                      <a:pt x="15342" y="2458"/>
                    </a:cubicBezTo>
                    <a:lnTo>
                      <a:pt x="16313" y="3125"/>
                    </a:lnTo>
                    <a:close/>
                  </a:path>
                </a:pathLst>
              </a:custGeom>
              <a:solidFill>
                <a:srgbClr val="8E5B3C"/>
              </a:solidFill>
              <a:ln>
                <a:noFill/>
              </a:ln>
            </p:spPr>
          </p:sp>
          <p:sp>
            <p:nvSpPr>
              <p:cNvPr id="34" name="Freeform 34"/>
              <p:cNvSpPr/>
              <p:nvPr/>
            </p:nvSpPr>
            <p:spPr>
              <a:xfrm>
                <a:off x="6691193" y="1710715"/>
                <a:ext cx="27730" cy="27574"/>
              </a:xfrm>
              <a:custGeom>
                <a:avLst/>
                <a:gdLst/>
                <a:ahLst/>
                <a:cxnLst/>
                <a:rect l="l" t="t" r="r" b="b"/>
                <a:pathLst>
                  <a:path w="27730" h="27574">
                    <a:moveTo>
                      <a:pt x="23999" y="3718"/>
                    </a:moveTo>
                    <a:cubicBezTo>
                      <a:pt x="27392" y="7112"/>
                      <a:pt x="27730" y="12500"/>
                      <a:pt x="24789" y="16291"/>
                    </a:cubicBezTo>
                    <a:lnTo>
                      <a:pt x="23999" y="17187"/>
                    </a:lnTo>
                    <a:lnTo>
                      <a:pt x="17331" y="23854"/>
                    </a:lnTo>
                    <a:cubicBezTo>
                      <a:pt x="13774" y="27400"/>
                      <a:pt x="8075" y="27574"/>
                      <a:pt x="4308" y="24252"/>
                    </a:cubicBezTo>
                    <a:cubicBezTo>
                      <a:pt x="541" y="20930"/>
                      <a:pt x="0" y="15254"/>
                      <a:pt x="3072" y="11281"/>
                    </a:cubicBezTo>
                    <a:lnTo>
                      <a:pt x="3863" y="10386"/>
                    </a:lnTo>
                    <a:lnTo>
                      <a:pt x="10530" y="3718"/>
                    </a:lnTo>
                    <a:cubicBezTo>
                      <a:pt x="14250" y="0"/>
                      <a:pt x="20279" y="0"/>
                      <a:pt x="23999" y="3718"/>
                    </a:cubicBezTo>
                    <a:close/>
                  </a:path>
                </a:pathLst>
              </a:custGeom>
              <a:solidFill>
                <a:srgbClr val="8E5B3C"/>
              </a:solidFill>
              <a:ln>
                <a:noFill/>
              </a:ln>
            </p:spPr>
          </p:sp>
          <p:sp>
            <p:nvSpPr>
              <p:cNvPr id="35" name="Freeform 35"/>
              <p:cNvSpPr/>
              <p:nvPr/>
            </p:nvSpPr>
            <p:spPr>
              <a:xfrm>
                <a:off x="6667232" y="1657350"/>
                <a:ext cx="29112" cy="19050"/>
              </a:xfrm>
              <a:custGeom>
                <a:avLst/>
                <a:gdLst/>
                <a:ahLst/>
                <a:cxnLst/>
                <a:rect l="l" t="t" r="r" b="b"/>
                <a:pathLst>
                  <a:path w="29112" h="19050">
                    <a:moveTo>
                      <a:pt x="19318" y="0"/>
                    </a:moveTo>
                    <a:cubicBezTo>
                      <a:pt x="24358" y="6"/>
                      <a:pt x="28521" y="3936"/>
                      <a:pt x="28816" y="8967"/>
                    </a:cubicBezTo>
                    <a:cubicBezTo>
                      <a:pt x="29112" y="13998"/>
                      <a:pt x="25437" y="18388"/>
                      <a:pt x="20433" y="18983"/>
                    </a:cubicBezTo>
                    <a:lnTo>
                      <a:pt x="19318" y="19050"/>
                    </a:lnTo>
                    <a:lnTo>
                      <a:pt x="9793" y="19050"/>
                    </a:lnTo>
                    <a:cubicBezTo>
                      <a:pt x="4754" y="19044"/>
                      <a:pt x="591" y="15114"/>
                      <a:pt x="295" y="10083"/>
                    </a:cubicBezTo>
                    <a:cubicBezTo>
                      <a:pt x="0" y="5052"/>
                      <a:pt x="3675" y="662"/>
                      <a:pt x="8679" y="67"/>
                    </a:cubicBezTo>
                    <a:lnTo>
                      <a:pt x="9793" y="0"/>
                    </a:lnTo>
                    <a:lnTo>
                      <a:pt x="19318" y="0"/>
                    </a:lnTo>
                    <a:close/>
                  </a:path>
                </a:pathLst>
              </a:custGeom>
              <a:solidFill>
                <a:srgbClr val="8E5B3C"/>
              </a:solidFill>
              <a:ln>
                <a:noFill/>
              </a:ln>
            </p:spPr>
          </p:sp>
          <p:sp>
            <p:nvSpPr>
              <p:cNvPr id="36" name="Freeform 36"/>
              <p:cNvSpPr/>
              <p:nvPr/>
            </p:nvSpPr>
            <p:spPr>
              <a:xfrm>
                <a:off x="6829157" y="1657350"/>
                <a:ext cx="29112" cy="19050"/>
              </a:xfrm>
              <a:custGeom>
                <a:avLst/>
                <a:gdLst/>
                <a:ahLst/>
                <a:cxnLst/>
                <a:rect l="l" t="t" r="r" b="b"/>
                <a:pathLst>
                  <a:path w="29112" h="19050">
                    <a:moveTo>
                      <a:pt x="19318" y="0"/>
                    </a:moveTo>
                    <a:cubicBezTo>
                      <a:pt x="24358" y="6"/>
                      <a:pt x="28521" y="3936"/>
                      <a:pt x="28816" y="8967"/>
                    </a:cubicBezTo>
                    <a:cubicBezTo>
                      <a:pt x="29112" y="13998"/>
                      <a:pt x="25437" y="18388"/>
                      <a:pt x="20433" y="18983"/>
                    </a:cubicBezTo>
                    <a:lnTo>
                      <a:pt x="19318" y="19050"/>
                    </a:lnTo>
                    <a:lnTo>
                      <a:pt x="9793" y="19050"/>
                    </a:lnTo>
                    <a:cubicBezTo>
                      <a:pt x="4754" y="19044"/>
                      <a:pt x="591" y="15114"/>
                      <a:pt x="295" y="10083"/>
                    </a:cubicBezTo>
                    <a:cubicBezTo>
                      <a:pt x="0" y="5052"/>
                      <a:pt x="3675" y="662"/>
                      <a:pt x="8679" y="67"/>
                    </a:cubicBezTo>
                    <a:lnTo>
                      <a:pt x="9793" y="0"/>
                    </a:lnTo>
                    <a:lnTo>
                      <a:pt x="19318" y="0"/>
                    </a:lnTo>
                    <a:close/>
                  </a:path>
                </a:pathLst>
              </a:custGeom>
              <a:solidFill>
                <a:srgbClr val="8E5B3C"/>
              </a:solidFill>
              <a:ln>
                <a:noFill/>
              </a:ln>
            </p:spPr>
          </p:sp>
          <p:sp>
            <p:nvSpPr>
              <p:cNvPr id="37" name="Freeform 37"/>
              <p:cNvSpPr/>
              <p:nvPr/>
            </p:nvSpPr>
            <p:spPr>
              <a:xfrm>
                <a:off x="6691334" y="1595282"/>
                <a:ext cx="27577" cy="27898"/>
              </a:xfrm>
              <a:custGeom>
                <a:avLst/>
                <a:gdLst/>
                <a:ahLst/>
                <a:cxnLst/>
                <a:rect l="l" t="t" r="r" b="b"/>
                <a:pathLst>
                  <a:path w="27577" h="27898">
                    <a:moveTo>
                      <a:pt x="16295" y="3109"/>
                    </a:moveTo>
                    <a:lnTo>
                      <a:pt x="17190" y="3899"/>
                    </a:lnTo>
                    <a:lnTo>
                      <a:pt x="23858" y="10567"/>
                    </a:lnTo>
                    <a:cubicBezTo>
                      <a:pt x="27403" y="14124"/>
                      <a:pt x="27577" y="19823"/>
                      <a:pt x="24255" y="23590"/>
                    </a:cubicBezTo>
                    <a:cubicBezTo>
                      <a:pt x="20934" y="27357"/>
                      <a:pt x="15258" y="27898"/>
                      <a:pt x="11285" y="24826"/>
                    </a:cubicBezTo>
                    <a:lnTo>
                      <a:pt x="10389" y="24035"/>
                    </a:lnTo>
                    <a:lnTo>
                      <a:pt x="3722" y="17367"/>
                    </a:lnTo>
                    <a:cubicBezTo>
                      <a:pt x="334" y="13972"/>
                      <a:pt x="0" y="8586"/>
                      <a:pt x="2942" y="4798"/>
                    </a:cubicBezTo>
                    <a:cubicBezTo>
                      <a:pt x="5885" y="1009"/>
                      <a:pt x="11185" y="0"/>
                      <a:pt x="15314" y="2442"/>
                    </a:cubicBezTo>
                    <a:lnTo>
                      <a:pt x="16285" y="3109"/>
                    </a:lnTo>
                    <a:close/>
                  </a:path>
                </a:pathLst>
              </a:custGeom>
              <a:solidFill>
                <a:srgbClr val="8E5B3C"/>
              </a:solidFill>
              <a:ln>
                <a:noFill/>
              </a:ln>
            </p:spPr>
          </p:sp>
          <p:sp>
            <p:nvSpPr>
              <p:cNvPr id="38" name="Freeform 38"/>
              <p:cNvSpPr/>
              <p:nvPr/>
            </p:nvSpPr>
            <p:spPr>
              <a:xfrm>
                <a:off x="6806446" y="1595462"/>
                <a:ext cx="27730" cy="27574"/>
              </a:xfrm>
              <a:custGeom>
                <a:avLst/>
                <a:gdLst/>
                <a:ahLst/>
                <a:cxnLst/>
                <a:rect l="l" t="t" r="r" b="b"/>
                <a:pathLst>
                  <a:path w="27730" h="27574">
                    <a:moveTo>
                      <a:pt x="23999" y="3718"/>
                    </a:moveTo>
                    <a:cubicBezTo>
                      <a:pt x="27392" y="7112"/>
                      <a:pt x="27730" y="12500"/>
                      <a:pt x="24789" y="16291"/>
                    </a:cubicBezTo>
                    <a:lnTo>
                      <a:pt x="23999" y="17187"/>
                    </a:lnTo>
                    <a:lnTo>
                      <a:pt x="17331" y="23854"/>
                    </a:lnTo>
                    <a:cubicBezTo>
                      <a:pt x="13774" y="27400"/>
                      <a:pt x="8075" y="27574"/>
                      <a:pt x="4308" y="24252"/>
                    </a:cubicBezTo>
                    <a:cubicBezTo>
                      <a:pt x="541" y="20930"/>
                      <a:pt x="0" y="15254"/>
                      <a:pt x="3072" y="11281"/>
                    </a:cubicBezTo>
                    <a:lnTo>
                      <a:pt x="3863" y="10386"/>
                    </a:lnTo>
                    <a:lnTo>
                      <a:pt x="10530" y="3718"/>
                    </a:lnTo>
                    <a:cubicBezTo>
                      <a:pt x="14250" y="0"/>
                      <a:pt x="20279" y="0"/>
                      <a:pt x="23999" y="3718"/>
                    </a:cubicBezTo>
                    <a:close/>
                  </a:path>
                </a:pathLst>
              </a:custGeom>
              <a:solidFill>
                <a:srgbClr val="8E5B3C"/>
              </a:solidFill>
              <a:ln>
                <a:noFill/>
              </a:ln>
            </p:spPr>
          </p:sp>
          <p:sp>
            <p:nvSpPr>
              <p:cNvPr id="39" name="Freeform 39"/>
              <p:cNvSpPr/>
              <p:nvPr/>
            </p:nvSpPr>
            <p:spPr>
              <a:xfrm>
                <a:off x="6753225" y="1571625"/>
                <a:ext cx="19050" cy="28843"/>
              </a:xfrm>
              <a:custGeom>
                <a:avLst/>
                <a:gdLst/>
                <a:ahLst/>
                <a:cxnLst/>
                <a:rect l="l" t="t" r="r" b="b"/>
                <a:pathLst>
                  <a:path w="19050" h="28843">
                    <a:moveTo>
                      <a:pt x="9525" y="0"/>
                    </a:moveTo>
                    <a:cubicBezTo>
                      <a:pt x="14354" y="1"/>
                      <a:pt x="18418" y="3615"/>
                      <a:pt x="18983" y="8411"/>
                    </a:cubicBezTo>
                    <a:lnTo>
                      <a:pt x="19050" y="9525"/>
                    </a:lnTo>
                    <a:lnTo>
                      <a:pt x="19050" y="19050"/>
                    </a:lnTo>
                    <a:cubicBezTo>
                      <a:pt x="19044" y="24090"/>
                      <a:pt x="15114" y="28253"/>
                      <a:pt x="10083" y="28548"/>
                    </a:cubicBezTo>
                    <a:cubicBezTo>
                      <a:pt x="5052" y="28843"/>
                      <a:pt x="662" y="25169"/>
                      <a:pt x="67" y="20164"/>
                    </a:cubicBezTo>
                    <a:lnTo>
                      <a:pt x="0" y="19050"/>
                    </a:lnTo>
                    <a:lnTo>
                      <a:pt x="0" y="9525"/>
                    </a:lnTo>
                    <a:cubicBezTo>
                      <a:pt x="0" y="4264"/>
                      <a:pt x="4264" y="0"/>
                      <a:pt x="9525" y="0"/>
                    </a:cubicBezTo>
                    <a:close/>
                  </a:path>
                </a:pathLst>
              </a:custGeom>
              <a:solidFill>
                <a:srgbClr val="8E5B3C"/>
              </a:solidFill>
              <a:ln>
                <a:noFill/>
              </a:ln>
            </p:spPr>
          </p:sp>
          <p:sp>
            <p:nvSpPr>
              <p:cNvPr id="40" name="Freeform 40"/>
              <p:cNvSpPr/>
              <p:nvPr/>
            </p:nvSpPr>
            <p:spPr>
              <a:xfrm>
                <a:off x="6715125" y="1619248"/>
                <a:ext cx="95625" cy="95985"/>
              </a:xfrm>
              <a:custGeom>
                <a:avLst/>
                <a:gdLst/>
                <a:ahLst/>
                <a:cxnLst/>
                <a:rect l="l" t="t" r="r" b="b"/>
                <a:pathLst>
                  <a:path w="95625" h="95985">
                    <a:moveTo>
                      <a:pt x="47625" y="2"/>
                    </a:moveTo>
                    <a:cubicBezTo>
                      <a:pt x="73659" y="0"/>
                      <a:pt x="94870" y="20904"/>
                      <a:pt x="95248" y="46936"/>
                    </a:cubicBezTo>
                    <a:cubicBezTo>
                      <a:pt x="95625" y="72967"/>
                      <a:pt x="75030" y="94478"/>
                      <a:pt x="49007" y="95232"/>
                    </a:cubicBezTo>
                    <a:cubicBezTo>
                      <a:pt x="22984" y="95985"/>
                      <a:pt x="1178" y="75703"/>
                      <a:pt x="48" y="49693"/>
                    </a:cubicBezTo>
                    <a:lnTo>
                      <a:pt x="0" y="47627"/>
                    </a:lnTo>
                    <a:lnTo>
                      <a:pt x="48" y="45560"/>
                    </a:lnTo>
                    <a:cubicBezTo>
                      <a:pt x="1154" y="20086"/>
                      <a:pt x="22127" y="3"/>
                      <a:pt x="47625" y="2"/>
                    </a:cubicBezTo>
                    <a:close/>
                  </a:path>
                </a:pathLst>
              </a:custGeom>
              <a:solidFill>
                <a:srgbClr val="8E5B3C"/>
              </a:solidFill>
              <a:ln>
                <a:noFill/>
              </a:ln>
            </p:spPr>
          </p:sp>
        </p:grpSp>
        <p:sp>
          <p:nvSpPr>
            <p:cNvPr id="42" name="TextBox 42"/>
            <p:cNvSpPr txBox="1"/>
            <p:nvPr/>
          </p:nvSpPr>
          <p:spPr>
            <a:xfrm>
              <a:off x="7077075" y="1562100"/>
              <a:ext cx="3154990" cy="304800"/>
            </a:xfrm>
            <a:prstGeom prst="rect">
              <a:avLst/>
            </a:prstGeom>
            <a:noFill/>
            <a:ln>
              <a:noFill/>
            </a:ln>
          </p:spPr>
          <p:txBody>
            <a:bodyPr wrap="none" lIns="0" tIns="0" rIns="0" bIns="0" anchor="t" anchorCtr="0">
              <a:spAutoFit/>
            </a:bodyPr>
            <a:lstStyle/>
            <a:p>
              <a:pPr algn="l"/>
              <a:r>
                <a:rPr lang="zh-CN" sz="1500" b="1" dirty="0">
                  <a:solidFill>
                    <a:srgbClr val="1C2E24"/>
                  </a:solidFill>
                  <a:latin typeface="Quicksand"/>
                  <a:ea typeface="Microsoft YaHei"/>
                  <a:cs typeface="Quicksand"/>
                </a:rPr>
                <a:t>温室主页 Dashboard 交互设计</a:t>
              </a:r>
            </a:p>
          </p:txBody>
        </p:sp>
        <p:sp>
          <p:nvSpPr>
            <p:cNvPr id="43" name="TextBox 43"/>
            <p:cNvSpPr txBox="1"/>
            <p:nvPr/>
          </p:nvSpPr>
          <p:spPr>
            <a:xfrm>
              <a:off x="7083742" y="1847374"/>
              <a:ext cx="2744581" cy="198120"/>
            </a:xfrm>
            <a:prstGeom prst="rect">
              <a:avLst/>
            </a:prstGeom>
            <a:noFill/>
            <a:ln>
              <a:noFill/>
            </a:ln>
          </p:spPr>
          <p:txBody>
            <a:bodyPr wrap="none" lIns="0" tIns="0" rIns="0" bIns="0" anchor="t" anchorCtr="0">
              <a:spAutoFit/>
            </a:bodyPr>
            <a:lstStyle/>
            <a:p>
              <a:pPr algn="l"/>
              <a:r>
                <a:rPr lang="zh-CN" sz="975" dirty="0">
                  <a:solidFill>
                    <a:srgbClr val="809085"/>
                  </a:solidFill>
                  <a:latin typeface="Plus Jakarta Sans"/>
                  <a:ea typeface="Microsoft YaHei"/>
                  <a:cs typeface="Plus Jakarta Sans"/>
                </a:rPr>
                <a:t>Verdan Echo 森林与土壤自然配色体系落地</a:t>
              </a:r>
            </a:p>
          </p:txBody>
        </p:sp>
        <p:grpSp>
          <p:nvGrpSpPr>
            <p:cNvPr id="48" name="Group 48"/>
            <p:cNvGrpSpPr/>
            <p:nvPr/>
          </p:nvGrpSpPr>
          <p:grpSpPr>
            <a:xfrm>
              <a:off x="6572250" y="2299335"/>
              <a:ext cx="6606873" cy="441484"/>
              <a:chOff x="6572250" y="2299335"/>
              <a:chExt cx="6606873" cy="441484"/>
            </a:xfrm>
          </p:grpSpPr>
          <p:sp>
            <p:nvSpPr>
              <p:cNvPr id="44" name="Ellipse 44"/>
              <p:cNvSpPr/>
              <p:nvPr/>
            </p:nvSpPr>
            <p:spPr>
              <a:xfrm>
                <a:off x="6572250" y="2333625"/>
                <a:ext cx="285750" cy="285750"/>
              </a:xfrm>
              <a:prstGeom prst="ellipse">
                <a:avLst/>
              </a:prstGeom>
              <a:solidFill>
                <a:srgbClr val="8E5B3C">
                  <a:alpha val="10000"/>
                </a:srgbClr>
              </a:solidFill>
              <a:ln>
                <a:noFill/>
              </a:ln>
            </p:spPr>
          </p:sp>
          <p:sp>
            <p:nvSpPr>
              <p:cNvPr id="45" name="TextBox 45"/>
              <p:cNvSpPr txBox="1"/>
              <p:nvPr/>
            </p:nvSpPr>
            <p:spPr>
              <a:xfrm>
                <a:off x="6657509" y="2410778"/>
                <a:ext cx="115231" cy="213360"/>
              </a:xfrm>
              <a:prstGeom prst="rect">
                <a:avLst/>
              </a:prstGeom>
              <a:noFill/>
              <a:ln>
                <a:noFill/>
              </a:ln>
            </p:spPr>
            <p:txBody>
              <a:bodyPr wrap="none" lIns="0" tIns="0" rIns="0" bIns="0" anchor="t" anchorCtr="0">
                <a:spAutoFit/>
              </a:bodyPr>
              <a:lstStyle/>
              <a:p>
                <a:pPr algn="ctr"/>
                <a:r>
                  <a:rPr lang="zh-CN" sz="1050" b="1" dirty="0">
                    <a:solidFill>
                      <a:srgbClr val="8E5B3C"/>
                    </a:solidFill>
                    <a:latin typeface="Plus Jakarta Sans"/>
                    <a:ea typeface="Microsoft YaHei"/>
                    <a:cs typeface="Plus Jakarta Sans"/>
                  </a:rPr>
                  <a:t>✔</a:t>
                </a:r>
              </a:p>
            </p:txBody>
          </p:sp>
          <p:sp>
            <p:nvSpPr>
              <p:cNvPr id="46" name="TextBox 46"/>
              <p:cNvSpPr txBox="1"/>
              <p:nvPr/>
            </p:nvSpPr>
            <p:spPr>
              <a:xfrm>
                <a:off x="6985635" y="2299335"/>
                <a:ext cx="2238756"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时段问候语与动态天气组件</a:t>
                </a:r>
              </a:p>
            </p:txBody>
          </p:sp>
          <p:sp>
            <p:nvSpPr>
              <p:cNvPr id="47" name="TextBox 47"/>
              <p:cNvSpPr txBox="1"/>
              <p:nvPr/>
            </p:nvSpPr>
            <p:spPr>
              <a:xfrm>
                <a:off x="6988492" y="2542699"/>
                <a:ext cx="6190631"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进入温室时根据时辰温馨显示“早安/午安/晚上好”，让用户每次登录都有“被植物注视”的陪伴感。</a:t>
                </a:r>
              </a:p>
            </p:txBody>
          </p:sp>
        </p:grpSp>
        <p:grpSp>
          <p:nvGrpSpPr>
            <p:cNvPr id="53" name="Group 53"/>
            <p:cNvGrpSpPr/>
            <p:nvPr/>
          </p:nvGrpSpPr>
          <p:grpSpPr>
            <a:xfrm>
              <a:off x="6572250" y="3156585"/>
              <a:ext cx="6749272" cy="441484"/>
              <a:chOff x="6572250" y="3156585"/>
              <a:chExt cx="6749272" cy="441484"/>
            </a:xfrm>
          </p:grpSpPr>
          <p:sp>
            <p:nvSpPr>
              <p:cNvPr id="49" name="Ellipse 49"/>
              <p:cNvSpPr/>
              <p:nvPr/>
            </p:nvSpPr>
            <p:spPr>
              <a:xfrm>
                <a:off x="6572250" y="3190875"/>
                <a:ext cx="285750" cy="285750"/>
              </a:xfrm>
              <a:prstGeom prst="ellipse">
                <a:avLst/>
              </a:prstGeom>
              <a:solidFill>
                <a:srgbClr val="8E5B3C">
                  <a:alpha val="10000"/>
                </a:srgbClr>
              </a:solidFill>
              <a:ln>
                <a:noFill/>
              </a:ln>
            </p:spPr>
          </p:sp>
          <p:sp>
            <p:nvSpPr>
              <p:cNvPr id="50" name="TextBox 50"/>
              <p:cNvSpPr txBox="1"/>
              <p:nvPr/>
            </p:nvSpPr>
            <p:spPr>
              <a:xfrm>
                <a:off x="6657509" y="3363278"/>
                <a:ext cx="115231" cy="213360"/>
              </a:xfrm>
              <a:prstGeom prst="rect">
                <a:avLst/>
              </a:prstGeom>
              <a:noFill/>
              <a:ln>
                <a:noFill/>
              </a:ln>
            </p:spPr>
            <p:txBody>
              <a:bodyPr wrap="none" lIns="0" tIns="0" rIns="0" bIns="0" anchor="t" anchorCtr="0">
                <a:spAutoFit/>
              </a:bodyPr>
              <a:lstStyle/>
              <a:p>
                <a:pPr algn="ctr"/>
                <a:r>
                  <a:rPr lang="zh-CN" sz="1050" b="1" dirty="0">
                    <a:solidFill>
                      <a:srgbClr val="8E5B3C"/>
                    </a:solidFill>
                    <a:latin typeface="Plus Jakarta Sans"/>
                    <a:ea typeface="Microsoft YaHei"/>
                    <a:cs typeface="Plus Jakarta Sans"/>
                  </a:rPr>
                  <a:t>✔</a:t>
                </a:r>
              </a:p>
            </p:txBody>
          </p:sp>
          <p:sp>
            <p:nvSpPr>
              <p:cNvPr id="51" name="TextBox 51"/>
              <p:cNvSpPr txBox="1"/>
              <p:nvPr/>
            </p:nvSpPr>
            <p:spPr>
              <a:xfrm>
                <a:off x="6985635" y="3156585"/>
                <a:ext cx="2082336"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一键浇水功能与 5 秒撤销</a:t>
                </a:r>
              </a:p>
            </p:txBody>
          </p:sp>
          <p:sp>
            <p:nvSpPr>
              <p:cNvPr id="52" name="TextBox 52"/>
              <p:cNvSpPr txBox="1"/>
              <p:nvPr/>
            </p:nvSpPr>
            <p:spPr>
              <a:xfrm>
                <a:off x="6988492" y="3399949"/>
                <a:ext cx="6333030"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执行浇水后，右下角触发精致 Toast，允许用户在 5 秒内“一键撤销”，彻底消除误操作造成的烦恼。</a:t>
                </a:r>
              </a:p>
            </p:txBody>
          </p:sp>
        </p:grpSp>
        <p:grpSp>
          <p:nvGrpSpPr>
            <p:cNvPr id="58" name="Group 58"/>
            <p:cNvGrpSpPr/>
            <p:nvPr/>
          </p:nvGrpSpPr>
          <p:grpSpPr>
            <a:xfrm>
              <a:off x="6572250" y="4013835"/>
              <a:ext cx="6215276" cy="441484"/>
              <a:chOff x="6572250" y="4013835"/>
              <a:chExt cx="6215276" cy="441484"/>
            </a:xfrm>
          </p:grpSpPr>
          <p:sp>
            <p:nvSpPr>
              <p:cNvPr id="54" name="Ellipse 54"/>
              <p:cNvSpPr/>
              <p:nvPr/>
            </p:nvSpPr>
            <p:spPr>
              <a:xfrm>
                <a:off x="6572250" y="4048125"/>
                <a:ext cx="285750" cy="285750"/>
              </a:xfrm>
              <a:prstGeom prst="ellipse">
                <a:avLst/>
              </a:prstGeom>
              <a:solidFill>
                <a:srgbClr val="8E5B3C">
                  <a:alpha val="10000"/>
                </a:srgbClr>
              </a:solidFill>
              <a:ln>
                <a:noFill/>
              </a:ln>
            </p:spPr>
          </p:sp>
          <p:sp>
            <p:nvSpPr>
              <p:cNvPr id="55" name="TextBox 55"/>
              <p:cNvSpPr txBox="1"/>
              <p:nvPr/>
            </p:nvSpPr>
            <p:spPr>
              <a:xfrm>
                <a:off x="6657509" y="4125278"/>
                <a:ext cx="115231" cy="213360"/>
              </a:xfrm>
              <a:prstGeom prst="rect">
                <a:avLst/>
              </a:prstGeom>
              <a:noFill/>
              <a:ln>
                <a:noFill/>
              </a:ln>
            </p:spPr>
            <p:txBody>
              <a:bodyPr wrap="none" lIns="0" tIns="0" rIns="0" bIns="0" anchor="t" anchorCtr="0">
                <a:spAutoFit/>
              </a:bodyPr>
              <a:lstStyle/>
              <a:p>
                <a:pPr algn="ctr"/>
                <a:r>
                  <a:rPr lang="zh-CN" sz="1050" b="1" dirty="0">
                    <a:solidFill>
                      <a:srgbClr val="8E5B3C"/>
                    </a:solidFill>
                    <a:latin typeface="Plus Jakarta Sans"/>
                    <a:ea typeface="Microsoft YaHei"/>
                    <a:cs typeface="Plus Jakarta Sans"/>
                  </a:rPr>
                  <a:t>✔</a:t>
                </a:r>
              </a:p>
            </p:txBody>
          </p:sp>
          <p:sp>
            <p:nvSpPr>
              <p:cNvPr id="56" name="TextBox 56"/>
              <p:cNvSpPr txBox="1"/>
              <p:nvPr/>
            </p:nvSpPr>
            <p:spPr>
              <a:xfrm>
                <a:off x="6985635" y="4013835"/>
                <a:ext cx="2303164"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多植物卡片 Bento 栅格矩阵</a:t>
                </a:r>
              </a:p>
            </p:txBody>
          </p:sp>
          <p:sp>
            <p:nvSpPr>
              <p:cNvPr id="57" name="TextBox 57"/>
              <p:cNvSpPr txBox="1"/>
              <p:nvPr/>
            </p:nvSpPr>
            <p:spPr>
              <a:xfrm>
                <a:off x="6988492" y="4257199"/>
                <a:ext cx="5799034" cy="198120"/>
              </a:xfrm>
              <a:prstGeom prst="rect">
                <a:avLst/>
              </a:prstGeom>
              <a:noFill/>
              <a:ln>
                <a:noFill/>
              </a:ln>
            </p:spPr>
            <p:txBody>
              <a:bodyPr wrap="none" lIns="0" tIns="0" rIns="0" bIns="0" anchor="t" anchorCtr="0">
                <a:spAutoFit/>
              </a:bodyPr>
              <a:lstStyle/>
              <a:p>
                <a:pPr algn="l"/>
                <a:r>
                  <a:rPr lang="zh-CN" sz="975" dirty="0">
                    <a:solidFill>
                      <a:srgbClr val="4D5F54"/>
                    </a:solidFill>
                    <a:latin typeface="Plus Jakarta Sans"/>
                    <a:ea typeface="Microsoft YaHei"/>
                    <a:cs typeface="Plus Jakarta Sans"/>
                  </a:rPr>
                  <a:t>每盆植物被独立置于一个精致卡片中，头像、状态 Chip 标签、当天一句话概括，主次分明。</a:t>
                </a:r>
              </a:p>
            </p:txBody>
          </p:sp>
        </p:grpSp>
      </p:grpSp>
      <p:grpSp>
        <p:nvGrpSpPr>
          <p:cNvPr id="62" name="Group 62"/>
          <p:cNvGrpSpPr/>
          <p:nvPr/>
        </p:nvGrpSpPr>
        <p:grpSpPr>
          <a:xfrm>
            <a:off x="561975" y="6443662"/>
            <a:ext cx="10877550" cy="152400"/>
            <a:chOff x="561975" y="6443662"/>
            <a:chExt cx="10877550" cy="152400"/>
          </a:xfrm>
        </p:grpSpPr>
        <p:sp>
          <p:nvSpPr>
            <p:cNvPr id="60" name="TextBox 60"/>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1" name="TextBox 61"/>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10</a:t>
              </a:r>
            </a:p>
          </p:txBody>
        </p:sp>
      </p:gr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终端体验层</a:t>
              </a:r>
            </a:p>
          </p:txBody>
        </p:sp>
        <p:sp>
          <p:nvSpPr>
            <p:cNvPr id="5" name="TextBox 5"/>
            <p:cNvSpPr txBox="1"/>
            <p:nvPr/>
          </p:nvSpPr>
          <p:spPr>
            <a:xfrm>
              <a:off x="1836420" y="312420"/>
              <a:ext cx="4477512"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植响对话与里程碑成长日记</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7" name="Group 27"/>
          <p:cNvGrpSpPr/>
          <p:nvPr/>
        </p:nvGrpSpPr>
        <p:grpSpPr>
          <a:xfrm>
            <a:off x="550545" y="1203008"/>
            <a:ext cx="2973705" cy="4554854"/>
            <a:chOff x="550545" y="1203008"/>
            <a:chExt cx="2973705" cy="4554854"/>
          </a:xfrm>
        </p:grpSpPr>
        <p:sp>
          <p:nvSpPr>
            <p:cNvPr id="8" name="TextBox 8"/>
            <p:cNvSpPr txBox="1"/>
            <p:nvPr/>
          </p:nvSpPr>
          <p:spPr>
            <a:xfrm>
              <a:off x="550545" y="1203008"/>
              <a:ext cx="1813131" cy="335280"/>
            </a:xfrm>
            <a:prstGeom prst="rect">
              <a:avLst/>
            </a:prstGeom>
            <a:noFill/>
            <a:ln>
              <a:noFill/>
            </a:ln>
          </p:spPr>
          <p:txBody>
            <a:bodyPr wrap="none" lIns="0" tIns="0" rIns="0" bIns="0" anchor="t" anchorCtr="0">
              <a:spAutoFit/>
            </a:bodyPr>
            <a:lstStyle/>
            <a:p>
              <a:pPr algn="l"/>
              <a:r>
                <a:rPr lang="zh-CN" sz="1650" b="1" dirty="0">
                  <a:solidFill>
                    <a:srgbClr val="2B583E"/>
                  </a:solidFill>
                  <a:latin typeface="Quicksand"/>
                  <a:ea typeface="Microsoft YaHei"/>
                  <a:cs typeface="Quicksand"/>
                </a:rPr>
                <a:t>看见，与被看见</a:t>
              </a:r>
            </a:p>
          </p:txBody>
        </p:sp>
        <p:sp>
          <p:nvSpPr>
            <p:cNvPr id="9" name="TextBox 9"/>
            <p:cNvSpPr txBox="1"/>
            <p:nvPr/>
          </p:nvSpPr>
          <p:spPr>
            <a:xfrm>
              <a:off x="557212" y="164068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项目构建了人与植物的</a:t>
              </a:r>
            </a:p>
          </p:txBody>
        </p:sp>
        <p:sp>
          <p:nvSpPr>
            <p:cNvPr id="10" name="TextBox 10"/>
            <p:cNvSpPr txBox="1"/>
            <p:nvPr/>
          </p:nvSpPr>
          <p:spPr>
            <a:xfrm>
              <a:off x="557212" y="188833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双向情感闭环，聊天室</a:t>
              </a:r>
            </a:p>
          </p:txBody>
        </p:sp>
        <p:sp>
          <p:nvSpPr>
            <p:cNvPr id="11" name="TextBox 11"/>
            <p:cNvSpPr txBox="1"/>
            <p:nvPr/>
          </p:nvSpPr>
          <p:spPr>
            <a:xfrm>
              <a:off x="557212" y="213598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与成长日记里程碑不再</a:t>
              </a:r>
            </a:p>
          </p:txBody>
        </p:sp>
        <p:sp>
          <p:nvSpPr>
            <p:cNvPr id="12" name="TextBox 12"/>
            <p:cNvSpPr txBox="1"/>
            <p:nvPr/>
          </p:nvSpPr>
          <p:spPr>
            <a:xfrm>
              <a:off x="557212" y="238363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只是数据看板，而是爱</a:t>
              </a:r>
            </a:p>
          </p:txBody>
        </p:sp>
        <p:sp>
          <p:nvSpPr>
            <p:cNvPr id="13" name="TextBox 13"/>
            <p:cNvSpPr txBox="1"/>
            <p:nvPr/>
          </p:nvSpPr>
          <p:spPr>
            <a:xfrm>
              <a:off x="557212" y="2631281"/>
              <a:ext cx="1343025"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与记忆的见证地。</a:t>
              </a:r>
            </a:p>
          </p:txBody>
        </p:sp>
        <p:sp>
          <p:nvSpPr>
            <p:cNvPr id="14" name="Freeform 14"/>
            <p:cNvSpPr/>
            <p:nvPr/>
          </p:nvSpPr>
          <p:spPr>
            <a:xfrm>
              <a:off x="571500" y="3333750"/>
              <a:ext cx="2952750" cy="2238375"/>
            </a:xfrm>
            <a:custGeom>
              <a:avLst/>
              <a:gdLst/>
              <a:ahLst/>
              <a:cxnLst/>
              <a:rect l="l" t="t" r="r" b="b"/>
              <a:pathLst>
                <a:path w="2952750" h="2238375">
                  <a:moveTo>
                    <a:pt x="76200" y="0"/>
                  </a:moveTo>
                  <a:lnTo>
                    <a:pt x="2876550" y="0"/>
                  </a:lnTo>
                  <a:cubicBezTo>
                    <a:pt x="2918634" y="0"/>
                    <a:pt x="2952750" y="34116"/>
                    <a:pt x="2952750" y="76200"/>
                  </a:cubicBezTo>
                  <a:lnTo>
                    <a:pt x="2952750" y="2162175"/>
                  </a:lnTo>
                  <a:cubicBezTo>
                    <a:pt x="2952750" y="2204259"/>
                    <a:pt x="2918634" y="2238375"/>
                    <a:pt x="2876550" y="2238375"/>
                  </a:cubicBezTo>
                  <a:lnTo>
                    <a:pt x="76200" y="2238375"/>
                  </a:lnTo>
                  <a:cubicBezTo>
                    <a:pt x="34116" y="2238375"/>
                    <a:pt x="0" y="2204259"/>
                    <a:pt x="0" y="2162175"/>
                  </a:cubicBezTo>
                  <a:lnTo>
                    <a:pt x="0" y="76200"/>
                  </a:lnTo>
                  <a:cubicBezTo>
                    <a:pt x="0" y="34116"/>
                    <a:pt x="34116" y="0"/>
                    <a:pt x="76200" y="0"/>
                  </a:cubicBezTo>
                  <a:close/>
                </a:path>
              </a:pathLst>
            </a:custGeom>
            <a:solidFill>
              <a:srgbClr val="FFFFFF"/>
            </a:solidFill>
            <a:ln w="9525">
              <a:solidFill>
                <a:srgbClr val="D1DAD4"/>
              </a:solidFill>
            </a:ln>
          </p:spPr>
        </p:sp>
        <p:sp>
          <p:nvSpPr>
            <p:cNvPr id="15" name="Freeform 15"/>
            <p:cNvSpPr/>
            <p:nvPr/>
          </p:nvSpPr>
          <p:spPr>
            <a:xfrm>
              <a:off x="762000" y="3571875"/>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8E5B3C">
                <a:alpha val="8000"/>
              </a:srgbClr>
            </a:solidFill>
            <a:ln>
              <a:noFill/>
            </a:ln>
          </p:spPr>
        </p:sp>
        <p:sp>
          <p:nvSpPr>
            <p:cNvPr id="16" name="Freeform 16"/>
            <p:cNvSpPr/>
            <p:nvPr/>
          </p:nvSpPr>
          <p:spPr>
            <a:xfrm>
              <a:off x="845891" y="3665101"/>
              <a:ext cx="175363" cy="157012"/>
            </a:xfrm>
            <a:custGeom>
              <a:avLst/>
              <a:gdLst/>
              <a:ahLst/>
              <a:cxnLst/>
              <a:rect l="l" t="t" r="r" b="b"/>
              <a:pathLst>
                <a:path w="175363" h="157012">
                  <a:moveTo>
                    <a:pt x="38513" y="21947"/>
                  </a:moveTo>
                  <a:cubicBezTo>
                    <a:pt x="69461" y="0"/>
                    <a:pt x="113665" y="1794"/>
                    <a:pt x="142280" y="26194"/>
                  </a:cubicBezTo>
                  <a:cubicBezTo>
                    <a:pt x="171386" y="51030"/>
                    <a:pt x="175363" y="91583"/>
                    <a:pt x="151424" y="120634"/>
                  </a:cubicBezTo>
                  <a:cubicBezTo>
                    <a:pt x="128873" y="147995"/>
                    <a:pt x="88201" y="157012"/>
                    <a:pt x="54340" y="142899"/>
                  </a:cubicBezTo>
                  <a:lnTo>
                    <a:pt x="52491" y="142097"/>
                  </a:lnTo>
                  <a:lnTo>
                    <a:pt x="17772" y="149487"/>
                  </a:lnTo>
                  <a:lnTo>
                    <a:pt x="17455" y="149535"/>
                  </a:lnTo>
                  <a:lnTo>
                    <a:pt x="17177" y="149590"/>
                  </a:lnTo>
                  <a:lnTo>
                    <a:pt x="17034" y="149590"/>
                  </a:lnTo>
                  <a:lnTo>
                    <a:pt x="16859" y="149630"/>
                  </a:lnTo>
                  <a:lnTo>
                    <a:pt x="16558" y="149630"/>
                  </a:lnTo>
                  <a:lnTo>
                    <a:pt x="16296" y="149662"/>
                  </a:lnTo>
                  <a:lnTo>
                    <a:pt x="16129" y="149654"/>
                  </a:lnTo>
                  <a:lnTo>
                    <a:pt x="15946" y="149662"/>
                  </a:lnTo>
                  <a:lnTo>
                    <a:pt x="15684" y="149638"/>
                  </a:lnTo>
                  <a:lnTo>
                    <a:pt x="15407" y="149638"/>
                  </a:lnTo>
                  <a:lnTo>
                    <a:pt x="15232" y="149606"/>
                  </a:lnTo>
                  <a:lnTo>
                    <a:pt x="15057" y="149590"/>
                  </a:lnTo>
                  <a:lnTo>
                    <a:pt x="14780" y="149535"/>
                  </a:lnTo>
                  <a:lnTo>
                    <a:pt x="14510" y="149495"/>
                  </a:lnTo>
                  <a:lnTo>
                    <a:pt x="14383" y="149463"/>
                  </a:lnTo>
                  <a:lnTo>
                    <a:pt x="14192" y="149423"/>
                  </a:lnTo>
                  <a:lnTo>
                    <a:pt x="13803" y="149296"/>
                  </a:lnTo>
                  <a:lnTo>
                    <a:pt x="13613" y="149257"/>
                  </a:lnTo>
                  <a:lnTo>
                    <a:pt x="13526" y="149217"/>
                  </a:lnTo>
                  <a:lnTo>
                    <a:pt x="13351" y="149161"/>
                  </a:lnTo>
                  <a:lnTo>
                    <a:pt x="12994" y="149003"/>
                  </a:lnTo>
                  <a:lnTo>
                    <a:pt x="12756" y="148907"/>
                  </a:lnTo>
                  <a:lnTo>
                    <a:pt x="12668" y="148860"/>
                  </a:lnTo>
                  <a:lnTo>
                    <a:pt x="12557" y="148812"/>
                  </a:lnTo>
                  <a:lnTo>
                    <a:pt x="12311" y="148669"/>
                  </a:lnTo>
                  <a:lnTo>
                    <a:pt x="11954" y="148479"/>
                  </a:lnTo>
                  <a:lnTo>
                    <a:pt x="11827" y="148392"/>
                  </a:lnTo>
                  <a:lnTo>
                    <a:pt x="11533" y="148185"/>
                  </a:lnTo>
                  <a:lnTo>
                    <a:pt x="11216" y="147971"/>
                  </a:lnTo>
                  <a:lnTo>
                    <a:pt x="11200" y="147939"/>
                  </a:lnTo>
                  <a:lnTo>
                    <a:pt x="11097" y="147868"/>
                  </a:lnTo>
                  <a:lnTo>
                    <a:pt x="10755" y="147550"/>
                  </a:lnTo>
                  <a:lnTo>
                    <a:pt x="10557" y="147391"/>
                  </a:lnTo>
                  <a:lnTo>
                    <a:pt x="10509" y="147336"/>
                  </a:lnTo>
                  <a:lnTo>
                    <a:pt x="10065" y="146844"/>
                  </a:lnTo>
                  <a:lnTo>
                    <a:pt x="9962" y="146733"/>
                  </a:lnTo>
                  <a:lnTo>
                    <a:pt x="9874" y="146621"/>
                  </a:lnTo>
                  <a:lnTo>
                    <a:pt x="9565" y="146177"/>
                  </a:lnTo>
                  <a:lnTo>
                    <a:pt x="9454" y="146026"/>
                  </a:lnTo>
                  <a:lnTo>
                    <a:pt x="9414" y="145947"/>
                  </a:lnTo>
                  <a:lnTo>
                    <a:pt x="9080" y="145367"/>
                  </a:lnTo>
                  <a:lnTo>
                    <a:pt x="9025" y="145272"/>
                  </a:lnTo>
                  <a:lnTo>
                    <a:pt x="8993" y="145209"/>
                  </a:lnTo>
                  <a:lnTo>
                    <a:pt x="8938" y="145113"/>
                  </a:lnTo>
                  <a:lnTo>
                    <a:pt x="8826" y="144812"/>
                  </a:lnTo>
                  <a:lnTo>
                    <a:pt x="8668" y="144478"/>
                  </a:lnTo>
                  <a:lnTo>
                    <a:pt x="8636" y="144351"/>
                  </a:lnTo>
                  <a:lnTo>
                    <a:pt x="8604" y="144272"/>
                  </a:lnTo>
                  <a:lnTo>
                    <a:pt x="8469" y="143788"/>
                  </a:lnTo>
                  <a:lnTo>
                    <a:pt x="8414" y="143645"/>
                  </a:lnTo>
                  <a:lnTo>
                    <a:pt x="8398" y="143526"/>
                  </a:lnTo>
                  <a:lnTo>
                    <a:pt x="8358" y="143375"/>
                  </a:lnTo>
                  <a:lnTo>
                    <a:pt x="8319" y="143113"/>
                  </a:lnTo>
                  <a:lnTo>
                    <a:pt x="8255" y="142780"/>
                  </a:lnTo>
                  <a:lnTo>
                    <a:pt x="8239" y="142534"/>
                  </a:lnTo>
                  <a:lnTo>
                    <a:pt x="8215" y="142454"/>
                  </a:lnTo>
                  <a:lnTo>
                    <a:pt x="8215" y="142327"/>
                  </a:lnTo>
                  <a:lnTo>
                    <a:pt x="8184" y="141899"/>
                  </a:lnTo>
                  <a:lnTo>
                    <a:pt x="8191" y="141613"/>
                  </a:lnTo>
                  <a:lnTo>
                    <a:pt x="8199" y="141430"/>
                  </a:lnTo>
                  <a:lnTo>
                    <a:pt x="8215" y="141010"/>
                  </a:lnTo>
                  <a:lnTo>
                    <a:pt x="8247" y="140811"/>
                  </a:lnTo>
                  <a:lnTo>
                    <a:pt x="8247" y="140660"/>
                  </a:lnTo>
                  <a:lnTo>
                    <a:pt x="8311" y="140383"/>
                  </a:lnTo>
                  <a:lnTo>
                    <a:pt x="8350" y="140113"/>
                  </a:lnTo>
                  <a:lnTo>
                    <a:pt x="8390" y="139954"/>
                  </a:lnTo>
                  <a:lnTo>
                    <a:pt x="8422" y="139795"/>
                  </a:lnTo>
                  <a:lnTo>
                    <a:pt x="8565" y="139319"/>
                  </a:lnTo>
                  <a:lnTo>
                    <a:pt x="8588" y="139216"/>
                  </a:lnTo>
                  <a:lnTo>
                    <a:pt x="17716" y="111831"/>
                  </a:lnTo>
                  <a:lnTo>
                    <a:pt x="17542" y="111538"/>
                  </a:lnTo>
                  <a:cubicBezTo>
                    <a:pt x="0" y="81796"/>
                    <a:pt x="7945" y="44934"/>
                    <a:pt x="36695" y="23281"/>
                  </a:cubicBezTo>
                  <a:close/>
                </a:path>
              </a:pathLst>
            </a:custGeom>
            <a:solidFill>
              <a:srgbClr val="8E5B3C"/>
            </a:solidFill>
            <a:ln>
              <a:noFill/>
            </a:ln>
          </p:spPr>
        </p:sp>
        <p:sp>
          <p:nvSpPr>
            <p:cNvPr id="17" name="TextBox 17"/>
            <p:cNvSpPr txBox="1"/>
            <p:nvPr/>
          </p:nvSpPr>
          <p:spPr>
            <a:xfrm>
              <a:off x="1203960" y="3661410"/>
              <a:ext cx="1134618"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对话流式回复</a:t>
              </a:r>
            </a:p>
          </p:txBody>
        </p:sp>
        <p:sp>
          <p:nvSpPr>
            <p:cNvPr id="18" name="TextBox 18"/>
            <p:cNvSpPr txBox="1"/>
            <p:nvPr/>
          </p:nvSpPr>
          <p:spPr>
            <a:xfrm>
              <a:off x="748665" y="4030028"/>
              <a:ext cx="2211943"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基于 Server-Sent Events 流式</a:t>
              </a:r>
            </a:p>
          </p:txBody>
        </p:sp>
        <p:sp>
          <p:nvSpPr>
            <p:cNvPr id="19" name="TextBox 19"/>
            <p:cNvSpPr txBox="1"/>
            <p:nvPr/>
          </p:nvSpPr>
          <p:spPr>
            <a:xfrm>
              <a:off x="748665" y="4239578"/>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展现大模型回复字句，并自动</a:t>
              </a:r>
            </a:p>
          </p:txBody>
        </p:sp>
        <p:sp>
          <p:nvSpPr>
            <p:cNvPr id="20" name="TextBox 20"/>
            <p:cNvSpPr txBox="1"/>
            <p:nvPr/>
          </p:nvSpPr>
          <p:spPr>
            <a:xfrm>
              <a:off x="748665" y="4449128"/>
              <a:ext cx="248031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嵌入快捷动作，交互如流水般自然。</a:t>
              </a:r>
            </a:p>
          </p:txBody>
        </p:sp>
        <p:sp>
          <p:nvSpPr>
            <p:cNvPr id="21" name="Freeform 21"/>
            <p:cNvSpPr/>
            <p:nvPr/>
          </p:nvSpPr>
          <p:spPr>
            <a:xfrm>
              <a:off x="762000" y="4667250"/>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2B583E">
                <a:alpha val="8000"/>
              </a:srgbClr>
            </a:solidFill>
            <a:ln>
              <a:noFill/>
            </a:ln>
          </p:spPr>
        </p:sp>
        <p:sp>
          <p:nvSpPr>
            <p:cNvPr id="22" name="Freeform 22"/>
            <p:cNvSpPr/>
            <p:nvPr/>
          </p:nvSpPr>
          <p:spPr>
            <a:xfrm>
              <a:off x="854075" y="4759325"/>
              <a:ext cx="158750" cy="158750"/>
            </a:xfrm>
            <a:custGeom>
              <a:avLst/>
              <a:gdLst/>
              <a:ahLst/>
              <a:cxnLst/>
              <a:rect l="l" t="t" r="r" b="b"/>
              <a:pathLst>
                <a:path w="158750" h="158750">
                  <a:moveTo>
                    <a:pt x="54078" y="76295"/>
                  </a:moveTo>
                  <a:cubicBezTo>
                    <a:pt x="57706" y="73279"/>
                    <a:pt x="61365" y="73279"/>
                    <a:pt x="65080" y="76383"/>
                  </a:cubicBezTo>
                  <a:lnTo>
                    <a:pt x="65937" y="77160"/>
                  </a:lnTo>
                  <a:lnTo>
                    <a:pt x="105513" y="116737"/>
                  </a:lnTo>
                  <a:lnTo>
                    <a:pt x="106259" y="117396"/>
                  </a:lnTo>
                  <a:cubicBezTo>
                    <a:pt x="109419" y="119845"/>
                    <a:pt x="113908" y="119562"/>
                    <a:pt x="116735" y="116735"/>
                  </a:cubicBezTo>
                  <a:cubicBezTo>
                    <a:pt x="119562" y="113908"/>
                    <a:pt x="119845" y="109419"/>
                    <a:pt x="117396" y="106259"/>
                  </a:cubicBezTo>
                  <a:lnTo>
                    <a:pt x="116737" y="105513"/>
                  </a:lnTo>
                  <a:lnTo>
                    <a:pt x="106482" y="95250"/>
                  </a:lnTo>
                  <a:lnTo>
                    <a:pt x="108799" y="92924"/>
                  </a:lnTo>
                  <a:lnTo>
                    <a:pt x="109641" y="92170"/>
                  </a:lnTo>
                  <a:cubicBezTo>
                    <a:pt x="113268" y="89154"/>
                    <a:pt x="116927" y="89154"/>
                    <a:pt x="120642" y="92258"/>
                  </a:cubicBezTo>
                  <a:lnTo>
                    <a:pt x="121499" y="93035"/>
                  </a:lnTo>
                  <a:lnTo>
                    <a:pt x="158599" y="130143"/>
                  </a:lnTo>
                  <a:cubicBezTo>
                    <a:pt x="157046" y="145763"/>
                    <a:pt x="144312" y="157904"/>
                    <a:pt x="128635" y="158710"/>
                  </a:cubicBezTo>
                  <a:lnTo>
                    <a:pt x="127000" y="158750"/>
                  </a:lnTo>
                  <a:lnTo>
                    <a:pt x="31750" y="158750"/>
                  </a:lnTo>
                  <a:cubicBezTo>
                    <a:pt x="15436" y="158749"/>
                    <a:pt x="1778" y="146385"/>
                    <a:pt x="159" y="130151"/>
                  </a:cubicBezTo>
                  <a:lnTo>
                    <a:pt x="53237" y="77049"/>
                  </a:lnTo>
                  <a:lnTo>
                    <a:pt x="54078" y="76295"/>
                  </a:lnTo>
                  <a:close/>
                  <a:moveTo>
                    <a:pt x="127000" y="0"/>
                  </a:moveTo>
                  <a:cubicBezTo>
                    <a:pt x="143918" y="0"/>
                    <a:pt x="157864" y="13266"/>
                    <a:pt x="158710" y="30163"/>
                  </a:cubicBezTo>
                  <a:lnTo>
                    <a:pt x="158750" y="31750"/>
                  </a:lnTo>
                  <a:lnTo>
                    <a:pt x="158750" y="107831"/>
                  </a:lnTo>
                  <a:lnTo>
                    <a:pt x="132612" y="81701"/>
                  </a:lnTo>
                  <a:lnTo>
                    <a:pt x="131421" y="80613"/>
                  </a:lnTo>
                  <a:cubicBezTo>
                    <a:pt x="121452" y="71922"/>
                    <a:pt x="108799" y="71906"/>
                    <a:pt x="98909" y="80478"/>
                  </a:cubicBezTo>
                  <a:lnTo>
                    <a:pt x="97687" y="81590"/>
                  </a:lnTo>
                  <a:lnTo>
                    <a:pt x="95250" y="84018"/>
                  </a:lnTo>
                  <a:lnTo>
                    <a:pt x="77049" y="65826"/>
                  </a:lnTo>
                  <a:lnTo>
                    <a:pt x="75859" y="64738"/>
                  </a:lnTo>
                  <a:cubicBezTo>
                    <a:pt x="65889" y="56047"/>
                    <a:pt x="53237" y="56031"/>
                    <a:pt x="43347" y="64603"/>
                  </a:cubicBezTo>
                  <a:lnTo>
                    <a:pt x="42124" y="65715"/>
                  </a:lnTo>
                  <a:lnTo>
                    <a:pt x="0" y="107831"/>
                  </a:lnTo>
                  <a:lnTo>
                    <a:pt x="0" y="31750"/>
                  </a:lnTo>
                  <a:cubicBezTo>
                    <a:pt x="0" y="14832"/>
                    <a:pt x="13266" y="886"/>
                    <a:pt x="30163" y="40"/>
                  </a:cubicBezTo>
                  <a:lnTo>
                    <a:pt x="31750" y="0"/>
                  </a:lnTo>
                  <a:lnTo>
                    <a:pt x="127000" y="0"/>
                  </a:lnTo>
                  <a:close/>
                  <a:moveTo>
                    <a:pt x="103267" y="39688"/>
                  </a:moveTo>
                  <a:lnTo>
                    <a:pt x="102259" y="39743"/>
                  </a:lnTo>
                  <a:cubicBezTo>
                    <a:pt x="98266" y="40218"/>
                    <a:pt x="95259" y="43604"/>
                    <a:pt x="95259" y="47625"/>
                  </a:cubicBezTo>
                  <a:cubicBezTo>
                    <a:pt x="95259" y="51646"/>
                    <a:pt x="98266" y="55032"/>
                    <a:pt x="102259" y="55507"/>
                  </a:cubicBezTo>
                  <a:lnTo>
                    <a:pt x="103188" y="55563"/>
                  </a:lnTo>
                  <a:lnTo>
                    <a:pt x="104196" y="55507"/>
                  </a:lnTo>
                  <a:cubicBezTo>
                    <a:pt x="108189" y="55032"/>
                    <a:pt x="111196" y="51646"/>
                    <a:pt x="111196" y="47625"/>
                  </a:cubicBezTo>
                  <a:cubicBezTo>
                    <a:pt x="111196" y="43604"/>
                    <a:pt x="108189" y="40218"/>
                    <a:pt x="104196" y="39743"/>
                  </a:cubicBezTo>
                  <a:lnTo>
                    <a:pt x="103267" y="39688"/>
                  </a:lnTo>
                  <a:close/>
                </a:path>
              </a:pathLst>
            </a:custGeom>
            <a:solidFill>
              <a:srgbClr val="2B583E"/>
            </a:solidFill>
            <a:ln>
              <a:noFill/>
            </a:ln>
          </p:spPr>
        </p:sp>
        <p:sp>
          <p:nvSpPr>
            <p:cNvPr id="23" name="TextBox 23"/>
            <p:cNvSpPr txBox="1"/>
            <p:nvPr/>
          </p:nvSpPr>
          <p:spPr>
            <a:xfrm>
              <a:off x="1203960" y="4756785"/>
              <a:ext cx="1318641"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里程碑双向寄语</a:t>
              </a:r>
            </a:p>
          </p:txBody>
        </p:sp>
        <p:sp>
          <p:nvSpPr>
            <p:cNvPr id="24" name="TextBox 24"/>
            <p:cNvSpPr txBox="1"/>
            <p:nvPr/>
          </p:nvSpPr>
          <p:spPr>
            <a:xfrm>
              <a:off x="748665" y="5125402"/>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日记里程碑卡片悬停即可写下</a:t>
              </a:r>
            </a:p>
          </p:txBody>
        </p:sp>
        <p:sp>
          <p:nvSpPr>
            <p:cNvPr id="25" name="TextBox 25"/>
            <p:cNvSpPr txBox="1"/>
            <p:nvPr/>
          </p:nvSpPr>
          <p:spPr>
            <a:xfrm>
              <a:off x="748665" y="5334952"/>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留言，空中留言寄语永久被写</a:t>
              </a:r>
            </a:p>
          </p:txBody>
        </p:sp>
        <p:sp>
          <p:nvSpPr>
            <p:cNvPr id="26" name="TextBox 26"/>
            <p:cNvSpPr txBox="1"/>
            <p:nvPr/>
          </p:nvSpPr>
          <p:spPr>
            <a:xfrm>
              <a:off x="748665" y="5544502"/>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入植物的长期记忆。建立情感强关联。</a:t>
              </a:r>
            </a:p>
          </p:txBody>
        </p:sp>
      </p:grpSp>
      <p:grpSp>
        <p:nvGrpSpPr>
          <p:cNvPr id="71" name="Group 71"/>
          <p:cNvGrpSpPr/>
          <p:nvPr/>
        </p:nvGrpSpPr>
        <p:grpSpPr>
          <a:xfrm>
            <a:off x="3810000" y="1143000"/>
            <a:ext cx="7810500" cy="4429125"/>
            <a:chOff x="3810000" y="1143000"/>
            <a:chExt cx="7810500" cy="4429125"/>
          </a:xfrm>
        </p:grpSpPr>
        <p:sp>
          <p:nvSpPr>
            <p:cNvPr id="28" name="Freeform 28"/>
            <p:cNvSpPr/>
            <p:nvPr/>
          </p:nvSpPr>
          <p:spPr>
            <a:xfrm>
              <a:off x="3810000" y="1143000"/>
              <a:ext cx="7810500" cy="4429125"/>
            </a:xfrm>
            <a:custGeom>
              <a:avLst/>
              <a:gdLst/>
              <a:ahLst/>
              <a:cxnLst/>
              <a:rect l="l" t="t" r="r" b="b"/>
              <a:pathLst>
                <a:path w="7810500" h="4429125">
                  <a:moveTo>
                    <a:pt x="152400" y="0"/>
                  </a:moveTo>
                  <a:lnTo>
                    <a:pt x="7658100" y="0"/>
                  </a:lnTo>
                  <a:cubicBezTo>
                    <a:pt x="7742268" y="0"/>
                    <a:pt x="7810500" y="68232"/>
                    <a:pt x="7810500" y="152400"/>
                  </a:cubicBezTo>
                  <a:lnTo>
                    <a:pt x="7810500" y="4276725"/>
                  </a:lnTo>
                  <a:cubicBezTo>
                    <a:pt x="7810500" y="4360893"/>
                    <a:pt x="7742268" y="4429125"/>
                    <a:pt x="7658100" y="4429125"/>
                  </a:cubicBezTo>
                  <a:lnTo>
                    <a:pt x="152400" y="4429125"/>
                  </a:lnTo>
                  <a:cubicBezTo>
                    <a:pt x="68232" y="4429125"/>
                    <a:pt x="0" y="4360893"/>
                    <a:pt x="0" y="4276725"/>
                  </a:cubicBezTo>
                  <a:lnTo>
                    <a:pt x="0" y="152400"/>
                  </a:lnTo>
                  <a:cubicBezTo>
                    <a:pt x="0" y="68232"/>
                    <a:pt x="68232" y="0"/>
                    <a:pt x="152400" y="0"/>
                  </a:cubicBezTo>
                  <a:close/>
                </a:path>
              </a:pathLst>
            </a:custGeom>
            <a:solidFill>
              <a:srgbClr val="FFFFFF"/>
            </a:solidFill>
            <a:ln w="14288">
              <a:solidFill>
                <a:srgbClr val="D1DAD4"/>
              </a:solidFill>
            </a:ln>
          </p:spPr>
        </p:sp>
        <p:grpSp>
          <p:nvGrpSpPr>
            <p:cNvPr id="49" name="Group 49"/>
            <p:cNvGrpSpPr/>
            <p:nvPr/>
          </p:nvGrpSpPr>
          <p:grpSpPr>
            <a:xfrm>
              <a:off x="4095750" y="1381125"/>
              <a:ext cx="3429000" cy="3952875"/>
              <a:chOff x="4095750" y="1381125"/>
              <a:chExt cx="3429000" cy="3952875"/>
            </a:xfrm>
          </p:grpSpPr>
          <p:sp>
            <p:nvSpPr>
              <p:cNvPr id="29" name="Freeform 29"/>
              <p:cNvSpPr/>
              <p:nvPr/>
            </p:nvSpPr>
            <p:spPr>
              <a:xfrm>
                <a:off x="4095750" y="1381125"/>
                <a:ext cx="3429000" cy="3952875"/>
              </a:xfrm>
              <a:custGeom>
                <a:avLst/>
                <a:gdLst/>
                <a:ahLst/>
                <a:cxnLst/>
                <a:rect l="l" t="t" r="r" b="b"/>
                <a:pathLst>
                  <a:path w="3429000" h="3952875">
                    <a:moveTo>
                      <a:pt x="95250" y="0"/>
                    </a:moveTo>
                    <a:lnTo>
                      <a:pt x="3333750" y="0"/>
                    </a:lnTo>
                    <a:cubicBezTo>
                      <a:pt x="3386355" y="0"/>
                      <a:pt x="3429000" y="42645"/>
                      <a:pt x="3429000" y="95250"/>
                    </a:cubicBezTo>
                    <a:lnTo>
                      <a:pt x="3429000" y="3857625"/>
                    </a:lnTo>
                    <a:cubicBezTo>
                      <a:pt x="3429000" y="3910230"/>
                      <a:pt x="3386355" y="3952875"/>
                      <a:pt x="3333750" y="3952875"/>
                    </a:cubicBezTo>
                    <a:lnTo>
                      <a:pt x="95250" y="3952875"/>
                    </a:lnTo>
                    <a:cubicBezTo>
                      <a:pt x="42645" y="3952875"/>
                      <a:pt x="0" y="3910230"/>
                      <a:pt x="0" y="3857625"/>
                    </a:cubicBezTo>
                    <a:lnTo>
                      <a:pt x="0" y="95250"/>
                    </a:lnTo>
                    <a:cubicBezTo>
                      <a:pt x="0" y="42645"/>
                      <a:pt x="42645" y="0"/>
                      <a:pt x="95250" y="0"/>
                    </a:cubicBezTo>
                    <a:close/>
                  </a:path>
                </a:pathLst>
              </a:custGeom>
              <a:solidFill>
                <a:srgbClr val="F4F6F4"/>
              </a:solidFill>
              <a:ln w="9525">
                <a:solidFill>
                  <a:srgbClr val="D1DAD4"/>
                </a:solidFill>
              </a:ln>
            </p:spPr>
          </p:sp>
          <p:sp>
            <p:nvSpPr>
              <p:cNvPr id="30" name="Freeform 30"/>
              <p:cNvSpPr/>
              <p:nvPr/>
            </p:nvSpPr>
            <p:spPr>
              <a:xfrm>
                <a:off x="4095750" y="1381125"/>
                <a:ext cx="3429000" cy="381000"/>
              </a:xfrm>
              <a:custGeom>
                <a:avLst/>
                <a:gdLst/>
                <a:ahLst/>
                <a:cxnLst/>
                <a:rect l="l" t="t" r="r" b="b"/>
                <a:pathLst>
                  <a:path w="3429000" h="381000">
                    <a:moveTo>
                      <a:pt x="95250" y="0"/>
                    </a:moveTo>
                    <a:lnTo>
                      <a:pt x="3333750" y="0"/>
                    </a:lnTo>
                    <a:cubicBezTo>
                      <a:pt x="3386355" y="0"/>
                      <a:pt x="3429000" y="42645"/>
                      <a:pt x="3429000" y="95250"/>
                    </a:cubicBezTo>
                    <a:lnTo>
                      <a:pt x="3429000" y="285750"/>
                    </a:lnTo>
                    <a:cubicBezTo>
                      <a:pt x="3429000" y="338355"/>
                      <a:pt x="3386355" y="381000"/>
                      <a:pt x="3333750" y="381000"/>
                    </a:cubicBezTo>
                    <a:lnTo>
                      <a:pt x="95250" y="381000"/>
                    </a:lnTo>
                    <a:cubicBezTo>
                      <a:pt x="42645" y="381000"/>
                      <a:pt x="0" y="338355"/>
                      <a:pt x="0" y="285750"/>
                    </a:cubicBezTo>
                    <a:lnTo>
                      <a:pt x="0" y="95250"/>
                    </a:lnTo>
                    <a:cubicBezTo>
                      <a:pt x="0" y="42645"/>
                      <a:pt x="42645" y="0"/>
                      <a:pt x="95250" y="0"/>
                    </a:cubicBezTo>
                    <a:close/>
                  </a:path>
                </a:pathLst>
              </a:custGeom>
              <a:solidFill>
                <a:srgbClr val="2B583E"/>
              </a:solidFill>
              <a:ln>
                <a:noFill/>
              </a:ln>
            </p:spPr>
          </p:sp>
          <p:sp>
            <p:nvSpPr>
              <p:cNvPr id="31" name="Rectangle 31"/>
              <p:cNvSpPr/>
              <p:nvPr/>
            </p:nvSpPr>
            <p:spPr>
              <a:xfrm>
                <a:off x="4095750" y="1619250"/>
                <a:ext cx="3429000" cy="142875"/>
              </a:xfrm>
              <a:prstGeom prst="rect">
                <a:avLst/>
              </a:prstGeom>
              <a:solidFill>
                <a:srgbClr val="2B583E"/>
              </a:solidFill>
              <a:ln>
                <a:noFill/>
              </a:ln>
            </p:spPr>
          </p:sp>
          <p:sp>
            <p:nvSpPr>
              <p:cNvPr id="32" name="Freeform 32"/>
              <p:cNvSpPr/>
              <p:nvPr/>
            </p:nvSpPr>
            <p:spPr>
              <a:xfrm>
                <a:off x="4295480" y="1477756"/>
                <a:ext cx="210436" cy="188414"/>
              </a:xfrm>
              <a:custGeom>
                <a:avLst/>
                <a:gdLst/>
                <a:ahLst/>
                <a:cxnLst/>
                <a:rect l="l" t="t" r="r" b="b"/>
                <a:pathLst>
                  <a:path w="210436" h="188414">
                    <a:moveTo>
                      <a:pt x="46215" y="26337"/>
                    </a:moveTo>
                    <a:cubicBezTo>
                      <a:pt x="83353" y="0"/>
                      <a:pt x="136398" y="2153"/>
                      <a:pt x="170736" y="31432"/>
                    </a:cubicBezTo>
                    <a:cubicBezTo>
                      <a:pt x="205664" y="61236"/>
                      <a:pt x="210436" y="109899"/>
                      <a:pt x="181708" y="144761"/>
                    </a:cubicBezTo>
                    <a:cubicBezTo>
                      <a:pt x="154648" y="177594"/>
                      <a:pt x="105842" y="188414"/>
                      <a:pt x="65208" y="171479"/>
                    </a:cubicBezTo>
                    <a:lnTo>
                      <a:pt x="62989" y="170517"/>
                    </a:lnTo>
                    <a:lnTo>
                      <a:pt x="21326" y="179384"/>
                    </a:lnTo>
                    <a:lnTo>
                      <a:pt x="20945" y="179441"/>
                    </a:lnTo>
                    <a:lnTo>
                      <a:pt x="20612" y="179508"/>
                    </a:lnTo>
                    <a:lnTo>
                      <a:pt x="20441" y="179508"/>
                    </a:lnTo>
                    <a:lnTo>
                      <a:pt x="20231" y="179556"/>
                    </a:lnTo>
                    <a:lnTo>
                      <a:pt x="19869" y="179556"/>
                    </a:lnTo>
                    <a:lnTo>
                      <a:pt x="19555" y="179594"/>
                    </a:lnTo>
                    <a:lnTo>
                      <a:pt x="19355" y="179584"/>
                    </a:lnTo>
                    <a:lnTo>
                      <a:pt x="19136" y="179594"/>
                    </a:lnTo>
                    <a:lnTo>
                      <a:pt x="18821" y="179565"/>
                    </a:lnTo>
                    <a:lnTo>
                      <a:pt x="18488" y="179565"/>
                    </a:lnTo>
                    <a:lnTo>
                      <a:pt x="18278" y="179527"/>
                    </a:lnTo>
                    <a:lnTo>
                      <a:pt x="18069" y="179508"/>
                    </a:lnTo>
                    <a:lnTo>
                      <a:pt x="17736" y="179441"/>
                    </a:lnTo>
                    <a:lnTo>
                      <a:pt x="17412" y="179394"/>
                    </a:lnTo>
                    <a:lnTo>
                      <a:pt x="17259" y="179356"/>
                    </a:lnTo>
                    <a:lnTo>
                      <a:pt x="17031" y="179308"/>
                    </a:lnTo>
                    <a:lnTo>
                      <a:pt x="16564" y="179156"/>
                    </a:lnTo>
                    <a:lnTo>
                      <a:pt x="16335" y="179108"/>
                    </a:lnTo>
                    <a:lnTo>
                      <a:pt x="16231" y="179060"/>
                    </a:lnTo>
                    <a:lnTo>
                      <a:pt x="16021" y="178994"/>
                    </a:lnTo>
                    <a:lnTo>
                      <a:pt x="15592" y="178803"/>
                    </a:lnTo>
                    <a:lnTo>
                      <a:pt x="15307" y="178689"/>
                    </a:lnTo>
                    <a:lnTo>
                      <a:pt x="15202" y="178632"/>
                    </a:lnTo>
                    <a:lnTo>
                      <a:pt x="15069" y="178575"/>
                    </a:lnTo>
                    <a:lnTo>
                      <a:pt x="14773" y="178403"/>
                    </a:lnTo>
                    <a:lnTo>
                      <a:pt x="14345" y="178175"/>
                    </a:lnTo>
                    <a:lnTo>
                      <a:pt x="14192" y="178070"/>
                    </a:lnTo>
                    <a:lnTo>
                      <a:pt x="13840" y="177822"/>
                    </a:lnTo>
                    <a:lnTo>
                      <a:pt x="13459" y="177565"/>
                    </a:lnTo>
                    <a:lnTo>
                      <a:pt x="13440" y="177527"/>
                    </a:lnTo>
                    <a:lnTo>
                      <a:pt x="13316" y="177441"/>
                    </a:lnTo>
                    <a:lnTo>
                      <a:pt x="12906" y="177060"/>
                    </a:lnTo>
                    <a:lnTo>
                      <a:pt x="12668" y="176870"/>
                    </a:lnTo>
                    <a:lnTo>
                      <a:pt x="12611" y="176803"/>
                    </a:lnTo>
                    <a:lnTo>
                      <a:pt x="12078" y="176212"/>
                    </a:lnTo>
                    <a:lnTo>
                      <a:pt x="11954" y="176079"/>
                    </a:lnTo>
                    <a:lnTo>
                      <a:pt x="11849" y="175946"/>
                    </a:lnTo>
                    <a:lnTo>
                      <a:pt x="11478" y="175412"/>
                    </a:lnTo>
                    <a:lnTo>
                      <a:pt x="11344" y="175231"/>
                    </a:lnTo>
                    <a:lnTo>
                      <a:pt x="11297" y="175136"/>
                    </a:lnTo>
                    <a:lnTo>
                      <a:pt x="10897" y="174441"/>
                    </a:lnTo>
                    <a:lnTo>
                      <a:pt x="10830" y="174327"/>
                    </a:lnTo>
                    <a:lnTo>
                      <a:pt x="10792" y="174250"/>
                    </a:lnTo>
                    <a:lnTo>
                      <a:pt x="10725" y="174136"/>
                    </a:lnTo>
                    <a:lnTo>
                      <a:pt x="10592" y="173774"/>
                    </a:lnTo>
                    <a:lnTo>
                      <a:pt x="10401" y="173374"/>
                    </a:lnTo>
                    <a:lnTo>
                      <a:pt x="10363" y="173222"/>
                    </a:lnTo>
                    <a:lnTo>
                      <a:pt x="10325" y="173126"/>
                    </a:lnTo>
                    <a:lnTo>
                      <a:pt x="10163" y="172545"/>
                    </a:lnTo>
                    <a:lnTo>
                      <a:pt x="10097" y="172374"/>
                    </a:lnTo>
                    <a:lnTo>
                      <a:pt x="10077" y="172231"/>
                    </a:lnTo>
                    <a:lnTo>
                      <a:pt x="10030" y="172050"/>
                    </a:lnTo>
                    <a:lnTo>
                      <a:pt x="9982" y="171736"/>
                    </a:lnTo>
                    <a:lnTo>
                      <a:pt x="9906" y="171336"/>
                    </a:lnTo>
                    <a:lnTo>
                      <a:pt x="9887" y="171040"/>
                    </a:lnTo>
                    <a:lnTo>
                      <a:pt x="9858" y="170945"/>
                    </a:lnTo>
                    <a:lnTo>
                      <a:pt x="9858" y="170793"/>
                    </a:lnTo>
                    <a:lnTo>
                      <a:pt x="9820" y="170278"/>
                    </a:lnTo>
                    <a:lnTo>
                      <a:pt x="9830" y="169936"/>
                    </a:lnTo>
                    <a:lnTo>
                      <a:pt x="9839" y="169716"/>
                    </a:lnTo>
                    <a:lnTo>
                      <a:pt x="9858" y="169212"/>
                    </a:lnTo>
                    <a:lnTo>
                      <a:pt x="9896" y="168973"/>
                    </a:lnTo>
                    <a:lnTo>
                      <a:pt x="9896" y="168793"/>
                    </a:lnTo>
                    <a:lnTo>
                      <a:pt x="9973" y="168459"/>
                    </a:lnTo>
                    <a:lnTo>
                      <a:pt x="10020" y="168135"/>
                    </a:lnTo>
                    <a:lnTo>
                      <a:pt x="10068" y="167945"/>
                    </a:lnTo>
                    <a:lnTo>
                      <a:pt x="10106" y="167754"/>
                    </a:lnTo>
                    <a:lnTo>
                      <a:pt x="10277" y="167183"/>
                    </a:lnTo>
                    <a:lnTo>
                      <a:pt x="10306" y="167059"/>
                    </a:lnTo>
                    <a:lnTo>
                      <a:pt x="21260" y="134198"/>
                    </a:lnTo>
                    <a:lnTo>
                      <a:pt x="21050" y="133845"/>
                    </a:lnTo>
                    <a:cubicBezTo>
                      <a:pt x="0" y="98155"/>
                      <a:pt x="9535" y="53921"/>
                      <a:pt x="44034" y="27937"/>
                    </a:cubicBezTo>
                    <a:close/>
                  </a:path>
                </a:pathLst>
              </a:custGeom>
              <a:solidFill>
                <a:srgbClr val="FFFFFF"/>
              </a:solidFill>
              <a:ln>
                <a:noFill/>
              </a:ln>
            </p:spPr>
          </p:sp>
          <p:sp>
            <p:nvSpPr>
              <p:cNvPr id="33" name="TextBox 33"/>
              <p:cNvSpPr txBox="1"/>
              <p:nvPr/>
            </p:nvSpPr>
            <p:spPr>
              <a:xfrm>
                <a:off x="4606290" y="1515428"/>
                <a:ext cx="168517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Quicksand"/>
                    <a:ea typeface="Microsoft YaHei"/>
                    <a:cs typeface="Quicksand"/>
                  </a:rPr>
                  <a:t>植响对话 (Chat Room)</a:t>
                </a:r>
              </a:p>
            </p:txBody>
          </p:sp>
          <p:sp>
            <p:nvSpPr>
              <p:cNvPr id="34" name="Freeform 34"/>
              <p:cNvSpPr/>
              <p:nvPr/>
            </p:nvSpPr>
            <p:spPr>
              <a:xfrm>
                <a:off x="4286250" y="1952625"/>
                <a:ext cx="2667000" cy="762000"/>
              </a:xfrm>
              <a:custGeom>
                <a:avLst/>
                <a:gdLst/>
                <a:ahLst/>
                <a:cxnLst/>
                <a:rect l="l" t="t" r="r" b="b"/>
                <a:pathLst>
                  <a:path w="2667000" h="762000">
                    <a:moveTo>
                      <a:pt x="0" y="95250"/>
                    </a:moveTo>
                    <a:lnTo>
                      <a:pt x="95250" y="0"/>
                    </a:lnTo>
                    <a:lnTo>
                      <a:pt x="2667000" y="0"/>
                    </a:lnTo>
                    <a:lnTo>
                      <a:pt x="2667000" y="762000"/>
                    </a:lnTo>
                    <a:lnTo>
                      <a:pt x="0" y="762000"/>
                    </a:lnTo>
                    <a:close/>
                  </a:path>
                </a:pathLst>
              </a:custGeom>
              <a:solidFill>
                <a:srgbClr val="FFFFFF"/>
              </a:solidFill>
              <a:ln w="9525">
                <a:solidFill>
                  <a:srgbClr val="D1DAD4"/>
                </a:solidFill>
              </a:ln>
            </p:spPr>
          </p:sp>
          <p:sp>
            <p:nvSpPr>
              <p:cNvPr id="35" name="Freeform 35"/>
              <p:cNvSpPr/>
              <p:nvPr/>
            </p:nvSpPr>
            <p:spPr>
              <a:xfrm>
                <a:off x="4429125" y="2047875"/>
                <a:ext cx="152400" cy="152400"/>
              </a:xfrm>
              <a:custGeom>
                <a:avLst/>
                <a:gdLst/>
                <a:ahLst/>
                <a:cxnLst/>
                <a:rect l="l" t="t" r="r" b="b"/>
                <a:pathLst>
                  <a:path w="152400" h="152400">
                    <a:moveTo>
                      <a:pt x="76200" y="0"/>
                    </a:moveTo>
                    <a:lnTo>
                      <a:pt x="76200" y="0"/>
                    </a:lnTo>
                    <a:cubicBezTo>
                      <a:pt x="118284" y="0"/>
                      <a:pt x="152400" y="34116"/>
                      <a:pt x="152400" y="76200"/>
                    </a:cubicBezTo>
                    <a:lnTo>
                      <a:pt x="152400" y="76200"/>
                    </a:lnTo>
                    <a:cubicBezTo>
                      <a:pt x="152400" y="118284"/>
                      <a:pt x="118284" y="152400"/>
                      <a:pt x="76200" y="152400"/>
                    </a:cubicBezTo>
                    <a:lnTo>
                      <a:pt x="76200" y="152400"/>
                    </a:lnTo>
                    <a:cubicBezTo>
                      <a:pt x="34116" y="152400"/>
                      <a:pt x="0" y="118284"/>
                      <a:pt x="0" y="76200"/>
                    </a:cubicBezTo>
                    <a:lnTo>
                      <a:pt x="0" y="76200"/>
                    </a:lnTo>
                    <a:cubicBezTo>
                      <a:pt x="0" y="34116"/>
                      <a:pt x="34116" y="0"/>
                      <a:pt x="76200" y="0"/>
                    </a:cubicBezTo>
                    <a:close/>
                  </a:path>
                </a:pathLst>
              </a:custGeom>
              <a:solidFill>
                <a:srgbClr val="2B583E">
                  <a:alpha val="8000"/>
                </a:srgbClr>
              </a:solidFill>
              <a:ln>
                <a:noFill/>
              </a:ln>
            </p:spPr>
          </p:sp>
          <p:sp>
            <p:nvSpPr>
              <p:cNvPr id="36" name="Freeform 36"/>
              <p:cNvSpPr/>
              <p:nvPr/>
            </p:nvSpPr>
            <p:spPr>
              <a:xfrm>
                <a:off x="4469537" y="2088356"/>
                <a:ext cx="71506" cy="75642"/>
              </a:xfrm>
              <a:custGeom>
                <a:avLst/>
                <a:gdLst/>
                <a:ahLst/>
                <a:cxnLst/>
                <a:rect l="l" t="t" r="r" b="b"/>
                <a:pathLst>
                  <a:path w="71506" h="75642">
                    <a:moveTo>
                      <a:pt x="287" y="44958"/>
                    </a:moveTo>
                    <a:lnTo>
                      <a:pt x="216" y="44291"/>
                    </a:lnTo>
                    <a:lnTo>
                      <a:pt x="200" y="44121"/>
                    </a:lnTo>
                    <a:cubicBezTo>
                      <a:pt x="62" y="42643"/>
                      <a:pt x="0" y="41159"/>
                      <a:pt x="13" y="39676"/>
                    </a:cubicBezTo>
                    <a:cubicBezTo>
                      <a:pt x="85" y="14712"/>
                      <a:pt x="17039" y="0"/>
                      <a:pt x="51607" y="0"/>
                    </a:cubicBezTo>
                    <a:lnTo>
                      <a:pt x="67538" y="0"/>
                    </a:lnTo>
                    <a:cubicBezTo>
                      <a:pt x="69730" y="0"/>
                      <a:pt x="71506" y="1777"/>
                      <a:pt x="71506" y="3969"/>
                    </a:cubicBezTo>
                    <a:lnTo>
                      <a:pt x="71499" y="12132"/>
                    </a:lnTo>
                    <a:cubicBezTo>
                      <a:pt x="69522" y="46665"/>
                      <a:pt x="52687" y="63500"/>
                      <a:pt x="23881" y="63500"/>
                    </a:cubicBezTo>
                    <a:lnTo>
                      <a:pt x="13440" y="63500"/>
                    </a:lnTo>
                    <a:cubicBezTo>
                      <a:pt x="12757" y="66255"/>
                      <a:pt x="12260" y="69053"/>
                      <a:pt x="11951" y="71874"/>
                    </a:cubicBezTo>
                    <a:cubicBezTo>
                      <a:pt x="11795" y="73283"/>
                      <a:pt x="10899" y="74503"/>
                      <a:pt x="9601" y="75072"/>
                    </a:cubicBezTo>
                    <a:cubicBezTo>
                      <a:pt x="8302" y="75642"/>
                      <a:pt x="6799" y="75475"/>
                      <a:pt x="5656" y="74636"/>
                    </a:cubicBezTo>
                    <a:cubicBezTo>
                      <a:pt x="4513" y="73796"/>
                      <a:pt x="3906" y="72410"/>
                      <a:pt x="4062" y="71001"/>
                    </a:cubicBezTo>
                    <a:cubicBezTo>
                      <a:pt x="4522" y="66852"/>
                      <a:pt x="5289" y="62954"/>
                      <a:pt x="6363" y="59305"/>
                    </a:cubicBezTo>
                    <a:lnTo>
                      <a:pt x="5895" y="58726"/>
                    </a:lnTo>
                    <a:lnTo>
                      <a:pt x="5070" y="57614"/>
                    </a:lnTo>
                    <a:lnTo>
                      <a:pt x="4447" y="56706"/>
                    </a:lnTo>
                    <a:lnTo>
                      <a:pt x="3724" y="55543"/>
                    </a:lnTo>
                    <a:lnTo>
                      <a:pt x="3335" y="54864"/>
                    </a:lnTo>
                    <a:lnTo>
                      <a:pt x="3077" y="54380"/>
                    </a:lnTo>
                    <a:cubicBezTo>
                      <a:pt x="2447" y="53182"/>
                      <a:pt x="1920" y="51933"/>
                      <a:pt x="1502" y="50645"/>
                    </a:cubicBezTo>
                    <a:lnTo>
                      <a:pt x="1216" y="49705"/>
                    </a:lnTo>
                    <a:lnTo>
                      <a:pt x="879" y="48407"/>
                    </a:lnTo>
                    <a:lnTo>
                      <a:pt x="652" y="47343"/>
                    </a:lnTo>
                    <a:lnTo>
                      <a:pt x="482" y="46383"/>
                    </a:lnTo>
                    <a:close/>
                    <a:moveTo>
                      <a:pt x="34176" y="28123"/>
                    </a:moveTo>
                    <a:cubicBezTo>
                      <a:pt x="22885" y="33143"/>
                      <a:pt x="14912" y="40545"/>
                      <a:pt x="9935" y="50280"/>
                    </a:cubicBezTo>
                    <a:cubicBezTo>
                      <a:pt x="10195" y="50809"/>
                      <a:pt x="10483" y="51338"/>
                      <a:pt x="10800" y="51868"/>
                    </a:cubicBezTo>
                    <a:lnTo>
                      <a:pt x="11535" y="52983"/>
                    </a:lnTo>
                    <a:lnTo>
                      <a:pt x="11813" y="53368"/>
                    </a:lnTo>
                    <a:cubicBezTo>
                      <a:pt x="12130" y="53802"/>
                      <a:pt x="12471" y="54237"/>
                      <a:pt x="12836" y="54674"/>
                    </a:cubicBezTo>
                    <a:lnTo>
                      <a:pt x="13618" y="55563"/>
                    </a:lnTo>
                    <a:lnTo>
                      <a:pt x="16194" y="55563"/>
                    </a:lnTo>
                    <a:cubicBezTo>
                      <a:pt x="20310" y="46549"/>
                      <a:pt x="27215" y="39902"/>
                      <a:pt x="37399" y="35377"/>
                    </a:cubicBezTo>
                    <a:cubicBezTo>
                      <a:pt x="39402" y="34488"/>
                      <a:pt x="40305" y="32142"/>
                      <a:pt x="39415" y="30139"/>
                    </a:cubicBezTo>
                    <a:cubicBezTo>
                      <a:pt x="38525" y="28135"/>
                      <a:pt x="36180" y="27233"/>
                      <a:pt x="34176" y="28123"/>
                    </a:cubicBezTo>
                  </a:path>
                </a:pathLst>
              </a:custGeom>
              <a:solidFill>
                <a:srgbClr val="2B583E"/>
              </a:solidFill>
              <a:ln>
                <a:noFill/>
              </a:ln>
            </p:spPr>
          </p:sp>
          <p:sp>
            <p:nvSpPr>
              <p:cNvPr id="37" name="TextBox 37"/>
              <p:cNvSpPr txBox="1"/>
              <p:nvPr/>
            </p:nvSpPr>
            <p:spPr>
              <a:xfrm>
                <a:off x="4656772" y="2082641"/>
                <a:ext cx="995127" cy="167640"/>
              </a:xfrm>
              <a:prstGeom prst="rect">
                <a:avLst/>
              </a:prstGeom>
              <a:noFill/>
              <a:ln>
                <a:noFill/>
              </a:ln>
            </p:spPr>
            <p:txBody>
              <a:bodyPr wrap="none" lIns="0" tIns="0" rIns="0" bIns="0" anchor="t" anchorCtr="0">
                <a:spAutoFit/>
              </a:bodyPr>
              <a:lstStyle/>
              <a:p>
                <a:pPr algn="l"/>
                <a:r>
                  <a:rPr lang="zh-CN" sz="825" b="1" dirty="0">
                    <a:solidFill>
                      <a:srgbClr val="8E5B3C"/>
                    </a:solidFill>
                    <a:latin typeface="Plus Jakarta Sans"/>
                    <a:ea typeface="Microsoft YaHei"/>
                    <a:cs typeface="Plus Jakarta Sans"/>
                  </a:rPr>
                  <a:t>小绿 · 思考了3秒</a:t>
                </a:r>
              </a:p>
            </p:txBody>
          </p:sp>
          <p:sp>
            <p:nvSpPr>
              <p:cNvPr id="38" name="TextBox 38"/>
              <p:cNvSpPr txBox="1"/>
              <p:nvPr/>
            </p:nvSpPr>
            <p:spPr>
              <a:xfrm>
                <a:off x="4416742" y="2323624"/>
                <a:ext cx="2808661" cy="198120"/>
              </a:xfrm>
              <a:prstGeom prst="rect">
                <a:avLst/>
              </a:prstGeom>
              <a:noFill/>
              <a:ln>
                <a:noFill/>
              </a:ln>
            </p:spPr>
            <p:txBody>
              <a:bodyPr wrap="none" lIns="0" tIns="0" rIns="0" bIns="0" anchor="t" anchorCtr="0">
                <a:spAutoFit/>
              </a:bodyPr>
              <a:lstStyle/>
              <a:p>
                <a:pPr algn="l"/>
                <a:r>
                  <a:rPr lang="zh-CN" sz="975" dirty="0">
                    <a:solidFill>
                      <a:srgbClr val="1C2E24"/>
                    </a:solidFill>
                    <a:latin typeface="Plus Jakarta Sans"/>
                    <a:ea typeface="Microsoft YaHei"/>
                    <a:cs typeface="Plus Jakarta Sans"/>
                  </a:rPr>
                  <a:t>“昨天泥土干干的时候，你为我唱了一首歌，</a:t>
                </a:r>
              </a:p>
            </p:txBody>
          </p:sp>
          <p:sp>
            <p:nvSpPr>
              <p:cNvPr id="39" name="TextBox 39"/>
              <p:cNvSpPr txBox="1"/>
              <p:nvPr/>
            </p:nvSpPr>
            <p:spPr>
              <a:xfrm>
                <a:off x="4416742" y="2514124"/>
                <a:ext cx="2177834" cy="198120"/>
              </a:xfrm>
              <a:prstGeom prst="rect">
                <a:avLst/>
              </a:prstGeom>
              <a:noFill/>
              <a:ln>
                <a:noFill/>
              </a:ln>
            </p:spPr>
            <p:txBody>
              <a:bodyPr wrap="none" lIns="0" tIns="0" rIns="0" bIns="0" anchor="t" anchorCtr="0">
                <a:spAutoFit/>
              </a:bodyPr>
              <a:lstStyle/>
              <a:p>
                <a:pPr algn="l"/>
                <a:r>
                  <a:rPr lang="zh-CN" sz="975" b="1" dirty="0">
                    <a:solidFill>
                      <a:srgbClr val="2B583E"/>
                    </a:solidFill>
                    <a:latin typeface="Plus Jakarta Sans"/>
                    <a:ea typeface="Microsoft YaHei"/>
                    <a:cs typeface="Plus Jakarta Sans"/>
                  </a:rPr>
                  <a:t>小绿已经把歌声藏在树叶里啦 🎶”</a:t>
                </a:r>
              </a:p>
            </p:txBody>
          </p:sp>
          <p:sp>
            <p:nvSpPr>
              <p:cNvPr id="40" name="Freeform 40"/>
              <p:cNvSpPr/>
              <p:nvPr/>
            </p:nvSpPr>
            <p:spPr>
              <a:xfrm>
                <a:off x="4667250" y="2905125"/>
                <a:ext cx="2286000" cy="285750"/>
              </a:xfrm>
              <a:custGeom>
                <a:avLst/>
                <a:gdLst/>
                <a:ahLst/>
                <a:cxnLst/>
                <a:rect l="l" t="t" r="r" b="b"/>
                <a:pathLst>
                  <a:path w="2286000" h="285750">
                    <a:moveTo>
                      <a:pt x="142875" y="0"/>
                    </a:moveTo>
                    <a:lnTo>
                      <a:pt x="2143125" y="0"/>
                    </a:lnTo>
                    <a:cubicBezTo>
                      <a:pt x="2222033" y="0"/>
                      <a:pt x="2286000" y="63967"/>
                      <a:pt x="2286000" y="142875"/>
                    </a:cubicBezTo>
                    <a:lnTo>
                      <a:pt x="2286000" y="142875"/>
                    </a:lnTo>
                    <a:cubicBezTo>
                      <a:pt x="2286000" y="221783"/>
                      <a:pt x="2222033" y="285750"/>
                      <a:pt x="2143125" y="285750"/>
                    </a:cubicBezTo>
                    <a:lnTo>
                      <a:pt x="142875" y="285750"/>
                    </a:lnTo>
                    <a:cubicBezTo>
                      <a:pt x="63967" y="285750"/>
                      <a:pt x="0" y="221783"/>
                      <a:pt x="0" y="142875"/>
                    </a:cubicBezTo>
                    <a:lnTo>
                      <a:pt x="0" y="142875"/>
                    </a:lnTo>
                    <a:cubicBezTo>
                      <a:pt x="0" y="63967"/>
                      <a:pt x="63967" y="0"/>
                      <a:pt x="142875" y="0"/>
                    </a:cubicBezTo>
                    <a:close/>
                  </a:path>
                </a:pathLst>
              </a:custGeom>
              <a:solidFill>
                <a:srgbClr val="FFFFFF"/>
              </a:solidFill>
              <a:ln w="9525">
                <a:solidFill>
                  <a:srgbClr val="D1DAD4"/>
                </a:solidFill>
              </a:ln>
            </p:spPr>
          </p:sp>
          <p:sp>
            <p:nvSpPr>
              <p:cNvPr id="41" name="Freeform 41"/>
              <p:cNvSpPr/>
              <p:nvPr/>
            </p:nvSpPr>
            <p:spPr>
              <a:xfrm>
                <a:off x="4876690" y="2990850"/>
                <a:ext cx="114410" cy="121027"/>
              </a:xfrm>
              <a:custGeom>
                <a:avLst/>
                <a:gdLst/>
                <a:ahLst/>
                <a:cxnLst/>
                <a:rect l="l" t="t" r="r" b="b"/>
                <a:pathLst>
                  <a:path w="114410" h="121027">
                    <a:moveTo>
                      <a:pt x="460" y="71933"/>
                    </a:moveTo>
                    <a:lnTo>
                      <a:pt x="345" y="70866"/>
                    </a:lnTo>
                    <a:lnTo>
                      <a:pt x="320" y="70593"/>
                    </a:lnTo>
                    <a:cubicBezTo>
                      <a:pt x="100" y="68229"/>
                      <a:pt x="0" y="65855"/>
                      <a:pt x="21" y="63481"/>
                    </a:cubicBezTo>
                    <a:cubicBezTo>
                      <a:pt x="136" y="23539"/>
                      <a:pt x="27263" y="0"/>
                      <a:pt x="82571" y="0"/>
                    </a:cubicBezTo>
                    <a:lnTo>
                      <a:pt x="108060" y="0"/>
                    </a:lnTo>
                    <a:cubicBezTo>
                      <a:pt x="111567" y="0"/>
                      <a:pt x="114410" y="2843"/>
                      <a:pt x="114410" y="6350"/>
                    </a:cubicBezTo>
                    <a:lnTo>
                      <a:pt x="114398" y="19412"/>
                    </a:lnTo>
                    <a:cubicBezTo>
                      <a:pt x="111235" y="74663"/>
                      <a:pt x="84299" y="101600"/>
                      <a:pt x="38210" y="101600"/>
                    </a:cubicBezTo>
                    <a:lnTo>
                      <a:pt x="21504" y="101600"/>
                    </a:lnTo>
                    <a:cubicBezTo>
                      <a:pt x="20411" y="106008"/>
                      <a:pt x="19616" y="110484"/>
                      <a:pt x="19122" y="114998"/>
                    </a:cubicBezTo>
                    <a:cubicBezTo>
                      <a:pt x="18873" y="117254"/>
                      <a:pt x="17439" y="119204"/>
                      <a:pt x="15361" y="120116"/>
                    </a:cubicBezTo>
                    <a:cubicBezTo>
                      <a:pt x="13284" y="121027"/>
                      <a:pt x="10878" y="120761"/>
                      <a:pt x="9049" y="119417"/>
                    </a:cubicBezTo>
                    <a:cubicBezTo>
                      <a:pt x="7221" y="118073"/>
                      <a:pt x="6249" y="115857"/>
                      <a:pt x="6498" y="113602"/>
                    </a:cubicBezTo>
                    <a:cubicBezTo>
                      <a:pt x="7235" y="106964"/>
                      <a:pt x="8463" y="100726"/>
                      <a:pt x="10181" y="94888"/>
                    </a:cubicBezTo>
                    <a:lnTo>
                      <a:pt x="9432" y="93961"/>
                    </a:lnTo>
                    <a:lnTo>
                      <a:pt x="8111" y="92183"/>
                    </a:lnTo>
                    <a:lnTo>
                      <a:pt x="7114" y="90729"/>
                    </a:lnTo>
                    <a:lnTo>
                      <a:pt x="5959" y="88868"/>
                    </a:lnTo>
                    <a:lnTo>
                      <a:pt x="5336" y="87782"/>
                    </a:lnTo>
                    <a:lnTo>
                      <a:pt x="4924" y="87008"/>
                    </a:lnTo>
                    <a:cubicBezTo>
                      <a:pt x="3915" y="85091"/>
                      <a:pt x="3072" y="83092"/>
                      <a:pt x="2403" y="81032"/>
                    </a:cubicBezTo>
                    <a:lnTo>
                      <a:pt x="1946" y="79527"/>
                    </a:lnTo>
                    <a:lnTo>
                      <a:pt x="1406" y="77451"/>
                    </a:lnTo>
                    <a:lnTo>
                      <a:pt x="1044" y="75749"/>
                    </a:lnTo>
                    <a:lnTo>
                      <a:pt x="771" y="74212"/>
                    </a:lnTo>
                    <a:close/>
                    <a:moveTo>
                      <a:pt x="54682" y="44996"/>
                    </a:moveTo>
                    <a:cubicBezTo>
                      <a:pt x="36617" y="53029"/>
                      <a:pt x="23859" y="64872"/>
                      <a:pt x="15896" y="80448"/>
                    </a:cubicBezTo>
                    <a:cubicBezTo>
                      <a:pt x="16311" y="81295"/>
                      <a:pt x="16773" y="82141"/>
                      <a:pt x="17281" y="82988"/>
                    </a:cubicBezTo>
                    <a:lnTo>
                      <a:pt x="18456" y="84772"/>
                    </a:lnTo>
                    <a:lnTo>
                      <a:pt x="18900" y="85388"/>
                    </a:lnTo>
                    <a:cubicBezTo>
                      <a:pt x="19408" y="86083"/>
                      <a:pt x="19954" y="86779"/>
                      <a:pt x="20538" y="87478"/>
                    </a:cubicBezTo>
                    <a:lnTo>
                      <a:pt x="21789" y="88900"/>
                    </a:lnTo>
                    <a:lnTo>
                      <a:pt x="25910" y="88900"/>
                    </a:lnTo>
                    <a:cubicBezTo>
                      <a:pt x="32495" y="74479"/>
                      <a:pt x="43544" y="63843"/>
                      <a:pt x="59838" y="56604"/>
                    </a:cubicBezTo>
                    <a:cubicBezTo>
                      <a:pt x="63044" y="55180"/>
                      <a:pt x="64488" y="51427"/>
                      <a:pt x="63064" y="48222"/>
                    </a:cubicBezTo>
                    <a:cubicBezTo>
                      <a:pt x="61640" y="45016"/>
                      <a:pt x="57888" y="43572"/>
                      <a:pt x="54682" y="44996"/>
                    </a:cubicBezTo>
                  </a:path>
                </a:pathLst>
              </a:custGeom>
              <a:solidFill>
                <a:srgbClr val="3B8756"/>
              </a:solidFill>
              <a:ln>
                <a:noFill/>
              </a:ln>
            </p:spPr>
          </p:sp>
          <p:sp>
            <p:nvSpPr>
              <p:cNvPr id="42" name="TextBox 42"/>
              <p:cNvSpPr txBox="1"/>
              <p:nvPr/>
            </p:nvSpPr>
            <p:spPr>
              <a:xfrm>
                <a:off x="5084445" y="2998470"/>
                <a:ext cx="1541050" cy="182880"/>
              </a:xfrm>
              <a:prstGeom prst="rect">
                <a:avLst/>
              </a:prstGeom>
              <a:noFill/>
              <a:ln>
                <a:noFill/>
              </a:ln>
            </p:spPr>
            <p:txBody>
              <a:bodyPr wrap="none" lIns="0" tIns="0" rIns="0" bIns="0" anchor="t" anchorCtr="0">
                <a:spAutoFit/>
              </a:bodyPr>
              <a:lstStyle/>
              <a:p>
                <a:pPr algn="l"/>
                <a:r>
                  <a:rPr lang="zh-CN" sz="900" dirty="0">
                    <a:solidFill>
                      <a:srgbClr val="4D5F54"/>
                    </a:solidFill>
                    <a:latin typeface="Plus Jakarta Sans"/>
                    <a:ea typeface="Microsoft YaHei"/>
                    <a:cs typeface="Plus Jakarta Sans"/>
                  </a:rPr>
                  <a:t>📝</a:t>
                </a:r>
                <a:r>
                  <a:rPr lang="zh-CN" sz="900" b="1" dirty="0">
                    <a:solidFill>
                      <a:srgbClr val="1C2E24"/>
                    </a:solidFill>
                    <a:latin typeface="Plus Jakarta Sans"/>
                    <a:ea typeface="Microsoft YaHei"/>
                    <a:cs typeface="Plus Jakarta Sans"/>
                  </a:rPr>
                  <a:t>你</a:t>
                </a:r>
                <a:r>
                  <a:rPr lang="zh-CN" sz="900" dirty="0">
                    <a:solidFill>
                      <a:srgbClr val="4D5F54"/>
                    </a:solidFill>
                    <a:latin typeface="Plus Jakarta Sans"/>
                    <a:ea typeface="Microsoft YaHei"/>
                    <a:cs typeface="Plus Jakarta Sans"/>
                  </a:rPr>
                  <a:t>为小绿记录了一次浇水</a:t>
                </a:r>
              </a:p>
            </p:txBody>
          </p:sp>
          <p:sp>
            <p:nvSpPr>
              <p:cNvPr id="43" name="Freeform 43"/>
              <p:cNvSpPr/>
              <p:nvPr/>
            </p:nvSpPr>
            <p:spPr>
              <a:xfrm>
                <a:off x="4286250" y="4524375"/>
                <a:ext cx="3048000" cy="619125"/>
              </a:xfrm>
              <a:custGeom>
                <a:avLst/>
                <a:gdLst/>
                <a:ahLst/>
                <a:cxnLst/>
                <a:rect l="l" t="t" r="r" b="b"/>
                <a:pathLst>
                  <a:path w="3048000" h="619125">
                    <a:moveTo>
                      <a:pt x="76200" y="0"/>
                    </a:moveTo>
                    <a:lnTo>
                      <a:pt x="2971800" y="0"/>
                    </a:lnTo>
                    <a:cubicBezTo>
                      <a:pt x="3013884" y="0"/>
                      <a:pt x="3048000" y="34116"/>
                      <a:pt x="3048000" y="76200"/>
                    </a:cubicBezTo>
                    <a:lnTo>
                      <a:pt x="3048000" y="542925"/>
                    </a:lnTo>
                    <a:cubicBezTo>
                      <a:pt x="3048000" y="585009"/>
                      <a:pt x="3013884" y="619125"/>
                      <a:pt x="2971800" y="619125"/>
                    </a:cubicBezTo>
                    <a:lnTo>
                      <a:pt x="76200" y="619125"/>
                    </a:lnTo>
                    <a:cubicBezTo>
                      <a:pt x="34116" y="619125"/>
                      <a:pt x="0" y="585009"/>
                      <a:pt x="0" y="542925"/>
                    </a:cubicBezTo>
                    <a:lnTo>
                      <a:pt x="0" y="76200"/>
                    </a:lnTo>
                    <a:cubicBezTo>
                      <a:pt x="0" y="34116"/>
                      <a:pt x="34116" y="0"/>
                      <a:pt x="76200" y="0"/>
                    </a:cubicBezTo>
                    <a:close/>
                  </a:path>
                </a:pathLst>
              </a:custGeom>
              <a:solidFill>
                <a:srgbClr val="FFFFFF"/>
              </a:solidFill>
              <a:ln w="9525">
                <a:solidFill>
                  <a:srgbClr val="D1DAD4"/>
                </a:solidFill>
              </a:ln>
            </p:spPr>
          </p:sp>
          <p:sp>
            <p:nvSpPr>
              <p:cNvPr id="44" name="Freeform 44"/>
              <p:cNvSpPr/>
              <p:nvPr/>
            </p:nvSpPr>
            <p:spPr>
              <a:xfrm>
                <a:off x="4429125" y="4638675"/>
                <a:ext cx="714375" cy="190500"/>
              </a:xfrm>
              <a:custGeom>
                <a:avLst/>
                <a:gdLst/>
                <a:ahLst/>
                <a:cxnLst/>
                <a:rect l="l" t="t" r="r" b="b"/>
                <a:pathLst>
                  <a:path w="714375" h="190500">
                    <a:moveTo>
                      <a:pt x="95250" y="0"/>
                    </a:moveTo>
                    <a:lnTo>
                      <a:pt x="619125" y="0"/>
                    </a:lnTo>
                    <a:cubicBezTo>
                      <a:pt x="671730" y="0"/>
                      <a:pt x="714375" y="42645"/>
                      <a:pt x="714375" y="95250"/>
                    </a:cubicBezTo>
                    <a:lnTo>
                      <a:pt x="714375" y="95250"/>
                    </a:lnTo>
                    <a:cubicBezTo>
                      <a:pt x="714375" y="147855"/>
                      <a:pt x="671730" y="190500"/>
                      <a:pt x="619125" y="190500"/>
                    </a:cubicBezTo>
                    <a:lnTo>
                      <a:pt x="95250" y="190500"/>
                    </a:lnTo>
                    <a:cubicBezTo>
                      <a:pt x="42645" y="190500"/>
                      <a:pt x="0" y="147855"/>
                      <a:pt x="0" y="95250"/>
                    </a:cubicBezTo>
                    <a:lnTo>
                      <a:pt x="0" y="95250"/>
                    </a:lnTo>
                    <a:cubicBezTo>
                      <a:pt x="0" y="42645"/>
                      <a:pt x="42645" y="0"/>
                      <a:pt x="95250" y="0"/>
                    </a:cubicBezTo>
                    <a:close/>
                  </a:path>
                </a:pathLst>
              </a:custGeom>
              <a:solidFill>
                <a:srgbClr val="2B583E">
                  <a:alpha val="8000"/>
                </a:srgbClr>
              </a:solidFill>
              <a:ln>
                <a:noFill/>
              </a:ln>
            </p:spPr>
          </p:sp>
          <p:sp>
            <p:nvSpPr>
              <p:cNvPr id="45" name="TextBox 45"/>
              <p:cNvSpPr txBox="1"/>
              <p:nvPr/>
            </p:nvSpPr>
            <p:spPr>
              <a:xfrm>
                <a:off x="4550622" y="4691062"/>
                <a:ext cx="461855" cy="152400"/>
              </a:xfrm>
              <a:prstGeom prst="rect">
                <a:avLst/>
              </a:prstGeom>
              <a:noFill/>
              <a:ln>
                <a:noFill/>
              </a:ln>
            </p:spPr>
            <p:txBody>
              <a:bodyPr wrap="none" lIns="0" tIns="0" rIns="0" bIns="0" anchor="t" anchorCtr="0">
                <a:spAutoFit/>
              </a:bodyPr>
              <a:lstStyle/>
              <a:p>
                <a:pPr algn="ctr"/>
                <a:r>
                  <a:rPr lang="zh-CN" sz="750" b="1" dirty="0">
                    <a:solidFill>
                      <a:srgbClr val="2B583E"/>
                    </a:solidFill>
                    <a:latin typeface="Plus Jakarta Sans"/>
                    <a:ea typeface="Microsoft YaHei"/>
                    <a:cs typeface="Plus Jakarta Sans"/>
                  </a:rPr>
                  <a:t>💧 已浇水</a:t>
                </a:r>
              </a:p>
            </p:txBody>
          </p:sp>
          <p:sp>
            <p:nvSpPr>
              <p:cNvPr id="46" name="Freeform 46"/>
              <p:cNvSpPr/>
              <p:nvPr/>
            </p:nvSpPr>
            <p:spPr>
              <a:xfrm>
                <a:off x="5238750" y="4638675"/>
                <a:ext cx="714375" cy="190500"/>
              </a:xfrm>
              <a:custGeom>
                <a:avLst/>
                <a:gdLst/>
                <a:ahLst/>
                <a:cxnLst/>
                <a:rect l="l" t="t" r="r" b="b"/>
                <a:pathLst>
                  <a:path w="714375" h="190500">
                    <a:moveTo>
                      <a:pt x="95250" y="0"/>
                    </a:moveTo>
                    <a:lnTo>
                      <a:pt x="619125" y="0"/>
                    </a:lnTo>
                    <a:cubicBezTo>
                      <a:pt x="671730" y="0"/>
                      <a:pt x="714375" y="42645"/>
                      <a:pt x="714375" y="95250"/>
                    </a:cubicBezTo>
                    <a:lnTo>
                      <a:pt x="714375" y="95250"/>
                    </a:lnTo>
                    <a:cubicBezTo>
                      <a:pt x="714375" y="147855"/>
                      <a:pt x="671730" y="190500"/>
                      <a:pt x="619125" y="190500"/>
                    </a:cubicBezTo>
                    <a:lnTo>
                      <a:pt x="95250" y="190500"/>
                    </a:lnTo>
                    <a:cubicBezTo>
                      <a:pt x="42645" y="190500"/>
                      <a:pt x="0" y="147855"/>
                      <a:pt x="0" y="95250"/>
                    </a:cubicBezTo>
                    <a:lnTo>
                      <a:pt x="0" y="95250"/>
                    </a:lnTo>
                    <a:cubicBezTo>
                      <a:pt x="0" y="42645"/>
                      <a:pt x="42645" y="0"/>
                      <a:pt x="95250" y="0"/>
                    </a:cubicBezTo>
                    <a:close/>
                  </a:path>
                </a:pathLst>
              </a:custGeom>
              <a:solidFill>
                <a:srgbClr val="2B583E">
                  <a:alpha val="8000"/>
                </a:srgbClr>
              </a:solidFill>
              <a:ln>
                <a:noFill/>
              </a:ln>
            </p:spPr>
          </p:sp>
          <p:sp>
            <p:nvSpPr>
              <p:cNvPr id="47" name="TextBox 47"/>
              <p:cNvSpPr txBox="1"/>
              <p:nvPr/>
            </p:nvSpPr>
            <p:spPr>
              <a:xfrm>
                <a:off x="5271111" y="4691062"/>
                <a:ext cx="640128" cy="152400"/>
              </a:xfrm>
              <a:prstGeom prst="rect">
                <a:avLst/>
              </a:prstGeom>
              <a:noFill/>
              <a:ln>
                <a:noFill/>
              </a:ln>
            </p:spPr>
            <p:txBody>
              <a:bodyPr wrap="none" lIns="0" tIns="0" rIns="0" bIns="0" anchor="t" anchorCtr="0">
                <a:spAutoFit/>
              </a:bodyPr>
              <a:lstStyle/>
              <a:p>
                <a:pPr algn="ctr"/>
                <a:r>
                  <a:rPr lang="zh-CN" sz="750" b="1" dirty="0">
                    <a:solidFill>
                      <a:srgbClr val="2B583E"/>
                    </a:solidFill>
                    <a:latin typeface="Plus Jakarta Sans"/>
                    <a:ea typeface="Microsoft YaHei"/>
                    <a:cs typeface="Plus Jakarta Sans"/>
                  </a:rPr>
                  <a:t>☀️ 已晒太阳</a:t>
                </a:r>
              </a:p>
            </p:txBody>
          </p:sp>
          <p:sp>
            <p:nvSpPr>
              <p:cNvPr id="48" name="TextBox 48"/>
              <p:cNvSpPr txBox="1"/>
              <p:nvPr/>
            </p:nvSpPr>
            <p:spPr>
              <a:xfrm>
                <a:off x="4417695" y="4932045"/>
                <a:ext cx="896969" cy="182880"/>
              </a:xfrm>
              <a:prstGeom prst="rect">
                <a:avLst/>
              </a:prstGeom>
              <a:noFill/>
              <a:ln>
                <a:noFill/>
              </a:ln>
            </p:spPr>
            <p:txBody>
              <a:bodyPr wrap="none" lIns="0" tIns="0" rIns="0" bIns="0" anchor="t" anchorCtr="0">
                <a:spAutoFit/>
              </a:bodyPr>
              <a:lstStyle/>
              <a:p>
                <a:pPr algn="l"/>
                <a:r>
                  <a:rPr lang="zh-CN" sz="900" dirty="0">
                    <a:solidFill>
                      <a:srgbClr val="809085"/>
                    </a:solidFill>
                    <a:latin typeface="Plus Jakarta Sans"/>
                    <a:ea typeface="Microsoft YaHei"/>
                    <a:cs typeface="Plus Jakarta Sans"/>
                  </a:rPr>
                  <a:t>输入悄悄话...</a:t>
                </a:r>
              </a:p>
            </p:txBody>
          </p:sp>
        </p:grpSp>
        <p:grpSp>
          <p:nvGrpSpPr>
            <p:cNvPr id="70" name="Group 70"/>
            <p:cNvGrpSpPr/>
            <p:nvPr/>
          </p:nvGrpSpPr>
          <p:grpSpPr>
            <a:xfrm>
              <a:off x="7715250" y="1381125"/>
              <a:ext cx="3619500" cy="3952875"/>
              <a:chOff x="7715250" y="1381125"/>
              <a:chExt cx="3619500" cy="3952875"/>
            </a:xfrm>
          </p:grpSpPr>
          <p:sp>
            <p:nvSpPr>
              <p:cNvPr id="50" name="Freeform 50"/>
              <p:cNvSpPr/>
              <p:nvPr/>
            </p:nvSpPr>
            <p:spPr>
              <a:xfrm>
                <a:off x="7715250" y="1381125"/>
                <a:ext cx="3619500" cy="3952875"/>
              </a:xfrm>
              <a:custGeom>
                <a:avLst/>
                <a:gdLst/>
                <a:ahLst/>
                <a:cxnLst/>
                <a:rect l="l" t="t" r="r" b="b"/>
                <a:pathLst>
                  <a:path w="3619500" h="3952875">
                    <a:moveTo>
                      <a:pt x="95250" y="0"/>
                    </a:moveTo>
                    <a:lnTo>
                      <a:pt x="3524250" y="0"/>
                    </a:lnTo>
                    <a:cubicBezTo>
                      <a:pt x="3576855" y="0"/>
                      <a:pt x="3619500" y="42645"/>
                      <a:pt x="3619500" y="95250"/>
                    </a:cubicBezTo>
                    <a:lnTo>
                      <a:pt x="3619500" y="3857625"/>
                    </a:lnTo>
                    <a:cubicBezTo>
                      <a:pt x="3619500" y="3910230"/>
                      <a:pt x="3576855" y="3952875"/>
                      <a:pt x="3524250" y="3952875"/>
                    </a:cubicBezTo>
                    <a:lnTo>
                      <a:pt x="95250" y="3952875"/>
                    </a:lnTo>
                    <a:cubicBezTo>
                      <a:pt x="42645" y="3952875"/>
                      <a:pt x="0" y="3910230"/>
                      <a:pt x="0" y="3857625"/>
                    </a:cubicBezTo>
                    <a:lnTo>
                      <a:pt x="0" y="95250"/>
                    </a:lnTo>
                    <a:cubicBezTo>
                      <a:pt x="0" y="42645"/>
                      <a:pt x="42645" y="0"/>
                      <a:pt x="95250" y="0"/>
                    </a:cubicBezTo>
                    <a:close/>
                  </a:path>
                </a:pathLst>
              </a:custGeom>
              <a:solidFill>
                <a:srgbClr val="F4F6F4"/>
              </a:solidFill>
              <a:ln w="9525">
                <a:solidFill>
                  <a:srgbClr val="D1DAD4"/>
                </a:solidFill>
              </a:ln>
            </p:spPr>
          </p:sp>
          <p:sp>
            <p:nvSpPr>
              <p:cNvPr id="51" name="Freeform 51"/>
              <p:cNvSpPr/>
              <p:nvPr/>
            </p:nvSpPr>
            <p:spPr>
              <a:xfrm>
                <a:off x="7715250" y="1381125"/>
                <a:ext cx="3619500" cy="381000"/>
              </a:xfrm>
              <a:custGeom>
                <a:avLst/>
                <a:gdLst/>
                <a:ahLst/>
                <a:cxnLst/>
                <a:rect l="l" t="t" r="r" b="b"/>
                <a:pathLst>
                  <a:path w="3619500" h="381000">
                    <a:moveTo>
                      <a:pt x="95250" y="0"/>
                    </a:moveTo>
                    <a:lnTo>
                      <a:pt x="3524250" y="0"/>
                    </a:lnTo>
                    <a:cubicBezTo>
                      <a:pt x="3576855" y="0"/>
                      <a:pt x="3619500" y="42645"/>
                      <a:pt x="3619500" y="95250"/>
                    </a:cubicBezTo>
                    <a:lnTo>
                      <a:pt x="3619500" y="285750"/>
                    </a:lnTo>
                    <a:cubicBezTo>
                      <a:pt x="3619500" y="338355"/>
                      <a:pt x="3576855" y="381000"/>
                      <a:pt x="3524250" y="381000"/>
                    </a:cubicBezTo>
                    <a:lnTo>
                      <a:pt x="95250" y="381000"/>
                    </a:lnTo>
                    <a:cubicBezTo>
                      <a:pt x="42645" y="381000"/>
                      <a:pt x="0" y="338355"/>
                      <a:pt x="0" y="285750"/>
                    </a:cubicBezTo>
                    <a:lnTo>
                      <a:pt x="0" y="95250"/>
                    </a:lnTo>
                    <a:cubicBezTo>
                      <a:pt x="0" y="42645"/>
                      <a:pt x="42645" y="0"/>
                      <a:pt x="95250" y="0"/>
                    </a:cubicBezTo>
                    <a:close/>
                  </a:path>
                </a:pathLst>
              </a:custGeom>
              <a:solidFill>
                <a:srgbClr val="8E5B3C"/>
              </a:solidFill>
              <a:ln>
                <a:noFill/>
              </a:ln>
            </p:spPr>
          </p:sp>
          <p:sp>
            <p:nvSpPr>
              <p:cNvPr id="52" name="Rectangle 52"/>
              <p:cNvSpPr/>
              <p:nvPr/>
            </p:nvSpPr>
            <p:spPr>
              <a:xfrm>
                <a:off x="7715250" y="1619250"/>
                <a:ext cx="3619500" cy="142875"/>
              </a:xfrm>
              <a:prstGeom prst="rect">
                <a:avLst/>
              </a:prstGeom>
              <a:solidFill>
                <a:srgbClr val="8E5B3C"/>
              </a:solidFill>
              <a:ln>
                <a:noFill/>
              </a:ln>
            </p:spPr>
          </p:sp>
          <p:sp>
            <p:nvSpPr>
              <p:cNvPr id="53" name="Freeform 53"/>
              <p:cNvSpPr/>
              <p:nvPr/>
            </p:nvSpPr>
            <p:spPr>
              <a:xfrm>
                <a:off x="7924800" y="1476375"/>
                <a:ext cx="190500" cy="190500"/>
              </a:xfrm>
              <a:custGeom>
                <a:avLst/>
                <a:gdLst/>
                <a:ahLst/>
                <a:cxnLst/>
                <a:rect l="l" t="t" r="r" b="b"/>
                <a:pathLst>
                  <a:path w="190500" h="190500">
                    <a:moveTo>
                      <a:pt x="64894" y="91554"/>
                    </a:moveTo>
                    <a:cubicBezTo>
                      <a:pt x="69247" y="87935"/>
                      <a:pt x="73638" y="87935"/>
                      <a:pt x="78095" y="91659"/>
                    </a:cubicBezTo>
                    <a:lnTo>
                      <a:pt x="79124" y="92593"/>
                    </a:lnTo>
                    <a:lnTo>
                      <a:pt x="126616" y="140084"/>
                    </a:lnTo>
                    <a:lnTo>
                      <a:pt x="127511" y="140875"/>
                    </a:lnTo>
                    <a:cubicBezTo>
                      <a:pt x="131303" y="143814"/>
                      <a:pt x="136689" y="143474"/>
                      <a:pt x="140082" y="140082"/>
                    </a:cubicBezTo>
                    <a:cubicBezTo>
                      <a:pt x="143474" y="136689"/>
                      <a:pt x="143814" y="131303"/>
                      <a:pt x="140875" y="127511"/>
                    </a:cubicBezTo>
                    <a:lnTo>
                      <a:pt x="140084" y="126616"/>
                    </a:lnTo>
                    <a:lnTo>
                      <a:pt x="127778" y="114300"/>
                    </a:lnTo>
                    <a:lnTo>
                      <a:pt x="130559" y="111509"/>
                    </a:lnTo>
                    <a:lnTo>
                      <a:pt x="131569" y="110604"/>
                    </a:lnTo>
                    <a:cubicBezTo>
                      <a:pt x="135922" y="106985"/>
                      <a:pt x="140313" y="106985"/>
                      <a:pt x="144770" y="110709"/>
                    </a:cubicBezTo>
                    <a:lnTo>
                      <a:pt x="145799" y="111643"/>
                    </a:lnTo>
                    <a:lnTo>
                      <a:pt x="190319" y="156172"/>
                    </a:lnTo>
                    <a:cubicBezTo>
                      <a:pt x="188456" y="174916"/>
                      <a:pt x="173174" y="189485"/>
                      <a:pt x="154362" y="190452"/>
                    </a:cubicBezTo>
                    <a:lnTo>
                      <a:pt x="152400" y="190500"/>
                    </a:lnTo>
                    <a:lnTo>
                      <a:pt x="38100" y="190500"/>
                    </a:lnTo>
                    <a:cubicBezTo>
                      <a:pt x="18523" y="190499"/>
                      <a:pt x="2134" y="175662"/>
                      <a:pt x="191" y="156181"/>
                    </a:cubicBezTo>
                    <a:lnTo>
                      <a:pt x="63884" y="92459"/>
                    </a:lnTo>
                    <a:lnTo>
                      <a:pt x="64894" y="91554"/>
                    </a:lnTo>
                    <a:close/>
                    <a:moveTo>
                      <a:pt x="152400" y="0"/>
                    </a:moveTo>
                    <a:cubicBezTo>
                      <a:pt x="172702" y="0"/>
                      <a:pt x="189437" y="15919"/>
                      <a:pt x="190452" y="36195"/>
                    </a:cubicBezTo>
                    <a:lnTo>
                      <a:pt x="190500" y="38100"/>
                    </a:lnTo>
                    <a:lnTo>
                      <a:pt x="190500" y="129397"/>
                    </a:lnTo>
                    <a:lnTo>
                      <a:pt x="159134" y="98041"/>
                    </a:lnTo>
                    <a:lnTo>
                      <a:pt x="157705" y="96736"/>
                    </a:lnTo>
                    <a:cubicBezTo>
                      <a:pt x="145742" y="86306"/>
                      <a:pt x="130559" y="86287"/>
                      <a:pt x="118691" y="96574"/>
                    </a:cubicBezTo>
                    <a:lnTo>
                      <a:pt x="117224" y="97907"/>
                    </a:lnTo>
                    <a:lnTo>
                      <a:pt x="114300" y="100822"/>
                    </a:lnTo>
                    <a:lnTo>
                      <a:pt x="92459" y="78991"/>
                    </a:lnTo>
                    <a:lnTo>
                      <a:pt x="91030" y="77686"/>
                    </a:lnTo>
                    <a:cubicBezTo>
                      <a:pt x="79067" y="67256"/>
                      <a:pt x="63884" y="67237"/>
                      <a:pt x="52016" y="77524"/>
                    </a:cubicBezTo>
                    <a:lnTo>
                      <a:pt x="50549" y="78857"/>
                    </a:lnTo>
                    <a:lnTo>
                      <a:pt x="0" y="129397"/>
                    </a:lnTo>
                    <a:lnTo>
                      <a:pt x="0" y="38100"/>
                    </a:lnTo>
                    <a:cubicBezTo>
                      <a:pt x="0" y="17798"/>
                      <a:pt x="15919" y="1063"/>
                      <a:pt x="36195" y="48"/>
                    </a:cubicBezTo>
                    <a:lnTo>
                      <a:pt x="38100" y="0"/>
                    </a:lnTo>
                    <a:lnTo>
                      <a:pt x="152400" y="0"/>
                    </a:lnTo>
                    <a:close/>
                    <a:moveTo>
                      <a:pt x="123920" y="47625"/>
                    </a:moveTo>
                    <a:lnTo>
                      <a:pt x="122711" y="47692"/>
                    </a:lnTo>
                    <a:cubicBezTo>
                      <a:pt x="117919" y="48262"/>
                      <a:pt x="114311" y="52325"/>
                      <a:pt x="114311" y="57150"/>
                    </a:cubicBezTo>
                    <a:cubicBezTo>
                      <a:pt x="114311" y="61975"/>
                      <a:pt x="117919" y="66038"/>
                      <a:pt x="122711" y="66608"/>
                    </a:cubicBezTo>
                    <a:lnTo>
                      <a:pt x="123825" y="66675"/>
                    </a:lnTo>
                    <a:lnTo>
                      <a:pt x="125035" y="66608"/>
                    </a:lnTo>
                    <a:cubicBezTo>
                      <a:pt x="129826" y="66038"/>
                      <a:pt x="133435" y="61975"/>
                      <a:pt x="133435" y="57150"/>
                    </a:cubicBezTo>
                    <a:cubicBezTo>
                      <a:pt x="133435" y="52325"/>
                      <a:pt x="129826" y="48262"/>
                      <a:pt x="125035" y="47692"/>
                    </a:cubicBezTo>
                    <a:lnTo>
                      <a:pt x="123920" y="47625"/>
                    </a:lnTo>
                    <a:close/>
                  </a:path>
                </a:pathLst>
              </a:custGeom>
              <a:solidFill>
                <a:srgbClr val="FFFFFF"/>
              </a:solidFill>
              <a:ln>
                <a:noFill/>
              </a:ln>
            </p:spPr>
          </p:sp>
          <p:sp>
            <p:nvSpPr>
              <p:cNvPr id="54" name="TextBox 54"/>
              <p:cNvSpPr txBox="1"/>
              <p:nvPr/>
            </p:nvSpPr>
            <p:spPr>
              <a:xfrm>
                <a:off x="8225790" y="1515428"/>
                <a:ext cx="2272901"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Quicksand"/>
                    <a:ea typeface="Microsoft YaHei"/>
                    <a:cs typeface="Quicksand"/>
                  </a:rPr>
                  <a:t>成长日记 (Milestone Journal)</a:t>
                </a:r>
              </a:p>
            </p:txBody>
          </p:sp>
          <p:sp>
            <p:nvSpPr>
              <p:cNvPr id="55" name="Freeform 55"/>
              <p:cNvSpPr/>
              <p:nvPr/>
            </p:nvSpPr>
            <p:spPr>
              <a:xfrm>
                <a:off x="7905750" y="1905000"/>
                <a:ext cx="3238500" cy="571500"/>
              </a:xfrm>
              <a:custGeom>
                <a:avLst/>
                <a:gdLst/>
                <a:ahLst/>
                <a:cxnLst/>
                <a:rect l="l" t="t" r="r" b="b"/>
                <a:pathLst>
                  <a:path w="3238500" h="571500">
                    <a:moveTo>
                      <a:pt x="76200" y="0"/>
                    </a:moveTo>
                    <a:lnTo>
                      <a:pt x="3162300" y="0"/>
                    </a:lnTo>
                    <a:cubicBezTo>
                      <a:pt x="3204384" y="0"/>
                      <a:pt x="3238500" y="34116"/>
                      <a:pt x="3238500" y="76200"/>
                    </a:cubicBezTo>
                    <a:lnTo>
                      <a:pt x="3238500" y="495300"/>
                    </a:lnTo>
                    <a:cubicBezTo>
                      <a:pt x="3238500" y="537384"/>
                      <a:pt x="3204384" y="571500"/>
                      <a:pt x="3162300" y="571500"/>
                    </a:cubicBezTo>
                    <a:lnTo>
                      <a:pt x="76200" y="571500"/>
                    </a:lnTo>
                    <a:cubicBezTo>
                      <a:pt x="34116" y="571500"/>
                      <a:pt x="0" y="537384"/>
                      <a:pt x="0" y="495300"/>
                    </a:cubicBezTo>
                    <a:lnTo>
                      <a:pt x="0" y="76200"/>
                    </a:lnTo>
                    <a:cubicBezTo>
                      <a:pt x="0" y="34116"/>
                      <a:pt x="34116" y="0"/>
                      <a:pt x="76200" y="0"/>
                    </a:cubicBezTo>
                    <a:close/>
                  </a:path>
                </a:pathLst>
              </a:custGeom>
              <a:solidFill>
                <a:srgbClr val="FFFFFF"/>
              </a:solidFill>
              <a:ln w="9525">
                <a:solidFill>
                  <a:srgbClr val="D1DAD4"/>
                </a:solidFill>
              </a:ln>
            </p:spPr>
          </p:sp>
          <p:sp>
            <p:nvSpPr>
              <p:cNvPr id="56" name="TextBox 56"/>
              <p:cNvSpPr txBox="1"/>
              <p:nvPr/>
            </p:nvSpPr>
            <p:spPr>
              <a:xfrm>
                <a:off x="8081962" y="2116931"/>
                <a:ext cx="1227600"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成长积分：</a:t>
                </a:r>
                <a:r>
                  <a:rPr lang="zh-CN" sz="1125" b="1" dirty="0">
                    <a:solidFill>
                      <a:srgbClr val="2B583E"/>
                    </a:solidFill>
                    <a:latin typeface="Quicksand"/>
                    <a:ea typeface="Microsoft YaHei"/>
                    <a:cs typeface="Quicksand"/>
                  </a:rPr>
                  <a:t>1280</a:t>
                </a:r>
              </a:p>
            </p:txBody>
          </p:sp>
          <p:sp>
            <p:nvSpPr>
              <p:cNvPr id="57" name="TextBox 57"/>
              <p:cNvSpPr txBox="1"/>
              <p:nvPr/>
            </p:nvSpPr>
            <p:spPr>
              <a:xfrm>
                <a:off x="9320212" y="2116931"/>
                <a:ext cx="1667530" cy="228600"/>
              </a:xfrm>
              <a:prstGeom prst="rect">
                <a:avLst/>
              </a:prstGeom>
              <a:noFill/>
              <a:ln>
                <a:noFill/>
              </a:ln>
            </p:spPr>
            <p:txBody>
              <a:bodyPr wrap="none" lIns="0" tIns="0" rIns="0" bIns="0" anchor="t" anchorCtr="0">
                <a:spAutoFit/>
              </a:bodyPr>
              <a:lstStyle/>
              <a:p>
                <a:pPr algn="l"/>
                <a:r>
                  <a:rPr lang="zh-CN" sz="1125" b="1" dirty="0">
                    <a:solidFill>
                      <a:srgbClr val="1C2E24"/>
                    </a:solidFill>
                    <a:latin typeface="Quicksand"/>
                    <a:ea typeface="Microsoft YaHei"/>
                    <a:cs typeface="Quicksand"/>
                  </a:rPr>
                  <a:t>羁绊深度：</a:t>
                </a:r>
                <a:r>
                  <a:rPr lang="zh-CN" sz="1125" b="1" dirty="0">
                    <a:solidFill>
                      <a:srgbClr val="8E5B3C"/>
                    </a:solidFill>
                    <a:latin typeface="Quicksand"/>
                    <a:ea typeface="Microsoft YaHei"/>
                    <a:cs typeface="Quicksand"/>
                  </a:rPr>
                  <a:t>极深 (98)</a:t>
                </a:r>
              </a:p>
            </p:txBody>
          </p:sp>
          <p:sp>
            <p:nvSpPr>
              <p:cNvPr id="58" name="Line 58"/>
              <p:cNvSpPr/>
              <p:nvPr/>
            </p:nvSpPr>
            <p:spPr>
              <a:xfrm>
                <a:off x="8096250" y="2714625"/>
                <a:ext cx="9525" cy="2333625"/>
              </a:xfrm>
              <a:custGeom>
                <a:avLst/>
                <a:gdLst/>
                <a:ahLst/>
                <a:cxnLst/>
                <a:rect l="l" t="t" r="r" b="b"/>
                <a:pathLst>
                  <a:path w="9525" h="2333625">
                    <a:moveTo>
                      <a:pt x="0" y="0"/>
                    </a:moveTo>
                    <a:lnTo>
                      <a:pt x="0" y="2333625"/>
                    </a:lnTo>
                  </a:path>
                </a:pathLst>
              </a:custGeom>
              <a:noFill/>
              <a:ln w="19050">
                <a:solidFill>
                  <a:srgbClr val="D1DAD4"/>
                </a:solidFill>
              </a:ln>
            </p:spPr>
          </p:sp>
          <p:sp>
            <p:nvSpPr>
              <p:cNvPr id="59" name="Ellipse 59"/>
              <p:cNvSpPr/>
              <p:nvPr/>
            </p:nvSpPr>
            <p:spPr>
              <a:xfrm>
                <a:off x="8039100" y="2847975"/>
                <a:ext cx="114300" cy="114300"/>
              </a:xfrm>
              <a:prstGeom prst="ellipse">
                <a:avLst/>
              </a:prstGeom>
              <a:solidFill>
                <a:srgbClr val="3B8756"/>
              </a:solidFill>
              <a:ln>
                <a:noFill/>
              </a:ln>
            </p:spPr>
          </p:sp>
          <p:sp>
            <p:nvSpPr>
              <p:cNvPr id="60" name="Freeform 60"/>
              <p:cNvSpPr/>
              <p:nvPr/>
            </p:nvSpPr>
            <p:spPr>
              <a:xfrm>
                <a:off x="8286750" y="2714625"/>
                <a:ext cx="2857500" cy="857250"/>
              </a:xfrm>
              <a:custGeom>
                <a:avLst/>
                <a:gdLst/>
                <a:ahLst/>
                <a:cxnLst/>
                <a:rect l="l" t="t" r="r" b="b"/>
                <a:pathLst>
                  <a:path w="2857500" h="857250">
                    <a:moveTo>
                      <a:pt x="57150" y="0"/>
                    </a:moveTo>
                    <a:lnTo>
                      <a:pt x="2800350" y="0"/>
                    </a:lnTo>
                    <a:cubicBezTo>
                      <a:pt x="2831913" y="0"/>
                      <a:pt x="2857500" y="25587"/>
                      <a:pt x="2857500" y="57150"/>
                    </a:cubicBezTo>
                    <a:lnTo>
                      <a:pt x="2857500" y="800100"/>
                    </a:lnTo>
                    <a:cubicBezTo>
                      <a:pt x="2857500" y="831663"/>
                      <a:pt x="2831913" y="857250"/>
                      <a:pt x="2800350" y="857250"/>
                    </a:cubicBezTo>
                    <a:lnTo>
                      <a:pt x="57150" y="857250"/>
                    </a:lnTo>
                    <a:cubicBezTo>
                      <a:pt x="25587" y="857250"/>
                      <a:pt x="0" y="831663"/>
                      <a:pt x="0" y="800100"/>
                    </a:cubicBezTo>
                    <a:lnTo>
                      <a:pt x="0" y="57150"/>
                    </a:lnTo>
                    <a:cubicBezTo>
                      <a:pt x="0" y="25587"/>
                      <a:pt x="25587" y="0"/>
                      <a:pt x="57150" y="0"/>
                    </a:cubicBezTo>
                    <a:close/>
                  </a:path>
                </a:pathLst>
              </a:custGeom>
              <a:solidFill>
                <a:srgbClr val="FFFFFF"/>
              </a:solidFill>
              <a:ln w="9525">
                <a:solidFill>
                  <a:srgbClr val="D1DAD4"/>
                </a:solidFill>
              </a:ln>
            </p:spPr>
          </p:sp>
          <p:sp>
            <p:nvSpPr>
              <p:cNvPr id="61" name="Freeform 61"/>
              <p:cNvSpPr/>
              <p:nvPr/>
            </p:nvSpPr>
            <p:spPr>
              <a:xfrm>
                <a:off x="8286750" y="2714625"/>
                <a:ext cx="190500" cy="190500"/>
              </a:xfrm>
              <a:custGeom>
                <a:avLst/>
                <a:gdLst/>
                <a:ahLst/>
                <a:cxnLst/>
                <a:rect l="l" t="t" r="r" b="b"/>
                <a:pathLst>
                  <a:path w="190500" h="190500">
                    <a:moveTo>
                      <a:pt x="0" y="57150"/>
                    </a:moveTo>
                    <a:cubicBezTo>
                      <a:pt x="0" y="25587"/>
                      <a:pt x="25587" y="0"/>
                      <a:pt x="57150" y="0"/>
                    </a:cubicBezTo>
                    <a:lnTo>
                      <a:pt x="190500" y="0"/>
                    </a:lnTo>
                    <a:lnTo>
                      <a:pt x="0" y="190500"/>
                    </a:lnTo>
                    <a:close/>
                  </a:path>
                </a:pathLst>
              </a:custGeom>
              <a:solidFill>
                <a:srgbClr val="DDA43B"/>
              </a:solidFill>
              <a:ln>
                <a:noFill/>
              </a:ln>
            </p:spPr>
          </p:sp>
          <p:sp>
            <p:nvSpPr>
              <p:cNvPr id="62" name="TextBox 62"/>
              <p:cNvSpPr txBox="1"/>
              <p:nvPr/>
            </p:nvSpPr>
            <p:spPr>
              <a:xfrm>
                <a:off x="8465820" y="2836545"/>
                <a:ext cx="1734274" cy="182880"/>
              </a:xfrm>
              <a:prstGeom prst="rect">
                <a:avLst/>
              </a:prstGeom>
              <a:noFill/>
              <a:ln>
                <a:noFill/>
              </a:ln>
            </p:spPr>
            <p:txBody>
              <a:bodyPr wrap="none" lIns="0" tIns="0" rIns="0" bIns="0" anchor="t" anchorCtr="0">
                <a:spAutoFit/>
              </a:bodyPr>
              <a:lstStyle/>
              <a:p>
                <a:pPr algn="l"/>
                <a:r>
                  <a:rPr lang="zh-CN" sz="900" b="1" dirty="0">
                    <a:solidFill>
                      <a:srgbClr val="8E5B3C"/>
                    </a:solidFill>
                    <a:latin typeface="Quicksand"/>
                    <a:ea typeface="Microsoft YaHei"/>
                    <a:cs typeface="Quicksand"/>
                  </a:rPr>
                  <a:t>2026-05-25 | 长期记忆生成</a:t>
                </a:r>
              </a:p>
            </p:txBody>
          </p:sp>
          <p:sp>
            <p:nvSpPr>
              <p:cNvPr id="63" name="TextBox 63"/>
              <p:cNvSpPr txBox="1"/>
              <p:nvPr/>
            </p:nvSpPr>
            <p:spPr>
              <a:xfrm>
                <a:off x="8464868" y="3037999"/>
                <a:ext cx="1385385"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“你第一次为我唱歌”</a:t>
                </a:r>
              </a:p>
            </p:txBody>
          </p:sp>
          <p:sp>
            <p:nvSpPr>
              <p:cNvPr id="64" name="TextBox 64"/>
              <p:cNvSpPr txBox="1"/>
              <p:nvPr/>
            </p:nvSpPr>
            <p:spPr>
              <a:xfrm>
                <a:off x="8466772" y="3263741"/>
                <a:ext cx="1822299" cy="167640"/>
              </a:xfrm>
              <a:prstGeom prst="rect">
                <a:avLst/>
              </a:prstGeom>
              <a:noFill/>
              <a:ln>
                <a:noFill/>
              </a:ln>
            </p:spPr>
            <p:txBody>
              <a:bodyPr wrap="none" lIns="0" tIns="0" rIns="0" bIns="0" anchor="t" anchorCtr="0">
                <a:spAutoFit/>
              </a:bodyPr>
              <a:lstStyle/>
              <a:p>
                <a:pPr algn="l"/>
                <a:r>
                  <a:rPr lang="zh-CN" sz="825" dirty="0">
                    <a:solidFill>
                      <a:srgbClr val="2B583E"/>
                    </a:solidFill>
                    <a:latin typeface="Plus Jakarta Sans"/>
                    <a:ea typeface="Microsoft YaHei"/>
                    <a:cs typeface="Plus Jakarta Sans"/>
                  </a:rPr>
                  <a:t>💬 你的回应：“小绿要快快长大噢”</a:t>
                </a:r>
              </a:p>
            </p:txBody>
          </p:sp>
          <p:sp>
            <p:nvSpPr>
              <p:cNvPr id="65" name="Ellipse 65"/>
              <p:cNvSpPr/>
              <p:nvPr/>
            </p:nvSpPr>
            <p:spPr>
              <a:xfrm>
                <a:off x="8039100" y="3990975"/>
                <a:ext cx="114300" cy="114300"/>
              </a:xfrm>
              <a:prstGeom prst="ellipse">
                <a:avLst/>
              </a:prstGeom>
              <a:solidFill>
                <a:srgbClr val="3B8756"/>
              </a:solidFill>
              <a:ln>
                <a:noFill/>
              </a:ln>
            </p:spPr>
          </p:sp>
          <p:sp>
            <p:nvSpPr>
              <p:cNvPr id="66" name="Freeform 66"/>
              <p:cNvSpPr/>
              <p:nvPr/>
            </p:nvSpPr>
            <p:spPr>
              <a:xfrm>
                <a:off x="8286750" y="3857625"/>
                <a:ext cx="2857500" cy="857250"/>
              </a:xfrm>
              <a:custGeom>
                <a:avLst/>
                <a:gdLst/>
                <a:ahLst/>
                <a:cxnLst/>
                <a:rect l="l" t="t" r="r" b="b"/>
                <a:pathLst>
                  <a:path w="2857500" h="857250">
                    <a:moveTo>
                      <a:pt x="57150" y="0"/>
                    </a:moveTo>
                    <a:lnTo>
                      <a:pt x="2800350" y="0"/>
                    </a:lnTo>
                    <a:cubicBezTo>
                      <a:pt x="2831913" y="0"/>
                      <a:pt x="2857500" y="25587"/>
                      <a:pt x="2857500" y="57150"/>
                    </a:cubicBezTo>
                    <a:lnTo>
                      <a:pt x="2857500" y="800100"/>
                    </a:lnTo>
                    <a:cubicBezTo>
                      <a:pt x="2857500" y="831663"/>
                      <a:pt x="2831913" y="857250"/>
                      <a:pt x="2800350" y="857250"/>
                    </a:cubicBezTo>
                    <a:lnTo>
                      <a:pt x="57150" y="857250"/>
                    </a:lnTo>
                    <a:cubicBezTo>
                      <a:pt x="25587" y="857250"/>
                      <a:pt x="0" y="831663"/>
                      <a:pt x="0" y="800100"/>
                    </a:cubicBezTo>
                    <a:lnTo>
                      <a:pt x="0" y="57150"/>
                    </a:lnTo>
                    <a:cubicBezTo>
                      <a:pt x="0" y="25587"/>
                      <a:pt x="25587" y="0"/>
                      <a:pt x="57150" y="0"/>
                    </a:cubicBezTo>
                    <a:close/>
                  </a:path>
                </a:pathLst>
              </a:custGeom>
              <a:solidFill>
                <a:srgbClr val="FFFFFF"/>
              </a:solidFill>
              <a:ln w="9525">
                <a:solidFill>
                  <a:srgbClr val="D1DAD4"/>
                </a:solidFill>
              </a:ln>
            </p:spPr>
          </p:sp>
          <p:sp>
            <p:nvSpPr>
              <p:cNvPr id="67" name="TextBox 67"/>
              <p:cNvSpPr txBox="1"/>
              <p:nvPr/>
            </p:nvSpPr>
            <p:spPr>
              <a:xfrm>
                <a:off x="8465820" y="3979545"/>
                <a:ext cx="1872291" cy="182880"/>
              </a:xfrm>
              <a:prstGeom prst="rect">
                <a:avLst/>
              </a:prstGeom>
              <a:noFill/>
              <a:ln>
                <a:noFill/>
              </a:ln>
            </p:spPr>
            <p:txBody>
              <a:bodyPr wrap="none" lIns="0" tIns="0" rIns="0" bIns="0" anchor="t" anchorCtr="0">
                <a:spAutoFit/>
              </a:bodyPr>
              <a:lstStyle/>
              <a:p>
                <a:pPr algn="l"/>
                <a:r>
                  <a:rPr lang="zh-CN" sz="900" b="1" dirty="0">
                    <a:solidFill>
                      <a:srgbClr val="809085"/>
                    </a:solidFill>
                    <a:latin typeface="Quicksand"/>
                    <a:ea typeface="Microsoft YaHei"/>
                    <a:cs typeface="Quicksand"/>
                  </a:rPr>
                  <a:t>2026-05-20 | 设备首次被认领</a:t>
                </a:r>
              </a:p>
            </p:txBody>
          </p:sp>
          <p:sp>
            <p:nvSpPr>
              <p:cNvPr id="68" name="TextBox 68"/>
              <p:cNvSpPr txBox="1"/>
              <p:nvPr/>
            </p:nvSpPr>
            <p:spPr>
              <a:xfrm>
                <a:off x="8464868" y="4200049"/>
                <a:ext cx="1833941" cy="198120"/>
              </a:xfrm>
              <a:prstGeom prst="rect">
                <a:avLst/>
              </a:prstGeom>
              <a:noFill/>
              <a:ln>
                <a:noFill/>
              </a:ln>
            </p:spPr>
            <p:txBody>
              <a:bodyPr wrap="none" lIns="0" tIns="0" rIns="0" bIns="0" anchor="t" anchorCtr="0">
                <a:spAutoFit/>
              </a:bodyPr>
              <a:lstStyle/>
              <a:p>
                <a:pPr algn="l"/>
                <a:r>
                  <a:rPr lang="zh-CN" sz="975" b="1" dirty="0">
                    <a:solidFill>
                      <a:srgbClr val="1C2E24"/>
                    </a:solidFill>
                    <a:latin typeface="Plus Jakarta Sans"/>
                    <a:ea typeface="Microsoft YaHei"/>
                    <a:cs typeface="Plus Jakarta Sans"/>
                  </a:rPr>
                  <a:t>“小绿的第一天，请多关照”</a:t>
                </a:r>
              </a:p>
            </p:txBody>
          </p:sp>
          <p:sp>
            <p:nvSpPr>
              <p:cNvPr id="69" name="TextBox 69"/>
              <p:cNvSpPr txBox="1"/>
              <p:nvPr/>
            </p:nvSpPr>
            <p:spPr>
              <a:xfrm>
                <a:off x="8466772" y="4435316"/>
                <a:ext cx="1665661" cy="167640"/>
              </a:xfrm>
              <a:prstGeom prst="rect">
                <a:avLst/>
              </a:prstGeom>
              <a:noFill/>
              <a:ln>
                <a:noFill/>
              </a:ln>
            </p:spPr>
            <p:txBody>
              <a:bodyPr wrap="none" lIns="0" tIns="0" rIns="0" bIns="0" anchor="t" anchorCtr="0">
                <a:spAutoFit/>
              </a:bodyPr>
              <a:lstStyle/>
              <a:p>
                <a:pPr algn="l"/>
                <a:r>
                  <a:rPr lang="zh-CN" sz="825" dirty="0">
                    <a:solidFill>
                      <a:srgbClr val="809085"/>
                    </a:solidFill>
                    <a:latin typeface="Plus Jakarta Sans"/>
                    <a:ea typeface="Microsoft YaHei"/>
                    <a:cs typeface="Plus Jakarta Sans"/>
                  </a:rPr>
                  <a:t>悬停里程碑以留下你的寄语...</a:t>
                </a:r>
              </a:p>
            </p:txBody>
          </p:sp>
        </p:grpSp>
      </p:grpSp>
      <p:grpSp>
        <p:nvGrpSpPr>
          <p:cNvPr id="74" name="Group 74"/>
          <p:cNvGrpSpPr/>
          <p:nvPr/>
        </p:nvGrpSpPr>
        <p:grpSpPr>
          <a:xfrm>
            <a:off x="561975" y="6443662"/>
            <a:ext cx="10877549" cy="152400"/>
            <a:chOff x="561975" y="6443662"/>
            <a:chExt cx="10877549" cy="152400"/>
          </a:xfrm>
        </p:grpSpPr>
        <p:sp>
          <p:nvSpPr>
            <p:cNvPr id="72" name="TextBox 7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73" name="TextBox 73"/>
            <p:cNvSpPr txBox="1"/>
            <p:nvPr/>
          </p:nvSpPr>
          <p:spPr>
            <a:xfrm>
              <a:off x="11354752" y="6443662"/>
              <a:ext cx="84772"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11</a:t>
              </a:r>
            </a:p>
          </p:txBody>
        </p:sp>
      </p:gr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终端体验层</a:t>
              </a:r>
            </a:p>
          </p:txBody>
        </p:sp>
        <p:sp>
          <p:nvSpPr>
            <p:cNvPr id="5" name="TextBox 5"/>
            <p:cNvSpPr txBox="1"/>
            <p:nvPr/>
          </p:nvSpPr>
          <p:spPr>
            <a:xfrm>
              <a:off x="1836420" y="312420"/>
              <a:ext cx="6317742"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慢交互细节：植物呼吸节奏的视觉落地</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8" name="Group 28"/>
          <p:cNvGrpSpPr/>
          <p:nvPr/>
        </p:nvGrpSpPr>
        <p:grpSpPr>
          <a:xfrm>
            <a:off x="550545" y="1203008"/>
            <a:ext cx="6331676" cy="4607242"/>
            <a:chOff x="550545" y="1203008"/>
            <a:chExt cx="6331676" cy="4607242"/>
          </a:xfrm>
        </p:grpSpPr>
        <p:sp>
          <p:nvSpPr>
            <p:cNvPr id="8" name="TextBox 8"/>
            <p:cNvSpPr txBox="1"/>
            <p:nvPr/>
          </p:nvSpPr>
          <p:spPr>
            <a:xfrm>
              <a:off x="550545" y="1203008"/>
              <a:ext cx="3609656" cy="335280"/>
            </a:xfrm>
            <a:prstGeom prst="rect">
              <a:avLst/>
            </a:prstGeom>
            <a:noFill/>
            <a:ln>
              <a:noFill/>
            </a:ln>
          </p:spPr>
          <p:txBody>
            <a:bodyPr wrap="none" lIns="0" tIns="0" rIns="0" bIns="0" anchor="t" anchorCtr="0">
              <a:spAutoFit/>
            </a:bodyPr>
            <a:lstStyle/>
            <a:p>
              <a:pPr algn="l"/>
              <a:r>
                <a:rPr lang="zh-CN" sz="1650" b="1" dirty="0">
                  <a:solidFill>
                    <a:srgbClr val="2B583E"/>
                  </a:solidFill>
                  <a:latin typeface="Quicksand"/>
                  <a:ea typeface="Microsoft YaHei"/>
                  <a:cs typeface="Quicksand"/>
                </a:rPr>
                <a:t>植物的世界，没有“立刻不可逆”</a:t>
              </a:r>
            </a:p>
          </p:txBody>
        </p:sp>
        <p:sp>
          <p:nvSpPr>
            <p:cNvPr id="9" name="TextBox 9"/>
            <p:cNvSpPr txBox="1"/>
            <p:nvPr/>
          </p:nvSpPr>
          <p:spPr>
            <a:xfrm>
              <a:off x="557212" y="1593056"/>
              <a:ext cx="4629150"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我们为用户打造了一个耐心、宽容且充满触觉手感的情感空间：</a:t>
              </a:r>
            </a:p>
          </p:txBody>
        </p:sp>
        <p:grpSp>
          <p:nvGrpSpPr>
            <p:cNvPr id="13" name="Group 13"/>
            <p:cNvGrpSpPr/>
            <p:nvPr/>
          </p:nvGrpSpPr>
          <p:grpSpPr>
            <a:xfrm>
              <a:off x="588962" y="2121218"/>
              <a:ext cx="5405216" cy="493394"/>
              <a:chOff x="588962" y="2121218"/>
              <a:chExt cx="5405216" cy="493394"/>
            </a:xfrm>
          </p:grpSpPr>
          <p:sp>
            <p:nvSpPr>
              <p:cNvPr id="10" name="Freeform 10"/>
              <p:cNvSpPr/>
              <p:nvPr/>
            </p:nvSpPr>
            <p:spPr>
              <a:xfrm>
                <a:off x="588962" y="2128101"/>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2"/>
                    </a:cubicBezTo>
                    <a:lnTo>
                      <a:pt x="0" y="91224"/>
                    </a:lnTo>
                    <a:lnTo>
                      <a:pt x="44" y="88395"/>
                    </a:lnTo>
                    <a:cubicBezTo>
                      <a:pt x="1038" y="57722"/>
                      <a:pt x="18063" y="29823"/>
                      <a:pt x="44886" y="14911"/>
                    </a:cubicBezTo>
                    <a:cubicBezTo>
                      <a:pt x="71709" y="0"/>
                      <a:pt x="104392" y="266"/>
                      <a:pt x="130969" y="15611"/>
                    </a:cubicBezTo>
                    <a:close/>
                    <a:moveTo>
                      <a:pt x="119679" y="67588"/>
                    </a:moveTo>
                    <a:cubicBezTo>
                      <a:pt x="116569" y="64478"/>
                      <a:pt x="111630" y="64167"/>
                      <a:pt x="108154" y="66863"/>
                    </a:cubicBezTo>
                    <a:lnTo>
                      <a:pt x="107333" y="67588"/>
                    </a:lnTo>
                    <a:lnTo>
                      <a:pt x="78581" y="96331"/>
                    </a:lnTo>
                    <a:lnTo>
                      <a:pt x="67292" y="85051"/>
                    </a:lnTo>
                    <a:lnTo>
                      <a:pt x="66471" y="84326"/>
                    </a:lnTo>
                    <a:cubicBezTo>
                      <a:pt x="62995" y="81632"/>
                      <a:pt x="58058" y="81943"/>
                      <a:pt x="54948" y="85053"/>
                    </a:cubicBezTo>
                    <a:cubicBezTo>
                      <a:pt x="51838" y="88163"/>
                      <a:pt x="51527" y="93100"/>
                      <a:pt x="54221" y="96576"/>
                    </a:cubicBezTo>
                    <a:lnTo>
                      <a:pt x="54946" y="97397"/>
                    </a:lnTo>
                    <a:lnTo>
                      <a:pt x="72408" y="114859"/>
                    </a:lnTo>
                    <a:lnTo>
                      <a:pt x="73229" y="115584"/>
                    </a:lnTo>
                    <a:cubicBezTo>
                      <a:pt x="76379" y="118028"/>
                      <a:pt x="80784" y="118028"/>
                      <a:pt x="83934" y="115584"/>
                    </a:cubicBezTo>
                    <a:lnTo>
                      <a:pt x="84754" y="114859"/>
                    </a:lnTo>
                    <a:lnTo>
                      <a:pt x="119679" y="79934"/>
                    </a:lnTo>
                    <a:lnTo>
                      <a:pt x="120404" y="79113"/>
                    </a:lnTo>
                    <a:cubicBezTo>
                      <a:pt x="123100" y="75638"/>
                      <a:pt x="122790" y="70699"/>
                      <a:pt x="119679" y="67588"/>
                    </a:cubicBezTo>
                    <a:close/>
                  </a:path>
                </a:pathLst>
              </a:custGeom>
              <a:solidFill>
                <a:srgbClr val="2B583E"/>
              </a:solidFill>
              <a:ln>
                <a:noFill/>
              </a:ln>
            </p:spPr>
          </p:sp>
          <p:sp>
            <p:nvSpPr>
              <p:cNvPr id="11" name="TextBox 11"/>
              <p:cNvSpPr txBox="1"/>
              <p:nvPr/>
            </p:nvSpPr>
            <p:spPr>
              <a:xfrm>
                <a:off x="887730" y="2121218"/>
                <a:ext cx="2104549"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两端高精渐变淡出遮罩</a:t>
                </a:r>
              </a:p>
            </p:txBody>
          </p:sp>
          <p:sp>
            <p:nvSpPr>
              <p:cNvPr id="12" name="TextBox 12"/>
              <p:cNvSpPr txBox="1"/>
              <p:nvPr/>
            </p:nvSpPr>
            <p:spPr>
              <a:xfrm>
                <a:off x="891540" y="2401252"/>
                <a:ext cx="510263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滚动列表边缘采用精心设计的 alpha 渐变软过渡，彻底消除冷硬的切割感。</a:t>
                </a:r>
              </a:p>
            </p:txBody>
          </p:sp>
        </p:grpSp>
        <p:grpSp>
          <p:nvGrpSpPr>
            <p:cNvPr id="17" name="Group 17"/>
            <p:cNvGrpSpPr/>
            <p:nvPr/>
          </p:nvGrpSpPr>
          <p:grpSpPr>
            <a:xfrm>
              <a:off x="588962" y="2978468"/>
              <a:ext cx="5236528" cy="493394"/>
              <a:chOff x="588962" y="2978468"/>
              <a:chExt cx="5236528" cy="493394"/>
            </a:xfrm>
          </p:grpSpPr>
          <p:sp>
            <p:nvSpPr>
              <p:cNvPr id="14" name="Freeform 14"/>
              <p:cNvSpPr/>
              <p:nvPr/>
            </p:nvSpPr>
            <p:spPr>
              <a:xfrm>
                <a:off x="588962" y="2985351"/>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2"/>
                    </a:cubicBezTo>
                    <a:lnTo>
                      <a:pt x="0" y="91224"/>
                    </a:lnTo>
                    <a:lnTo>
                      <a:pt x="44" y="88395"/>
                    </a:lnTo>
                    <a:cubicBezTo>
                      <a:pt x="1038" y="57722"/>
                      <a:pt x="18063" y="29823"/>
                      <a:pt x="44886" y="14911"/>
                    </a:cubicBezTo>
                    <a:cubicBezTo>
                      <a:pt x="71709" y="0"/>
                      <a:pt x="104392" y="266"/>
                      <a:pt x="130969" y="15611"/>
                    </a:cubicBezTo>
                    <a:close/>
                    <a:moveTo>
                      <a:pt x="119679" y="67588"/>
                    </a:moveTo>
                    <a:cubicBezTo>
                      <a:pt x="116569" y="64478"/>
                      <a:pt x="111630" y="64167"/>
                      <a:pt x="108154" y="66863"/>
                    </a:cubicBezTo>
                    <a:lnTo>
                      <a:pt x="107333" y="67588"/>
                    </a:lnTo>
                    <a:lnTo>
                      <a:pt x="78581" y="96331"/>
                    </a:lnTo>
                    <a:lnTo>
                      <a:pt x="67292" y="85051"/>
                    </a:lnTo>
                    <a:lnTo>
                      <a:pt x="66471" y="84326"/>
                    </a:lnTo>
                    <a:cubicBezTo>
                      <a:pt x="62995" y="81632"/>
                      <a:pt x="58058" y="81943"/>
                      <a:pt x="54948" y="85053"/>
                    </a:cubicBezTo>
                    <a:cubicBezTo>
                      <a:pt x="51838" y="88163"/>
                      <a:pt x="51527" y="93100"/>
                      <a:pt x="54221" y="96576"/>
                    </a:cubicBezTo>
                    <a:lnTo>
                      <a:pt x="54946" y="97397"/>
                    </a:lnTo>
                    <a:lnTo>
                      <a:pt x="72408" y="114859"/>
                    </a:lnTo>
                    <a:lnTo>
                      <a:pt x="73229" y="115584"/>
                    </a:lnTo>
                    <a:cubicBezTo>
                      <a:pt x="76379" y="118028"/>
                      <a:pt x="80784" y="118028"/>
                      <a:pt x="83934" y="115584"/>
                    </a:cubicBezTo>
                    <a:lnTo>
                      <a:pt x="84754" y="114859"/>
                    </a:lnTo>
                    <a:lnTo>
                      <a:pt x="119679" y="79934"/>
                    </a:lnTo>
                    <a:lnTo>
                      <a:pt x="120404" y="79113"/>
                    </a:lnTo>
                    <a:cubicBezTo>
                      <a:pt x="123100" y="75638"/>
                      <a:pt x="122790" y="70699"/>
                      <a:pt x="119679" y="67588"/>
                    </a:cubicBezTo>
                    <a:close/>
                  </a:path>
                </a:pathLst>
              </a:custGeom>
              <a:solidFill>
                <a:srgbClr val="2B583E"/>
              </a:solidFill>
              <a:ln>
                <a:noFill/>
              </a:ln>
            </p:spPr>
          </p:sp>
          <p:sp>
            <p:nvSpPr>
              <p:cNvPr id="15" name="TextBox 15"/>
              <p:cNvSpPr txBox="1"/>
              <p:nvPr/>
            </p:nvSpPr>
            <p:spPr>
              <a:xfrm>
                <a:off x="887730" y="2978468"/>
                <a:ext cx="3036165"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380ms 呼吸缓动过渡与 8px 上推</a:t>
                </a:r>
              </a:p>
            </p:txBody>
          </p:sp>
          <p:sp>
            <p:nvSpPr>
              <p:cNvPr id="16" name="TextBox 16"/>
              <p:cNvSpPr txBox="1"/>
              <p:nvPr/>
            </p:nvSpPr>
            <p:spPr>
              <a:xfrm>
                <a:off x="891540" y="3258502"/>
                <a:ext cx="493395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所有的界面切换和侧拉抽屉都不做生硬瞬切，完美契合植物生长的从容。</a:t>
                </a:r>
              </a:p>
            </p:txBody>
          </p:sp>
        </p:grpSp>
        <p:grpSp>
          <p:nvGrpSpPr>
            <p:cNvPr id="21" name="Group 21"/>
            <p:cNvGrpSpPr/>
            <p:nvPr/>
          </p:nvGrpSpPr>
          <p:grpSpPr>
            <a:xfrm>
              <a:off x="588962" y="3835718"/>
              <a:ext cx="6087634" cy="493394"/>
              <a:chOff x="588962" y="3835718"/>
              <a:chExt cx="6087634" cy="493394"/>
            </a:xfrm>
          </p:grpSpPr>
          <p:sp>
            <p:nvSpPr>
              <p:cNvPr id="18" name="Freeform 18"/>
              <p:cNvSpPr/>
              <p:nvPr/>
            </p:nvSpPr>
            <p:spPr>
              <a:xfrm>
                <a:off x="588962" y="3842601"/>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2"/>
                    </a:cubicBezTo>
                    <a:lnTo>
                      <a:pt x="0" y="91224"/>
                    </a:lnTo>
                    <a:lnTo>
                      <a:pt x="44" y="88395"/>
                    </a:lnTo>
                    <a:cubicBezTo>
                      <a:pt x="1038" y="57722"/>
                      <a:pt x="18063" y="29823"/>
                      <a:pt x="44886" y="14911"/>
                    </a:cubicBezTo>
                    <a:cubicBezTo>
                      <a:pt x="71709" y="0"/>
                      <a:pt x="104392" y="266"/>
                      <a:pt x="130969" y="15611"/>
                    </a:cubicBezTo>
                    <a:close/>
                    <a:moveTo>
                      <a:pt x="119679" y="67588"/>
                    </a:moveTo>
                    <a:cubicBezTo>
                      <a:pt x="116569" y="64478"/>
                      <a:pt x="111630" y="64167"/>
                      <a:pt x="108154" y="66863"/>
                    </a:cubicBezTo>
                    <a:lnTo>
                      <a:pt x="107333" y="67588"/>
                    </a:lnTo>
                    <a:lnTo>
                      <a:pt x="78581" y="96331"/>
                    </a:lnTo>
                    <a:lnTo>
                      <a:pt x="67292" y="85051"/>
                    </a:lnTo>
                    <a:lnTo>
                      <a:pt x="66471" y="84326"/>
                    </a:lnTo>
                    <a:cubicBezTo>
                      <a:pt x="62995" y="81632"/>
                      <a:pt x="58058" y="81943"/>
                      <a:pt x="54948" y="85053"/>
                    </a:cubicBezTo>
                    <a:cubicBezTo>
                      <a:pt x="51838" y="88163"/>
                      <a:pt x="51527" y="93100"/>
                      <a:pt x="54221" y="96576"/>
                    </a:cubicBezTo>
                    <a:lnTo>
                      <a:pt x="54946" y="97397"/>
                    </a:lnTo>
                    <a:lnTo>
                      <a:pt x="72408" y="114859"/>
                    </a:lnTo>
                    <a:lnTo>
                      <a:pt x="73229" y="115584"/>
                    </a:lnTo>
                    <a:cubicBezTo>
                      <a:pt x="76379" y="118028"/>
                      <a:pt x="80784" y="118028"/>
                      <a:pt x="83934" y="115584"/>
                    </a:cubicBezTo>
                    <a:lnTo>
                      <a:pt x="84754" y="114859"/>
                    </a:lnTo>
                    <a:lnTo>
                      <a:pt x="119679" y="79934"/>
                    </a:lnTo>
                    <a:lnTo>
                      <a:pt x="120404" y="79113"/>
                    </a:lnTo>
                    <a:cubicBezTo>
                      <a:pt x="123100" y="75638"/>
                      <a:pt x="122790" y="70699"/>
                      <a:pt x="119679" y="67588"/>
                    </a:cubicBezTo>
                    <a:close/>
                  </a:path>
                </a:pathLst>
              </a:custGeom>
              <a:solidFill>
                <a:srgbClr val="2B583E"/>
              </a:solidFill>
              <a:ln>
                <a:noFill/>
              </a:ln>
            </p:spPr>
          </p:sp>
          <p:sp>
            <p:nvSpPr>
              <p:cNvPr id="19" name="TextBox 19"/>
              <p:cNvSpPr txBox="1"/>
              <p:nvPr/>
            </p:nvSpPr>
            <p:spPr>
              <a:xfrm>
                <a:off x="887730" y="3835718"/>
                <a:ext cx="2311575"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点击手感微缩放回弹反馈</a:t>
                </a:r>
              </a:p>
            </p:txBody>
          </p:sp>
          <p:sp>
            <p:nvSpPr>
              <p:cNvPr id="20" name="TextBox 20"/>
              <p:cNvSpPr txBox="1"/>
              <p:nvPr/>
            </p:nvSpPr>
            <p:spPr>
              <a:xfrm>
                <a:off x="891540" y="4115752"/>
                <a:ext cx="578505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所有的交互卡片和按钮默认附带 active:scale-[0.97] 的弹力形变，充满治愈手感。</a:t>
                </a:r>
              </a:p>
            </p:txBody>
          </p:sp>
        </p:grpSp>
        <p:grpSp>
          <p:nvGrpSpPr>
            <p:cNvPr id="25" name="Group 25"/>
            <p:cNvGrpSpPr/>
            <p:nvPr/>
          </p:nvGrpSpPr>
          <p:grpSpPr>
            <a:xfrm>
              <a:off x="588962" y="4692968"/>
              <a:ext cx="5734924" cy="493394"/>
              <a:chOff x="588962" y="4692968"/>
              <a:chExt cx="5734924" cy="493394"/>
            </a:xfrm>
          </p:grpSpPr>
          <p:sp>
            <p:nvSpPr>
              <p:cNvPr id="22" name="Freeform 22"/>
              <p:cNvSpPr/>
              <p:nvPr/>
            </p:nvSpPr>
            <p:spPr>
              <a:xfrm>
                <a:off x="588962" y="4699851"/>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2"/>
                    </a:cubicBezTo>
                    <a:lnTo>
                      <a:pt x="0" y="91224"/>
                    </a:lnTo>
                    <a:lnTo>
                      <a:pt x="44" y="88395"/>
                    </a:lnTo>
                    <a:cubicBezTo>
                      <a:pt x="1038" y="57722"/>
                      <a:pt x="18063" y="29823"/>
                      <a:pt x="44886" y="14911"/>
                    </a:cubicBezTo>
                    <a:cubicBezTo>
                      <a:pt x="71709" y="0"/>
                      <a:pt x="104392" y="266"/>
                      <a:pt x="130969" y="15611"/>
                    </a:cubicBezTo>
                    <a:close/>
                    <a:moveTo>
                      <a:pt x="119679" y="67588"/>
                    </a:moveTo>
                    <a:cubicBezTo>
                      <a:pt x="116569" y="64478"/>
                      <a:pt x="111630" y="64167"/>
                      <a:pt x="108154" y="66863"/>
                    </a:cubicBezTo>
                    <a:lnTo>
                      <a:pt x="107333" y="67588"/>
                    </a:lnTo>
                    <a:lnTo>
                      <a:pt x="78581" y="96331"/>
                    </a:lnTo>
                    <a:lnTo>
                      <a:pt x="67292" y="85051"/>
                    </a:lnTo>
                    <a:lnTo>
                      <a:pt x="66471" y="84326"/>
                    </a:lnTo>
                    <a:cubicBezTo>
                      <a:pt x="62995" y="81632"/>
                      <a:pt x="58058" y="81943"/>
                      <a:pt x="54948" y="85053"/>
                    </a:cubicBezTo>
                    <a:cubicBezTo>
                      <a:pt x="51838" y="88163"/>
                      <a:pt x="51527" y="93100"/>
                      <a:pt x="54221" y="96576"/>
                    </a:cubicBezTo>
                    <a:lnTo>
                      <a:pt x="54946" y="97397"/>
                    </a:lnTo>
                    <a:lnTo>
                      <a:pt x="72408" y="114859"/>
                    </a:lnTo>
                    <a:lnTo>
                      <a:pt x="73229" y="115584"/>
                    </a:lnTo>
                    <a:cubicBezTo>
                      <a:pt x="76379" y="118028"/>
                      <a:pt x="80784" y="118028"/>
                      <a:pt x="83934" y="115584"/>
                    </a:cubicBezTo>
                    <a:lnTo>
                      <a:pt x="84754" y="114859"/>
                    </a:lnTo>
                    <a:lnTo>
                      <a:pt x="119679" y="79934"/>
                    </a:lnTo>
                    <a:lnTo>
                      <a:pt x="120404" y="79113"/>
                    </a:lnTo>
                    <a:cubicBezTo>
                      <a:pt x="123100" y="75638"/>
                      <a:pt x="122790" y="70699"/>
                      <a:pt x="119679" y="67588"/>
                    </a:cubicBezTo>
                    <a:close/>
                  </a:path>
                </a:pathLst>
              </a:custGeom>
              <a:solidFill>
                <a:srgbClr val="2B583E"/>
              </a:solidFill>
              <a:ln>
                <a:noFill/>
              </a:ln>
            </p:spPr>
          </p:sp>
          <p:sp>
            <p:nvSpPr>
              <p:cNvPr id="23" name="TextBox 23"/>
              <p:cNvSpPr txBox="1"/>
              <p:nvPr/>
            </p:nvSpPr>
            <p:spPr>
              <a:xfrm>
                <a:off x="887730" y="4692968"/>
                <a:ext cx="2725626" cy="274320"/>
              </a:xfrm>
              <a:prstGeom prst="rect">
                <a:avLst/>
              </a:prstGeom>
              <a:noFill/>
              <a:ln>
                <a:noFill/>
              </a:ln>
            </p:spPr>
            <p:txBody>
              <a:bodyPr wrap="none" lIns="0" tIns="0" rIns="0" bIns="0" anchor="t" anchorCtr="0">
                <a:spAutoFit/>
              </a:bodyPr>
              <a:lstStyle/>
              <a:p>
                <a:pPr algn="l"/>
                <a:r>
                  <a:rPr lang="zh-CN" sz="1350" b="1" dirty="0">
                    <a:solidFill>
                      <a:srgbClr val="1C2E24"/>
                    </a:solidFill>
                    <a:latin typeface="Quicksand"/>
                    <a:ea typeface="Microsoft YaHei"/>
                    <a:cs typeface="Quicksand"/>
                  </a:rPr>
                  <a:t>键盘友好型 focus-visible 环</a:t>
                </a:r>
              </a:p>
            </p:txBody>
          </p:sp>
          <p:sp>
            <p:nvSpPr>
              <p:cNvPr id="24" name="TextBox 24"/>
              <p:cNvSpPr txBox="1"/>
              <p:nvPr/>
            </p:nvSpPr>
            <p:spPr>
              <a:xfrm>
                <a:off x="891540" y="4973002"/>
                <a:ext cx="543234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只有在使用键盘 Tab 键导航时才点亮聚焦，平时鼠标操作绝无恼人的残存边框。</a:t>
                </a:r>
              </a:p>
            </p:txBody>
          </p:sp>
        </p:grpSp>
        <p:sp>
          <p:nvSpPr>
            <p:cNvPr id="26" name="Freeform 26"/>
            <p:cNvSpPr/>
            <p:nvPr/>
          </p:nvSpPr>
          <p:spPr>
            <a:xfrm>
              <a:off x="571500" y="5381625"/>
              <a:ext cx="5715000" cy="428625"/>
            </a:xfrm>
            <a:custGeom>
              <a:avLst/>
              <a:gdLst/>
              <a:ahLst/>
              <a:cxnLst/>
              <a:rect l="l" t="t" r="r" b="b"/>
              <a:pathLst>
                <a:path w="5715000" h="428625">
                  <a:moveTo>
                    <a:pt x="57150" y="0"/>
                  </a:moveTo>
                  <a:lnTo>
                    <a:pt x="5657850" y="0"/>
                  </a:lnTo>
                  <a:cubicBezTo>
                    <a:pt x="5689413" y="0"/>
                    <a:pt x="5715000" y="25587"/>
                    <a:pt x="5715000" y="57150"/>
                  </a:cubicBezTo>
                  <a:lnTo>
                    <a:pt x="5715000" y="371475"/>
                  </a:lnTo>
                  <a:cubicBezTo>
                    <a:pt x="5715000" y="403038"/>
                    <a:pt x="5689413" y="428625"/>
                    <a:pt x="5657850" y="428625"/>
                  </a:cubicBezTo>
                  <a:lnTo>
                    <a:pt x="57150" y="428625"/>
                  </a:lnTo>
                  <a:cubicBezTo>
                    <a:pt x="25587" y="428625"/>
                    <a:pt x="0" y="403038"/>
                    <a:pt x="0" y="371475"/>
                  </a:cubicBezTo>
                  <a:lnTo>
                    <a:pt x="0" y="57150"/>
                  </a:lnTo>
                  <a:cubicBezTo>
                    <a:pt x="0" y="25587"/>
                    <a:pt x="25587" y="0"/>
                    <a:pt x="57150" y="0"/>
                  </a:cubicBezTo>
                  <a:close/>
                </a:path>
              </a:pathLst>
            </a:custGeom>
            <a:solidFill>
              <a:srgbClr val="2B583E">
                <a:alpha val="4000"/>
              </a:srgbClr>
            </a:solidFill>
            <a:ln w="9525">
              <a:solidFill>
                <a:srgbClr val="D1DAD4"/>
              </a:solidFill>
            </a:ln>
          </p:spPr>
        </p:sp>
        <p:sp>
          <p:nvSpPr>
            <p:cNvPr id="27" name="TextBox 27"/>
            <p:cNvSpPr txBox="1"/>
            <p:nvPr/>
          </p:nvSpPr>
          <p:spPr>
            <a:xfrm>
              <a:off x="749618" y="5543074"/>
              <a:ext cx="6132603" cy="198120"/>
            </a:xfrm>
            <a:prstGeom prst="rect">
              <a:avLst/>
            </a:prstGeom>
            <a:noFill/>
            <a:ln>
              <a:noFill/>
            </a:ln>
          </p:spPr>
          <p:txBody>
            <a:bodyPr wrap="none" lIns="0" tIns="0" rIns="0" bIns="0" anchor="t" anchorCtr="0">
              <a:spAutoFit/>
            </a:bodyPr>
            <a:lstStyle/>
            <a:p>
              <a:pPr algn="l"/>
              <a:r>
                <a:rPr lang="zh-CN" sz="975" b="1" dirty="0">
                  <a:solidFill>
                    <a:srgbClr val="2B583E"/>
                  </a:solidFill>
                  <a:latin typeface="Plus Jakarta Sans"/>
                  <a:ea typeface="Microsoft YaHei"/>
                  <a:cs typeface="Plus Jakarta Sans"/>
                </a:rPr>
                <a:t>💡 我们彻底摒弃了红色和警告感叹号，状态变化统一走温暖的琥珀色过渡，传递诚实与信赖。</a:t>
              </a:r>
            </a:p>
          </p:txBody>
        </p:sp>
      </p:grpSp>
      <p:grpSp>
        <p:nvGrpSpPr>
          <p:cNvPr id="31" name="Group 31"/>
          <p:cNvGrpSpPr/>
          <p:nvPr/>
        </p:nvGrpSpPr>
        <p:grpSpPr>
          <a:xfrm>
            <a:off x="6715125" y="904875"/>
            <a:ext cx="4667250" cy="5048250"/>
            <a:chOff x="6715125" y="904875"/>
            <a:chExt cx="4667250" cy="5048250"/>
          </a:xfrm>
        </p:grpSpPr>
        <p:sp>
          <p:nvSpPr>
            <p:cNvPr id="29" name="Freeform 29"/>
            <p:cNvSpPr/>
            <p:nvPr/>
          </p:nvSpPr>
          <p:spPr>
            <a:xfrm>
              <a:off x="6715125" y="904875"/>
              <a:ext cx="4667250" cy="5048250"/>
            </a:xfrm>
            <a:custGeom>
              <a:avLst/>
              <a:gdLst/>
              <a:ahLst/>
              <a:cxnLst/>
              <a:rect l="l" t="t" r="r" b="b"/>
              <a:pathLst>
                <a:path w="4667250" h="5048250">
                  <a:moveTo>
                    <a:pt x="190500" y="0"/>
                  </a:moveTo>
                  <a:lnTo>
                    <a:pt x="4476750" y="0"/>
                  </a:lnTo>
                  <a:cubicBezTo>
                    <a:pt x="4581960" y="0"/>
                    <a:pt x="4667250" y="85290"/>
                    <a:pt x="4667250" y="190500"/>
                  </a:cubicBezTo>
                  <a:lnTo>
                    <a:pt x="4667250" y="4857750"/>
                  </a:lnTo>
                  <a:cubicBezTo>
                    <a:pt x="4667250" y="4962960"/>
                    <a:pt x="4581960" y="5048250"/>
                    <a:pt x="4476750" y="5048250"/>
                  </a:cubicBezTo>
                  <a:lnTo>
                    <a:pt x="190500" y="5048250"/>
                  </a:lnTo>
                  <a:cubicBezTo>
                    <a:pt x="85290" y="5048250"/>
                    <a:pt x="0" y="4962960"/>
                    <a:pt x="0" y="4857750"/>
                  </a:cubicBezTo>
                  <a:lnTo>
                    <a:pt x="0" y="190500"/>
                  </a:lnTo>
                  <a:cubicBezTo>
                    <a:pt x="0" y="85290"/>
                    <a:pt x="85290" y="0"/>
                    <a:pt x="190500" y="0"/>
                  </a:cubicBezTo>
                  <a:close/>
                </a:path>
              </a:pathLst>
            </a:custGeom>
            <a:solidFill>
              <a:srgbClr val="FFFFFF">
                <a:alpha val="50000"/>
              </a:srgbClr>
            </a:solidFill>
            <a:ln w="9525">
              <a:solidFill>
                <a:srgbClr val="D1DAD4"/>
              </a:solidFill>
            </a:ln>
          </p:spPr>
        </p:sp>
        <p:pic>
          <p:nvPicPr>
            <p:cNvPr id="30" name="Image 30"/>
            <p:cNvPicPr>
              <a:picLocks noChangeAspect="1"/>
            </p:cNvPicPr>
            <p:nvPr/>
          </p:nvPicPr>
          <p:blipFill>
            <a:blip r:embed="rId2"/>
            <a:stretch>
              <a:fillRect/>
            </a:stretch>
          </p:blipFill>
          <p:spPr>
            <a:xfrm>
              <a:off x="6858000" y="1047750"/>
              <a:ext cx="4381500" cy="4762500"/>
            </a:xfrm>
            <a:custGeom>
              <a:avLst/>
              <a:gdLst/>
              <a:ahLst/>
              <a:cxnLst/>
              <a:rect l="l" t="t" r="r" b="b"/>
              <a:pathLst>
                <a:path w="4381500" h="4762500">
                  <a:moveTo>
                    <a:pt x="152400" y="0"/>
                  </a:moveTo>
                  <a:lnTo>
                    <a:pt x="4229100" y="0"/>
                  </a:lnTo>
                  <a:cubicBezTo>
                    <a:pt x="4313268" y="0"/>
                    <a:pt x="4381500" y="68232"/>
                    <a:pt x="4381500" y="152400"/>
                  </a:cubicBezTo>
                  <a:lnTo>
                    <a:pt x="4381500" y="4610100"/>
                  </a:lnTo>
                  <a:cubicBezTo>
                    <a:pt x="4381500" y="4694268"/>
                    <a:pt x="4313268" y="4762500"/>
                    <a:pt x="4229100" y="4762500"/>
                  </a:cubicBezTo>
                  <a:lnTo>
                    <a:pt x="152400" y="4762500"/>
                  </a:lnTo>
                  <a:cubicBezTo>
                    <a:pt x="68232" y="4762500"/>
                    <a:pt x="0" y="4694268"/>
                    <a:pt x="0" y="4610100"/>
                  </a:cubicBezTo>
                  <a:lnTo>
                    <a:pt x="0" y="152400"/>
                  </a:lnTo>
                  <a:cubicBezTo>
                    <a:pt x="0" y="68232"/>
                    <a:pt x="68232" y="0"/>
                    <a:pt x="152400" y="0"/>
                  </a:cubicBezTo>
                  <a:close/>
                </a:path>
              </a:pathLst>
            </a:custGeom>
          </p:spPr>
        </p:pic>
      </p:grpSp>
      <p:grpSp>
        <p:nvGrpSpPr>
          <p:cNvPr id="34" name="Group 34"/>
          <p:cNvGrpSpPr/>
          <p:nvPr/>
        </p:nvGrpSpPr>
        <p:grpSpPr>
          <a:xfrm>
            <a:off x="561975" y="6443662"/>
            <a:ext cx="10877550" cy="152400"/>
            <a:chOff x="561975" y="6443662"/>
            <a:chExt cx="10877550" cy="152400"/>
          </a:xfrm>
        </p:grpSpPr>
        <p:sp>
          <p:nvSpPr>
            <p:cNvPr id="32" name="TextBox 3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33" name="TextBox 33"/>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12</a:t>
              </a:r>
            </a:p>
          </p:txBody>
        </p:sp>
      </p:gr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开发历程篇</a:t>
              </a:r>
            </a:p>
          </p:txBody>
        </p:sp>
        <p:sp>
          <p:nvSpPr>
            <p:cNvPr id="5" name="TextBox 5"/>
            <p:cNvSpPr txBox="1"/>
            <p:nvPr/>
          </p:nvSpPr>
          <p:spPr>
            <a:xfrm>
              <a:off x="1836420" y="312420"/>
              <a:ext cx="7495489"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开发史诗：从“零代码”起步到“全栈完美交付”</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sp>
        <p:nvSpPr>
          <p:cNvPr id="8" name="Line 8"/>
          <p:cNvSpPr/>
          <p:nvPr/>
        </p:nvSpPr>
        <p:spPr>
          <a:xfrm>
            <a:off x="952500" y="3429000"/>
            <a:ext cx="9906000" cy="1"/>
          </a:xfrm>
          <a:prstGeom prst="line">
            <a:avLst/>
          </a:prstGeom>
          <a:noFill/>
          <a:ln w="28575">
            <a:solidFill>
              <a:srgbClr val="2B583E"/>
            </a:solidFill>
            <a:prstDash val="lgDash"/>
            <a:tailEnd type="triangle" w="lg" len="lg"/>
          </a:ln>
        </p:spPr>
      </p:sp>
      <p:sp>
        <p:nvSpPr>
          <p:cNvPr id="9" name="TextBox 9"/>
          <p:cNvSpPr txBox="1"/>
          <p:nvPr/>
        </p:nvSpPr>
        <p:spPr>
          <a:xfrm>
            <a:off x="10988040" y="3363278"/>
            <a:ext cx="783465" cy="213360"/>
          </a:xfrm>
          <a:prstGeom prst="rect">
            <a:avLst/>
          </a:prstGeom>
          <a:noFill/>
          <a:ln>
            <a:noFill/>
          </a:ln>
        </p:spPr>
        <p:txBody>
          <a:bodyPr wrap="none" lIns="0" tIns="0" rIns="0" bIns="0" anchor="t" anchorCtr="0">
            <a:spAutoFit/>
          </a:bodyPr>
          <a:lstStyle/>
          <a:p>
            <a:pPr algn="l"/>
            <a:r>
              <a:rPr lang="zh-CN" sz="1050" b="1" dirty="0">
                <a:solidFill>
                  <a:srgbClr val="2B583E"/>
                </a:solidFill>
                <a:latin typeface="Quicksand"/>
                <a:ea typeface="Microsoft YaHei"/>
                <a:cs typeface="Quicksand"/>
              </a:rPr>
              <a:t>June 2026</a:t>
            </a:r>
          </a:p>
        </p:txBody>
      </p:sp>
      <p:grpSp>
        <p:nvGrpSpPr>
          <p:cNvPr id="20" name="Group 20"/>
          <p:cNvGrpSpPr/>
          <p:nvPr/>
        </p:nvGrpSpPr>
        <p:grpSpPr>
          <a:xfrm>
            <a:off x="1428750" y="1143000"/>
            <a:ext cx="3810000" cy="2362200"/>
            <a:chOff x="1428750" y="1143000"/>
            <a:chExt cx="3810000" cy="2362200"/>
          </a:xfrm>
        </p:grpSpPr>
        <p:sp>
          <p:nvSpPr>
            <p:cNvPr id="10" name="Line 10"/>
            <p:cNvSpPr/>
            <p:nvPr/>
          </p:nvSpPr>
          <p:spPr>
            <a:xfrm>
              <a:off x="3333750" y="3048000"/>
              <a:ext cx="9525" cy="381000"/>
            </a:xfrm>
            <a:custGeom>
              <a:avLst/>
              <a:gdLst/>
              <a:ahLst/>
              <a:cxnLst/>
              <a:rect l="l" t="t" r="r" b="b"/>
              <a:pathLst>
                <a:path w="9525" h="381000">
                  <a:moveTo>
                    <a:pt x="0" y="0"/>
                  </a:moveTo>
                  <a:lnTo>
                    <a:pt x="0" y="381000"/>
                  </a:lnTo>
                </a:path>
              </a:pathLst>
            </a:custGeom>
            <a:noFill/>
            <a:ln w="14288">
              <a:solidFill>
                <a:srgbClr val="D64535"/>
              </a:solidFill>
              <a:prstDash val="sysDot"/>
            </a:ln>
          </p:spPr>
        </p:sp>
        <p:sp>
          <p:nvSpPr>
            <p:cNvPr id="11" name="Ellipse 11"/>
            <p:cNvSpPr/>
            <p:nvPr/>
          </p:nvSpPr>
          <p:spPr>
            <a:xfrm>
              <a:off x="3257550" y="3352800"/>
              <a:ext cx="152400" cy="152400"/>
            </a:xfrm>
            <a:prstGeom prst="ellipse">
              <a:avLst/>
            </a:prstGeom>
            <a:solidFill>
              <a:srgbClr val="D64535"/>
            </a:solidFill>
            <a:ln>
              <a:noFill/>
            </a:ln>
          </p:spPr>
        </p:sp>
        <p:sp>
          <p:nvSpPr>
            <p:cNvPr id="12" name="Freeform 12"/>
            <p:cNvSpPr/>
            <p:nvPr/>
          </p:nvSpPr>
          <p:spPr>
            <a:xfrm>
              <a:off x="1428750" y="1143000"/>
              <a:ext cx="3810000" cy="1905000"/>
            </a:xfrm>
            <a:custGeom>
              <a:avLst/>
              <a:gdLst/>
              <a:ahLst/>
              <a:cxnLst/>
              <a:rect l="l" t="t" r="r" b="b"/>
              <a:pathLst>
                <a:path w="3810000" h="1905000">
                  <a:moveTo>
                    <a:pt x="95250" y="0"/>
                  </a:moveTo>
                  <a:lnTo>
                    <a:pt x="3714750" y="0"/>
                  </a:lnTo>
                  <a:cubicBezTo>
                    <a:pt x="3767355" y="0"/>
                    <a:pt x="3810000" y="42645"/>
                    <a:pt x="3810000" y="95250"/>
                  </a:cubicBezTo>
                  <a:lnTo>
                    <a:pt x="3810000" y="1809750"/>
                  </a:lnTo>
                  <a:cubicBezTo>
                    <a:pt x="3810000" y="1862355"/>
                    <a:pt x="3767355" y="1905000"/>
                    <a:pt x="37147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FFFFF"/>
            </a:solidFill>
            <a:ln w="14288">
              <a:solidFill>
                <a:srgbClr val="D1DAD4"/>
              </a:solidFill>
            </a:ln>
          </p:spPr>
        </p:sp>
        <p:sp>
          <p:nvSpPr>
            <p:cNvPr id="13" name="Freeform 13"/>
            <p:cNvSpPr/>
            <p:nvPr/>
          </p:nvSpPr>
          <p:spPr>
            <a:xfrm>
              <a:off x="1428750" y="1143000"/>
              <a:ext cx="3810000" cy="142875"/>
            </a:xfrm>
            <a:custGeom>
              <a:avLst/>
              <a:gdLst/>
              <a:ahLst/>
              <a:cxnLst/>
              <a:rect l="l" t="t" r="r" b="b"/>
              <a:pathLst>
                <a:path w="3810000" h="142875">
                  <a:moveTo>
                    <a:pt x="0" y="114300"/>
                  </a:moveTo>
                  <a:cubicBezTo>
                    <a:pt x="0" y="51174"/>
                    <a:pt x="51174" y="0"/>
                    <a:pt x="114300" y="0"/>
                  </a:cubicBezTo>
                  <a:lnTo>
                    <a:pt x="3695700" y="0"/>
                  </a:lnTo>
                  <a:cubicBezTo>
                    <a:pt x="3758826" y="0"/>
                    <a:pt x="3810000" y="51174"/>
                    <a:pt x="3810000" y="114300"/>
                  </a:cubicBezTo>
                  <a:lnTo>
                    <a:pt x="3810000" y="142875"/>
                  </a:lnTo>
                  <a:lnTo>
                    <a:pt x="0" y="142875"/>
                  </a:lnTo>
                  <a:close/>
                </a:path>
              </a:pathLst>
            </a:custGeom>
            <a:solidFill>
              <a:srgbClr val="D64535"/>
            </a:solidFill>
            <a:ln>
              <a:noFill/>
            </a:ln>
          </p:spPr>
        </p:sp>
        <p:sp>
          <p:nvSpPr>
            <p:cNvPr id="14" name="Freeform 14"/>
            <p:cNvSpPr/>
            <p:nvPr/>
          </p:nvSpPr>
          <p:spPr>
            <a:xfrm>
              <a:off x="1714500" y="1381125"/>
              <a:ext cx="228600" cy="228600"/>
            </a:xfrm>
            <a:custGeom>
              <a:avLst/>
              <a:gdLst/>
              <a:ahLst/>
              <a:cxnLst/>
              <a:rect l="l" t="t" r="r" b="b"/>
              <a:pathLst>
                <a:path w="228600" h="228600">
                  <a:moveTo>
                    <a:pt x="114300" y="0"/>
                  </a:moveTo>
                  <a:lnTo>
                    <a:pt x="114300" y="0"/>
                  </a:lnTo>
                  <a:cubicBezTo>
                    <a:pt x="177426" y="0"/>
                    <a:pt x="228600" y="51174"/>
                    <a:pt x="228600" y="114300"/>
                  </a:cubicBezTo>
                  <a:lnTo>
                    <a:pt x="228600" y="114300"/>
                  </a:lnTo>
                  <a:cubicBezTo>
                    <a:pt x="228600" y="177426"/>
                    <a:pt x="177426" y="228600"/>
                    <a:pt x="114300" y="228600"/>
                  </a:cubicBezTo>
                  <a:lnTo>
                    <a:pt x="114300" y="228600"/>
                  </a:lnTo>
                  <a:cubicBezTo>
                    <a:pt x="51174" y="228600"/>
                    <a:pt x="0" y="177426"/>
                    <a:pt x="0" y="114300"/>
                  </a:cubicBezTo>
                  <a:lnTo>
                    <a:pt x="0" y="114300"/>
                  </a:lnTo>
                  <a:cubicBezTo>
                    <a:pt x="0" y="51174"/>
                    <a:pt x="51174" y="0"/>
                    <a:pt x="114300" y="0"/>
                  </a:cubicBezTo>
                  <a:close/>
                </a:path>
              </a:pathLst>
            </a:custGeom>
            <a:solidFill>
              <a:srgbClr val="D64535">
                <a:alpha val="8000"/>
              </a:srgbClr>
            </a:solidFill>
            <a:ln>
              <a:noFill/>
            </a:ln>
          </p:spPr>
        </p:sp>
        <p:sp>
          <p:nvSpPr>
            <p:cNvPr id="15" name="Freeform 15"/>
            <p:cNvSpPr/>
            <p:nvPr/>
          </p:nvSpPr>
          <p:spPr>
            <a:xfrm>
              <a:off x="1776265" y="1448491"/>
              <a:ext cx="105218" cy="94207"/>
            </a:xfrm>
            <a:custGeom>
              <a:avLst/>
              <a:gdLst/>
              <a:ahLst/>
              <a:cxnLst/>
              <a:rect l="l" t="t" r="r" b="b"/>
              <a:pathLst>
                <a:path w="105218" h="94207">
                  <a:moveTo>
                    <a:pt x="23108" y="13168"/>
                  </a:moveTo>
                  <a:cubicBezTo>
                    <a:pt x="41677" y="0"/>
                    <a:pt x="68199" y="1076"/>
                    <a:pt x="85368" y="15716"/>
                  </a:cubicBezTo>
                  <a:cubicBezTo>
                    <a:pt x="102832" y="30618"/>
                    <a:pt x="105218" y="54950"/>
                    <a:pt x="90854" y="72380"/>
                  </a:cubicBezTo>
                  <a:cubicBezTo>
                    <a:pt x="77324" y="88797"/>
                    <a:pt x="52921" y="94207"/>
                    <a:pt x="32604" y="85739"/>
                  </a:cubicBezTo>
                  <a:lnTo>
                    <a:pt x="31494" y="85258"/>
                  </a:lnTo>
                  <a:lnTo>
                    <a:pt x="10663" y="89692"/>
                  </a:lnTo>
                  <a:lnTo>
                    <a:pt x="10473" y="89721"/>
                  </a:lnTo>
                  <a:lnTo>
                    <a:pt x="10306" y="89754"/>
                  </a:lnTo>
                  <a:lnTo>
                    <a:pt x="10220" y="89754"/>
                  </a:lnTo>
                  <a:lnTo>
                    <a:pt x="10116" y="89778"/>
                  </a:lnTo>
                  <a:lnTo>
                    <a:pt x="9935" y="89778"/>
                  </a:lnTo>
                  <a:lnTo>
                    <a:pt x="9777" y="89797"/>
                  </a:lnTo>
                  <a:lnTo>
                    <a:pt x="9677" y="89792"/>
                  </a:lnTo>
                  <a:lnTo>
                    <a:pt x="9568" y="89797"/>
                  </a:lnTo>
                  <a:lnTo>
                    <a:pt x="9411" y="89783"/>
                  </a:lnTo>
                  <a:lnTo>
                    <a:pt x="9244" y="89783"/>
                  </a:lnTo>
                  <a:lnTo>
                    <a:pt x="9139" y="89764"/>
                  </a:lnTo>
                  <a:lnTo>
                    <a:pt x="9034" y="89754"/>
                  </a:lnTo>
                  <a:lnTo>
                    <a:pt x="8868" y="89721"/>
                  </a:lnTo>
                  <a:lnTo>
                    <a:pt x="8706" y="89697"/>
                  </a:lnTo>
                  <a:lnTo>
                    <a:pt x="8630" y="89678"/>
                  </a:lnTo>
                  <a:lnTo>
                    <a:pt x="8515" y="89654"/>
                  </a:lnTo>
                  <a:lnTo>
                    <a:pt x="8282" y="89578"/>
                  </a:lnTo>
                  <a:lnTo>
                    <a:pt x="8168" y="89554"/>
                  </a:lnTo>
                  <a:lnTo>
                    <a:pt x="8115" y="89530"/>
                  </a:lnTo>
                  <a:lnTo>
                    <a:pt x="8011" y="89497"/>
                  </a:lnTo>
                  <a:lnTo>
                    <a:pt x="7796" y="89402"/>
                  </a:lnTo>
                  <a:lnTo>
                    <a:pt x="7653" y="89345"/>
                  </a:lnTo>
                  <a:lnTo>
                    <a:pt x="7601" y="89316"/>
                  </a:lnTo>
                  <a:lnTo>
                    <a:pt x="7534" y="89287"/>
                  </a:lnTo>
                  <a:lnTo>
                    <a:pt x="7387" y="89202"/>
                  </a:lnTo>
                  <a:lnTo>
                    <a:pt x="7172" y="89087"/>
                  </a:lnTo>
                  <a:lnTo>
                    <a:pt x="7096" y="89035"/>
                  </a:lnTo>
                  <a:lnTo>
                    <a:pt x="6920" y="88911"/>
                  </a:lnTo>
                  <a:lnTo>
                    <a:pt x="6729" y="88783"/>
                  </a:lnTo>
                  <a:lnTo>
                    <a:pt x="6720" y="88763"/>
                  </a:lnTo>
                  <a:lnTo>
                    <a:pt x="6658" y="88721"/>
                  </a:lnTo>
                  <a:lnTo>
                    <a:pt x="6453" y="88530"/>
                  </a:lnTo>
                  <a:lnTo>
                    <a:pt x="6334" y="88435"/>
                  </a:lnTo>
                  <a:lnTo>
                    <a:pt x="6306" y="88402"/>
                  </a:lnTo>
                  <a:lnTo>
                    <a:pt x="6039" y="88106"/>
                  </a:lnTo>
                  <a:lnTo>
                    <a:pt x="5977" y="88040"/>
                  </a:lnTo>
                  <a:lnTo>
                    <a:pt x="5925" y="87973"/>
                  </a:lnTo>
                  <a:lnTo>
                    <a:pt x="5739" y="87706"/>
                  </a:lnTo>
                  <a:lnTo>
                    <a:pt x="5672" y="87616"/>
                  </a:lnTo>
                  <a:lnTo>
                    <a:pt x="5648" y="87568"/>
                  </a:lnTo>
                  <a:lnTo>
                    <a:pt x="5448" y="87220"/>
                  </a:lnTo>
                  <a:lnTo>
                    <a:pt x="5415" y="87163"/>
                  </a:lnTo>
                  <a:lnTo>
                    <a:pt x="5396" y="87125"/>
                  </a:lnTo>
                  <a:lnTo>
                    <a:pt x="5363" y="87068"/>
                  </a:lnTo>
                  <a:lnTo>
                    <a:pt x="5296" y="86887"/>
                  </a:lnTo>
                  <a:lnTo>
                    <a:pt x="5201" y="86687"/>
                  </a:lnTo>
                  <a:lnTo>
                    <a:pt x="5182" y="86611"/>
                  </a:lnTo>
                  <a:lnTo>
                    <a:pt x="5163" y="86563"/>
                  </a:lnTo>
                  <a:lnTo>
                    <a:pt x="5082" y="86273"/>
                  </a:lnTo>
                  <a:lnTo>
                    <a:pt x="5048" y="86187"/>
                  </a:lnTo>
                  <a:lnTo>
                    <a:pt x="5039" y="86116"/>
                  </a:lnTo>
                  <a:lnTo>
                    <a:pt x="5015" y="86025"/>
                  </a:lnTo>
                  <a:lnTo>
                    <a:pt x="4991" y="85868"/>
                  </a:lnTo>
                  <a:lnTo>
                    <a:pt x="4953" y="85668"/>
                  </a:lnTo>
                  <a:lnTo>
                    <a:pt x="4943" y="85520"/>
                  </a:lnTo>
                  <a:lnTo>
                    <a:pt x="4929" y="85473"/>
                  </a:lnTo>
                  <a:lnTo>
                    <a:pt x="4929" y="85396"/>
                  </a:lnTo>
                  <a:lnTo>
                    <a:pt x="4910" y="85139"/>
                  </a:lnTo>
                  <a:lnTo>
                    <a:pt x="4915" y="84968"/>
                  </a:lnTo>
                  <a:lnTo>
                    <a:pt x="4920" y="84858"/>
                  </a:lnTo>
                  <a:lnTo>
                    <a:pt x="4929" y="84606"/>
                  </a:lnTo>
                  <a:lnTo>
                    <a:pt x="4948" y="84487"/>
                  </a:lnTo>
                  <a:lnTo>
                    <a:pt x="4948" y="84396"/>
                  </a:lnTo>
                  <a:lnTo>
                    <a:pt x="4986" y="84230"/>
                  </a:lnTo>
                  <a:lnTo>
                    <a:pt x="5010" y="84068"/>
                  </a:lnTo>
                  <a:lnTo>
                    <a:pt x="5034" y="83972"/>
                  </a:lnTo>
                  <a:lnTo>
                    <a:pt x="5053" y="83877"/>
                  </a:lnTo>
                  <a:lnTo>
                    <a:pt x="5139" y="83591"/>
                  </a:lnTo>
                  <a:lnTo>
                    <a:pt x="5153" y="83529"/>
                  </a:lnTo>
                  <a:lnTo>
                    <a:pt x="10630" y="67099"/>
                  </a:lnTo>
                  <a:lnTo>
                    <a:pt x="10525" y="66923"/>
                  </a:lnTo>
                  <a:cubicBezTo>
                    <a:pt x="0" y="49078"/>
                    <a:pt x="4767" y="26961"/>
                    <a:pt x="22017" y="13968"/>
                  </a:cubicBezTo>
                  <a:close/>
                </a:path>
              </a:pathLst>
            </a:custGeom>
            <a:solidFill>
              <a:srgbClr val="D64535"/>
            </a:solidFill>
            <a:ln>
              <a:noFill/>
            </a:ln>
          </p:spPr>
        </p:sp>
        <p:sp>
          <p:nvSpPr>
            <p:cNvPr id="16" name="TextBox 16"/>
            <p:cNvSpPr txBox="1"/>
            <p:nvPr/>
          </p:nvSpPr>
          <p:spPr>
            <a:xfrm>
              <a:off x="2032635" y="1423035"/>
              <a:ext cx="2082336" cy="243840"/>
            </a:xfrm>
            <a:prstGeom prst="rect">
              <a:avLst/>
            </a:prstGeom>
            <a:noFill/>
            <a:ln>
              <a:noFill/>
            </a:ln>
          </p:spPr>
          <p:txBody>
            <a:bodyPr wrap="none" lIns="0" tIns="0" rIns="0" bIns="0" anchor="t" anchorCtr="0">
              <a:spAutoFit/>
            </a:bodyPr>
            <a:lstStyle/>
            <a:p>
              <a:pPr algn="l"/>
              <a:r>
                <a:rPr lang="zh-CN" sz="1200" b="1" dirty="0">
                  <a:solidFill>
                    <a:srgbClr val="D64535"/>
                  </a:solidFill>
                  <a:latin typeface="Quicksand"/>
                  <a:ea typeface="Microsoft YaHei"/>
                  <a:cs typeface="Quicksand"/>
                </a:rPr>
                <a:t>期中立项阶段 · 纸上谈兵</a:t>
              </a:r>
            </a:p>
          </p:txBody>
        </p:sp>
        <p:sp>
          <p:nvSpPr>
            <p:cNvPr id="17" name="TextBox 17"/>
            <p:cNvSpPr txBox="1"/>
            <p:nvPr/>
          </p:nvSpPr>
          <p:spPr>
            <a:xfrm>
              <a:off x="1700212" y="1878806"/>
              <a:ext cx="2230279"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核心代码</a:t>
              </a:r>
              <a:r>
                <a:rPr lang="zh-CN" sz="1125" dirty="0">
                  <a:solidFill>
                    <a:srgbClr val="4D5F54"/>
                  </a:solidFill>
                  <a:latin typeface="Plus Jakarta Sans"/>
                  <a:ea typeface="Microsoft YaHei"/>
                  <a:cs typeface="Plus Jakarta Sans"/>
                </a:rPr>
                <a:t>：全模块均为</a:t>
              </a:r>
              <a:r>
                <a:rPr lang="zh-CN" sz="1125" b="1" dirty="0">
                  <a:solidFill>
                    <a:srgbClr val="D64535"/>
                  </a:solidFill>
                  <a:latin typeface="Plus Jakarta Sans"/>
                  <a:ea typeface="Microsoft YaHei"/>
                  <a:cs typeface="Plus Jakarta Sans"/>
                </a:rPr>
                <a:t>0 行</a:t>
              </a:r>
              <a:r>
                <a:rPr lang="zh-CN" sz="1125" dirty="0">
                  <a:solidFill>
                    <a:srgbClr val="4D5F54"/>
                  </a:solidFill>
                  <a:latin typeface="Plus Jakarta Sans"/>
                  <a:ea typeface="Microsoft YaHei"/>
                  <a:cs typeface="Plus Jakarta Sans"/>
                </a:rPr>
                <a:t>。</a:t>
              </a:r>
            </a:p>
          </p:txBody>
        </p:sp>
        <p:sp>
          <p:nvSpPr>
            <p:cNvPr id="18" name="TextBox 18"/>
            <p:cNvSpPr txBox="1"/>
            <p:nvPr/>
          </p:nvSpPr>
          <p:spPr>
            <a:xfrm>
              <a:off x="1700212" y="2126456"/>
              <a:ext cx="3240762"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硬件连接</a:t>
              </a:r>
              <a:r>
                <a:rPr lang="zh-CN" sz="1125" dirty="0">
                  <a:solidFill>
                    <a:srgbClr val="4D5F54"/>
                  </a:solidFill>
                  <a:latin typeface="Plus Jakarta Sans"/>
                  <a:ea typeface="Microsoft YaHei"/>
                  <a:cs typeface="Plus Jakarta Sans"/>
                </a:rPr>
                <a:t>：刚购入开发板，毫无硬件经验。</a:t>
              </a:r>
            </a:p>
          </p:txBody>
        </p:sp>
        <p:sp>
          <p:nvSpPr>
            <p:cNvPr id="19" name="TextBox 19"/>
            <p:cNvSpPr txBox="1"/>
            <p:nvPr/>
          </p:nvSpPr>
          <p:spPr>
            <a:xfrm>
              <a:off x="1700212" y="2374106"/>
              <a:ext cx="340506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功能开发</a:t>
              </a:r>
              <a:r>
                <a:rPr lang="zh-CN" sz="1125" dirty="0">
                  <a:solidFill>
                    <a:srgbClr val="4D5F54"/>
                  </a:solidFill>
                  <a:latin typeface="Plus Jakarta Sans"/>
                  <a:ea typeface="Microsoft YaHei"/>
                  <a:cs typeface="Plus Jakarta Sans"/>
                </a:rPr>
                <a:t>：完全停留在脑图与纸面架构阶段。</a:t>
              </a:r>
            </a:p>
          </p:txBody>
        </p:sp>
      </p:grpSp>
      <p:grpSp>
        <p:nvGrpSpPr>
          <p:cNvPr id="40" name="Group 40"/>
          <p:cNvGrpSpPr/>
          <p:nvPr/>
        </p:nvGrpSpPr>
        <p:grpSpPr>
          <a:xfrm>
            <a:off x="6477000" y="3352800"/>
            <a:ext cx="4941689" cy="2457450"/>
            <a:chOff x="6477000" y="3352800"/>
            <a:chExt cx="4941689" cy="2457450"/>
          </a:xfrm>
        </p:grpSpPr>
        <p:sp>
          <p:nvSpPr>
            <p:cNvPr id="21" name="Line 21"/>
            <p:cNvSpPr/>
            <p:nvPr/>
          </p:nvSpPr>
          <p:spPr>
            <a:xfrm>
              <a:off x="8572500" y="3429000"/>
              <a:ext cx="9525" cy="381000"/>
            </a:xfrm>
            <a:custGeom>
              <a:avLst/>
              <a:gdLst/>
              <a:ahLst/>
              <a:cxnLst/>
              <a:rect l="l" t="t" r="r" b="b"/>
              <a:pathLst>
                <a:path w="9525" h="381000">
                  <a:moveTo>
                    <a:pt x="0" y="0"/>
                  </a:moveTo>
                  <a:lnTo>
                    <a:pt x="0" y="381000"/>
                  </a:lnTo>
                </a:path>
              </a:pathLst>
            </a:custGeom>
            <a:noFill/>
            <a:ln w="14288">
              <a:solidFill>
                <a:srgbClr val="3B8756"/>
              </a:solidFill>
              <a:prstDash val="sysDot"/>
            </a:ln>
          </p:spPr>
        </p:sp>
        <p:sp>
          <p:nvSpPr>
            <p:cNvPr id="22" name="Ellipse 22"/>
            <p:cNvSpPr/>
            <p:nvPr/>
          </p:nvSpPr>
          <p:spPr>
            <a:xfrm>
              <a:off x="8496300" y="3352800"/>
              <a:ext cx="152400" cy="152400"/>
            </a:xfrm>
            <a:prstGeom prst="ellipse">
              <a:avLst/>
            </a:prstGeom>
            <a:solidFill>
              <a:srgbClr val="3B8756"/>
            </a:solidFill>
            <a:ln>
              <a:noFill/>
            </a:ln>
          </p:spPr>
        </p:sp>
        <p:sp>
          <p:nvSpPr>
            <p:cNvPr id="23" name="Freeform 23"/>
            <p:cNvSpPr/>
            <p:nvPr/>
          </p:nvSpPr>
          <p:spPr>
            <a:xfrm>
              <a:off x="6477000" y="3810000"/>
              <a:ext cx="4286250" cy="2000250"/>
            </a:xfrm>
            <a:custGeom>
              <a:avLst/>
              <a:gdLst/>
              <a:ahLst/>
              <a:cxnLst/>
              <a:rect l="l" t="t" r="r" b="b"/>
              <a:pathLst>
                <a:path w="4286250" h="2000250">
                  <a:moveTo>
                    <a:pt x="95250" y="0"/>
                  </a:moveTo>
                  <a:lnTo>
                    <a:pt x="4191000" y="0"/>
                  </a:lnTo>
                  <a:cubicBezTo>
                    <a:pt x="4243605" y="0"/>
                    <a:pt x="4286250" y="42645"/>
                    <a:pt x="4286250" y="95250"/>
                  </a:cubicBezTo>
                  <a:lnTo>
                    <a:pt x="4286250" y="1905000"/>
                  </a:lnTo>
                  <a:cubicBezTo>
                    <a:pt x="4286250" y="1957605"/>
                    <a:pt x="4243605" y="2000250"/>
                    <a:pt x="4191000" y="2000250"/>
                  </a:cubicBezTo>
                  <a:lnTo>
                    <a:pt x="95250" y="2000250"/>
                  </a:lnTo>
                  <a:cubicBezTo>
                    <a:pt x="42645" y="2000250"/>
                    <a:pt x="0" y="1957605"/>
                    <a:pt x="0" y="1905000"/>
                  </a:cubicBezTo>
                  <a:lnTo>
                    <a:pt x="0" y="95250"/>
                  </a:lnTo>
                  <a:cubicBezTo>
                    <a:pt x="0" y="42645"/>
                    <a:pt x="42645" y="0"/>
                    <a:pt x="95250" y="0"/>
                  </a:cubicBezTo>
                  <a:close/>
                </a:path>
              </a:pathLst>
            </a:custGeom>
            <a:solidFill>
              <a:srgbClr val="FFFFFF"/>
            </a:solidFill>
            <a:ln w="14288">
              <a:solidFill>
                <a:srgbClr val="D1DAD4"/>
              </a:solidFill>
            </a:ln>
          </p:spPr>
        </p:sp>
        <p:sp>
          <p:nvSpPr>
            <p:cNvPr id="24" name="Freeform 24"/>
            <p:cNvSpPr/>
            <p:nvPr/>
          </p:nvSpPr>
          <p:spPr>
            <a:xfrm>
              <a:off x="6477000" y="3810000"/>
              <a:ext cx="4286250" cy="142875"/>
            </a:xfrm>
            <a:custGeom>
              <a:avLst/>
              <a:gdLst/>
              <a:ahLst/>
              <a:cxnLst/>
              <a:rect l="l" t="t" r="r" b="b"/>
              <a:pathLst>
                <a:path w="4286250" h="142875">
                  <a:moveTo>
                    <a:pt x="0" y="114300"/>
                  </a:moveTo>
                  <a:cubicBezTo>
                    <a:pt x="0" y="51174"/>
                    <a:pt x="51174" y="0"/>
                    <a:pt x="114300" y="0"/>
                  </a:cubicBezTo>
                  <a:lnTo>
                    <a:pt x="4171950" y="0"/>
                  </a:lnTo>
                  <a:cubicBezTo>
                    <a:pt x="4235076" y="0"/>
                    <a:pt x="4286250" y="51174"/>
                    <a:pt x="4286250" y="114300"/>
                  </a:cubicBezTo>
                  <a:lnTo>
                    <a:pt x="4286250" y="142875"/>
                  </a:lnTo>
                  <a:lnTo>
                    <a:pt x="0" y="142875"/>
                  </a:lnTo>
                  <a:close/>
                </a:path>
              </a:pathLst>
            </a:custGeom>
            <a:solidFill>
              <a:srgbClr val="3B8756"/>
            </a:solidFill>
            <a:ln>
              <a:noFill/>
            </a:ln>
          </p:spPr>
        </p:sp>
        <p:sp>
          <p:nvSpPr>
            <p:cNvPr id="25" name="Freeform 25"/>
            <p:cNvSpPr/>
            <p:nvPr/>
          </p:nvSpPr>
          <p:spPr>
            <a:xfrm>
              <a:off x="6762750" y="4048125"/>
              <a:ext cx="228600" cy="228600"/>
            </a:xfrm>
            <a:custGeom>
              <a:avLst/>
              <a:gdLst/>
              <a:ahLst/>
              <a:cxnLst/>
              <a:rect l="l" t="t" r="r" b="b"/>
              <a:pathLst>
                <a:path w="228600" h="228600">
                  <a:moveTo>
                    <a:pt x="114300" y="0"/>
                  </a:moveTo>
                  <a:lnTo>
                    <a:pt x="114300" y="0"/>
                  </a:lnTo>
                  <a:cubicBezTo>
                    <a:pt x="177426" y="0"/>
                    <a:pt x="228600" y="51174"/>
                    <a:pt x="228600" y="114300"/>
                  </a:cubicBezTo>
                  <a:lnTo>
                    <a:pt x="228600" y="114300"/>
                  </a:lnTo>
                  <a:cubicBezTo>
                    <a:pt x="228600" y="177426"/>
                    <a:pt x="177426" y="228600"/>
                    <a:pt x="114300" y="228600"/>
                  </a:cubicBezTo>
                  <a:lnTo>
                    <a:pt x="114300" y="228600"/>
                  </a:lnTo>
                  <a:cubicBezTo>
                    <a:pt x="51174" y="228600"/>
                    <a:pt x="0" y="177426"/>
                    <a:pt x="0" y="114300"/>
                  </a:cubicBezTo>
                  <a:lnTo>
                    <a:pt x="0" y="114300"/>
                  </a:lnTo>
                  <a:cubicBezTo>
                    <a:pt x="0" y="51174"/>
                    <a:pt x="51174" y="0"/>
                    <a:pt x="114300" y="0"/>
                  </a:cubicBezTo>
                  <a:close/>
                </a:path>
              </a:pathLst>
            </a:custGeom>
            <a:solidFill>
              <a:srgbClr val="3B8756">
                <a:alpha val="8000"/>
              </a:srgbClr>
            </a:solidFill>
            <a:ln>
              <a:noFill/>
            </a:ln>
          </p:spPr>
        </p:sp>
        <p:grpSp>
          <p:nvGrpSpPr>
            <p:cNvPr id="35" name="Group 35"/>
            <p:cNvGrpSpPr/>
            <p:nvPr/>
          </p:nvGrpSpPr>
          <p:grpSpPr>
            <a:xfrm>
              <a:off x="6829291" y="4114800"/>
              <a:ext cx="95518" cy="95384"/>
              <a:chOff x="6829291" y="4114800"/>
              <a:chExt cx="95518" cy="95384"/>
            </a:xfrm>
          </p:grpSpPr>
          <p:sp>
            <p:nvSpPr>
              <p:cNvPr id="26" name="Freeform 26"/>
              <p:cNvSpPr/>
              <p:nvPr/>
            </p:nvSpPr>
            <p:spPr>
              <a:xfrm>
                <a:off x="6872288" y="4195762"/>
                <a:ext cx="9525" cy="14422"/>
              </a:xfrm>
              <a:custGeom>
                <a:avLst/>
                <a:gdLst/>
                <a:ahLst/>
                <a:cxnLst/>
                <a:rect l="l" t="t" r="r" b="b"/>
                <a:pathLst>
                  <a:path w="9525" h="14422">
                    <a:moveTo>
                      <a:pt x="4762" y="0"/>
                    </a:moveTo>
                    <a:cubicBezTo>
                      <a:pt x="7177" y="0"/>
                      <a:pt x="9209" y="1807"/>
                      <a:pt x="9492" y="4205"/>
                    </a:cubicBezTo>
                    <a:lnTo>
                      <a:pt x="9525" y="4762"/>
                    </a:lnTo>
                    <a:lnTo>
                      <a:pt x="9525" y="9525"/>
                    </a:lnTo>
                    <a:cubicBezTo>
                      <a:pt x="9522" y="12045"/>
                      <a:pt x="7557" y="14126"/>
                      <a:pt x="5042" y="14274"/>
                    </a:cubicBezTo>
                    <a:cubicBezTo>
                      <a:pt x="2526" y="14422"/>
                      <a:pt x="331" y="12584"/>
                      <a:pt x="33" y="10082"/>
                    </a:cubicBezTo>
                    <a:lnTo>
                      <a:pt x="0" y="9525"/>
                    </a:lnTo>
                    <a:lnTo>
                      <a:pt x="0" y="4762"/>
                    </a:lnTo>
                    <a:cubicBezTo>
                      <a:pt x="0" y="2132"/>
                      <a:pt x="2132" y="0"/>
                      <a:pt x="4762" y="0"/>
                    </a:cubicBezTo>
                    <a:close/>
                  </a:path>
                </a:pathLst>
              </a:custGeom>
              <a:solidFill>
                <a:srgbClr val="3B8756"/>
              </a:solidFill>
              <a:ln>
                <a:noFill/>
              </a:ln>
            </p:spPr>
          </p:sp>
          <p:sp>
            <p:nvSpPr>
              <p:cNvPr id="27" name="Freeform 27"/>
              <p:cNvSpPr/>
              <p:nvPr/>
            </p:nvSpPr>
            <p:spPr>
              <a:xfrm>
                <a:off x="6898959" y="4184246"/>
                <a:ext cx="13798" cy="13957"/>
              </a:xfrm>
              <a:custGeom>
                <a:avLst/>
                <a:gdLst/>
                <a:ahLst/>
                <a:cxnLst/>
                <a:rect l="l" t="t" r="r" b="b"/>
                <a:pathLst>
                  <a:path w="13798" h="13957">
                    <a:moveTo>
                      <a:pt x="8157" y="1562"/>
                    </a:moveTo>
                    <a:lnTo>
                      <a:pt x="8604" y="1958"/>
                    </a:lnTo>
                    <a:lnTo>
                      <a:pt x="11938" y="5291"/>
                    </a:lnTo>
                    <a:cubicBezTo>
                      <a:pt x="13711" y="7070"/>
                      <a:pt x="13798" y="9920"/>
                      <a:pt x="12137" y="11803"/>
                    </a:cubicBezTo>
                    <a:cubicBezTo>
                      <a:pt x="10476" y="13687"/>
                      <a:pt x="7638" y="13957"/>
                      <a:pt x="5652" y="12421"/>
                    </a:cubicBezTo>
                    <a:lnTo>
                      <a:pt x="5204" y="12026"/>
                    </a:lnTo>
                    <a:lnTo>
                      <a:pt x="1870" y="8692"/>
                    </a:lnTo>
                    <a:cubicBezTo>
                      <a:pt x="170" y="6994"/>
                      <a:pt x="0" y="4296"/>
                      <a:pt x="1475" y="2399"/>
                    </a:cubicBezTo>
                    <a:cubicBezTo>
                      <a:pt x="2949" y="502"/>
                      <a:pt x="5606" y="0"/>
                      <a:pt x="7671" y="1229"/>
                    </a:cubicBezTo>
                    <a:lnTo>
                      <a:pt x="8157" y="1562"/>
                    </a:lnTo>
                    <a:close/>
                  </a:path>
                </a:pathLst>
              </a:custGeom>
              <a:solidFill>
                <a:srgbClr val="3B8756"/>
              </a:solidFill>
              <a:ln>
                <a:noFill/>
              </a:ln>
            </p:spPr>
          </p:sp>
          <p:sp>
            <p:nvSpPr>
              <p:cNvPr id="28" name="Freeform 28"/>
              <p:cNvSpPr/>
              <p:nvPr/>
            </p:nvSpPr>
            <p:spPr>
              <a:xfrm>
                <a:off x="6841272" y="4184345"/>
                <a:ext cx="13865" cy="13787"/>
              </a:xfrm>
              <a:custGeom>
                <a:avLst/>
                <a:gdLst/>
                <a:ahLst/>
                <a:cxnLst/>
                <a:rect l="l" t="t" r="r" b="b"/>
                <a:pathLst>
                  <a:path w="13865" h="13787">
                    <a:moveTo>
                      <a:pt x="11999" y="1859"/>
                    </a:moveTo>
                    <a:cubicBezTo>
                      <a:pt x="13696" y="3556"/>
                      <a:pt x="13865" y="6250"/>
                      <a:pt x="12395" y="8146"/>
                    </a:cubicBezTo>
                    <a:lnTo>
                      <a:pt x="11999" y="8593"/>
                    </a:lnTo>
                    <a:lnTo>
                      <a:pt x="8666" y="11927"/>
                    </a:lnTo>
                    <a:cubicBezTo>
                      <a:pt x="6887" y="13700"/>
                      <a:pt x="4037" y="13787"/>
                      <a:pt x="2154" y="12126"/>
                    </a:cubicBezTo>
                    <a:cubicBezTo>
                      <a:pt x="270" y="10465"/>
                      <a:pt x="0" y="7627"/>
                      <a:pt x="1536" y="5641"/>
                    </a:cubicBezTo>
                    <a:lnTo>
                      <a:pt x="1931" y="5193"/>
                    </a:lnTo>
                    <a:lnTo>
                      <a:pt x="5265" y="1859"/>
                    </a:lnTo>
                    <a:cubicBezTo>
                      <a:pt x="7125" y="0"/>
                      <a:pt x="10140" y="0"/>
                      <a:pt x="11999" y="1859"/>
                    </a:cubicBezTo>
                    <a:close/>
                  </a:path>
                </a:pathLst>
              </a:custGeom>
              <a:solidFill>
                <a:srgbClr val="3B8756"/>
              </a:solidFill>
              <a:ln>
                <a:noFill/>
              </a:ln>
            </p:spPr>
          </p:sp>
          <p:sp>
            <p:nvSpPr>
              <p:cNvPr id="29" name="Freeform 29"/>
              <p:cNvSpPr/>
              <p:nvPr/>
            </p:nvSpPr>
            <p:spPr>
              <a:xfrm>
                <a:off x="6829291" y="4157662"/>
                <a:ext cx="14556" cy="9525"/>
              </a:xfrm>
              <a:custGeom>
                <a:avLst/>
                <a:gdLst/>
                <a:ahLst/>
                <a:cxnLst/>
                <a:rect l="l" t="t" r="r" b="b"/>
                <a:pathLst>
                  <a:path w="14556" h="9525">
                    <a:moveTo>
                      <a:pt x="9659" y="0"/>
                    </a:moveTo>
                    <a:cubicBezTo>
                      <a:pt x="12179" y="3"/>
                      <a:pt x="14261" y="1968"/>
                      <a:pt x="14408" y="4483"/>
                    </a:cubicBezTo>
                    <a:cubicBezTo>
                      <a:pt x="14556" y="6999"/>
                      <a:pt x="12719" y="9194"/>
                      <a:pt x="10216" y="9492"/>
                    </a:cubicBezTo>
                    <a:lnTo>
                      <a:pt x="9659" y="9525"/>
                    </a:lnTo>
                    <a:lnTo>
                      <a:pt x="4897" y="9525"/>
                    </a:lnTo>
                    <a:cubicBezTo>
                      <a:pt x="2377" y="9522"/>
                      <a:pt x="295" y="7557"/>
                      <a:pt x="148" y="5042"/>
                    </a:cubicBezTo>
                    <a:cubicBezTo>
                      <a:pt x="0" y="2526"/>
                      <a:pt x="1837" y="331"/>
                      <a:pt x="4339" y="33"/>
                    </a:cubicBezTo>
                    <a:lnTo>
                      <a:pt x="4897" y="0"/>
                    </a:lnTo>
                    <a:lnTo>
                      <a:pt x="9659" y="0"/>
                    </a:lnTo>
                    <a:close/>
                  </a:path>
                </a:pathLst>
              </a:custGeom>
              <a:solidFill>
                <a:srgbClr val="3B8756"/>
              </a:solidFill>
              <a:ln>
                <a:noFill/>
              </a:ln>
            </p:spPr>
          </p:sp>
          <p:sp>
            <p:nvSpPr>
              <p:cNvPr id="30" name="Freeform 30"/>
              <p:cNvSpPr/>
              <p:nvPr/>
            </p:nvSpPr>
            <p:spPr>
              <a:xfrm>
                <a:off x="6910253" y="4157662"/>
                <a:ext cx="14556" cy="9525"/>
              </a:xfrm>
              <a:custGeom>
                <a:avLst/>
                <a:gdLst/>
                <a:ahLst/>
                <a:cxnLst/>
                <a:rect l="l" t="t" r="r" b="b"/>
                <a:pathLst>
                  <a:path w="14556" h="9525">
                    <a:moveTo>
                      <a:pt x="9659" y="0"/>
                    </a:moveTo>
                    <a:cubicBezTo>
                      <a:pt x="12179" y="3"/>
                      <a:pt x="14261" y="1968"/>
                      <a:pt x="14408" y="4483"/>
                    </a:cubicBezTo>
                    <a:cubicBezTo>
                      <a:pt x="14556" y="6999"/>
                      <a:pt x="12719" y="9194"/>
                      <a:pt x="10216" y="9492"/>
                    </a:cubicBezTo>
                    <a:lnTo>
                      <a:pt x="9659" y="9525"/>
                    </a:lnTo>
                    <a:lnTo>
                      <a:pt x="4897" y="9525"/>
                    </a:lnTo>
                    <a:cubicBezTo>
                      <a:pt x="2377" y="9522"/>
                      <a:pt x="295" y="7557"/>
                      <a:pt x="148" y="5042"/>
                    </a:cubicBezTo>
                    <a:cubicBezTo>
                      <a:pt x="0" y="2526"/>
                      <a:pt x="1837" y="331"/>
                      <a:pt x="4339" y="33"/>
                    </a:cubicBezTo>
                    <a:lnTo>
                      <a:pt x="4897" y="0"/>
                    </a:lnTo>
                    <a:lnTo>
                      <a:pt x="9659" y="0"/>
                    </a:lnTo>
                    <a:close/>
                  </a:path>
                </a:pathLst>
              </a:custGeom>
              <a:solidFill>
                <a:srgbClr val="3B8756"/>
              </a:solidFill>
              <a:ln>
                <a:noFill/>
              </a:ln>
            </p:spPr>
          </p:sp>
          <p:sp>
            <p:nvSpPr>
              <p:cNvPr id="31" name="Freeform 31"/>
              <p:cNvSpPr/>
              <p:nvPr/>
            </p:nvSpPr>
            <p:spPr>
              <a:xfrm>
                <a:off x="6841342" y="4126628"/>
                <a:ext cx="13788" cy="13949"/>
              </a:xfrm>
              <a:custGeom>
                <a:avLst/>
                <a:gdLst/>
                <a:ahLst/>
                <a:cxnLst/>
                <a:rect l="l" t="t" r="r" b="b"/>
                <a:pathLst>
                  <a:path w="13788" h="13949">
                    <a:moveTo>
                      <a:pt x="8147" y="1554"/>
                    </a:moveTo>
                    <a:lnTo>
                      <a:pt x="8595" y="1950"/>
                    </a:lnTo>
                    <a:lnTo>
                      <a:pt x="11929" y="5283"/>
                    </a:lnTo>
                    <a:cubicBezTo>
                      <a:pt x="13701" y="7062"/>
                      <a:pt x="13788" y="9911"/>
                      <a:pt x="12128" y="11795"/>
                    </a:cubicBezTo>
                    <a:cubicBezTo>
                      <a:pt x="10467" y="13679"/>
                      <a:pt x="7629" y="13949"/>
                      <a:pt x="5642" y="12413"/>
                    </a:cubicBezTo>
                    <a:lnTo>
                      <a:pt x="5195" y="12017"/>
                    </a:lnTo>
                    <a:lnTo>
                      <a:pt x="1861" y="8684"/>
                    </a:lnTo>
                    <a:cubicBezTo>
                      <a:pt x="167" y="6986"/>
                      <a:pt x="0" y="4293"/>
                      <a:pt x="1471" y="2399"/>
                    </a:cubicBezTo>
                    <a:cubicBezTo>
                      <a:pt x="2942" y="505"/>
                      <a:pt x="5592" y="0"/>
                      <a:pt x="7657" y="1221"/>
                    </a:cubicBezTo>
                    <a:lnTo>
                      <a:pt x="8143" y="1554"/>
                    </a:lnTo>
                    <a:close/>
                  </a:path>
                </a:pathLst>
              </a:custGeom>
              <a:solidFill>
                <a:srgbClr val="3B8756"/>
              </a:solidFill>
              <a:ln>
                <a:noFill/>
              </a:ln>
            </p:spPr>
          </p:sp>
          <p:sp>
            <p:nvSpPr>
              <p:cNvPr id="32" name="Freeform 32"/>
              <p:cNvSpPr/>
              <p:nvPr/>
            </p:nvSpPr>
            <p:spPr>
              <a:xfrm>
                <a:off x="6898898" y="4126719"/>
                <a:ext cx="13865" cy="13787"/>
              </a:xfrm>
              <a:custGeom>
                <a:avLst/>
                <a:gdLst/>
                <a:ahLst/>
                <a:cxnLst/>
                <a:rect l="l" t="t" r="r" b="b"/>
                <a:pathLst>
                  <a:path w="13865" h="13787">
                    <a:moveTo>
                      <a:pt x="11999" y="1859"/>
                    </a:moveTo>
                    <a:cubicBezTo>
                      <a:pt x="13696" y="3556"/>
                      <a:pt x="13865" y="6250"/>
                      <a:pt x="12395" y="8146"/>
                    </a:cubicBezTo>
                    <a:lnTo>
                      <a:pt x="11999" y="8593"/>
                    </a:lnTo>
                    <a:lnTo>
                      <a:pt x="8666" y="11927"/>
                    </a:lnTo>
                    <a:cubicBezTo>
                      <a:pt x="6887" y="13700"/>
                      <a:pt x="4037" y="13787"/>
                      <a:pt x="2154" y="12126"/>
                    </a:cubicBezTo>
                    <a:cubicBezTo>
                      <a:pt x="270" y="10465"/>
                      <a:pt x="0" y="7627"/>
                      <a:pt x="1536" y="5641"/>
                    </a:cubicBezTo>
                    <a:lnTo>
                      <a:pt x="1931" y="5193"/>
                    </a:lnTo>
                    <a:lnTo>
                      <a:pt x="5265" y="1859"/>
                    </a:lnTo>
                    <a:cubicBezTo>
                      <a:pt x="7125" y="0"/>
                      <a:pt x="10140" y="0"/>
                      <a:pt x="11999" y="1859"/>
                    </a:cubicBezTo>
                    <a:close/>
                  </a:path>
                </a:pathLst>
              </a:custGeom>
              <a:solidFill>
                <a:srgbClr val="3B8756"/>
              </a:solidFill>
              <a:ln>
                <a:noFill/>
              </a:ln>
            </p:spPr>
          </p:sp>
          <p:sp>
            <p:nvSpPr>
              <p:cNvPr id="33" name="Freeform 33"/>
              <p:cNvSpPr/>
              <p:nvPr/>
            </p:nvSpPr>
            <p:spPr>
              <a:xfrm>
                <a:off x="6872288" y="4114800"/>
                <a:ext cx="9525" cy="14422"/>
              </a:xfrm>
              <a:custGeom>
                <a:avLst/>
                <a:gdLst/>
                <a:ahLst/>
                <a:cxnLst/>
                <a:rect l="l" t="t" r="r" b="b"/>
                <a:pathLst>
                  <a:path w="9525" h="14422">
                    <a:moveTo>
                      <a:pt x="4762" y="0"/>
                    </a:moveTo>
                    <a:cubicBezTo>
                      <a:pt x="7177" y="0"/>
                      <a:pt x="9209" y="1807"/>
                      <a:pt x="9492" y="4205"/>
                    </a:cubicBezTo>
                    <a:lnTo>
                      <a:pt x="9525" y="4762"/>
                    </a:lnTo>
                    <a:lnTo>
                      <a:pt x="9525" y="9525"/>
                    </a:lnTo>
                    <a:cubicBezTo>
                      <a:pt x="9522" y="12045"/>
                      <a:pt x="7557" y="14126"/>
                      <a:pt x="5042" y="14274"/>
                    </a:cubicBezTo>
                    <a:cubicBezTo>
                      <a:pt x="2526" y="14422"/>
                      <a:pt x="331" y="12584"/>
                      <a:pt x="33" y="10082"/>
                    </a:cubicBezTo>
                    <a:lnTo>
                      <a:pt x="0" y="9525"/>
                    </a:lnTo>
                    <a:lnTo>
                      <a:pt x="0" y="4762"/>
                    </a:lnTo>
                    <a:cubicBezTo>
                      <a:pt x="0" y="2132"/>
                      <a:pt x="2132" y="0"/>
                      <a:pt x="4762" y="0"/>
                    </a:cubicBezTo>
                    <a:close/>
                  </a:path>
                </a:pathLst>
              </a:custGeom>
              <a:solidFill>
                <a:srgbClr val="3B8756"/>
              </a:solidFill>
              <a:ln>
                <a:noFill/>
              </a:ln>
            </p:spPr>
          </p:sp>
          <p:sp>
            <p:nvSpPr>
              <p:cNvPr id="34" name="Freeform 34"/>
              <p:cNvSpPr/>
              <p:nvPr/>
            </p:nvSpPr>
            <p:spPr>
              <a:xfrm>
                <a:off x="6853238" y="4138612"/>
                <a:ext cx="47813" cy="47993"/>
              </a:xfrm>
              <a:custGeom>
                <a:avLst/>
                <a:gdLst/>
                <a:ahLst/>
                <a:cxnLst/>
                <a:rect l="l" t="t" r="r" b="b"/>
                <a:pathLst>
                  <a:path w="47813" h="47993">
                    <a:moveTo>
                      <a:pt x="23812" y="1"/>
                    </a:moveTo>
                    <a:cubicBezTo>
                      <a:pt x="36830" y="0"/>
                      <a:pt x="47435" y="10452"/>
                      <a:pt x="47624" y="23468"/>
                    </a:cubicBezTo>
                    <a:cubicBezTo>
                      <a:pt x="47813" y="36483"/>
                      <a:pt x="37515" y="47239"/>
                      <a:pt x="24503" y="47616"/>
                    </a:cubicBezTo>
                    <a:cubicBezTo>
                      <a:pt x="11492" y="47993"/>
                      <a:pt x="589" y="37852"/>
                      <a:pt x="24" y="24847"/>
                    </a:cubicBezTo>
                    <a:lnTo>
                      <a:pt x="0" y="23813"/>
                    </a:lnTo>
                    <a:lnTo>
                      <a:pt x="24" y="22780"/>
                    </a:lnTo>
                    <a:cubicBezTo>
                      <a:pt x="577" y="10043"/>
                      <a:pt x="11064" y="1"/>
                      <a:pt x="23812" y="1"/>
                    </a:cubicBezTo>
                    <a:close/>
                  </a:path>
                </a:pathLst>
              </a:custGeom>
              <a:solidFill>
                <a:srgbClr val="3B8756"/>
              </a:solidFill>
              <a:ln>
                <a:noFill/>
              </a:ln>
            </p:spPr>
          </p:sp>
        </p:grpSp>
        <p:sp>
          <p:nvSpPr>
            <p:cNvPr id="36" name="TextBox 36"/>
            <p:cNvSpPr txBox="1"/>
            <p:nvPr/>
          </p:nvSpPr>
          <p:spPr>
            <a:xfrm>
              <a:off x="7080885" y="4090035"/>
              <a:ext cx="2082336" cy="243840"/>
            </a:xfrm>
            <a:prstGeom prst="rect">
              <a:avLst/>
            </a:prstGeom>
            <a:noFill/>
            <a:ln>
              <a:noFill/>
            </a:ln>
          </p:spPr>
          <p:txBody>
            <a:bodyPr wrap="none" lIns="0" tIns="0" rIns="0" bIns="0" anchor="t" anchorCtr="0">
              <a:spAutoFit/>
            </a:bodyPr>
            <a:lstStyle/>
            <a:p>
              <a:pPr algn="l"/>
              <a:r>
                <a:rPr lang="zh-CN" sz="1200" b="1" dirty="0">
                  <a:solidFill>
                    <a:srgbClr val="3B8756"/>
                  </a:solidFill>
                  <a:latin typeface="Quicksand"/>
                  <a:ea typeface="Microsoft YaHei"/>
                  <a:cs typeface="Quicksand"/>
                </a:rPr>
                <a:t>期末完美交付 · 落地生根</a:t>
              </a:r>
            </a:p>
          </p:txBody>
        </p:sp>
        <p:sp>
          <p:nvSpPr>
            <p:cNvPr id="37" name="TextBox 37"/>
            <p:cNvSpPr txBox="1"/>
            <p:nvPr/>
          </p:nvSpPr>
          <p:spPr>
            <a:xfrm>
              <a:off x="6748462" y="4545806"/>
              <a:ext cx="361866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全栈完全落成</a:t>
              </a:r>
              <a:r>
                <a:rPr lang="zh-CN" sz="1125" dirty="0">
                  <a:solidFill>
                    <a:srgbClr val="4D5F54"/>
                  </a:solidFill>
                  <a:latin typeface="Plus Jakarta Sans"/>
                  <a:ea typeface="Microsoft YaHei"/>
                  <a:cs typeface="Plus Jakarta Sans"/>
                </a:rPr>
                <a:t>：后端完成度约</a:t>
              </a:r>
              <a:r>
                <a:rPr lang="zh-CN" sz="1125" b="1" dirty="0">
                  <a:solidFill>
                    <a:srgbClr val="2B583E"/>
                  </a:solidFill>
                  <a:latin typeface="Plus Jakarta Sans"/>
                  <a:ea typeface="Microsoft YaHei"/>
                  <a:cs typeface="Plus Jakarta Sans"/>
                </a:rPr>
                <a:t>90%</a:t>
              </a:r>
              <a:r>
                <a:rPr lang="zh-CN" sz="1125" dirty="0">
                  <a:solidFill>
                    <a:srgbClr val="4D5F54"/>
                  </a:solidFill>
                  <a:latin typeface="Plus Jakarta Sans"/>
                  <a:ea typeface="Microsoft YaHei"/>
                  <a:cs typeface="Plus Jakarta Sans"/>
                </a:rPr>
                <a:t>，客户端</a:t>
              </a:r>
              <a:r>
                <a:rPr lang="zh-CN" sz="1125" b="1" dirty="0">
                  <a:solidFill>
                    <a:srgbClr val="2B583E"/>
                  </a:solidFill>
                  <a:latin typeface="Plus Jakarta Sans"/>
                  <a:ea typeface="Microsoft YaHei"/>
                  <a:cs typeface="Plus Jakarta Sans"/>
                </a:rPr>
                <a:t>87%</a:t>
              </a:r>
              <a:r>
                <a:rPr lang="zh-CN" sz="1125" dirty="0">
                  <a:solidFill>
                    <a:srgbClr val="4D5F54"/>
                  </a:solidFill>
                  <a:latin typeface="Plus Jakarta Sans"/>
                  <a:ea typeface="Microsoft YaHei"/>
                  <a:cs typeface="Plus Jakarta Sans"/>
                </a:rPr>
                <a:t>。</a:t>
              </a:r>
            </a:p>
          </p:txBody>
        </p:sp>
        <p:sp>
          <p:nvSpPr>
            <p:cNvPr id="38" name="TextBox 38"/>
            <p:cNvSpPr txBox="1"/>
            <p:nvPr/>
          </p:nvSpPr>
          <p:spPr>
            <a:xfrm>
              <a:off x="6748462" y="4793456"/>
              <a:ext cx="430053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硬件完美跑通</a:t>
              </a:r>
              <a:r>
                <a:rPr lang="zh-CN" sz="1125" dirty="0">
                  <a:solidFill>
                    <a:srgbClr val="4D5F54"/>
                  </a:solidFill>
                  <a:latin typeface="Plus Jakarta Sans"/>
                  <a:ea typeface="Microsoft YaHei"/>
                  <a:cs typeface="Plus Jakarta Sans"/>
                </a:rPr>
                <a:t>：ESP32 配网、1秒推流、NVS 密钥与 OTA。</a:t>
              </a:r>
            </a:p>
          </p:txBody>
        </p:sp>
        <p:sp>
          <p:nvSpPr>
            <p:cNvPr id="39" name="TextBox 39"/>
            <p:cNvSpPr txBox="1"/>
            <p:nvPr/>
          </p:nvSpPr>
          <p:spPr>
            <a:xfrm>
              <a:off x="6748462" y="5041106"/>
              <a:ext cx="4670227"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a:t>
              </a:r>
              <a:r>
                <a:rPr lang="zh-CN" sz="1125" b="1" dirty="0">
                  <a:solidFill>
                    <a:srgbClr val="1C2E24"/>
                  </a:solidFill>
                  <a:latin typeface="Plus Jakarta Sans"/>
                  <a:ea typeface="Microsoft YaHei"/>
                  <a:cs typeface="Plus Jakarta Sans"/>
                </a:rPr>
                <a:t>工程闭环达成</a:t>
              </a:r>
              <a:r>
                <a:rPr lang="zh-CN" sz="1125" dirty="0">
                  <a:solidFill>
                    <a:srgbClr val="4D5F54"/>
                  </a:solidFill>
                  <a:latin typeface="Plus Jakarta Sans"/>
                  <a:ea typeface="Microsoft YaHei"/>
                  <a:cs typeface="Plus Jakarta Sans"/>
                </a:rPr>
                <a:t>：单元测试、4大 Smoke 压测、Docker 容器化。</a:t>
              </a:r>
            </a:p>
          </p:txBody>
        </p:sp>
      </p:grpSp>
      <p:sp>
        <p:nvSpPr>
          <p:cNvPr id="41" name="TextBox 41"/>
          <p:cNvSpPr txBox="1"/>
          <p:nvPr/>
        </p:nvSpPr>
        <p:spPr>
          <a:xfrm>
            <a:off x="4111714" y="3156585"/>
            <a:ext cx="3968572" cy="243840"/>
          </a:xfrm>
          <a:prstGeom prst="rect">
            <a:avLst/>
          </a:prstGeom>
          <a:noFill/>
          <a:ln>
            <a:noFill/>
          </a:ln>
        </p:spPr>
        <p:txBody>
          <a:bodyPr wrap="none" lIns="0" tIns="0" rIns="0" bIns="0" anchor="t" anchorCtr="0">
            <a:spAutoFit/>
          </a:bodyPr>
          <a:lstStyle/>
          <a:p>
            <a:pPr algn="ctr"/>
            <a:r>
              <a:rPr lang="zh-CN" sz="1200" b="1" dirty="0">
                <a:solidFill>
                  <a:srgbClr val="8E5B3C"/>
                </a:solidFill>
                <a:latin typeface="Quicksand"/>
                <a:ea typeface="Microsoft YaHei"/>
                <a:cs typeface="Quicksand"/>
              </a:rPr>
              <a:t>经过 2 个月的全力冲刺 ─── 迎来全链路惊艳跨越</a:t>
            </a:r>
          </a:p>
        </p:txBody>
      </p:sp>
      <p:grpSp>
        <p:nvGrpSpPr>
          <p:cNvPr id="44" name="Group 44"/>
          <p:cNvGrpSpPr/>
          <p:nvPr/>
        </p:nvGrpSpPr>
        <p:grpSpPr>
          <a:xfrm>
            <a:off x="561975" y="6443662"/>
            <a:ext cx="10877550" cy="152400"/>
            <a:chOff x="561975" y="6443662"/>
            <a:chExt cx="10877550" cy="152400"/>
          </a:xfrm>
        </p:grpSpPr>
        <p:sp>
          <p:nvSpPr>
            <p:cNvPr id="42" name="TextBox 42"/>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43" name="TextBox 43"/>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13</a:t>
              </a:r>
            </a:p>
          </p:txBody>
        </p:sp>
      </p:grpSp>
    </p:spTree>
  </p:cSld>
  <p:clrMapOvr>
    <a:masterClrMapping/>
  </p:clrMapOvr>
  <p:transition 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850964"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验证与质量层</a:t>
              </a:r>
            </a:p>
          </p:txBody>
        </p:sp>
        <p:sp>
          <p:nvSpPr>
            <p:cNvPr id="5" name="TextBox 5"/>
            <p:cNvSpPr txBox="1"/>
            <p:nvPr/>
          </p:nvSpPr>
          <p:spPr>
            <a:xfrm>
              <a:off x="1836420" y="312420"/>
              <a:ext cx="7421880"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严谨的技术保障：全面的单元测试与链路压测</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19" name="Group 19"/>
          <p:cNvGrpSpPr/>
          <p:nvPr/>
        </p:nvGrpSpPr>
        <p:grpSpPr>
          <a:xfrm>
            <a:off x="571500" y="1190625"/>
            <a:ext cx="2476500" cy="4381500"/>
            <a:chOff x="571500" y="1190625"/>
            <a:chExt cx="2476500" cy="4381500"/>
          </a:xfrm>
        </p:grpSpPr>
        <p:sp>
          <p:nvSpPr>
            <p:cNvPr id="8" name="Freeform 8"/>
            <p:cNvSpPr/>
            <p:nvPr/>
          </p:nvSpPr>
          <p:spPr>
            <a:xfrm>
              <a:off x="571500" y="1190625"/>
              <a:ext cx="2476500" cy="4381500"/>
            </a:xfrm>
            <a:custGeom>
              <a:avLst/>
              <a:gdLst/>
              <a:ahLst/>
              <a:cxnLst/>
              <a:rect l="l" t="t" r="r" b="b"/>
              <a:pathLst>
                <a:path w="2476500" h="4381500">
                  <a:moveTo>
                    <a:pt x="114300" y="0"/>
                  </a:moveTo>
                  <a:lnTo>
                    <a:pt x="2362200" y="0"/>
                  </a:lnTo>
                  <a:cubicBezTo>
                    <a:pt x="2425326" y="0"/>
                    <a:pt x="2476500" y="51174"/>
                    <a:pt x="2476500" y="114300"/>
                  </a:cubicBezTo>
                  <a:lnTo>
                    <a:pt x="2476500" y="4267200"/>
                  </a:lnTo>
                  <a:cubicBezTo>
                    <a:pt x="2476500" y="4330326"/>
                    <a:pt x="2425326" y="4381500"/>
                    <a:pt x="23622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9" name="Freeform 9"/>
            <p:cNvSpPr/>
            <p:nvPr/>
          </p:nvSpPr>
          <p:spPr>
            <a:xfrm>
              <a:off x="571500" y="1190625"/>
              <a:ext cx="2476500" cy="142875"/>
            </a:xfrm>
            <a:custGeom>
              <a:avLst/>
              <a:gdLst/>
              <a:ahLst/>
              <a:cxnLst/>
              <a:rect l="l" t="t" r="r" b="b"/>
              <a:pathLst>
                <a:path w="2476500" h="142875">
                  <a:moveTo>
                    <a:pt x="0" y="114300"/>
                  </a:moveTo>
                  <a:cubicBezTo>
                    <a:pt x="0" y="51174"/>
                    <a:pt x="51174" y="0"/>
                    <a:pt x="114300" y="0"/>
                  </a:cubicBezTo>
                  <a:lnTo>
                    <a:pt x="2362200" y="0"/>
                  </a:lnTo>
                  <a:cubicBezTo>
                    <a:pt x="2425326" y="0"/>
                    <a:pt x="2476500" y="51174"/>
                    <a:pt x="2476500" y="114300"/>
                  </a:cubicBezTo>
                  <a:lnTo>
                    <a:pt x="2476500" y="142875"/>
                  </a:lnTo>
                  <a:lnTo>
                    <a:pt x="0" y="142875"/>
                  </a:lnTo>
                  <a:close/>
                </a:path>
              </a:pathLst>
            </a:custGeom>
            <a:solidFill>
              <a:srgbClr val="2B583E"/>
            </a:solidFill>
            <a:ln>
              <a:noFill/>
            </a:ln>
          </p:spPr>
        </p:sp>
        <p:sp>
          <p:nvSpPr>
            <p:cNvPr id="10" name="TextBox 10"/>
            <p:cNvSpPr txBox="1"/>
            <p:nvPr/>
          </p:nvSpPr>
          <p:spPr>
            <a:xfrm>
              <a:off x="1298761" y="1660208"/>
              <a:ext cx="1021978" cy="640080"/>
            </a:xfrm>
            <a:prstGeom prst="rect">
              <a:avLst/>
            </a:prstGeom>
            <a:noFill/>
            <a:ln>
              <a:noFill/>
            </a:ln>
          </p:spPr>
          <p:txBody>
            <a:bodyPr wrap="none" lIns="0" tIns="0" rIns="0" bIns="0" anchor="t" anchorCtr="0">
              <a:spAutoFit/>
            </a:bodyPr>
            <a:lstStyle/>
            <a:p>
              <a:pPr algn="ctr"/>
              <a:r>
                <a:rPr lang="zh-CN" sz="3150" b="1" dirty="0">
                  <a:solidFill>
                    <a:srgbClr val="2B583E"/>
                  </a:solidFill>
                  <a:latin typeface="Quicksand"/>
                  <a:ea typeface="Microsoft YaHei"/>
                  <a:cs typeface="Quicksand"/>
                </a:rPr>
                <a:t>25 +</a:t>
              </a:r>
            </a:p>
          </p:txBody>
        </p:sp>
        <p:sp>
          <p:nvSpPr>
            <p:cNvPr id="11" name="TextBox 11"/>
            <p:cNvSpPr txBox="1"/>
            <p:nvPr/>
          </p:nvSpPr>
          <p:spPr>
            <a:xfrm>
              <a:off x="1057250" y="2180749"/>
              <a:ext cx="1505000" cy="198120"/>
            </a:xfrm>
            <a:prstGeom prst="rect">
              <a:avLst/>
            </a:prstGeom>
            <a:noFill/>
            <a:ln>
              <a:noFill/>
            </a:ln>
          </p:spPr>
          <p:txBody>
            <a:bodyPr wrap="none" lIns="0" tIns="0" rIns="0" bIns="0" anchor="t" anchorCtr="0">
              <a:spAutoFit/>
            </a:bodyPr>
            <a:lstStyle/>
            <a:p>
              <a:pPr algn="ctr"/>
              <a:r>
                <a:rPr lang="zh-CN" sz="975" b="1" dirty="0">
                  <a:solidFill>
                    <a:srgbClr val="809085"/>
                  </a:solidFill>
                  <a:latin typeface="Plus Jakarta Sans"/>
                  <a:ea typeface="Microsoft YaHei"/>
                  <a:cs typeface="Plus Jakarta Sans"/>
                </a:rPr>
                <a:t>Fastify 后端测试用例</a:t>
              </a:r>
            </a:p>
          </p:txBody>
        </p:sp>
        <p:sp>
          <p:nvSpPr>
            <p:cNvPr id="12" name="Line 12"/>
            <p:cNvSpPr/>
            <p:nvPr/>
          </p:nvSpPr>
          <p:spPr>
            <a:xfrm>
              <a:off x="857250" y="2476500"/>
              <a:ext cx="1905000" cy="9525"/>
            </a:xfrm>
            <a:custGeom>
              <a:avLst/>
              <a:gdLst/>
              <a:ahLst/>
              <a:cxnLst/>
              <a:rect l="l" t="t" r="r" b="b"/>
              <a:pathLst>
                <a:path w="1905000" h="9525">
                  <a:moveTo>
                    <a:pt x="0" y="0"/>
                  </a:moveTo>
                  <a:lnTo>
                    <a:pt x="1905000" y="0"/>
                  </a:lnTo>
                </a:path>
              </a:pathLst>
            </a:custGeom>
            <a:noFill/>
            <a:ln w="9525">
              <a:solidFill>
                <a:srgbClr val="D1DAD4"/>
              </a:solidFill>
            </a:ln>
          </p:spPr>
        </p:sp>
        <p:sp>
          <p:nvSpPr>
            <p:cNvPr id="13" name="TextBox 13"/>
            <p:cNvSpPr txBox="1"/>
            <p:nvPr/>
          </p:nvSpPr>
          <p:spPr>
            <a:xfrm>
              <a:off x="796290" y="2744152"/>
              <a:ext cx="195124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测试套件全覆盖</a:t>
              </a:r>
              <a:r>
                <a:rPr lang="zh-CN" sz="1050" dirty="0">
                  <a:solidFill>
                    <a:srgbClr val="4D5F54"/>
                  </a:solidFill>
                  <a:latin typeface="Plus Jakarta Sans"/>
                  <a:ea typeface="Microsoft YaHei"/>
                  <a:cs typeface="Plus Jakarta Sans"/>
                </a:rPr>
                <a:t>：后端核心</a:t>
              </a:r>
            </a:p>
          </p:txBody>
        </p:sp>
        <p:sp>
          <p:nvSpPr>
            <p:cNvPr id="14" name="TextBox 14"/>
            <p:cNvSpPr txBox="1"/>
            <p:nvPr/>
          </p:nvSpPr>
          <p:spPr>
            <a:xfrm>
              <a:off x="796290" y="2972752"/>
              <a:ext cx="218894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路由、输入 schema 校验、设备</a:t>
              </a:r>
            </a:p>
          </p:txBody>
        </p:sp>
        <p:sp>
          <p:nvSpPr>
            <p:cNvPr id="15" name="TextBox 15"/>
            <p:cNvSpPr txBox="1"/>
            <p:nvPr/>
          </p:nvSpPr>
          <p:spPr>
            <a:xfrm>
              <a:off x="796290" y="3201352"/>
              <a:ext cx="2165937"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认领逻辑单元测试通过率100%。</a:t>
              </a:r>
            </a:p>
          </p:txBody>
        </p:sp>
        <p:sp>
          <p:nvSpPr>
            <p:cNvPr id="16" name="TextBox 16"/>
            <p:cNvSpPr txBox="1"/>
            <p:nvPr/>
          </p:nvSpPr>
          <p:spPr>
            <a:xfrm>
              <a:off x="796290" y="3468052"/>
              <a:ext cx="205859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SQLite WAL 测试</a:t>
              </a:r>
              <a:r>
                <a:rPr lang="zh-CN" sz="1050" dirty="0">
                  <a:solidFill>
                    <a:srgbClr val="4D5F54"/>
                  </a:solidFill>
                  <a:latin typeface="Plus Jakarta Sans"/>
                  <a:ea typeface="Microsoft YaHei"/>
                  <a:cs typeface="Plus Jakarta Sans"/>
                </a:rPr>
                <a:t>：在多线程</a:t>
              </a:r>
            </a:p>
          </p:txBody>
        </p:sp>
        <p:sp>
          <p:nvSpPr>
            <p:cNvPr id="17" name="TextBox 17"/>
            <p:cNvSpPr txBox="1"/>
            <p:nvPr/>
          </p:nvSpPr>
          <p:spPr>
            <a:xfrm>
              <a:off x="796290" y="3696652"/>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并发写入读数场景下，无一例</a:t>
              </a:r>
            </a:p>
          </p:txBody>
        </p:sp>
        <p:sp>
          <p:nvSpPr>
            <p:cNvPr id="18" name="TextBox 18"/>
            <p:cNvSpPr txBox="1"/>
            <p:nvPr/>
          </p:nvSpPr>
          <p:spPr>
            <a:xfrm>
              <a:off x="796290" y="3925252"/>
              <a:ext cx="156019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死锁与阻塞错误发生。</a:t>
              </a:r>
            </a:p>
          </p:txBody>
        </p:sp>
      </p:grpSp>
      <p:grpSp>
        <p:nvGrpSpPr>
          <p:cNvPr id="32" name="Group 32"/>
          <p:cNvGrpSpPr/>
          <p:nvPr/>
        </p:nvGrpSpPr>
        <p:grpSpPr>
          <a:xfrm>
            <a:off x="3333750" y="1190625"/>
            <a:ext cx="2574750" cy="4381500"/>
            <a:chOff x="3333750" y="1190625"/>
            <a:chExt cx="2574750" cy="4381500"/>
          </a:xfrm>
        </p:grpSpPr>
        <p:sp>
          <p:nvSpPr>
            <p:cNvPr id="20" name="Freeform 20"/>
            <p:cNvSpPr/>
            <p:nvPr/>
          </p:nvSpPr>
          <p:spPr>
            <a:xfrm>
              <a:off x="3333750" y="1190625"/>
              <a:ext cx="2476500" cy="4381500"/>
            </a:xfrm>
            <a:custGeom>
              <a:avLst/>
              <a:gdLst/>
              <a:ahLst/>
              <a:cxnLst/>
              <a:rect l="l" t="t" r="r" b="b"/>
              <a:pathLst>
                <a:path w="2476500" h="4381500">
                  <a:moveTo>
                    <a:pt x="114300" y="0"/>
                  </a:moveTo>
                  <a:lnTo>
                    <a:pt x="2362200" y="0"/>
                  </a:lnTo>
                  <a:cubicBezTo>
                    <a:pt x="2425326" y="0"/>
                    <a:pt x="2476500" y="51174"/>
                    <a:pt x="2476500" y="114300"/>
                  </a:cubicBezTo>
                  <a:lnTo>
                    <a:pt x="2476500" y="4267200"/>
                  </a:lnTo>
                  <a:cubicBezTo>
                    <a:pt x="2476500" y="4330326"/>
                    <a:pt x="2425326" y="4381500"/>
                    <a:pt x="23622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21" name="Freeform 21"/>
            <p:cNvSpPr/>
            <p:nvPr/>
          </p:nvSpPr>
          <p:spPr>
            <a:xfrm>
              <a:off x="3333750" y="1190625"/>
              <a:ext cx="2476500" cy="142875"/>
            </a:xfrm>
            <a:custGeom>
              <a:avLst/>
              <a:gdLst/>
              <a:ahLst/>
              <a:cxnLst/>
              <a:rect l="l" t="t" r="r" b="b"/>
              <a:pathLst>
                <a:path w="2476500" h="142875">
                  <a:moveTo>
                    <a:pt x="0" y="114300"/>
                  </a:moveTo>
                  <a:cubicBezTo>
                    <a:pt x="0" y="51174"/>
                    <a:pt x="51174" y="0"/>
                    <a:pt x="114300" y="0"/>
                  </a:cubicBezTo>
                  <a:lnTo>
                    <a:pt x="2362200" y="0"/>
                  </a:lnTo>
                  <a:cubicBezTo>
                    <a:pt x="2425326" y="0"/>
                    <a:pt x="2476500" y="51174"/>
                    <a:pt x="2476500" y="114300"/>
                  </a:cubicBezTo>
                  <a:lnTo>
                    <a:pt x="2476500" y="142875"/>
                  </a:lnTo>
                  <a:lnTo>
                    <a:pt x="0" y="142875"/>
                  </a:lnTo>
                  <a:close/>
                </a:path>
              </a:pathLst>
            </a:custGeom>
            <a:solidFill>
              <a:srgbClr val="8E5B3C"/>
            </a:solidFill>
            <a:ln>
              <a:noFill/>
            </a:ln>
          </p:spPr>
        </p:sp>
        <p:sp>
          <p:nvSpPr>
            <p:cNvPr id="22" name="TextBox 22"/>
            <p:cNvSpPr txBox="1"/>
            <p:nvPr/>
          </p:nvSpPr>
          <p:spPr>
            <a:xfrm>
              <a:off x="3988552" y="1660208"/>
              <a:ext cx="1166896" cy="640080"/>
            </a:xfrm>
            <a:prstGeom prst="rect">
              <a:avLst/>
            </a:prstGeom>
            <a:noFill/>
            <a:ln>
              <a:noFill/>
            </a:ln>
          </p:spPr>
          <p:txBody>
            <a:bodyPr wrap="none" lIns="0" tIns="0" rIns="0" bIns="0" anchor="t" anchorCtr="0">
              <a:spAutoFit/>
            </a:bodyPr>
            <a:lstStyle/>
            <a:p>
              <a:pPr algn="ctr"/>
              <a:r>
                <a:rPr lang="zh-CN" sz="3150" b="1" dirty="0">
                  <a:solidFill>
                    <a:srgbClr val="8E5B3C"/>
                  </a:solidFill>
                  <a:latin typeface="Quicksand"/>
                  <a:ea typeface="Microsoft YaHei"/>
                  <a:cs typeface="Quicksand"/>
                </a:rPr>
                <a:t>4 / 4</a:t>
              </a:r>
            </a:p>
          </p:txBody>
        </p:sp>
        <p:sp>
          <p:nvSpPr>
            <p:cNvPr id="23" name="TextBox 23"/>
            <p:cNvSpPr txBox="1"/>
            <p:nvPr/>
          </p:nvSpPr>
          <p:spPr>
            <a:xfrm>
              <a:off x="3920425" y="2180749"/>
              <a:ext cx="1303150" cy="198120"/>
            </a:xfrm>
            <a:prstGeom prst="rect">
              <a:avLst/>
            </a:prstGeom>
            <a:noFill/>
            <a:ln>
              <a:noFill/>
            </a:ln>
          </p:spPr>
          <p:txBody>
            <a:bodyPr wrap="none" lIns="0" tIns="0" rIns="0" bIns="0" anchor="t" anchorCtr="0">
              <a:spAutoFit/>
            </a:bodyPr>
            <a:lstStyle/>
            <a:p>
              <a:pPr algn="ctr"/>
              <a:r>
                <a:rPr lang="zh-CN" sz="975" b="1" dirty="0">
                  <a:solidFill>
                    <a:srgbClr val="809085"/>
                  </a:solidFill>
                  <a:latin typeface="Plus Jakarta Sans"/>
                  <a:ea typeface="Microsoft YaHei"/>
                  <a:cs typeface="Plus Jakarta Sans"/>
                </a:rPr>
                <a:t>全链路 Smoke 压测</a:t>
              </a:r>
            </a:p>
          </p:txBody>
        </p:sp>
        <p:sp>
          <p:nvSpPr>
            <p:cNvPr id="24" name="Line 24"/>
            <p:cNvSpPr/>
            <p:nvPr/>
          </p:nvSpPr>
          <p:spPr>
            <a:xfrm>
              <a:off x="3619500" y="2476500"/>
              <a:ext cx="1905000" cy="9525"/>
            </a:xfrm>
            <a:custGeom>
              <a:avLst/>
              <a:gdLst/>
              <a:ahLst/>
              <a:cxnLst/>
              <a:rect l="l" t="t" r="r" b="b"/>
              <a:pathLst>
                <a:path w="1905000" h="9525">
                  <a:moveTo>
                    <a:pt x="0" y="0"/>
                  </a:moveTo>
                  <a:lnTo>
                    <a:pt x="1905000" y="0"/>
                  </a:lnTo>
                </a:path>
              </a:pathLst>
            </a:custGeom>
            <a:noFill/>
            <a:ln w="9525">
              <a:solidFill>
                <a:srgbClr val="D1DAD4"/>
              </a:solidFill>
            </a:ln>
          </p:spPr>
        </p:sp>
        <p:sp>
          <p:nvSpPr>
            <p:cNvPr id="25" name="TextBox 25"/>
            <p:cNvSpPr txBox="1"/>
            <p:nvPr/>
          </p:nvSpPr>
          <p:spPr>
            <a:xfrm>
              <a:off x="3558540" y="2744152"/>
              <a:ext cx="179789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四大链路压测全部通过</a:t>
              </a:r>
              <a:r>
                <a:rPr lang="zh-CN" sz="1050" dirty="0">
                  <a:solidFill>
                    <a:srgbClr val="4D5F54"/>
                  </a:solidFill>
                  <a:latin typeface="Plus Jakarta Sans"/>
                  <a:ea typeface="Microsoft YaHei"/>
                  <a:cs typeface="Plus Jakarta Sans"/>
                </a:rPr>
                <a:t>：</a:t>
              </a:r>
            </a:p>
          </p:txBody>
        </p:sp>
        <p:sp>
          <p:nvSpPr>
            <p:cNvPr id="26" name="TextBox 26"/>
            <p:cNvSpPr txBox="1"/>
            <p:nvPr/>
          </p:nvSpPr>
          <p:spPr>
            <a:xfrm>
              <a:off x="3558540" y="2972752"/>
              <a:ext cx="2050923"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1. 设备 claim 认领绑定闭环；</a:t>
              </a:r>
            </a:p>
          </p:txBody>
        </p:sp>
        <p:sp>
          <p:nvSpPr>
            <p:cNvPr id="27" name="TextBox 27"/>
            <p:cNvSpPr txBox="1"/>
            <p:nvPr/>
          </p:nvSpPr>
          <p:spPr>
            <a:xfrm>
              <a:off x="3558540" y="3201352"/>
              <a:ext cx="234996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2. memory-chat 长期记忆生成；</a:t>
              </a:r>
            </a:p>
          </p:txBody>
        </p:sp>
        <p:sp>
          <p:nvSpPr>
            <p:cNvPr id="28" name="TextBox 28"/>
            <p:cNvSpPr txBox="1"/>
            <p:nvPr/>
          </p:nvSpPr>
          <p:spPr>
            <a:xfrm>
              <a:off x="3558540" y="3429952"/>
              <a:ext cx="230395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3. memory-citation 引用回溯；</a:t>
              </a:r>
            </a:p>
          </p:txBody>
        </p:sp>
        <p:sp>
          <p:nvSpPr>
            <p:cNvPr id="29" name="TextBox 29"/>
            <p:cNvSpPr txBox="1"/>
            <p:nvPr/>
          </p:nvSpPr>
          <p:spPr>
            <a:xfrm>
              <a:off x="3558540" y="3658552"/>
              <a:ext cx="218894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4. Reranker 多候选召回排序。</a:t>
              </a:r>
            </a:p>
          </p:txBody>
        </p:sp>
        <p:sp>
          <p:nvSpPr>
            <p:cNvPr id="30" name="TextBox 30"/>
            <p:cNvSpPr txBox="1"/>
            <p:nvPr/>
          </p:nvSpPr>
          <p:spPr>
            <a:xfrm>
              <a:off x="3558540" y="3925252"/>
              <a:ext cx="195124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真实硬件现场模拟</a:t>
              </a:r>
              <a:r>
                <a:rPr lang="zh-CN" sz="1050" dirty="0">
                  <a:solidFill>
                    <a:srgbClr val="4D5F54"/>
                  </a:solidFill>
                  <a:latin typeface="Plus Jakarta Sans"/>
                  <a:ea typeface="Microsoft YaHei"/>
                  <a:cs typeface="Plus Jakarta Sans"/>
                </a:rPr>
                <a:t>：全天候</a:t>
              </a:r>
            </a:p>
          </p:txBody>
        </p:sp>
        <p:sp>
          <p:nvSpPr>
            <p:cNvPr id="31" name="TextBox 31"/>
            <p:cNvSpPr txBox="1"/>
            <p:nvPr/>
          </p:nvSpPr>
          <p:spPr>
            <a:xfrm>
              <a:off x="3558540" y="4153852"/>
              <a:ext cx="189757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长跑未见 MQTT 连接断连。</a:t>
              </a:r>
            </a:p>
          </p:txBody>
        </p:sp>
      </p:grpSp>
      <p:grpSp>
        <p:nvGrpSpPr>
          <p:cNvPr id="45" name="Group 45"/>
          <p:cNvGrpSpPr/>
          <p:nvPr/>
        </p:nvGrpSpPr>
        <p:grpSpPr>
          <a:xfrm>
            <a:off x="6096000" y="1190625"/>
            <a:ext cx="2476500" cy="4381500"/>
            <a:chOff x="6096000" y="1190625"/>
            <a:chExt cx="2476500" cy="4381500"/>
          </a:xfrm>
        </p:grpSpPr>
        <p:sp>
          <p:nvSpPr>
            <p:cNvPr id="33" name="Freeform 33"/>
            <p:cNvSpPr/>
            <p:nvPr/>
          </p:nvSpPr>
          <p:spPr>
            <a:xfrm>
              <a:off x="6096000" y="1190625"/>
              <a:ext cx="2476500" cy="4381500"/>
            </a:xfrm>
            <a:custGeom>
              <a:avLst/>
              <a:gdLst/>
              <a:ahLst/>
              <a:cxnLst/>
              <a:rect l="l" t="t" r="r" b="b"/>
              <a:pathLst>
                <a:path w="2476500" h="4381500">
                  <a:moveTo>
                    <a:pt x="114300" y="0"/>
                  </a:moveTo>
                  <a:lnTo>
                    <a:pt x="2362200" y="0"/>
                  </a:lnTo>
                  <a:cubicBezTo>
                    <a:pt x="2425326" y="0"/>
                    <a:pt x="2476500" y="51174"/>
                    <a:pt x="2476500" y="114300"/>
                  </a:cubicBezTo>
                  <a:lnTo>
                    <a:pt x="2476500" y="4267200"/>
                  </a:lnTo>
                  <a:cubicBezTo>
                    <a:pt x="2476500" y="4330326"/>
                    <a:pt x="2425326" y="4381500"/>
                    <a:pt x="23622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34" name="Freeform 34"/>
            <p:cNvSpPr/>
            <p:nvPr/>
          </p:nvSpPr>
          <p:spPr>
            <a:xfrm>
              <a:off x="6096000" y="1190625"/>
              <a:ext cx="2476500" cy="142875"/>
            </a:xfrm>
            <a:custGeom>
              <a:avLst/>
              <a:gdLst/>
              <a:ahLst/>
              <a:cxnLst/>
              <a:rect l="l" t="t" r="r" b="b"/>
              <a:pathLst>
                <a:path w="2476500" h="142875">
                  <a:moveTo>
                    <a:pt x="0" y="114300"/>
                  </a:moveTo>
                  <a:cubicBezTo>
                    <a:pt x="0" y="51174"/>
                    <a:pt x="51174" y="0"/>
                    <a:pt x="114300" y="0"/>
                  </a:cubicBezTo>
                  <a:lnTo>
                    <a:pt x="2362200" y="0"/>
                  </a:lnTo>
                  <a:cubicBezTo>
                    <a:pt x="2425326" y="0"/>
                    <a:pt x="2476500" y="51174"/>
                    <a:pt x="2476500" y="114300"/>
                  </a:cubicBezTo>
                  <a:lnTo>
                    <a:pt x="2476500" y="142875"/>
                  </a:lnTo>
                  <a:lnTo>
                    <a:pt x="0" y="142875"/>
                  </a:lnTo>
                  <a:close/>
                </a:path>
              </a:pathLst>
            </a:custGeom>
            <a:solidFill>
              <a:srgbClr val="DDA43B"/>
            </a:solidFill>
            <a:ln>
              <a:noFill/>
            </a:ln>
          </p:spPr>
        </p:sp>
        <p:sp>
          <p:nvSpPr>
            <p:cNvPr id="35" name="TextBox 35"/>
            <p:cNvSpPr txBox="1"/>
            <p:nvPr/>
          </p:nvSpPr>
          <p:spPr>
            <a:xfrm>
              <a:off x="6750802" y="1660208"/>
              <a:ext cx="1166896" cy="640080"/>
            </a:xfrm>
            <a:prstGeom prst="rect">
              <a:avLst/>
            </a:prstGeom>
            <a:noFill/>
            <a:ln>
              <a:noFill/>
            </a:ln>
          </p:spPr>
          <p:txBody>
            <a:bodyPr wrap="none" lIns="0" tIns="0" rIns="0" bIns="0" anchor="t" anchorCtr="0">
              <a:spAutoFit/>
            </a:bodyPr>
            <a:lstStyle/>
            <a:p>
              <a:pPr algn="ctr"/>
              <a:r>
                <a:rPr lang="zh-CN" sz="3150" b="1" dirty="0">
                  <a:solidFill>
                    <a:srgbClr val="DDA43B"/>
                  </a:solidFill>
                  <a:latin typeface="Quicksand"/>
                  <a:ea typeface="Microsoft YaHei"/>
                  <a:cs typeface="Quicksand"/>
                </a:rPr>
                <a:t>100 %</a:t>
              </a:r>
            </a:p>
          </p:txBody>
        </p:sp>
        <p:sp>
          <p:nvSpPr>
            <p:cNvPr id="36" name="TextBox 36"/>
            <p:cNvSpPr txBox="1"/>
            <p:nvPr/>
          </p:nvSpPr>
          <p:spPr>
            <a:xfrm>
              <a:off x="6484563" y="2180749"/>
              <a:ext cx="1699374" cy="198120"/>
            </a:xfrm>
            <a:prstGeom prst="rect">
              <a:avLst/>
            </a:prstGeom>
            <a:noFill/>
            <a:ln>
              <a:noFill/>
            </a:ln>
          </p:spPr>
          <p:txBody>
            <a:bodyPr wrap="none" lIns="0" tIns="0" rIns="0" bIns="0" anchor="t" anchorCtr="0">
              <a:spAutoFit/>
            </a:bodyPr>
            <a:lstStyle/>
            <a:p>
              <a:pPr algn="ctr"/>
              <a:r>
                <a:rPr lang="zh-CN" sz="975" b="1" dirty="0">
                  <a:solidFill>
                    <a:srgbClr val="809085"/>
                  </a:solidFill>
                  <a:latin typeface="Plus Jakarta Sans"/>
                  <a:ea typeface="Microsoft YaHei"/>
                  <a:cs typeface="Plus Jakarta Sans"/>
                </a:rPr>
                <a:t>Hybrid+Rerank 检索精度</a:t>
              </a:r>
            </a:p>
          </p:txBody>
        </p:sp>
        <p:sp>
          <p:nvSpPr>
            <p:cNvPr id="37" name="Line 37"/>
            <p:cNvSpPr/>
            <p:nvPr/>
          </p:nvSpPr>
          <p:spPr>
            <a:xfrm>
              <a:off x="6381750" y="2476500"/>
              <a:ext cx="1905000" cy="9525"/>
            </a:xfrm>
            <a:custGeom>
              <a:avLst/>
              <a:gdLst/>
              <a:ahLst/>
              <a:cxnLst/>
              <a:rect l="l" t="t" r="r" b="b"/>
              <a:pathLst>
                <a:path w="1905000" h="9525">
                  <a:moveTo>
                    <a:pt x="0" y="0"/>
                  </a:moveTo>
                  <a:lnTo>
                    <a:pt x="1905000" y="0"/>
                  </a:lnTo>
                </a:path>
              </a:pathLst>
            </a:custGeom>
            <a:noFill/>
            <a:ln w="9525">
              <a:solidFill>
                <a:srgbClr val="D1DAD4"/>
              </a:solidFill>
            </a:ln>
          </p:spPr>
        </p:sp>
        <p:sp>
          <p:nvSpPr>
            <p:cNvPr id="38" name="TextBox 38"/>
            <p:cNvSpPr txBox="1"/>
            <p:nvPr/>
          </p:nvSpPr>
          <p:spPr>
            <a:xfrm>
              <a:off x="6320790" y="2744152"/>
              <a:ext cx="1644539"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评估数据集表现优异</a:t>
              </a:r>
              <a:r>
                <a:rPr lang="zh-CN" sz="1050" dirty="0">
                  <a:solidFill>
                    <a:srgbClr val="4D5F54"/>
                  </a:solidFill>
                  <a:latin typeface="Plus Jakarta Sans"/>
                  <a:ea typeface="Microsoft YaHei"/>
                  <a:cs typeface="Plus Jakarta Sans"/>
                </a:rPr>
                <a:t>：</a:t>
              </a:r>
            </a:p>
          </p:txBody>
        </p:sp>
        <p:sp>
          <p:nvSpPr>
            <p:cNvPr id="39" name="TextBox 39"/>
            <p:cNvSpPr txBox="1"/>
            <p:nvPr/>
          </p:nvSpPr>
          <p:spPr>
            <a:xfrm>
              <a:off x="6320790" y="2972752"/>
              <a:ext cx="192824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在 120 条真实长期记忆与 48</a:t>
              </a:r>
            </a:p>
          </p:txBody>
        </p:sp>
        <p:sp>
          <p:nvSpPr>
            <p:cNvPr id="40" name="TextBox 40"/>
            <p:cNvSpPr txBox="1"/>
            <p:nvPr/>
          </p:nvSpPr>
          <p:spPr>
            <a:xfrm>
              <a:off x="6320790" y="3201352"/>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个查询对的混淆召回评估中，</a:t>
              </a:r>
            </a:p>
          </p:txBody>
        </p:sp>
        <p:sp>
          <p:nvSpPr>
            <p:cNvPr id="41" name="TextBox 41"/>
            <p:cNvSpPr txBox="1"/>
            <p:nvPr/>
          </p:nvSpPr>
          <p:spPr>
            <a:xfrm>
              <a:off x="6320790" y="3429952"/>
              <a:ext cx="186690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Top-1、Top-3 及 MRR 指标</a:t>
              </a:r>
            </a:p>
          </p:txBody>
        </p:sp>
        <p:sp>
          <p:nvSpPr>
            <p:cNvPr id="42" name="TextBox 42"/>
            <p:cNvSpPr txBox="1"/>
            <p:nvPr/>
          </p:nvSpPr>
          <p:spPr>
            <a:xfrm>
              <a:off x="6320790" y="3658552"/>
              <a:ext cx="1644539"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均达成 100% 的准确率。</a:t>
              </a:r>
            </a:p>
          </p:txBody>
        </p:sp>
        <p:sp>
          <p:nvSpPr>
            <p:cNvPr id="43" name="TextBox 43"/>
            <p:cNvSpPr txBox="1"/>
            <p:nvPr/>
          </p:nvSpPr>
          <p:spPr>
            <a:xfrm>
              <a:off x="6320790" y="3925252"/>
              <a:ext cx="195124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杜绝大模型幻觉</a:t>
              </a:r>
              <a:r>
                <a:rPr lang="zh-CN" sz="1050" dirty="0">
                  <a:solidFill>
                    <a:srgbClr val="4D5F54"/>
                  </a:solidFill>
                  <a:latin typeface="Plus Jakarta Sans"/>
                  <a:ea typeface="Microsoft YaHei"/>
                  <a:cs typeface="Plus Jakarta Sans"/>
                </a:rPr>
                <a:t>：只说基于</a:t>
              </a:r>
            </a:p>
          </p:txBody>
        </p:sp>
        <p:sp>
          <p:nvSpPr>
            <p:cNvPr id="44" name="TextBox 44"/>
            <p:cNvSpPr txBox="1"/>
            <p:nvPr/>
          </p:nvSpPr>
          <p:spPr>
            <a:xfrm>
              <a:off x="6320790" y="4153852"/>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记忆的真话，不做编造感知。</a:t>
              </a:r>
            </a:p>
          </p:txBody>
        </p:sp>
      </p:grpSp>
      <p:grpSp>
        <p:nvGrpSpPr>
          <p:cNvPr id="59" name="Group 59"/>
          <p:cNvGrpSpPr/>
          <p:nvPr/>
        </p:nvGrpSpPr>
        <p:grpSpPr>
          <a:xfrm>
            <a:off x="8858250" y="1190625"/>
            <a:ext cx="2476500" cy="4381500"/>
            <a:chOff x="8858250" y="1190625"/>
            <a:chExt cx="2476500" cy="4381500"/>
          </a:xfrm>
        </p:grpSpPr>
        <p:sp>
          <p:nvSpPr>
            <p:cNvPr id="46" name="Freeform 46"/>
            <p:cNvSpPr/>
            <p:nvPr/>
          </p:nvSpPr>
          <p:spPr>
            <a:xfrm>
              <a:off x="8858250" y="1190625"/>
              <a:ext cx="2476500" cy="4381500"/>
            </a:xfrm>
            <a:custGeom>
              <a:avLst/>
              <a:gdLst/>
              <a:ahLst/>
              <a:cxnLst/>
              <a:rect l="l" t="t" r="r" b="b"/>
              <a:pathLst>
                <a:path w="2476500" h="4381500">
                  <a:moveTo>
                    <a:pt x="114300" y="0"/>
                  </a:moveTo>
                  <a:lnTo>
                    <a:pt x="2362200" y="0"/>
                  </a:lnTo>
                  <a:cubicBezTo>
                    <a:pt x="2425326" y="0"/>
                    <a:pt x="2476500" y="51174"/>
                    <a:pt x="2476500" y="114300"/>
                  </a:cubicBezTo>
                  <a:lnTo>
                    <a:pt x="2476500" y="4267200"/>
                  </a:lnTo>
                  <a:cubicBezTo>
                    <a:pt x="2476500" y="4330326"/>
                    <a:pt x="2425326" y="4381500"/>
                    <a:pt x="2362200" y="4381500"/>
                  </a:cubicBezTo>
                  <a:lnTo>
                    <a:pt x="114300" y="4381500"/>
                  </a:lnTo>
                  <a:cubicBezTo>
                    <a:pt x="51174" y="4381500"/>
                    <a:pt x="0" y="4330326"/>
                    <a:pt x="0" y="4267200"/>
                  </a:cubicBezTo>
                  <a:lnTo>
                    <a:pt x="0" y="114300"/>
                  </a:lnTo>
                  <a:cubicBezTo>
                    <a:pt x="0" y="51174"/>
                    <a:pt x="51174" y="0"/>
                    <a:pt x="114300" y="0"/>
                  </a:cubicBezTo>
                  <a:close/>
                </a:path>
              </a:pathLst>
            </a:custGeom>
            <a:solidFill>
              <a:srgbClr val="FFFFFF"/>
            </a:solidFill>
            <a:ln w="14288">
              <a:solidFill>
                <a:srgbClr val="D1DAD4"/>
              </a:solidFill>
            </a:ln>
          </p:spPr>
        </p:sp>
        <p:sp>
          <p:nvSpPr>
            <p:cNvPr id="47" name="Freeform 47"/>
            <p:cNvSpPr/>
            <p:nvPr/>
          </p:nvSpPr>
          <p:spPr>
            <a:xfrm>
              <a:off x="8858250" y="1190625"/>
              <a:ext cx="2476500" cy="142875"/>
            </a:xfrm>
            <a:custGeom>
              <a:avLst/>
              <a:gdLst/>
              <a:ahLst/>
              <a:cxnLst/>
              <a:rect l="l" t="t" r="r" b="b"/>
              <a:pathLst>
                <a:path w="2476500" h="142875">
                  <a:moveTo>
                    <a:pt x="0" y="114300"/>
                  </a:moveTo>
                  <a:cubicBezTo>
                    <a:pt x="0" y="51174"/>
                    <a:pt x="51174" y="0"/>
                    <a:pt x="114300" y="0"/>
                  </a:cubicBezTo>
                  <a:lnTo>
                    <a:pt x="2362200" y="0"/>
                  </a:lnTo>
                  <a:cubicBezTo>
                    <a:pt x="2425326" y="0"/>
                    <a:pt x="2476500" y="51174"/>
                    <a:pt x="2476500" y="114300"/>
                  </a:cubicBezTo>
                  <a:lnTo>
                    <a:pt x="2476500" y="142875"/>
                  </a:lnTo>
                  <a:lnTo>
                    <a:pt x="0" y="142875"/>
                  </a:lnTo>
                  <a:close/>
                </a:path>
              </a:pathLst>
            </a:custGeom>
            <a:solidFill>
              <a:srgbClr val="2B583E"/>
            </a:solidFill>
            <a:ln>
              <a:noFill/>
            </a:ln>
          </p:spPr>
        </p:sp>
        <p:sp>
          <p:nvSpPr>
            <p:cNvPr id="48" name="TextBox 48"/>
            <p:cNvSpPr txBox="1"/>
            <p:nvPr/>
          </p:nvSpPr>
          <p:spPr>
            <a:xfrm>
              <a:off x="9452670" y="1660208"/>
              <a:ext cx="1287661" cy="640080"/>
            </a:xfrm>
            <a:prstGeom prst="rect">
              <a:avLst/>
            </a:prstGeom>
            <a:noFill/>
            <a:ln>
              <a:noFill/>
            </a:ln>
          </p:spPr>
          <p:txBody>
            <a:bodyPr wrap="none" lIns="0" tIns="0" rIns="0" bIns="0" anchor="t" anchorCtr="0">
              <a:spAutoFit/>
            </a:bodyPr>
            <a:lstStyle/>
            <a:p>
              <a:pPr algn="ctr"/>
              <a:r>
                <a:rPr lang="zh-CN" sz="3150" b="1" dirty="0">
                  <a:solidFill>
                    <a:srgbClr val="2B583E"/>
                  </a:solidFill>
                  <a:latin typeface="Quicksand"/>
                  <a:ea typeface="Microsoft YaHei"/>
                  <a:cs typeface="Quicksand"/>
                </a:rPr>
                <a:t>&lt; 300</a:t>
              </a:r>
            </a:p>
          </p:txBody>
        </p:sp>
        <p:sp>
          <p:nvSpPr>
            <p:cNvPr id="49" name="TextBox 49"/>
            <p:cNvSpPr txBox="1"/>
            <p:nvPr/>
          </p:nvSpPr>
          <p:spPr>
            <a:xfrm>
              <a:off x="9486043" y="2180749"/>
              <a:ext cx="1220914" cy="198120"/>
            </a:xfrm>
            <a:prstGeom prst="rect">
              <a:avLst/>
            </a:prstGeom>
            <a:noFill/>
            <a:ln>
              <a:noFill/>
            </a:ln>
          </p:spPr>
          <p:txBody>
            <a:bodyPr wrap="none" lIns="0" tIns="0" rIns="0" bIns="0" anchor="t" anchorCtr="0">
              <a:spAutoFit/>
            </a:bodyPr>
            <a:lstStyle/>
            <a:p>
              <a:pPr algn="ctr"/>
              <a:r>
                <a:rPr lang="zh-CN" sz="975" b="1" dirty="0">
                  <a:solidFill>
                    <a:srgbClr val="809085"/>
                  </a:solidFill>
                  <a:latin typeface="Plus Jakarta Sans"/>
                  <a:ea typeface="Microsoft YaHei"/>
                  <a:cs typeface="Plus Jakarta Sans"/>
                </a:rPr>
                <a:t>文件行数控制规范</a:t>
              </a:r>
            </a:p>
          </p:txBody>
        </p:sp>
        <p:sp>
          <p:nvSpPr>
            <p:cNvPr id="50" name="Line 50"/>
            <p:cNvSpPr/>
            <p:nvPr/>
          </p:nvSpPr>
          <p:spPr>
            <a:xfrm>
              <a:off x="9144000" y="2476500"/>
              <a:ext cx="1905000" cy="9525"/>
            </a:xfrm>
            <a:custGeom>
              <a:avLst/>
              <a:gdLst/>
              <a:ahLst/>
              <a:cxnLst/>
              <a:rect l="l" t="t" r="r" b="b"/>
              <a:pathLst>
                <a:path w="1905000" h="9525">
                  <a:moveTo>
                    <a:pt x="0" y="0"/>
                  </a:moveTo>
                  <a:lnTo>
                    <a:pt x="1905000" y="0"/>
                  </a:lnTo>
                </a:path>
              </a:pathLst>
            </a:custGeom>
            <a:noFill/>
            <a:ln w="9525">
              <a:solidFill>
                <a:srgbClr val="D1DAD4"/>
              </a:solidFill>
            </a:ln>
          </p:spPr>
        </p:sp>
        <p:sp>
          <p:nvSpPr>
            <p:cNvPr id="51" name="TextBox 51"/>
            <p:cNvSpPr txBox="1"/>
            <p:nvPr/>
          </p:nvSpPr>
          <p:spPr>
            <a:xfrm>
              <a:off x="9083040" y="2744152"/>
              <a:ext cx="149118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职责极其清晰分离</a:t>
              </a:r>
              <a:r>
                <a:rPr lang="zh-CN" sz="1050" dirty="0">
                  <a:solidFill>
                    <a:srgbClr val="4D5F54"/>
                  </a:solidFill>
                  <a:latin typeface="Plus Jakarta Sans"/>
                  <a:ea typeface="Microsoft YaHei"/>
                  <a:cs typeface="Plus Jakarta Sans"/>
                </a:rPr>
                <a:t>：</a:t>
              </a:r>
            </a:p>
          </p:txBody>
        </p:sp>
        <p:sp>
          <p:nvSpPr>
            <p:cNvPr id="52" name="TextBox 52"/>
            <p:cNvSpPr txBox="1"/>
            <p:nvPr/>
          </p:nvSpPr>
          <p:spPr>
            <a:xfrm>
              <a:off x="9083040" y="2972752"/>
              <a:ext cx="171354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遵循严苛开发自律规约，</a:t>
              </a:r>
            </a:p>
          </p:txBody>
        </p:sp>
        <p:sp>
          <p:nvSpPr>
            <p:cNvPr id="53" name="TextBox 53"/>
            <p:cNvSpPr txBox="1"/>
            <p:nvPr/>
          </p:nvSpPr>
          <p:spPr>
            <a:xfrm>
              <a:off x="9083040" y="3201352"/>
              <a:ext cx="2127599"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Server 模块的 API、业务与 DB</a:t>
              </a:r>
            </a:p>
          </p:txBody>
        </p:sp>
        <p:sp>
          <p:nvSpPr>
            <p:cNvPr id="54" name="TextBox 54"/>
            <p:cNvSpPr txBox="1"/>
            <p:nvPr/>
          </p:nvSpPr>
          <p:spPr>
            <a:xfrm>
              <a:off x="9083040" y="3429952"/>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均在独立文件维护，包内所有</a:t>
              </a:r>
            </a:p>
          </p:txBody>
        </p:sp>
        <p:sp>
          <p:nvSpPr>
            <p:cNvPr id="55" name="TextBox 55"/>
            <p:cNvSpPr txBox="1"/>
            <p:nvPr/>
          </p:nvSpPr>
          <p:spPr>
            <a:xfrm>
              <a:off x="9083040" y="3658552"/>
              <a:ext cx="2211943"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文件代码均严格在 300 行以内。</a:t>
              </a:r>
            </a:p>
          </p:txBody>
        </p:sp>
        <p:sp>
          <p:nvSpPr>
            <p:cNvPr id="56" name="TextBox 56"/>
            <p:cNvSpPr txBox="1"/>
            <p:nvPr/>
          </p:nvSpPr>
          <p:spPr>
            <a:xfrm>
              <a:off x="9083040" y="3925252"/>
              <a:ext cx="195124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桌面端完全重构</a:t>
              </a:r>
              <a:r>
                <a:rPr lang="zh-CN" sz="1050" dirty="0">
                  <a:solidFill>
                    <a:srgbClr val="4D5F54"/>
                  </a:solidFill>
                  <a:latin typeface="Plus Jakarta Sans"/>
                  <a:ea typeface="Microsoft YaHei"/>
                  <a:cs typeface="Plus Jakarta Sans"/>
                </a:rPr>
                <a:t>：拆分冗余</a:t>
              </a:r>
            </a:p>
          </p:txBody>
        </p:sp>
        <p:sp>
          <p:nvSpPr>
            <p:cNvPr id="57" name="TextBox 57"/>
            <p:cNvSpPr txBox="1"/>
            <p:nvPr/>
          </p:nvSpPr>
          <p:spPr>
            <a:xfrm>
              <a:off x="9083040" y="4153852"/>
              <a:ext cx="2181273"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Dashboard 与 Chat 的大型文件</a:t>
              </a:r>
            </a:p>
          </p:txBody>
        </p:sp>
        <p:sp>
          <p:nvSpPr>
            <p:cNvPr id="58" name="TextBox 58"/>
            <p:cNvSpPr txBox="1"/>
            <p:nvPr/>
          </p:nvSpPr>
          <p:spPr>
            <a:xfrm>
              <a:off x="9083040" y="4382452"/>
              <a:ext cx="205859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，达成极致的 SoC 职责分离。</a:t>
              </a:r>
            </a:p>
          </p:txBody>
        </p:sp>
      </p:grpSp>
      <p:grpSp>
        <p:nvGrpSpPr>
          <p:cNvPr id="62" name="Group 62"/>
          <p:cNvGrpSpPr/>
          <p:nvPr/>
        </p:nvGrpSpPr>
        <p:grpSpPr>
          <a:xfrm>
            <a:off x="561975" y="6443662"/>
            <a:ext cx="10877550" cy="152400"/>
            <a:chOff x="561975" y="6443662"/>
            <a:chExt cx="10877550" cy="152400"/>
          </a:xfrm>
        </p:grpSpPr>
        <p:sp>
          <p:nvSpPr>
            <p:cNvPr id="60" name="TextBox 60"/>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1" name="TextBox 61"/>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14</a:t>
              </a:r>
            </a:p>
          </p:txBody>
        </p:sp>
      </p:grpSp>
    </p:spTree>
  </p:cSld>
  <p:clrMapOvr>
    <a:masterClrMapping/>
  </p:clrMapOvr>
  <p:transition 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850964"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工程与部署层</a:t>
              </a:r>
            </a:p>
          </p:txBody>
        </p:sp>
        <p:sp>
          <p:nvSpPr>
            <p:cNvPr id="5" name="TextBox 5"/>
            <p:cNvSpPr txBox="1"/>
            <p:nvPr/>
          </p:nvSpPr>
          <p:spPr>
            <a:xfrm>
              <a:off x="1836420" y="312420"/>
              <a:ext cx="7256259"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云端发布：Docker Hub 官方镜像与单键部署</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22" name="Group 22"/>
          <p:cNvGrpSpPr/>
          <p:nvPr/>
        </p:nvGrpSpPr>
        <p:grpSpPr>
          <a:xfrm>
            <a:off x="550545" y="1203008"/>
            <a:ext cx="2973705" cy="4369117"/>
            <a:chOff x="550545" y="1203008"/>
            <a:chExt cx="2973705" cy="4369117"/>
          </a:xfrm>
        </p:grpSpPr>
        <p:sp>
          <p:nvSpPr>
            <p:cNvPr id="8" name="TextBox 8"/>
            <p:cNvSpPr txBox="1"/>
            <p:nvPr/>
          </p:nvSpPr>
          <p:spPr>
            <a:xfrm>
              <a:off x="550545" y="1203008"/>
              <a:ext cx="2319195" cy="335280"/>
            </a:xfrm>
            <a:prstGeom prst="rect">
              <a:avLst/>
            </a:prstGeom>
            <a:noFill/>
            <a:ln>
              <a:noFill/>
            </a:ln>
          </p:spPr>
          <p:txBody>
            <a:bodyPr wrap="none" lIns="0" tIns="0" rIns="0" bIns="0" anchor="t" anchorCtr="0">
              <a:spAutoFit/>
            </a:bodyPr>
            <a:lstStyle/>
            <a:p>
              <a:pPr algn="l"/>
              <a:r>
                <a:rPr lang="zh-CN" sz="1650" b="1" dirty="0">
                  <a:solidFill>
                    <a:srgbClr val="2B583E"/>
                  </a:solidFill>
                  <a:latin typeface="Quicksand"/>
                  <a:ea typeface="Microsoft YaHei"/>
                  <a:cs typeface="Quicksand"/>
                </a:rPr>
                <a:t>一键上云，极简交付</a:t>
              </a:r>
            </a:p>
          </p:txBody>
        </p:sp>
        <p:sp>
          <p:nvSpPr>
            <p:cNvPr id="9" name="TextBox 9"/>
            <p:cNvSpPr txBox="1"/>
            <p:nvPr/>
          </p:nvSpPr>
          <p:spPr>
            <a:xfrm>
              <a:off x="557212" y="164068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项目不仅在本地开发跑</a:t>
              </a:r>
            </a:p>
          </p:txBody>
        </p:sp>
        <p:sp>
          <p:nvSpPr>
            <p:cNvPr id="10" name="TextBox 10"/>
            <p:cNvSpPr txBox="1"/>
            <p:nvPr/>
          </p:nvSpPr>
          <p:spPr>
            <a:xfrm>
              <a:off x="557212" y="188833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通，更是面向生产环境</a:t>
              </a:r>
            </a:p>
          </p:txBody>
        </p:sp>
        <p:sp>
          <p:nvSpPr>
            <p:cNvPr id="11" name="TextBox 11"/>
            <p:cNvSpPr txBox="1"/>
            <p:nvPr/>
          </p:nvSpPr>
          <p:spPr>
            <a:xfrm>
              <a:off x="557212" y="213598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交付，通过严苛容器化</a:t>
              </a:r>
            </a:p>
          </p:txBody>
        </p:sp>
        <p:sp>
          <p:nvSpPr>
            <p:cNvPr id="12" name="TextBox 12"/>
            <p:cNvSpPr txBox="1"/>
            <p:nvPr/>
          </p:nvSpPr>
          <p:spPr>
            <a:xfrm>
              <a:off x="557212" y="2383631"/>
              <a:ext cx="1671638"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构建打包并推送发布，</a:t>
              </a:r>
            </a:p>
          </p:txBody>
        </p:sp>
        <p:sp>
          <p:nvSpPr>
            <p:cNvPr id="13" name="TextBox 13"/>
            <p:cNvSpPr txBox="1"/>
            <p:nvPr/>
          </p:nvSpPr>
          <p:spPr>
            <a:xfrm>
              <a:off x="557212" y="2631281"/>
              <a:ext cx="1835944" cy="228600"/>
            </a:xfrm>
            <a:prstGeom prst="rect">
              <a:avLst/>
            </a:prstGeom>
            <a:noFill/>
            <a:ln>
              <a:noFill/>
            </a:ln>
          </p:spPr>
          <p:txBody>
            <a:bodyPr wrap="none" lIns="0" tIns="0" rIns="0" bIns="0" anchor="t" anchorCtr="0">
              <a:spAutoFit/>
            </a:bodyPr>
            <a:lstStyle/>
            <a:p>
              <a:pPr algn="l"/>
              <a:r>
                <a:rPr lang="zh-CN" sz="1125" dirty="0">
                  <a:solidFill>
                    <a:srgbClr val="4D5F54"/>
                  </a:solidFill>
                  <a:latin typeface="Plus Jakarta Sans"/>
                  <a:ea typeface="Microsoft YaHei"/>
                  <a:cs typeface="Plus Jakarta Sans"/>
                </a:rPr>
                <a:t>提供完整单机灰度能力。</a:t>
              </a:r>
            </a:p>
          </p:txBody>
        </p:sp>
        <p:sp>
          <p:nvSpPr>
            <p:cNvPr id="14" name="Freeform 14"/>
            <p:cNvSpPr/>
            <p:nvPr/>
          </p:nvSpPr>
          <p:spPr>
            <a:xfrm>
              <a:off x="571500" y="3429000"/>
              <a:ext cx="2952750" cy="2143125"/>
            </a:xfrm>
            <a:custGeom>
              <a:avLst/>
              <a:gdLst/>
              <a:ahLst/>
              <a:cxnLst/>
              <a:rect l="l" t="t" r="r" b="b"/>
              <a:pathLst>
                <a:path w="2952750" h="2143125">
                  <a:moveTo>
                    <a:pt x="76200" y="0"/>
                  </a:moveTo>
                  <a:lnTo>
                    <a:pt x="2876550" y="0"/>
                  </a:lnTo>
                  <a:cubicBezTo>
                    <a:pt x="2918634" y="0"/>
                    <a:pt x="2952750" y="34116"/>
                    <a:pt x="2952750" y="76200"/>
                  </a:cubicBezTo>
                  <a:lnTo>
                    <a:pt x="2952750" y="2066925"/>
                  </a:lnTo>
                  <a:cubicBezTo>
                    <a:pt x="2952750" y="2109009"/>
                    <a:pt x="2918634" y="2143125"/>
                    <a:pt x="2876550" y="2143125"/>
                  </a:cubicBezTo>
                  <a:lnTo>
                    <a:pt x="76200" y="2143125"/>
                  </a:lnTo>
                  <a:cubicBezTo>
                    <a:pt x="34116" y="2143125"/>
                    <a:pt x="0" y="2109009"/>
                    <a:pt x="0" y="2066925"/>
                  </a:cubicBezTo>
                  <a:lnTo>
                    <a:pt x="0" y="76200"/>
                  </a:lnTo>
                  <a:cubicBezTo>
                    <a:pt x="0" y="34116"/>
                    <a:pt x="34116" y="0"/>
                    <a:pt x="76200" y="0"/>
                  </a:cubicBezTo>
                  <a:close/>
                </a:path>
              </a:pathLst>
            </a:custGeom>
            <a:solidFill>
              <a:srgbClr val="FFFFFF"/>
            </a:solidFill>
            <a:ln w="9525">
              <a:solidFill>
                <a:srgbClr val="D1DAD4"/>
              </a:solidFill>
            </a:ln>
          </p:spPr>
        </p:sp>
        <p:sp>
          <p:nvSpPr>
            <p:cNvPr id="15" name="Freeform 15"/>
            <p:cNvSpPr/>
            <p:nvPr/>
          </p:nvSpPr>
          <p:spPr>
            <a:xfrm>
              <a:off x="762000" y="3667125"/>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2B583E">
                <a:alpha val="8000"/>
              </a:srgbClr>
            </a:solidFill>
            <a:ln>
              <a:noFill/>
            </a:ln>
          </p:spPr>
        </p:sp>
        <p:sp>
          <p:nvSpPr>
            <p:cNvPr id="16" name="Freeform 16"/>
            <p:cNvSpPr/>
            <p:nvPr/>
          </p:nvSpPr>
          <p:spPr>
            <a:xfrm>
              <a:off x="800342" y="3771694"/>
              <a:ext cx="226477" cy="187373"/>
            </a:xfrm>
            <a:custGeom>
              <a:avLst/>
              <a:gdLst/>
              <a:ahLst/>
              <a:cxnLst/>
              <a:rect l="l" t="t" r="r" b="b"/>
              <a:pathLst>
                <a:path w="226477" h="187373">
                  <a:moveTo>
                    <a:pt x="148848" y="59563"/>
                  </a:moveTo>
                  <a:lnTo>
                    <a:pt x="165668" y="59563"/>
                  </a:lnTo>
                  <a:lnTo>
                    <a:pt x="165668" y="43116"/>
                  </a:lnTo>
                  <a:lnTo>
                    <a:pt x="148848" y="43116"/>
                  </a:lnTo>
                  <a:lnTo>
                    <a:pt x="148848" y="58102"/>
                  </a:lnTo>
                  <a:cubicBezTo>
                    <a:pt x="148848" y="58912"/>
                    <a:pt x="149507" y="59571"/>
                    <a:pt x="150317" y="59571"/>
                  </a:cubicBezTo>
                  <a:moveTo>
                    <a:pt x="126869" y="16470"/>
                  </a:moveTo>
                  <a:lnTo>
                    <a:pt x="143681" y="16470"/>
                  </a:lnTo>
                  <a:lnTo>
                    <a:pt x="143681" y="0"/>
                  </a:lnTo>
                  <a:lnTo>
                    <a:pt x="126869" y="0"/>
                  </a:lnTo>
                  <a:lnTo>
                    <a:pt x="126869" y="14986"/>
                  </a:lnTo>
                  <a:cubicBezTo>
                    <a:pt x="126869" y="15796"/>
                    <a:pt x="127520" y="16454"/>
                    <a:pt x="128338" y="16454"/>
                  </a:cubicBezTo>
                  <a:moveTo>
                    <a:pt x="128338" y="38013"/>
                  </a:moveTo>
                  <a:lnTo>
                    <a:pt x="145150" y="38013"/>
                  </a:lnTo>
                  <a:lnTo>
                    <a:pt x="145150" y="21558"/>
                  </a:lnTo>
                  <a:lnTo>
                    <a:pt x="128338" y="21558"/>
                  </a:lnTo>
                  <a:lnTo>
                    <a:pt x="128338" y="36536"/>
                  </a:lnTo>
                  <a:cubicBezTo>
                    <a:pt x="128338" y="37346"/>
                    <a:pt x="128989" y="38005"/>
                    <a:pt x="129806" y="38013"/>
                  </a:cubicBezTo>
                  <a:moveTo>
                    <a:pt x="106549" y="38013"/>
                  </a:moveTo>
                  <a:lnTo>
                    <a:pt x="123377" y="38013"/>
                  </a:lnTo>
                  <a:lnTo>
                    <a:pt x="123377" y="21558"/>
                  </a:lnTo>
                  <a:lnTo>
                    <a:pt x="102152" y="21558"/>
                  </a:lnTo>
                  <a:lnTo>
                    <a:pt x="102152" y="36536"/>
                  </a:lnTo>
                  <a:cubicBezTo>
                    <a:pt x="102152" y="37346"/>
                    <a:pt x="102811" y="38005"/>
                    <a:pt x="103621" y="38013"/>
                  </a:cubicBezTo>
                  <a:moveTo>
                    <a:pt x="80094" y="38013"/>
                  </a:moveTo>
                  <a:lnTo>
                    <a:pt x="96913" y="38013"/>
                  </a:lnTo>
                  <a:lnTo>
                    <a:pt x="96913" y="21558"/>
                  </a:lnTo>
                  <a:lnTo>
                    <a:pt x="78625" y="21558"/>
                  </a:lnTo>
                  <a:lnTo>
                    <a:pt x="78625" y="36536"/>
                  </a:lnTo>
                  <a:cubicBezTo>
                    <a:pt x="78625" y="37346"/>
                    <a:pt x="79292" y="38005"/>
                    <a:pt x="80102" y="38013"/>
                  </a:cubicBezTo>
                  <a:moveTo>
                    <a:pt x="126877" y="59563"/>
                  </a:moveTo>
                  <a:lnTo>
                    <a:pt x="143689" y="59563"/>
                  </a:lnTo>
                  <a:lnTo>
                    <a:pt x="143689" y="43116"/>
                  </a:lnTo>
                  <a:lnTo>
                    <a:pt x="126877" y="43116"/>
                  </a:lnTo>
                  <a:lnTo>
                    <a:pt x="126877" y="58102"/>
                  </a:lnTo>
                  <a:cubicBezTo>
                    <a:pt x="126877" y="58912"/>
                    <a:pt x="127528" y="59571"/>
                    <a:pt x="128346" y="59571"/>
                  </a:cubicBezTo>
                  <a:moveTo>
                    <a:pt x="105089" y="59571"/>
                  </a:moveTo>
                  <a:lnTo>
                    <a:pt x="121916" y="59571"/>
                  </a:lnTo>
                  <a:lnTo>
                    <a:pt x="121916" y="43116"/>
                  </a:lnTo>
                  <a:lnTo>
                    <a:pt x="105089" y="43116"/>
                  </a:lnTo>
                  <a:lnTo>
                    <a:pt x="105089" y="58102"/>
                  </a:lnTo>
                  <a:cubicBezTo>
                    <a:pt x="105089" y="58912"/>
                    <a:pt x="105748" y="59571"/>
                    <a:pt x="106557" y="59571"/>
                  </a:cubicBezTo>
                  <a:moveTo>
                    <a:pt x="83031" y="59571"/>
                  </a:moveTo>
                  <a:lnTo>
                    <a:pt x="99850" y="59571"/>
                  </a:lnTo>
                  <a:lnTo>
                    <a:pt x="99850" y="43116"/>
                  </a:lnTo>
                  <a:lnTo>
                    <a:pt x="83023" y="43116"/>
                  </a:lnTo>
                  <a:lnTo>
                    <a:pt x="83023" y="58095"/>
                  </a:lnTo>
                  <a:cubicBezTo>
                    <a:pt x="83023" y="58904"/>
                    <a:pt x="83689" y="59563"/>
                    <a:pt x="84499" y="59563"/>
                  </a:cubicBezTo>
                  <a:moveTo>
                    <a:pt x="61322" y="59563"/>
                  </a:moveTo>
                  <a:lnTo>
                    <a:pt x="78149" y="59563"/>
                  </a:lnTo>
                  <a:lnTo>
                    <a:pt x="78149" y="43116"/>
                  </a:lnTo>
                  <a:lnTo>
                    <a:pt x="61322" y="43116"/>
                  </a:lnTo>
                  <a:lnTo>
                    <a:pt x="61322" y="58102"/>
                  </a:lnTo>
                  <a:cubicBezTo>
                    <a:pt x="61322" y="58912"/>
                    <a:pt x="61972" y="59571"/>
                    <a:pt x="62790" y="59571"/>
                  </a:cubicBezTo>
                  <a:moveTo>
                    <a:pt x="226477" y="50133"/>
                  </a:moveTo>
                  <a:cubicBezTo>
                    <a:pt x="225961" y="49728"/>
                    <a:pt x="221143" y="46085"/>
                    <a:pt x="210967" y="46085"/>
                  </a:cubicBezTo>
                  <a:cubicBezTo>
                    <a:pt x="208284" y="46093"/>
                    <a:pt x="205602" y="46323"/>
                    <a:pt x="202950" y="46776"/>
                  </a:cubicBezTo>
                  <a:cubicBezTo>
                    <a:pt x="200982" y="33282"/>
                    <a:pt x="189830" y="26694"/>
                    <a:pt x="189330" y="26408"/>
                  </a:cubicBezTo>
                  <a:lnTo>
                    <a:pt x="186599" y="24828"/>
                  </a:lnTo>
                  <a:lnTo>
                    <a:pt x="184805" y="27424"/>
                  </a:lnTo>
                  <a:cubicBezTo>
                    <a:pt x="182551" y="30901"/>
                    <a:pt x="180916" y="34742"/>
                    <a:pt x="179948" y="38775"/>
                  </a:cubicBezTo>
                  <a:cubicBezTo>
                    <a:pt x="178122" y="46474"/>
                    <a:pt x="179233" y="53713"/>
                    <a:pt x="183146" y="59896"/>
                  </a:cubicBezTo>
                  <a:cubicBezTo>
                    <a:pt x="178424" y="62532"/>
                    <a:pt x="170843" y="63175"/>
                    <a:pt x="169303" y="63230"/>
                  </a:cubicBezTo>
                  <a:lnTo>
                    <a:pt x="43819" y="63230"/>
                  </a:lnTo>
                  <a:cubicBezTo>
                    <a:pt x="18885" y="64870"/>
                    <a:pt x="0" y="86412"/>
                    <a:pt x="1640" y="111347"/>
                  </a:cubicBezTo>
                  <a:cubicBezTo>
                    <a:pt x="3279" y="136282"/>
                    <a:pt x="24822" y="155167"/>
                    <a:pt x="49757" y="153527"/>
                  </a:cubicBezTo>
                  <a:cubicBezTo>
                    <a:pt x="54083" y="164862"/>
                    <a:pt x="60512" y="173212"/>
                    <a:pt x="68886" y="178324"/>
                  </a:cubicBezTo>
                  <a:cubicBezTo>
                    <a:pt x="78252" y="184063"/>
                    <a:pt x="93492" y="187349"/>
                    <a:pt x="110756" y="187349"/>
                  </a:cubicBezTo>
                  <a:cubicBezTo>
                    <a:pt x="118559" y="187373"/>
                    <a:pt x="126338" y="186666"/>
                    <a:pt x="134013" y="185237"/>
                  </a:cubicBezTo>
                  <a:cubicBezTo>
                    <a:pt x="141792" y="180737"/>
                    <a:pt x="148777" y="175014"/>
                    <a:pt x="154730" y="168283"/>
                  </a:cubicBezTo>
                  <a:cubicBezTo>
                    <a:pt x="164668" y="157028"/>
                    <a:pt x="170589" y="144494"/>
                    <a:pt x="174995" y="133358"/>
                  </a:cubicBezTo>
                  <a:lnTo>
                    <a:pt x="176749" y="133358"/>
                  </a:lnTo>
                  <a:cubicBezTo>
                    <a:pt x="187639" y="133358"/>
                    <a:pt x="194330" y="129000"/>
                    <a:pt x="198021" y="125349"/>
                  </a:cubicBezTo>
                  <a:cubicBezTo>
                    <a:pt x="200474" y="123023"/>
                    <a:pt x="202387" y="120190"/>
                    <a:pt x="203633" y="117046"/>
                  </a:cubicBezTo>
                  <a:lnTo>
                    <a:pt x="204411" y="114760"/>
                  </a:lnTo>
                  <a:close/>
                </a:path>
              </a:pathLst>
            </a:custGeom>
            <a:solidFill>
              <a:srgbClr val="2B583E"/>
            </a:solidFill>
            <a:ln>
              <a:noFill/>
            </a:ln>
          </p:spPr>
        </p:sp>
        <p:sp>
          <p:nvSpPr>
            <p:cNvPr id="17" name="TextBox 17"/>
            <p:cNvSpPr txBox="1"/>
            <p:nvPr/>
          </p:nvSpPr>
          <p:spPr>
            <a:xfrm>
              <a:off x="1203960" y="3756660"/>
              <a:ext cx="1787900"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Docker Hub 官方镜像</a:t>
              </a:r>
            </a:p>
          </p:txBody>
        </p:sp>
        <p:sp>
          <p:nvSpPr>
            <p:cNvPr id="18" name="TextBox 18"/>
            <p:cNvSpPr txBox="1"/>
            <p:nvPr/>
          </p:nvSpPr>
          <p:spPr>
            <a:xfrm>
              <a:off x="748665" y="4125278"/>
              <a:ext cx="186690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镜像已成功发布至公开库：</a:t>
              </a:r>
            </a:p>
          </p:txBody>
        </p:sp>
        <p:sp>
          <p:nvSpPr>
            <p:cNvPr id="19" name="TextBox 19"/>
            <p:cNvSpPr txBox="1"/>
            <p:nvPr/>
          </p:nvSpPr>
          <p:spPr>
            <a:xfrm>
              <a:off x="748665" y="4334828"/>
              <a:ext cx="1491953" cy="213360"/>
            </a:xfrm>
            <a:prstGeom prst="rect">
              <a:avLst/>
            </a:prstGeom>
            <a:noFill/>
            <a:ln>
              <a:noFill/>
            </a:ln>
          </p:spPr>
          <p:txBody>
            <a:bodyPr wrap="none" lIns="0" tIns="0" rIns="0" bIns="0" anchor="t" anchorCtr="0">
              <a:spAutoFit/>
            </a:bodyPr>
            <a:lstStyle/>
            <a:p>
              <a:pPr algn="l"/>
              <a:r>
                <a:rPr lang="zh-CN" sz="1050" b="1" dirty="0">
                  <a:solidFill>
                    <a:srgbClr val="8E5B3C"/>
                  </a:solidFill>
                  <a:latin typeface="Consolas"/>
                  <a:ea typeface="Microsoft YaHei"/>
                  <a:cs typeface="Consolas"/>
                </a:rPr>
                <a:t>ccckfg/dyn:latest</a:t>
              </a:r>
            </a:p>
          </p:txBody>
        </p:sp>
        <p:sp>
          <p:nvSpPr>
            <p:cNvPr id="20" name="TextBox 20"/>
            <p:cNvSpPr txBox="1"/>
            <p:nvPr/>
          </p:nvSpPr>
          <p:spPr>
            <a:xfrm>
              <a:off x="748665" y="4544378"/>
              <a:ext cx="202025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本地多阶段多机构建，移除冗</a:t>
              </a:r>
            </a:p>
          </p:txBody>
        </p:sp>
        <p:sp>
          <p:nvSpPr>
            <p:cNvPr id="21" name="TextBox 21"/>
            <p:cNvSpPr txBox="1"/>
            <p:nvPr/>
          </p:nvSpPr>
          <p:spPr>
            <a:xfrm>
              <a:off x="748665" y="4753928"/>
              <a:ext cx="217360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余垃圾，极致压缩层级包开销。</a:t>
              </a:r>
            </a:p>
          </p:txBody>
        </p:sp>
      </p:grpSp>
      <p:grpSp>
        <p:nvGrpSpPr>
          <p:cNvPr id="59" name="Group 59"/>
          <p:cNvGrpSpPr/>
          <p:nvPr/>
        </p:nvGrpSpPr>
        <p:grpSpPr>
          <a:xfrm>
            <a:off x="3810000" y="1143000"/>
            <a:ext cx="7810500" cy="4429125"/>
            <a:chOff x="3810000" y="1143000"/>
            <a:chExt cx="7810500" cy="4429125"/>
          </a:xfrm>
        </p:grpSpPr>
        <p:sp>
          <p:nvSpPr>
            <p:cNvPr id="23" name="Freeform 23"/>
            <p:cNvSpPr/>
            <p:nvPr/>
          </p:nvSpPr>
          <p:spPr>
            <a:xfrm>
              <a:off x="3810000" y="1143000"/>
              <a:ext cx="7810500" cy="4429125"/>
            </a:xfrm>
            <a:custGeom>
              <a:avLst/>
              <a:gdLst/>
              <a:ahLst/>
              <a:cxnLst/>
              <a:rect l="l" t="t" r="r" b="b"/>
              <a:pathLst>
                <a:path w="7810500" h="4429125">
                  <a:moveTo>
                    <a:pt x="152400" y="0"/>
                  </a:moveTo>
                  <a:lnTo>
                    <a:pt x="7658100" y="0"/>
                  </a:lnTo>
                  <a:cubicBezTo>
                    <a:pt x="7742268" y="0"/>
                    <a:pt x="7810500" y="68232"/>
                    <a:pt x="7810500" y="152400"/>
                  </a:cubicBezTo>
                  <a:lnTo>
                    <a:pt x="7810500" y="4276725"/>
                  </a:lnTo>
                  <a:cubicBezTo>
                    <a:pt x="7810500" y="4360893"/>
                    <a:pt x="7742268" y="4429125"/>
                    <a:pt x="7658100" y="4429125"/>
                  </a:cubicBezTo>
                  <a:lnTo>
                    <a:pt x="152400" y="4429125"/>
                  </a:lnTo>
                  <a:cubicBezTo>
                    <a:pt x="68232" y="4429125"/>
                    <a:pt x="0" y="4360893"/>
                    <a:pt x="0" y="4276725"/>
                  </a:cubicBezTo>
                  <a:lnTo>
                    <a:pt x="0" y="152400"/>
                  </a:lnTo>
                  <a:cubicBezTo>
                    <a:pt x="0" y="68232"/>
                    <a:pt x="68232" y="0"/>
                    <a:pt x="152400" y="0"/>
                  </a:cubicBezTo>
                  <a:close/>
                </a:path>
              </a:pathLst>
            </a:custGeom>
            <a:solidFill>
              <a:srgbClr val="FFFFFF"/>
            </a:solidFill>
            <a:ln w="14288">
              <a:solidFill>
                <a:srgbClr val="D1DAD4"/>
              </a:solidFill>
            </a:ln>
          </p:spPr>
        </p:sp>
        <p:grpSp>
          <p:nvGrpSpPr>
            <p:cNvPr id="40" name="Group 40"/>
            <p:cNvGrpSpPr/>
            <p:nvPr/>
          </p:nvGrpSpPr>
          <p:grpSpPr>
            <a:xfrm>
              <a:off x="4095750" y="1428750"/>
              <a:ext cx="3238500" cy="3857625"/>
              <a:chOff x="4095750" y="1428750"/>
              <a:chExt cx="3238500" cy="3857625"/>
            </a:xfrm>
          </p:grpSpPr>
          <p:sp>
            <p:nvSpPr>
              <p:cNvPr id="24" name="Freeform 24"/>
              <p:cNvSpPr/>
              <p:nvPr/>
            </p:nvSpPr>
            <p:spPr>
              <a:xfrm>
                <a:off x="4095750" y="1428750"/>
                <a:ext cx="3238500" cy="3857625"/>
              </a:xfrm>
              <a:custGeom>
                <a:avLst/>
                <a:gdLst/>
                <a:ahLst/>
                <a:cxnLst/>
                <a:rect l="l" t="t" r="r" b="b"/>
                <a:pathLst>
                  <a:path w="3238500" h="3857625">
                    <a:moveTo>
                      <a:pt x="76200" y="0"/>
                    </a:moveTo>
                    <a:lnTo>
                      <a:pt x="3162300" y="0"/>
                    </a:lnTo>
                    <a:cubicBezTo>
                      <a:pt x="3204384" y="0"/>
                      <a:pt x="3238500" y="34116"/>
                      <a:pt x="3238500" y="76200"/>
                    </a:cubicBezTo>
                    <a:lnTo>
                      <a:pt x="3238500" y="3781425"/>
                    </a:lnTo>
                    <a:cubicBezTo>
                      <a:pt x="3238500" y="3823509"/>
                      <a:pt x="3204384" y="3857625"/>
                      <a:pt x="3162300" y="3857625"/>
                    </a:cubicBezTo>
                    <a:lnTo>
                      <a:pt x="76200" y="3857625"/>
                    </a:lnTo>
                    <a:cubicBezTo>
                      <a:pt x="34116" y="3857625"/>
                      <a:pt x="0" y="3823509"/>
                      <a:pt x="0" y="3781425"/>
                    </a:cubicBezTo>
                    <a:lnTo>
                      <a:pt x="0" y="76200"/>
                    </a:lnTo>
                    <a:cubicBezTo>
                      <a:pt x="0" y="34116"/>
                      <a:pt x="34116" y="0"/>
                      <a:pt x="76200" y="0"/>
                    </a:cubicBezTo>
                    <a:close/>
                  </a:path>
                </a:pathLst>
              </a:custGeom>
              <a:solidFill>
                <a:srgbClr val="F4F6F4"/>
              </a:solidFill>
              <a:ln w="9525">
                <a:solidFill>
                  <a:srgbClr val="D1DAD4"/>
                </a:solidFill>
              </a:ln>
            </p:spPr>
          </p:sp>
          <p:sp>
            <p:nvSpPr>
              <p:cNvPr id="25" name="Freeform 25"/>
              <p:cNvSpPr/>
              <p:nvPr/>
            </p:nvSpPr>
            <p:spPr>
              <a:xfrm>
                <a:off x="4095750" y="1428750"/>
                <a:ext cx="3238500" cy="342900"/>
              </a:xfrm>
              <a:custGeom>
                <a:avLst/>
                <a:gdLst/>
                <a:ahLst/>
                <a:cxnLst/>
                <a:rect l="l" t="t" r="r" b="b"/>
                <a:pathLst>
                  <a:path w="3238500" h="342900">
                    <a:moveTo>
                      <a:pt x="76200" y="0"/>
                    </a:moveTo>
                    <a:lnTo>
                      <a:pt x="3162300" y="0"/>
                    </a:lnTo>
                    <a:cubicBezTo>
                      <a:pt x="3204384" y="0"/>
                      <a:pt x="3238500" y="34116"/>
                      <a:pt x="3238500" y="76200"/>
                    </a:cubicBezTo>
                    <a:lnTo>
                      <a:pt x="3238500" y="266700"/>
                    </a:lnTo>
                    <a:cubicBezTo>
                      <a:pt x="3238500" y="308784"/>
                      <a:pt x="3204384" y="342900"/>
                      <a:pt x="3162300" y="342900"/>
                    </a:cubicBezTo>
                    <a:lnTo>
                      <a:pt x="76200" y="342900"/>
                    </a:lnTo>
                    <a:cubicBezTo>
                      <a:pt x="34116" y="342900"/>
                      <a:pt x="0" y="308784"/>
                      <a:pt x="0" y="266700"/>
                    </a:cubicBezTo>
                    <a:lnTo>
                      <a:pt x="0" y="76200"/>
                    </a:lnTo>
                    <a:cubicBezTo>
                      <a:pt x="0" y="34116"/>
                      <a:pt x="34116" y="0"/>
                      <a:pt x="76200" y="0"/>
                    </a:cubicBezTo>
                    <a:close/>
                  </a:path>
                </a:pathLst>
              </a:custGeom>
              <a:solidFill>
                <a:srgbClr val="2B583E"/>
              </a:solidFill>
              <a:ln>
                <a:noFill/>
              </a:ln>
            </p:spPr>
          </p:sp>
          <p:sp>
            <p:nvSpPr>
              <p:cNvPr id="26" name="Rectangle 26"/>
              <p:cNvSpPr/>
              <p:nvPr/>
            </p:nvSpPr>
            <p:spPr>
              <a:xfrm>
                <a:off x="4095750" y="1619250"/>
                <a:ext cx="3238500" cy="152400"/>
              </a:xfrm>
              <a:prstGeom prst="rect">
                <a:avLst/>
              </a:prstGeom>
              <a:solidFill>
                <a:srgbClr val="2B583E"/>
              </a:solidFill>
              <a:ln>
                <a:noFill/>
              </a:ln>
            </p:spPr>
          </p:sp>
          <p:sp>
            <p:nvSpPr>
              <p:cNvPr id="27" name="Freeform 27"/>
              <p:cNvSpPr/>
              <p:nvPr/>
            </p:nvSpPr>
            <p:spPr>
              <a:xfrm>
                <a:off x="4252177" y="1530482"/>
                <a:ext cx="203829" cy="168635"/>
              </a:xfrm>
              <a:custGeom>
                <a:avLst/>
                <a:gdLst/>
                <a:ahLst/>
                <a:cxnLst/>
                <a:rect l="l" t="t" r="r" b="b"/>
                <a:pathLst>
                  <a:path w="203829" h="168635">
                    <a:moveTo>
                      <a:pt x="133964" y="53607"/>
                    </a:moveTo>
                    <a:lnTo>
                      <a:pt x="149101" y="53607"/>
                    </a:lnTo>
                    <a:lnTo>
                      <a:pt x="149101" y="38805"/>
                    </a:lnTo>
                    <a:lnTo>
                      <a:pt x="133964" y="38805"/>
                    </a:lnTo>
                    <a:lnTo>
                      <a:pt x="133964" y="52292"/>
                    </a:lnTo>
                    <a:cubicBezTo>
                      <a:pt x="133964" y="53021"/>
                      <a:pt x="134556" y="53614"/>
                      <a:pt x="135285" y="53614"/>
                    </a:cubicBezTo>
                    <a:moveTo>
                      <a:pt x="114183" y="14823"/>
                    </a:moveTo>
                    <a:lnTo>
                      <a:pt x="129313" y="14823"/>
                    </a:lnTo>
                    <a:lnTo>
                      <a:pt x="129313" y="0"/>
                    </a:lnTo>
                    <a:lnTo>
                      <a:pt x="114183" y="0"/>
                    </a:lnTo>
                    <a:lnTo>
                      <a:pt x="114183" y="13487"/>
                    </a:lnTo>
                    <a:cubicBezTo>
                      <a:pt x="114183" y="14216"/>
                      <a:pt x="114768" y="14809"/>
                      <a:pt x="115504" y="14809"/>
                    </a:cubicBezTo>
                    <a:moveTo>
                      <a:pt x="115504" y="34211"/>
                    </a:moveTo>
                    <a:lnTo>
                      <a:pt x="130635" y="34211"/>
                    </a:lnTo>
                    <a:lnTo>
                      <a:pt x="130635" y="19402"/>
                    </a:lnTo>
                    <a:lnTo>
                      <a:pt x="115504" y="19402"/>
                    </a:lnTo>
                    <a:lnTo>
                      <a:pt x="115504" y="32883"/>
                    </a:lnTo>
                    <a:cubicBezTo>
                      <a:pt x="115504" y="33611"/>
                      <a:pt x="116090" y="34204"/>
                      <a:pt x="116826" y="34211"/>
                    </a:cubicBezTo>
                    <a:moveTo>
                      <a:pt x="95895" y="34211"/>
                    </a:moveTo>
                    <a:lnTo>
                      <a:pt x="111039" y="34211"/>
                    </a:lnTo>
                    <a:lnTo>
                      <a:pt x="111039" y="19402"/>
                    </a:lnTo>
                    <a:lnTo>
                      <a:pt x="91937" y="19402"/>
                    </a:lnTo>
                    <a:lnTo>
                      <a:pt x="91937" y="32883"/>
                    </a:lnTo>
                    <a:cubicBezTo>
                      <a:pt x="91937" y="33611"/>
                      <a:pt x="92530" y="34204"/>
                      <a:pt x="93258" y="34211"/>
                    </a:cubicBezTo>
                    <a:moveTo>
                      <a:pt x="72084" y="34211"/>
                    </a:moveTo>
                    <a:lnTo>
                      <a:pt x="87222" y="34211"/>
                    </a:lnTo>
                    <a:lnTo>
                      <a:pt x="87222" y="19402"/>
                    </a:lnTo>
                    <a:lnTo>
                      <a:pt x="70763" y="19402"/>
                    </a:lnTo>
                    <a:lnTo>
                      <a:pt x="70763" y="32883"/>
                    </a:lnTo>
                    <a:cubicBezTo>
                      <a:pt x="70763" y="33611"/>
                      <a:pt x="71363" y="34204"/>
                      <a:pt x="72092" y="34211"/>
                    </a:cubicBezTo>
                    <a:moveTo>
                      <a:pt x="114190" y="53607"/>
                    </a:moveTo>
                    <a:lnTo>
                      <a:pt x="129320" y="53607"/>
                    </a:lnTo>
                    <a:lnTo>
                      <a:pt x="129320" y="38805"/>
                    </a:lnTo>
                    <a:lnTo>
                      <a:pt x="114190" y="38805"/>
                    </a:lnTo>
                    <a:lnTo>
                      <a:pt x="114190" y="52292"/>
                    </a:lnTo>
                    <a:cubicBezTo>
                      <a:pt x="114190" y="53021"/>
                      <a:pt x="114775" y="53614"/>
                      <a:pt x="115511" y="53614"/>
                    </a:cubicBezTo>
                    <a:moveTo>
                      <a:pt x="94580" y="53614"/>
                    </a:moveTo>
                    <a:lnTo>
                      <a:pt x="109725" y="53614"/>
                    </a:lnTo>
                    <a:lnTo>
                      <a:pt x="109725" y="38805"/>
                    </a:lnTo>
                    <a:lnTo>
                      <a:pt x="94580" y="38805"/>
                    </a:lnTo>
                    <a:lnTo>
                      <a:pt x="94580" y="52292"/>
                    </a:lnTo>
                    <a:cubicBezTo>
                      <a:pt x="94580" y="53021"/>
                      <a:pt x="95173" y="53614"/>
                      <a:pt x="95902" y="53614"/>
                    </a:cubicBezTo>
                    <a:moveTo>
                      <a:pt x="74728" y="53614"/>
                    </a:moveTo>
                    <a:lnTo>
                      <a:pt x="89865" y="53614"/>
                    </a:lnTo>
                    <a:lnTo>
                      <a:pt x="89865" y="38805"/>
                    </a:lnTo>
                    <a:lnTo>
                      <a:pt x="74720" y="38805"/>
                    </a:lnTo>
                    <a:lnTo>
                      <a:pt x="74720" y="52285"/>
                    </a:lnTo>
                    <a:cubicBezTo>
                      <a:pt x="74720" y="53014"/>
                      <a:pt x="75321" y="53607"/>
                      <a:pt x="76049" y="53607"/>
                    </a:cubicBezTo>
                    <a:moveTo>
                      <a:pt x="55189" y="53607"/>
                    </a:moveTo>
                    <a:lnTo>
                      <a:pt x="70334" y="53607"/>
                    </a:lnTo>
                    <a:lnTo>
                      <a:pt x="70334" y="38805"/>
                    </a:lnTo>
                    <a:lnTo>
                      <a:pt x="55189" y="38805"/>
                    </a:lnTo>
                    <a:lnTo>
                      <a:pt x="55189" y="52292"/>
                    </a:lnTo>
                    <a:cubicBezTo>
                      <a:pt x="55189" y="53021"/>
                      <a:pt x="55775" y="53614"/>
                      <a:pt x="56511" y="53614"/>
                    </a:cubicBezTo>
                    <a:moveTo>
                      <a:pt x="203829" y="45120"/>
                    </a:moveTo>
                    <a:cubicBezTo>
                      <a:pt x="203365" y="44756"/>
                      <a:pt x="199029" y="41477"/>
                      <a:pt x="189871" y="41477"/>
                    </a:cubicBezTo>
                    <a:cubicBezTo>
                      <a:pt x="187456" y="41484"/>
                      <a:pt x="185041" y="41691"/>
                      <a:pt x="182655" y="42098"/>
                    </a:cubicBezTo>
                    <a:cubicBezTo>
                      <a:pt x="180884" y="29954"/>
                      <a:pt x="170847" y="24024"/>
                      <a:pt x="170397" y="23767"/>
                    </a:cubicBezTo>
                    <a:lnTo>
                      <a:pt x="167939" y="22346"/>
                    </a:lnTo>
                    <a:lnTo>
                      <a:pt x="166325" y="24682"/>
                    </a:lnTo>
                    <a:cubicBezTo>
                      <a:pt x="164296" y="27811"/>
                      <a:pt x="162824" y="31268"/>
                      <a:pt x="161953" y="34897"/>
                    </a:cubicBezTo>
                    <a:cubicBezTo>
                      <a:pt x="160310" y="41827"/>
                      <a:pt x="161310" y="48342"/>
                      <a:pt x="164832" y="53907"/>
                    </a:cubicBezTo>
                    <a:cubicBezTo>
                      <a:pt x="160581" y="56278"/>
                      <a:pt x="153759" y="56857"/>
                      <a:pt x="152373" y="56907"/>
                    </a:cubicBezTo>
                    <a:lnTo>
                      <a:pt x="39437" y="56907"/>
                    </a:lnTo>
                    <a:cubicBezTo>
                      <a:pt x="16996" y="58383"/>
                      <a:pt x="0" y="77771"/>
                      <a:pt x="1476" y="100213"/>
                    </a:cubicBezTo>
                    <a:cubicBezTo>
                      <a:pt x="2951" y="122654"/>
                      <a:pt x="22340" y="139650"/>
                      <a:pt x="44781" y="138174"/>
                    </a:cubicBezTo>
                    <a:cubicBezTo>
                      <a:pt x="48674" y="148376"/>
                      <a:pt x="54461" y="155891"/>
                      <a:pt x="61997" y="160491"/>
                    </a:cubicBezTo>
                    <a:cubicBezTo>
                      <a:pt x="70427" y="165656"/>
                      <a:pt x="84143" y="168614"/>
                      <a:pt x="99681" y="168614"/>
                    </a:cubicBezTo>
                    <a:cubicBezTo>
                      <a:pt x="106703" y="168635"/>
                      <a:pt x="113704" y="168000"/>
                      <a:pt x="120612" y="166714"/>
                    </a:cubicBezTo>
                    <a:cubicBezTo>
                      <a:pt x="127613" y="162663"/>
                      <a:pt x="133899" y="157513"/>
                      <a:pt x="139257" y="151455"/>
                    </a:cubicBezTo>
                    <a:cubicBezTo>
                      <a:pt x="148201" y="141325"/>
                      <a:pt x="153530" y="130045"/>
                      <a:pt x="157495" y="120022"/>
                    </a:cubicBezTo>
                    <a:lnTo>
                      <a:pt x="159074" y="120022"/>
                    </a:lnTo>
                    <a:cubicBezTo>
                      <a:pt x="168875" y="120022"/>
                      <a:pt x="174897" y="116100"/>
                      <a:pt x="178219" y="112814"/>
                    </a:cubicBezTo>
                    <a:cubicBezTo>
                      <a:pt x="180427" y="110721"/>
                      <a:pt x="182148" y="108171"/>
                      <a:pt x="183270" y="105342"/>
                    </a:cubicBezTo>
                    <a:lnTo>
                      <a:pt x="183970" y="103284"/>
                    </a:lnTo>
                    <a:close/>
                  </a:path>
                </a:pathLst>
              </a:custGeom>
              <a:solidFill>
                <a:srgbClr val="FFFFFF"/>
              </a:solidFill>
              <a:ln>
                <a:noFill/>
              </a:ln>
            </p:spPr>
          </p:sp>
          <p:sp>
            <p:nvSpPr>
              <p:cNvPr id="28" name="TextBox 28"/>
              <p:cNvSpPr txBox="1"/>
              <p:nvPr/>
            </p:nvSpPr>
            <p:spPr>
              <a:xfrm>
                <a:off x="4559618" y="1542574"/>
                <a:ext cx="217035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Quicksand"/>
                    <a:ea typeface="Microsoft YaHei"/>
                    <a:cs typeface="Quicksand"/>
                  </a:rPr>
                  <a:t>docker-compose.yml 部署配置</a:t>
                </a:r>
              </a:p>
            </p:txBody>
          </p:sp>
          <p:sp>
            <p:nvSpPr>
              <p:cNvPr id="29" name="TextBox 29"/>
              <p:cNvSpPr txBox="1"/>
              <p:nvPr/>
            </p:nvSpPr>
            <p:spPr>
              <a:xfrm>
                <a:off x="4369118" y="1942624"/>
                <a:ext cx="1050036" cy="198120"/>
              </a:xfrm>
              <a:prstGeom prst="rect">
                <a:avLst/>
              </a:prstGeom>
              <a:noFill/>
              <a:ln>
                <a:noFill/>
              </a:ln>
            </p:spPr>
            <p:txBody>
              <a:bodyPr wrap="none" lIns="0" tIns="0" rIns="0" bIns="0" anchor="t" anchorCtr="0">
                <a:spAutoFit/>
              </a:bodyPr>
              <a:lstStyle/>
              <a:p>
                <a:pPr algn="l"/>
                <a:r>
                  <a:rPr lang="zh-CN" sz="975" dirty="0">
                    <a:solidFill>
                      <a:srgbClr val="809085"/>
                    </a:solidFill>
                    <a:latin typeface="Consolas"/>
                    <a:ea typeface="Microsoft YaHei"/>
                    <a:cs typeface="Consolas"/>
                  </a:rPr>
                  <a:t>version: '3.8'</a:t>
                </a:r>
              </a:p>
            </p:txBody>
          </p:sp>
          <p:sp>
            <p:nvSpPr>
              <p:cNvPr id="30" name="TextBox 30"/>
              <p:cNvSpPr txBox="1"/>
              <p:nvPr/>
            </p:nvSpPr>
            <p:spPr>
              <a:xfrm>
                <a:off x="4369118" y="2152174"/>
                <a:ext cx="694039" cy="198120"/>
              </a:xfrm>
              <a:prstGeom prst="rect">
                <a:avLst/>
              </a:prstGeom>
              <a:noFill/>
              <a:ln>
                <a:noFill/>
              </a:ln>
            </p:spPr>
            <p:txBody>
              <a:bodyPr wrap="none" lIns="0" tIns="0" rIns="0" bIns="0" anchor="t" anchorCtr="0">
                <a:spAutoFit/>
              </a:bodyPr>
              <a:lstStyle/>
              <a:p>
                <a:pPr algn="l"/>
                <a:r>
                  <a:rPr lang="zh-CN" sz="975" dirty="0">
                    <a:solidFill>
                      <a:srgbClr val="2B583E"/>
                    </a:solidFill>
                    <a:latin typeface="Consolas"/>
                    <a:ea typeface="Microsoft YaHei"/>
                    <a:cs typeface="Consolas"/>
                  </a:rPr>
                  <a:t>services:</a:t>
                </a:r>
              </a:p>
            </p:txBody>
          </p:sp>
          <p:sp>
            <p:nvSpPr>
              <p:cNvPr id="31" name="TextBox 31"/>
              <p:cNvSpPr txBox="1"/>
              <p:nvPr/>
            </p:nvSpPr>
            <p:spPr>
              <a:xfrm>
                <a:off x="4559618" y="2361724"/>
                <a:ext cx="573000" cy="198120"/>
              </a:xfrm>
              <a:prstGeom prst="rect">
                <a:avLst/>
              </a:prstGeom>
              <a:noFill/>
              <a:ln>
                <a:noFill/>
              </a:ln>
            </p:spPr>
            <p:txBody>
              <a:bodyPr wrap="none" lIns="0" tIns="0" rIns="0" bIns="0" anchor="t" anchorCtr="0">
                <a:spAutoFit/>
              </a:bodyPr>
              <a:lstStyle/>
              <a:p>
                <a:pPr algn="l"/>
                <a:r>
                  <a:rPr lang="zh-CN" sz="975" dirty="0">
                    <a:solidFill>
                      <a:srgbClr val="2B583E"/>
                    </a:solidFill>
                    <a:latin typeface="Consolas"/>
                    <a:ea typeface="Microsoft YaHei"/>
                    <a:cs typeface="Consolas"/>
                  </a:rPr>
                  <a:t>server:</a:t>
                </a:r>
              </a:p>
            </p:txBody>
          </p:sp>
          <p:sp>
            <p:nvSpPr>
              <p:cNvPr id="32" name="TextBox 32"/>
              <p:cNvSpPr txBox="1"/>
              <p:nvPr/>
            </p:nvSpPr>
            <p:spPr>
              <a:xfrm>
                <a:off x="4750118" y="2571274"/>
                <a:ext cx="1783390" cy="198120"/>
              </a:xfrm>
              <a:prstGeom prst="rect">
                <a:avLst/>
              </a:prstGeom>
              <a:noFill/>
              <a:ln>
                <a:noFill/>
              </a:ln>
            </p:spPr>
            <p:txBody>
              <a:bodyPr wrap="none" lIns="0" tIns="0" rIns="0" bIns="0" anchor="t" anchorCtr="0">
                <a:spAutoFit/>
              </a:bodyPr>
              <a:lstStyle/>
              <a:p>
                <a:pPr algn="l"/>
                <a:r>
                  <a:rPr lang="zh-CN" sz="975" dirty="0">
                    <a:solidFill>
                      <a:srgbClr val="8E5B3C"/>
                    </a:solidFill>
                    <a:latin typeface="Consolas"/>
                    <a:ea typeface="Microsoft YaHei"/>
                    <a:cs typeface="Consolas"/>
                  </a:rPr>
                  <a:t>image:</a:t>
                </a:r>
                <a:r>
                  <a:rPr lang="zh-CN" sz="975" dirty="0">
                    <a:solidFill>
                      <a:srgbClr val="1C2E24"/>
                    </a:solidFill>
                    <a:latin typeface="Consolas"/>
                    <a:ea typeface="Microsoft YaHei"/>
                    <a:cs typeface="Consolas"/>
                  </a:rPr>
                  <a:t>ccckfg/dyn:latest</a:t>
                </a:r>
              </a:p>
            </p:txBody>
          </p:sp>
          <p:sp>
            <p:nvSpPr>
              <p:cNvPr id="33" name="TextBox 33"/>
              <p:cNvSpPr txBox="1"/>
              <p:nvPr/>
            </p:nvSpPr>
            <p:spPr>
              <a:xfrm>
                <a:off x="4750118" y="2780824"/>
                <a:ext cx="1975628" cy="198120"/>
              </a:xfrm>
              <a:prstGeom prst="rect">
                <a:avLst/>
              </a:prstGeom>
              <a:noFill/>
              <a:ln>
                <a:noFill/>
              </a:ln>
            </p:spPr>
            <p:txBody>
              <a:bodyPr wrap="none" lIns="0" tIns="0" rIns="0" bIns="0" anchor="t" anchorCtr="0">
                <a:spAutoFit/>
              </a:bodyPr>
              <a:lstStyle/>
              <a:p>
                <a:pPr algn="l"/>
                <a:r>
                  <a:rPr lang="zh-CN" sz="975" dirty="0">
                    <a:solidFill>
                      <a:srgbClr val="8E5B3C"/>
                    </a:solidFill>
                    <a:latin typeface="Consolas"/>
                    <a:ea typeface="Microsoft YaHei"/>
                    <a:cs typeface="Consolas"/>
                  </a:rPr>
                  <a:t>container_name:</a:t>
                </a:r>
                <a:r>
                  <a:rPr lang="zh-CN" sz="975" dirty="0">
                    <a:solidFill>
                      <a:srgbClr val="1C2E24"/>
                    </a:solidFill>
                    <a:latin typeface="Consolas"/>
                    <a:ea typeface="Microsoft YaHei"/>
                    <a:cs typeface="Consolas"/>
                  </a:rPr>
                  <a:t>dyn-server</a:t>
                </a:r>
              </a:p>
            </p:txBody>
          </p:sp>
          <p:sp>
            <p:nvSpPr>
              <p:cNvPr id="34" name="TextBox 34"/>
              <p:cNvSpPr txBox="1"/>
              <p:nvPr/>
            </p:nvSpPr>
            <p:spPr>
              <a:xfrm>
                <a:off x="4750118" y="2990374"/>
                <a:ext cx="494681" cy="198120"/>
              </a:xfrm>
              <a:prstGeom prst="rect">
                <a:avLst/>
              </a:prstGeom>
              <a:noFill/>
              <a:ln>
                <a:noFill/>
              </a:ln>
            </p:spPr>
            <p:txBody>
              <a:bodyPr wrap="none" lIns="0" tIns="0" rIns="0" bIns="0" anchor="t" anchorCtr="0">
                <a:spAutoFit/>
              </a:bodyPr>
              <a:lstStyle/>
              <a:p>
                <a:pPr algn="l"/>
                <a:r>
                  <a:rPr lang="zh-CN" sz="975" dirty="0">
                    <a:solidFill>
                      <a:srgbClr val="8E5B3C"/>
                    </a:solidFill>
                    <a:latin typeface="Consolas"/>
                    <a:ea typeface="Microsoft YaHei"/>
                    <a:cs typeface="Consolas"/>
                  </a:rPr>
                  <a:t>ports:</a:t>
                </a:r>
              </a:p>
            </p:txBody>
          </p:sp>
          <p:sp>
            <p:nvSpPr>
              <p:cNvPr id="35" name="TextBox 35"/>
              <p:cNvSpPr txBox="1"/>
              <p:nvPr/>
            </p:nvSpPr>
            <p:spPr>
              <a:xfrm>
                <a:off x="4940618" y="3199924"/>
                <a:ext cx="1007316" cy="198120"/>
              </a:xfrm>
              <a:prstGeom prst="rect">
                <a:avLst/>
              </a:prstGeom>
              <a:noFill/>
              <a:ln>
                <a:noFill/>
              </a:ln>
            </p:spPr>
            <p:txBody>
              <a:bodyPr wrap="none" lIns="0" tIns="0" rIns="0" bIns="0" anchor="t" anchorCtr="0">
                <a:spAutoFit/>
              </a:bodyPr>
              <a:lstStyle/>
              <a:p>
                <a:pPr algn="l"/>
                <a:r>
                  <a:rPr lang="zh-CN" sz="975" dirty="0">
                    <a:solidFill>
                      <a:srgbClr val="1C2E24"/>
                    </a:solidFill>
                    <a:latin typeface="Consolas"/>
                    <a:ea typeface="Microsoft YaHei"/>
                    <a:cs typeface="Consolas"/>
                  </a:rPr>
                  <a:t>- "8787:8787"</a:t>
                </a:r>
              </a:p>
            </p:txBody>
          </p:sp>
          <p:sp>
            <p:nvSpPr>
              <p:cNvPr id="36" name="TextBox 36"/>
              <p:cNvSpPr txBox="1"/>
              <p:nvPr/>
            </p:nvSpPr>
            <p:spPr>
              <a:xfrm>
                <a:off x="4750118" y="3409474"/>
                <a:ext cx="957477" cy="198120"/>
              </a:xfrm>
              <a:prstGeom prst="rect">
                <a:avLst/>
              </a:prstGeom>
              <a:noFill/>
              <a:ln>
                <a:noFill/>
              </a:ln>
            </p:spPr>
            <p:txBody>
              <a:bodyPr wrap="none" lIns="0" tIns="0" rIns="0" bIns="0" anchor="t" anchorCtr="0">
                <a:spAutoFit/>
              </a:bodyPr>
              <a:lstStyle/>
              <a:p>
                <a:pPr algn="l"/>
                <a:r>
                  <a:rPr lang="zh-CN" sz="975" dirty="0">
                    <a:solidFill>
                      <a:srgbClr val="8E5B3C"/>
                    </a:solidFill>
                    <a:latin typeface="Consolas"/>
                    <a:ea typeface="Microsoft YaHei"/>
                    <a:cs typeface="Consolas"/>
                  </a:rPr>
                  <a:t>environment:</a:t>
                </a:r>
              </a:p>
            </p:txBody>
          </p:sp>
          <p:sp>
            <p:nvSpPr>
              <p:cNvPr id="37" name="TextBox 37"/>
              <p:cNvSpPr txBox="1"/>
              <p:nvPr/>
            </p:nvSpPr>
            <p:spPr>
              <a:xfrm>
                <a:off x="4940618" y="3619024"/>
                <a:ext cx="879157" cy="198120"/>
              </a:xfrm>
              <a:prstGeom prst="rect">
                <a:avLst/>
              </a:prstGeom>
              <a:noFill/>
              <a:ln>
                <a:noFill/>
              </a:ln>
            </p:spPr>
            <p:txBody>
              <a:bodyPr wrap="none" lIns="0" tIns="0" rIns="0" bIns="0" anchor="t" anchorCtr="0">
                <a:spAutoFit/>
              </a:bodyPr>
              <a:lstStyle/>
              <a:p>
                <a:pPr algn="l"/>
                <a:r>
                  <a:rPr lang="zh-CN" sz="975" dirty="0">
                    <a:solidFill>
                      <a:srgbClr val="1C2E24"/>
                    </a:solidFill>
                    <a:latin typeface="Consolas"/>
                    <a:ea typeface="Microsoft YaHei"/>
                    <a:cs typeface="Consolas"/>
                  </a:rPr>
                  <a:t>- PORT=8787</a:t>
                </a:r>
              </a:p>
            </p:txBody>
          </p:sp>
          <p:sp>
            <p:nvSpPr>
              <p:cNvPr id="38" name="TextBox 38"/>
              <p:cNvSpPr txBox="1"/>
              <p:nvPr/>
            </p:nvSpPr>
            <p:spPr>
              <a:xfrm>
                <a:off x="4940618" y="3828574"/>
                <a:ext cx="1790510" cy="198120"/>
              </a:xfrm>
              <a:prstGeom prst="rect">
                <a:avLst/>
              </a:prstGeom>
              <a:noFill/>
              <a:ln>
                <a:noFill/>
              </a:ln>
            </p:spPr>
            <p:txBody>
              <a:bodyPr wrap="none" lIns="0" tIns="0" rIns="0" bIns="0" anchor="t" anchorCtr="0">
                <a:spAutoFit/>
              </a:bodyPr>
              <a:lstStyle/>
              <a:p>
                <a:pPr algn="l"/>
                <a:r>
                  <a:rPr lang="zh-CN" sz="975" dirty="0">
                    <a:solidFill>
                      <a:srgbClr val="1C2E24"/>
                    </a:solidFill>
                    <a:latin typeface="Consolas"/>
                    <a:ea typeface="Microsoft YaHei"/>
                    <a:cs typeface="Consolas"/>
                  </a:rPr>
                  <a:t>- APP_ACCESS_KEY=******</a:t>
                </a:r>
              </a:p>
            </p:txBody>
          </p:sp>
          <p:sp>
            <p:nvSpPr>
              <p:cNvPr id="39" name="TextBox 39"/>
              <p:cNvSpPr txBox="1"/>
              <p:nvPr/>
            </p:nvSpPr>
            <p:spPr>
              <a:xfrm>
                <a:off x="4750118" y="4038124"/>
                <a:ext cx="1114115" cy="198120"/>
              </a:xfrm>
              <a:prstGeom prst="rect">
                <a:avLst/>
              </a:prstGeom>
              <a:noFill/>
              <a:ln>
                <a:noFill/>
              </a:ln>
            </p:spPr>
            <p:txBody>
              <a:bodyPr wrap="none" lIns="0" tIns="0" rIns="0" bIns="0" anchor="t" anchorCtr="0">
                <a:spAutoFit/>
              </a:bodyPr>
              <a:lstStyle/>
              <a:p>
                <a:pPr algn="l"/>
                <a:r>
                  <a:rPr lang="zh-CN" sz="975" dirty="0">
                    <a:solidFill>
                      <a:srgbClr val="8E5B3C"/>
                    </a:solidFill>
                    <a:latin typeface="Consolas"/>
                    <a:ea typeface="Microsoft YaHei"/>
                    <a:cs typeface="Consolas"/>
                  </a:rPr>
                  <a:t>restart:</a:t>
                </a:r>
                <a:r>
                  <a:rPr lang="zh-CN" sz="975" dirty="0">
                    <a:solidFill>
                      <a:srgbClr val="1C2E24"/>
                    </a:solidFill>
                    <a:latin typeface="Consolas"/>
                    <a:ea typeface="Microsoft YaHei"/>
                    <a:cs typeface="Consolas"/>
                  </a:rPr>
                  <a:t>always</a:t>
                </a:r>
              </a:p>
            </p:txBody>
          </p:sp>
        </p:grpSp>
        <p:grpSp>
          <p:nvGrpSpPr>
            <p:cNvPr id="58" name="Group 58"/>
            <p:cNvGrpSpPr/>
            <p:nvPr/>
          </p:nvGrpSpPr>
          <p:grpSpPr>
            <a:xfrm>
              <a:off x="7524750" y="1428750"/>
              <a:ext cx="3810000" cy="3857625"/>
              <a:chOff x="7524750" y="1428750"/>
              <a:chExt cx="3810000" cy="3857625"/>
            </a:xfrm>
          </p:grpSpPr>
          <p:sp>
            <p:nvSpPr>
              <p:cNvPr id="41" name="Freeform 41"/>
              <p:cNvSpPr/>
              <p:nvPr/>
            </p:nvSpPr>
            <p:spPr>
              <a:xfrm>
                <a:off x="7524750" y="1428750"/>
                <a:ext cx="3810000" cy="3857625"/>
              </a:xfrm>
              <a:custGeom>
                <a:avLst/>
                <a:gdLst/>
                <a:ahLst/>
                <a:cxnLst/>
                <a:rect l="l" t="t" r="r" b="b"/>
                <a:pathLst>
                  <a:path w="3810000" h="3857625">
                    <a:moveTo>
                      <a:pt x="76200" y="0"/>
                    </a:moveTo>
                    <a:lnTo>
                      <a:pt x="3733800" y="0"/>
                    </a:lnTo>
                    <a:cubicBezTo>
                      <a:pt x="3775884" y="0"/>
                      <a:pt x="3810000" y="34116"/>
                      <a:pt x="3810000" y="76200"/>
                    </a:cubicBezTo>
                    <a:lnTo>
                      <a:pt x="3810000" y="3781425"/>
                    </a:lnTo>
                    <a:cubicBezTo>
                      <a:pt x="3810000" y="3823509"/>
                      <a:pt x="3775884" y="3857625"/>
                      <a:pt x="3733800" y="3857625"/>
                    </a:cubicBezTo>
                    <a:lnTo>
                      <a:pt x="76200" y="3857625"/>
                    </a:lnTo>
                    <a:cubicBezTo>
                      <a:pt x="34116" y="3857625"/>
                      <a:pt x="0" y="3823509"/>
                      <a:pt x="0" y="3781425"/>
                    </a:cubicBezTo>
                    <a:lnTo>
                      <a:pt x="0" y="76200"/>
                    </a:lnTo>
                    <a:cubicBezTo>
                      <a:pt x="0" y="34116"/>
                      <a:pt x="34116" y="0"/>
                      <a:pt x="76200" y="0"/>
                    </a:cubicBezTo>
                    <a:close/>
                  </a:path>
                </a:pathLst>
              </a:custGeom>
              <a:solidFill>
                <a:srgbClr val="F4F6F4"/>
              </a:solidFill>
              <a:ln w="9525">
                <a:solidFill>
                  <a:srgbClr val="D1DAD4"/>
                </a:solidFill>
              </a:ln>
            </p:spPr>
          </p:sp>
          <p:sp>
            <p:nvSpPr>
              <p:cNvPr id="42" name="Freeform 42"/>
              <p:cNvSpPr/>
              <p:nvPr/>
            </p:nvSpPr>
            <p:spPr>
              <a:xfrm>
                <a:off x="7524750" y="1428750"/>
                <a:ext cx="3810000" cy="342900"/>
              </a:xfrm>
              <a:custGeom>
                <a:avLst/>
                <a:gdLst/>
                <a:ahLst/>
                <a:cxnLst/>
                <a:rect l="l" t="t" r="r" b="b"/>
                <a:pathLst>
                  <a:path w="3810000" h="342900">
                    <a:moveTo>
                      <a:pt x="76200" y="0"/>
                    </a:moveTo>
                    <a:lnTo>
                      <a:pt x="3733800" y="0"/>
                    </a:lnTo>
                    <a:cubicBezTo>
                      <a:pt x="3775884" y="0"/>
                      <a:pt x="3810000" y="34116"/>
                      <a:pt x="3810000" y="76200"/>
                    </a:cubicBezTo>
                    <a:lnTo>
                      <a:pt x="3810000" y="266700"/>
                    </a:lnTo>
                    <a:cubicBezTo>
                      <a:pt x="3810000" y="308784"/>
                      <a:pt x="3775884" y="342900"/>
                      <a:pt x="3733800" y="342900"/>
                    </a:cubicBezTo>
                    <a:lnTo>
                      <a:pt x="76200" y="342900"/>
                    </a:lnTo>
                    <a:cubicBezTo>
                      <a:pt x="34116" y="342900"/>
                      <a:pt x="0" y="308784"/>
                      <a:pt x="0" y="266700"/>
                    </a:cubicBezTo>
                    <a:lnTo>
                      <a:pt x="0" y="76200"/>
                    </a:lnTo>
                    <a:cubicBezTo>
                      <a:pt x="0" y="34116"/>
                      <a:pt x="34116" y="0"/>
                      <a:pt x="76200" y="0"/>
                    </a:cubicBezTo>
                    <a:close/>
                  </a:path>
                </a:pathLst>
              </a:custGeom>
              <a:solidFill>
                <a:srgbClr val="8E5B3C"/>
              </a:solidFill>
              <a:ln>
                <a:noFill/>
              </a:ln>
            </p:spPr>
          </p:sp>
          <p:sp>
            <p:nvSpPr>
              <p:cNvPr id="43" name="Rectangle 43"/>
              <p:cNvSpPr/>
              <p:nvPr/>
            </p:nvSpPr>
            <p:spPr>
              <a:xfrm>
                <a:off x="7524750" y="1619250"/>
                <a:ext cx="3810000" cy="152400"/>
              </a:xfrm>
              <a:prstGeom prst="rect">
                <a:avLst/>
              </a:prstGeom>
              <a:solidFill>
                <a:srgbClr val="8E5B3C"/>
              </a:solidFill>
              <a:ln>
                <a:noFill/>
              </a:ln>
            </p:spPr>
          </p:sp>
          <p:sp>
            <p:nvSpPr>
              <p:cNvPr id="44" name="Freeform 44"/>
              <p:cNvSpPr/>
              <p:nvPr/>
            </p:nvSpPr>
            <p:spPr>
              <a:xfrm>
                <a:off x="7726303" y="1519238"/>
                <a:ext cx="149337" cy="142951"/>
              </a:xfrm>
              <a:custGeom>
                <a:avLst/>
                <a:gdLst/>
                <a:ahLst/>
                <a:cxnLst/>
                <a:rect l="l" t="t" r="r" b="b"/>
                <a:pathLst>
                  <a:path w="149337" h="142951">
                    <a:moveTo>
                      <a:pt x="74658" y="0"/>
                    </a:moveTo>
                    <a:lnTo>
                      <a:pt x="75501" y="50"/>
                    </a:lnTo>
                    <a:lnTo>
                      <a:pt x="75922" y="107"/>
                    </a:lnTo>
                    <a:lnTo>
                      <a:pt x="76358" y="200"/>
                    </a:lnTo>
                    <a:lnTo>
                      <a:pt x="77151" y="443"/>
                    </a:lnTo>
                    <a:cubicBezTo>
                      <a:pt x="77699" y="645"/>
                      <a:pt x="78219" y="914"/>
                      <a:pt x="78701" y="1243"/>
                    </a:cubicBezTo>
                    <a:lnTo>
                      <a:pt x="79444" y="1829"/>
                    </a:lnTo>
                    <a:lnTo>
                      <a:pt x="81266" y="3386"/>
                    </a:lnTo>
                    <a:cubicBezTo>
                      <a:pt x="95677" y="15356"/>
                      <a:pt x="113890" y="21783"/>
                      <a:pt x="132622" y="21510"/>
                    </a:cubicBezTo>
                    <a:lnTo>
                      <a:pt x="135065" y="21438"/>
                    </a:lnTo>
                    <a:cubicBezTo>
                      <a:pt x="138353" y="21288"/>
                      <a:pt x="141317" y="23403"/>
                      <a:pt x="142245" y="26560"/>
                    </a:cubicBezTo>
                    <a:cubicBezTo>
                      <a:pt x="149337" y="50687"/>
                      <a:pt x="146342" y="76658"/>
                      <a:pt x="133945" y="98537"/>
                    </a:cubicBezTo>
                    <a:cubicBezTo>
                      <a:pt x="121547" y="120416"/>
                      <a:pt x="100807" y="136332"/>
                      <a:pt x="76465" y="142646"/>
                    </a:cubicBezTo>
                    <a:cubicBezTo>
                      <a:pt x="75289" y="142951"/>
                      <a:pt x="74055" y="142951"/>
                      <a:pt x="72879" y="142646"/>
                    </a:cubicBezTo>
                    <a:cubicBezTo>
                      <a:pt x="48536" y="136334"/>
                      <a:pt x="27794" y="120418"/>
                      <a:pt x="15395" y="98539"/>
                    </a:cubicBezTo>
                    <a:cubicBezTo>
                      <a:pt x="2996" y="76660"/>
                      <a:pt x="0" y="50688"/>
                      <a:pt x="7092" y="26560"/>
                    </a:cubicBezTo>
                    <a:cubicBezTo>
                      <a:pt x="8020" y="23403"/>
                      <a:pt x="10985" y="21288"/>
                      <a:pt x="14272" y="21438"/>
                    </a:cubicBezTo>
                    <a:cubicBezTo>
                      <a:pt x="33827" y="22332"/>
                      <a:pt x="53013" y="15895"/>
                      <a:pt x="68071" y="3386"/>
                    </a:cubicBezTo>
                    <a:lnTo>
                      <a:pt x="69950" y="1779"/>
                    </a:lnTo>
                    <a:lnTo>
                      <a:pt x="70636" y="1243"/>
                    </a:lnTo>
                    <a:cubicBezTo>
                      <a:pt x="71118" y="914"/>
                      <a:pt x="71638" y="645"/>
                      <a:pt x="72186" y="443"/>
                    </a:cubicBezTo>
                    <a:lnTo>
                      <a:pt x="72986" y="200"/>
                    </a:lnTo>
                    <a:cubicBezTo>
                      <a:pt x="73266" y="132"/>
                      <a:pt x="73550" y="82"/>
                      <a:pt x="73836" y="50"/>
                    </a:cubicBezTo>
                    <a:lnTo>
                      <a:pt x="74658" y="0"/>
                    </a:lnTo>
                    <a:close/>
                    <a:moveTo>
                      <a:pt x="101161" y="52099"/>
                    </a:moveTo>
                    <a:cubicBezTo>
                      <a:pt x="99821" y="50758"/>
                      <a:pt x="98003" y="50004"/>
                      <a:pt x="96107" y="50004"/>
                    </a:cubicBezTo>
                    <a:cubicBezTo>
                      <a:pt x="94211" y="50004"/>
                      <a:pt x="92393" y="50758"/>
                      <a:pt x="91053" y="52099"/>
                    </a:cubicBezTo>
                    <a:lnTo>
                      <a:pt x="67528" y="75617"/>
                    </a:lnTo>
                    <a:lnTo>
                      <a:pt x="58292" y="66387"/>
                    </a:lnTo>
                    <a:lnTo>
                      <a:pt x="57620" y="65794"/>
                    </a:lnTo>
                    <a:cubicBezTo>
                      <a:pt x="54640" y="63490"/>
                      <a:pt x="50383" y="63895"/>
                      <a:pt x="47892" y="66721"/>
                    </a:cubicBezTo>
                    <a:cubicBezTo>
                      <a:pt x="45401" y="69546"/>
                      <a:pt x="45531" y="73820"/>
                      <a:pt x="48190" y="76488"/>
                    </a:cubicBezTo>
                    <a:lnTo>
                      <a:pt x="62478" y="90776"/>
                    </a:lnTo>
                    <a:lnTo>
                      <a:pt x="63149" y="91369"/>
                    </a:lnTo>
                    <a:cubicBezTo>
                      <a:pt x="65993" y="93575"/>
                      <a:pt x="70034" y="93320"/>
                      <a:pt x="72579" y="90776"/>
                    </a:cubicBezTo>
                    <a:lnTo>
                      <a:pt x="101154" y="62201"/>
                    </a:lnTo>
                    <a:lnTo>
                      <a:pt x="101747" y="61529"/>
                    </a:lnTo>
                    <a:cubicBezTo>
                      <a:pt x="103953" y="58685"/>
                      <a:pt x="103699" y="54644"/>
                      <a:pt x="101154" y="52099"/>
                    </a:cubicBezTo>
                    <a:close/>
                  </a:path>
                </a:pathLst>
              </a:custGeom>
              <a:solidFill>
                <a:srgbClr val="FFFFFF"/>
              </a:solidFill>
              <a:ln>
                <a:noFill/>
              </a:ln>
            </p:spPr>
          </p:sp>
          <p:sp>
            <p:nvSpPr>
              <p:cNvPr id="45" name="TextBox 45"/>
              <p:cNvSpPr txBox="1"/>
              <p:nvPr/>
            </p:nvSpPr>
            <p:spPr>
              <a:xfrm>
                <a:off x="7988618" y="1542574"/>
                <a:ext cx="151995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Quicksand"/>
                    <a:ea typeface="Microsoft YaHei"/>
                    <a:cs typeface="Quicksand"/>
                  </a:rPr>
                  <a:t>生产发布环境严密验证</a:t>
                </a:r>
              </a:p>
            </p:txBody>
          </p:sp>
          <p:sp>
            <p:nvSpPr>
              <p:cNvPr id="46" name="TextBox 46"/>
              <p:cNvSpPr txBox="1"/>
              <p:nvPr/>
            </p:nvSpPr>
            <p:spPr>
              <a:xfrm>
                <a:off x="7749540" y="1934528"/>
                <a:ext cx="179789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本地临时容器完美验证</a:t>
                </a:r>
                <a:r>
                  <a:rPr lang="zh-CN" sz="1050" dirty="0">
                    <a:solidFill>
                      <a:srgbClr val="4D5F54"/>
                    </a:solidFill>
                    <a:latin typeface="Plus Jakarta Sans"/>
                    <a:ea typeface="Microsoft YaHei"/>
                    <a:cs typeface="Plus Jakarta Sans"/>
                  </a:rPr>
                  <a:t>：</a:t>
                </a:r>
              </a:p>
            </p:txBody>
          </p:sp>
          <p:sp>
            <p:nvSpPr>
              <p:cNvPr id="47" name="TextBox 47"/>
              <p:cNvSpPr txBox="1"/>
              <p:nvPr/>
            </p:nvSpPr>
            <p:spPr>
              <a:xfrm>
                <a:off x="7749540" y="2163128"/>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在正式推送前，于本地拉起临时容器，</a:t>
                </a:r>
              </a:p>
            </p:txBody>
          </p:sp>
          <p:sp>
            <p:nvSpPr>
              <p:cNvPr id="48" name="TextBox 48"/>
              <p:cNvSpPr txBox="1"/>
              <p:nvPr/>
            </p:nvSpPr>
            <p:spPr>
              <a:xfrm>
                <a:off x="7749540" y="2391728"/>
                <a:ext cx="2664333"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进行严格的 /health 存活检测和 API 键</a:t>
                </a:r>
              </a:p>
            </p:txBody>
          </p:sp>
          <p:sp>
            <p:nvSpPr>
              <p:cNvPr id="49" name="TextBox 49"/>
              <p:cNvSpPr txBox="1"/>
              <p:nvPr/>
            </p:nvSpPr>
            <p:spPr>
              <a:xfrm>
                <a:off x="7749540" y="2620328"/>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校验；验证无误后彻底删除清理，符合</a:t>
                </a:r>
              </a:p>
            </p:txBody>
          </p:sp>
          <p:sp>
            <p:nvSpPr>
              <p:cNvPr id="50" name="TextBox 50"/>
              <p:cNvSpPr txBox="1"/>
              <p:nvPr/>
            </p:nvSpPr>
            <p:spPr>
              <a:xfrm>
                <a:off x="7749540" y="2848928"/>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高自律工程规范，杜绝环境残留污染。</a:t>
                </a:r>
              </a:p>
            </p:txBody>
          </p:sp>
          <p:sp>
            <p:nvSpPr>
              <p:cNvPr id="51" name="TextBox 51"/>
              <p:cNvSpPr txBox="1"/>
              <p:nvPr/>
            </p:nvSpPr>
            <p:spPr>
              <a:xfrm>
                <a:off x="7749540" y="3191828"/>
                <a:ext cx="149118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一键极简拉起服务</a:t>
                </a:r>
                <a:r>
                  <a:rPr lang="zh-CN" sz="1050" dirty="0">
                    <a:solidFill>
                      <a:srgbClr val="4D5F54"/>
                    </a:solidFill>
                    <a:latin typeface="Plus Jakarta Sans"/>
                    <a:ea typeface="Microsoft YaHei"/>
                    <a:cs typeface="Plus Jakarta Sans"/>
                  </a:rPr>
                  <a:t>：</a:t>
                </a:r>
              </a:p>
            </p:txBody>
          </p:sp>
          <p:sp>
            <p:nvSpPr>
              <p:cNvPr id="52" name="TextBox 52"/>
              <p:cNvSpPr txBox="1"/>
              <p:nvPr/>
            </p:nvSpPr>
            <p:spPr>
              <a:xfrm>
                <a:off x="7749540" y="3420428"/>
                <a:ext cx="288669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封装单机灰度 compose 配置，服务器只需</a:t>
                </a:r>
              </a:p>
            </p:txBody>
          </p:sp>
          <p:sp>
            <p:nvSpPr>
              <p:cNvPr id="53" name="TextBox 53"/>
              <p:cNvSpPr txBox="1"/>
              <p:nvPr/>
            </p:nvSpPr>
            <p:spPr>
              <a:xfrm>
                <a:off x="7749540" y="3649028"/>
                <a:ext cx="270267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运行</a:t>
                </a:r>
                <a:r>
                  <a:rPr lang="zh-CN" sz="1050" dirty="0">
                    <a:solidFill>
                      <a:srgbClr val="8E5B3C"/>
                    </a:solidFill>
                    <a:latin typeface="Consolas"/>
                    <a:ea typeface="Microsoft YaHei"/>
                    <a:cs typeface="Consolas"/>
                  </a:rPr>
                  <a:t>docker compose up -d</a:t>
                </a:r>
                <a:r>
                  <a:rPr lang="zh-CN" sz="1050" dirty="0">
                    <a:solidFill>
                      <a:srgbClr val="4D5F54"/>
                    </a:solidFill>
                    <a:latin typeface="Plus Jakarta Sans"/>
                    <a:ea typeface="Microsoft YaHei"/>
                    <a:cs typeface="Plus Jakarta Sans"/>
                  </a:rPr>
                  <a:t>，即可一键</a:t>
                </a:r>
              </a:p>
            </p:txBody>
          </p:sp>
          <p:sp>
            <p:nvSpPr>
              <p:cNvPr id="54" name="TextBox 54"/>
              <p:cNvSpPr txBox="1"/>
              <p:nvPr/>
            </p:nvSpPr>
            <p:spPr>
              <a:xfrm>
                <a:off x="7749540" y="3877628"/>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拉取镜像并安全后台运行，开箱即用。</a:t>
                </a:r>
              </a:p>
            </p:txBody>
          </p:sp>
          <p:sp>
            <p:nvSpPr>
              <p:cNvPr id="55" name="TextBox 55"/>
              <p:cNvSpPr txBox="1"/>
              <p:nvPr/>
            </p:nvSpPr>
            <p:spPr>
              <a:xfrm>
                <a:off x="7749540" y="4220528"/>
                <a:ext cx="149118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安全鉴权机制收口</a:t>
                </a:r>
                <a:r>
                  <a:rPr lang="zh-CN" sz="1050" dirty="0">
                    <a:solidFill>
                      <a:srgbClr val="4D5F54"/>
                    </a:solidFill>
                    <a:latin typeface="Plus Jakarta Sans"/>
                    <a:ea typeface="Microsoft YaHei"/>
                    <a:cs typeface="Plus Jakarta Sans"/>
                  </a:rPr>
                  <a:t>：</a:t>
                </a:r>
              </a:p>
            </p:txBody>
          </p:sp>
          <p:sp>
            <p:nvSpPr>
              <p:cNvPr id="56" name="TextBox 56"/>
              <p:cNvSpPr txBox="1"/>
              <p:nvPr/>
            </p:nvSpPr>
            <p:spPr>
              <a:xfrm>
                <a:off x="7749540" y="4449128"/>
                <a:ext cx="263366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外部注入访问密钥强制拦截非授权，仅</a:t>
                </a:r>
              </a:p>
            </p:txBody>
          </p:sp>
          <p:sp>
            <p:nvSpPr>
              <p:cNvPr id="57" name="TextBox 57"/>
              <p:cNvSpPr txBox="1"/>
              <p:nvPr/>
            </p:nvSpPr>
            <p:spPr>
              <a:xfrm>
                <a:off x="7749540" y="4677728"/>
                <a:ext cx="2733342"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保留设备 MQTT readings 接收鉴权口。</a:t>
                </a:r>
              </a:p>
            </p:txBody>
          </p:sp>
        </p:grpSp>
      </p:grpSp>
      <p:grpSp>
        <p:nvGrpSpPr>
          <p:cNvPr id="62" name="Group 62"/>
          <p:cNvGrpSpPr/>
          <p:nvPr/>
        </p:nvGrpSpPr>
        <p:grpSpPr>
          <a:xfrm>
            <a:off x="561975" y="6443662"/>
            <a:ext cx="10877550" cy="152400"/>
            <a:chOff x="561975" y="6443662"/>
            <a:chExt cx="10877550" cy="152400"/>
          </a:xfrm>
        </p:grpSpPr>
        <p:sp>
          <p:nvSpPr>
            <p:cNvPr id="60" name="TextBox 60"/>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61" name="TextBox 61"/>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15</a:t>
              </a:r>
            </a:p>
          </p:txBody>
        </p:sp>
      </p:grpSp>
    </p:spTree>
  </p:cSld>
  <p:clrMapOvr>
    <a:masterClrMapping/>
  </p:clrMapOvr>
  <p:transition 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4F6F4"/>
          </a:solidFill>
          <a:ln>
            <a:noFill/>
          </a:ln>
        </p:spPr>
      </p:sp>
      <p:grpSp>
        <p:nvGrpSpPr>
          <p:cNvPr id="7" name="Group 7"/>
          <p:cNvGrpSpPr/>
          <p:nvPr/>
        </p:nvGrpSpPr>
        <p:grpSpPr>
          <a:xfrm>
            <a:off x="571500" y="312420"/>
            <a:ext cx="11049000" cy="506730"/>
            <a:chOff x="571500" y="312420"/>
            <a:chExt cx="11049000" cy="506730"/>
          </a:xfrm>
        </p:grpSpPr>
        <p:sp>
          <p:nvSpPr>
            <p:cNvPr id="3" name="Freeform 3"/>
            <p:cNvSpPr/>
            <p:nvPr/>
          </p:nvSpPr>
          <p:spPr>
            <a:xfrm>
              <a:off x="571500" y="381000"/>
              <a:ext cx="1143000" cy="247650"/>
            </a:xfrm>
            <a:custGeom>
              <a:avLst/>
              <a:gdLst/>
              <a:ahLst/>
              <a:cxnLst/>
              <a:rect l="l" t="t" r="r" b="b"/>
              <a:pathLst>
                <a:path w="1143000" h="247650">
                  <a:moveTo>
                    <a:pt x="123825" y="0"/>
                  </a:moveTo>
                  <a:lnTo>
                    <a:pt x="1019175" y="0"/>
                  </a:lnTo>
                  <a:cubicBezTo>
                    <a:pt x="1087562" y="0"/>
                    <a:pt x="1143000" y="55438"/>
                    <a:pt x="1143000" y="123825"/>
                  </a:cubicBezTo>
                  <a:lnTo>
                    <a:pt x="1143000" y="123825"/>
                  </a:lnTo>
                  <a:cubicBezTo>
                    <a:pt x="1143000" y="192212"/>
                    <a:pt x="1087562" y="247650"/>
                    <a:pt x="1019175" y="247650"/>
                  </a:cubicBezTo>
                  <a:lnTo>
                    <a:pt x="123825" y="247650"/>
                  </a:lnTo>
                  <a:cubicBezTo>
                    <a:pt x="55438" y="247650"/>
                    <a:pt x="0" y="192212"/>
                    <a:pt x="0" y="123825"/>
                  </a:cubicBezTo>
                  <a:lnTo>
                    <a:pt x="0" y="123825"/>
                  </a:lnTo>
                  <a:cubicBezTo>
                    <a:pt x="0" y="55438"/>
                    <a:pt x="55438" y="0"/>
                    <a:pt x="123825" y="0"/>
                  </a:cubicBezTo>
                  <a:close/>
                </a:path>
              </a:pathLst>
            </a:custGeom>
            <a:solidFill>
              <a:srgbClr val="2B583E">
                <a:alpha val="8000"/>
              </a:srgbClr>
            </a:solidFill>
            <a:ln>
              <a:noFill/>
            </a:ln>
          </p:spPr>
        </p:sp>
        <p:sp>
          <p:nvSpPr>
            <p:cNvPr id="4" name="TextBox 4"/>
            <p:cNvSpPr txBox="1"/>
            <p:nvPr/>
          </p:nvSpPr>
          <p:spPr>
            <a:xfrm>
              <a:off x="731520" y="455295"/>
              <a:ext cx="712946" cy="182880"/>
            </a:xfrm>
            <a:prstGeom prst="rect">
              <a:avLst/>
            </a:prstGeom>
            <a:noFill/>
            <a:ln>
              <a:noFill/>
            </a:ln>
          </p:spPr>
          <p:txBody>
            <a:bodyPr wrap="none" lIns="0" tIns="0" rIns="0" bIns="0" anchor="t" anchorCtr="0">
              <a:spAutoFit/>
            </a:bodyPr>
            <a:lstStyle/>
            <a:p>
              <a:pPr algn="l"/>
              <a:r>
                <a:rPr lang="zh-CN" sz="900" b="1" dirty="0">
                  <a:solidFill>
                    <a:srgbClr val="2B583E"/>
                  </a:solidFill>
                  <a:latin typeface="Plus Jakarta Sans"/>
                  <a:ea typeface="Microsoft YaHei"/>
                  <a:cs typeface="Plus Jakarta Sans"/>
                </a:rPr>
                <a:t>未来规划篇</a:t>
              </a:r>
            </a:p>
          </p:txBody>
        </p:sp>
        <p:sp>
          <p:nvSpPr>
            <p:cNvPr id="5" name="TextBox 5"/>
            <p:cNvSpPr txBox="1"/>
            <p:nvPr/>
          </p:nvSpPr>
          <p:spPr>
            <a:xfrm>
              <a:off x="1836420" y="312420"/>
              <a:ext cx="6317742" cy="487680"/>
            </a:xfrm>
            <a:prstGeom prst="rect">
              <a:avLst/>
            </a:prstGeom>
            <a:noFill/>
            <a:ln>
              <a:noFill/>
            </a:ln>
          </p:spPr>
          <p:txBody>
            <a:bodyPr wrap="none" lIns="0" tIns="0" rIns="0" bIns="0" anchor="t" anchorCtr="0">
              <a:spAutoFit/>
            </a:bodyPr>
            <a:lstStyle/>
            <a:p>
              <a:pPr algn="l"/>
              <a:r>
                <a:rPr lang="zh-CN" sz="2400" b="1" dirty="0">
                  <a:solidFill>
                    <a:srgbClr val="1C2E24"/>
                  </a:solidFill>
                  <a:latin typeface="Quicksand"/>
                  <a:ea typeface="Microsoft YaHei"/>
                  <a:cs typeface="Quicksand"/>
                </a:rPr>
                <a:t>下一步：向更深处扎根，向更广处伸展</a:t>
              </a:r>
            </a:p>
          </p:txBody>
        </p:sp>
        <p:sp>
          <p:nvSpPr>
            <p:cNvPr id="6" name="Line 6"/>
            <p:cNvSpPr/>
            <p:nvPr/>
          </p:nvSpPr>
          <p:spPr>
            <a:xfrm>
              <a:off x="571500" y="809625"/>
              <a:ext cx="11049000" cy="9525"/>
            </a:xfrm>
            <a:custGeom>
              <a:avLst/>
              <a:gdLst/>
              <a:ahLst/>
              <a:cxnLst/>
              <a:rect l="l" t="t" r="r" b="b"/>
              <a:pathLst>
                <a:path w="11049000" h="9525">
                  <a:moveTo>
                    <a:pt x="0" y="0"/>
                  </a:moveTo>
                  <a:lnTo>
                    <a:pt x="11049000" y="0"/>
                  </a:lnTo>
                </a:path>
              </a:pathLst>
            </a:custGeom>
            <a:noFill/>
            <a:ln w="9525">
              <a:solidFill>
                <a:srgbClr val="D1DAD4"/>
              </a:solidFill>
            </a:ln>
          </p:spPr>
        </p:sp>
      </p:grpSp>
      <p:grpSp>
        <p:nvGrpSpPr>
          <p:cNvPr id="11" name="Group 11"/>
          <p:cNvGrpSpPr/>
          <p:nvPr/>
        </p:nvGrpSpPr>
        <p:grpSpPr>
          <a:xfrm>
            <a:off x="544830" y="1249680"/>
            <a:ext cx="8454390" cy="969645"/>
            <a:chOff x="544830" y="1249680"/>
            <a:chExt cx="8454390" cy="969645"/>
          </a:xfrm>
        </p:grpSpPr>
        <p:sp>
          <p:nvSpPr>
            <p:cNvPr id="8" name="TextBox 8"/>
            <p:cNvSpPr txBox="1"/>
            <p:nvPr/>
          </p:nvSpPr>
          <p:spPr>
            <a:xfrm>
              <a:off x="544830" y="1249680"/>
              <a:ext cx="5205984" cy="426720"/>
            </a:xfrm>
            <a:prstGeom prst="rect">
              <a:avLst/>
            </a:prstGeom>
            <a:noFill/>
            <a:ln>
              <a:noFill/>
            </a:ln>
          </p:spPr>
          <p:txBody>
            <a:bodyPr wrap="none" lIns="0" tIns="0" rIns="0" bIns="0" anchor="t" anchorCtr="0">
              <a:spAutoFit/>
            </a:bodyPr>
            <a:lstStyle/>
            <a:p>
              <a:pPr algn="l"/>
              <a:r>
                <a:rPr lang="zh-CN" sz="2100" b="1" dirty="0">
                  <a:solidFill>
                    <a:srgbClr val="2B583E"/>
                  </a:solidFill>
                  <a:latin typeface="Quicksand"/>
                  <a:ea typeface="Microsoft YaHei"/>
                  <a:cs typeface="Quicksand"/>
                </a:rPr>
                <a:t>植物不会停下呼吸，我们的探索亦然</a:t>
              </a:r>
            </a:p>
          </p:txBody>
        </p:sp>
        <p:sp>
          <p:nvSpPr>
            <p:cNvPr id="9" name="TextBox 9"/>
            <p:cNvSpPr txBox="1"/>
            <p:nvPr/>
          </p:nvSpPr>
          <p:spPr>
            <a:xfrm>
              <a:off x="556260" y="1727835"/>
              <a:ext cx="7671816" cy="243840"/>
            </a:xfrm>
            <a:prstGeom prst="rect">
              <a:avLst/>
            </a:prstGeom>
            <a:noFill/>
            <a:ln>
              <a:noFill/>
            </a:ln>
          </p:spPr>
          <p:txBody>
            <a:bodyPr wrap="none" lIns="0" tIns="0" rIns="0" bIns="0" anchor="t" anchorCtr="0">
              <a:spAutoFit/>
            </a:bodyPr>
            <a:lstStyle/>
            <a:p>
              <a:pPr algn="l"/>
              <a:r>
                <a:rPr lang="zh-CN" sz="1200" dirty="0">
                  <a:solidFill>
                    <a:srgbClr val="4D5F54"/>
                  </a:solidFill>
                  <a:latin typeface="Plus Jakarta Sans"/>
                  <a:ea typeface="Microsoft YaHei"/>
                  <a:cs typeface="Plus Jakarta Sans"/>
                </a:rPr>
                <a:t>DYN Plant Pal (PlantEcho) 的 MVP 版本已经彻底证明了「人文理念 ＋ 智能物联」的巨大生命力。</a:t>
              </a:r>
            </a:p>
          </p:txBody>
        </p:sp>
        <p:sp>
          <p:nvSpPr>
            <p:cNvPr id="10" name="TextBox 10"/>
            <p:cNvSpPr txBox="1"/>
            <p:nvPr/>
          </p:nvSpPr>
          <p:spPr>
            <a:xfrm>
              <a:off x="556260" y="1975485"/>
              <a:ext cx="8442960" cy="243840"/>
            </a:xfrm>
            <a:prstGeom prst="rect">
              <a:avLst/>
            </a:prstGeom>
            <a:noFill/>
            <a:ln>
              <a:noFill/>
            </a:ln>
          </p:spPr>
          <p:txBody>
            <a:bodyPr wrap="none" lIns="0" tIns="0" rIns="0" bIns="0" anchor="t" anchorCtr="0">
              <a:spAutoFit/>
            </a:bodyPr>
            <a:lstStyle/>
            <a:p>
              <a:pPr algn="l"/>
              <a:r>
                <a:rPr lang="zh-CN" sz="1200" dirty="0">
                  <a:solidFill>
                    <a:srgbClr val="4D5F54"/>
                  </a:solidFill>
                  <a:latin typeface="Plus Jakarta Sans"/>
                  <a:ea typeface="Microsoft YaHei"/>
                  <a:cs typeface="Plus Jakarta Sans"/>
                </a:rPr>
                <a:t>接下来，我们将从物理标定、用户终端功能外展以及大模型长跑压测三个方面深入演进，实现更完整的生态：</a:t>
              </a:r>
            </a:p>
          </p:txBody>
        </p:sp>
      </p:grpSp>
      <p:grpSp>
        <p:nvGrpSpPr>
          <p:cNvPr id="23" name="Group 23"/>
          <p:cNvGrpSpPr/>
          <p:nvPr/>
        </p:nvGrpSpPr>
        <p:grpSpPr>
          <a:xfrm>
            <a:off x="571500" y="2857500"/>
            <a:ext cx="3524250" cy="2857500"/>
            <a:chOff x="571500" y="2857500"/>
            <a:chExt cx="3524250" cy="2857500"/>
          </a:xfrm>
        </p:grpSpPr>
        <p:sp>
          <p:nvSpPr>
            <p:cNvPr id="12" name="Freeform 12"/>
            <p:cNvSpPr/>
            <p:nvPr/>
          </p:nvSpPr>
          <p:spPr>
            <a:xfrm>
              <a:off x="571500" y="2857500"/>
              <a:ext cx="3524250" cy="2857500"/>
            </a:xfrm>
            <a:custGeom>
              <a:avLst/>
              <a:gdLst/>
              <a:ahLst/>
              <a:cxnLst/>
              <a:rect l="l" t="t" r="r" b="b"/>
              <a:pathLst>
                <a:path w="3524250" h="2857500">
                  <a:moveTo>
                    <a:pt x="114300" y="0"/>
                  </a:moveTo>
                  <a:lnTo>
                    <a:pt x="3409950" y="0"/>
                  </a:lnTo>
                  <a:cubicBezTo>
                    <a:pt x="3473076" y="0"/>
                    <a:pt x="3524250" y="51174"/>
                    <a:pt x="3524250" y="114300"/>
                  </a:cubicBezTo>
                  <a:lnTo>
                    <a:pt x="3524250" y="2743200"/>
                  </a:lnTo>
                  <a:cubicBezTo>
                    <a:pt x="3524250" y="2806326"/>
                    <a:pt x="3473076" y="2857500"/>
                    <a:pt x="3409950" y="2857500"/>
                  </a:cubicBezTo>
                  <a:lnTo>
                    <a:pt x="114300" y="2857500"/>
                  </a:lnTo>
                  <a:cubicBezTo>
                    <a:pt x="51174" y="2857500"/>
                    <a:pt x="0" y="2806326"/>
                    <a:pt x="0" y="2743200"/>
                  </a:cubicBezTo>
                  <a:lnTo>
                    <a:pt x="0" y="114300"/>
                  </a:lnTo>
                  <a:cubicBezTo>
                    <a:pt x="0" y="51174"/>
                    <a:pt x="51174" y="0"/>
                    <a:pt x="114300" y="0"/>
                  </a:cubicBezTo>
                  <a:close/>
                </a:path>
              </a:pathLst>
            </a:custGeom>
            <a:solidFill>
              <a:srgbClr val="FFFFFF"/>
            </a:solidFill>
            <a:ln w="14288">
              <a:solidFill>
                <a:srgbClr val="D1DAD4"/>
              </a:solidFill>
            </a:ln>
          </p:spPr>
        </p:sp>
        <p:sp>
          <p:nvSpPr>
            <p:cNvPr id="13" name="Freeform 13"/>
            <p:cNvSpPr/>
            <p:nvPr/>
          </p:nvSpPr>
          <p:spPr>
            <a:xfrm>
              <a:off x="571500" y="2857500"/>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8E5B3C"/>
            </a:solidFill>
            <a:ln>
              <a:noFill/>
            </a:ln>
          </p:spPr>
        </p:sp>
        <p:sp>
          <p:nvSpPr>
            <p:cNvPr id="14" name="Freeform 14"/>
            <p:cNvSpPr/>
            <p:nvPr/>
          </p:nvSpPr>
          <p:spPr>
            <a:xfrm>
              <a:off x="857250" y="3238500"/>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8E5B3C">
                <a:alpha val="8000"/>
              </a:srgbClr>
            </a:solidFill>
            <a:ln>
              <a:noFill/>
            </a:ln>
          </p:spPr>
        </p:sp>
        <p:sp>
          <p:nvSpPr>
            <p:cNvPr id="15" name="Freeform 15"/>
            <p:cNvSpPr/>
            <p:nvPr/>
          </p:nvSpPr>
          <p:spPr>
            <a:xfrm>
              <a:off x="957125" y="3338512"/>
              <a:ext cx="143013" cy="151284"/>
            </a:xfrm>
            <a:custGeom>
              <a:avLst/>
              <a:gdLst/>
              <a:ahLst/>
              <a:cxnLst/>
              <a:rect l="l" t="t" r="r" b="b"/>
              <a:pathLst>
                <a:path w="143013" h="151284">
                  <a:moveTo>
                    <a:pt x="575" y="89916"/>
                  </a:moveTo>
                  <a:lnTo>
                    <a:pt x="432" y="88583"/>
                  </a:lnTo>
                  <a:lnTo>
                    <a:pt x="400" y="88241"/>
                  </a:lnTo>
                  <a:cubicBezTo>
                    <a:pt x="125" y="85286"/>
                    <a:pt x="0" y="82319"/>
                    <a:pt x="27" y="79351"/>
                  </a:cubicBezTo>
                  <a:cubicBezTo>
                    <a:pt x="170" y="29424"/>
                    <a:pt x="34079" y="0"/>
                    <a:pt x="103214" y="0"/>
                  </a:cubicBezTo>
                  <a:lnTo>
                    <a:pt x="135075" y="0"/>
                  </a:lnTo>
                  <a:cubicBezTo>
                    <a:pt x="139459" y="0"/>
                    <a:pt x="143013" y="3554"/>
                    <a:pt x="143013" y="7937"/>
                  </a:cubicBezTo>
                  <a:lnTo>
                    <a:pt x="142997" y="24265"/>
                  </a:lnTo>
                  <a:cubicBezTo>
                    <a:pt x="139044" y="93329"/>
                    <a:pt x="105373" y="127000"/>
                    <a:pt x="47763" y="127000"/>
                  </a:cubicBezTo>
                  <a:lnTo>
                    <a:pt x="26879" y="127000"/>
                  </a:lnTo>
                  <a:cubicBezTo>
                    <a:pt x="25514" y="132510"/>
                    <a:pt x="24520" y="138105"/>
                    <a:pt x="23903" y="143748"/>
                  </a:cubicBezTo>
                  <a:cubicBezTo>
                    <a:pt x="23591" y="146567"/>
                    <a:pt x="21799" y="149005"/>
                    <a:pt x="19202" y="150144"/>
                  </a:cubicBezTo>
                  <a:cubicBezTo>
                    <a:pt x="16605" y="151284"/>
                    <a:pt x="13597" y="150951"/>
                    <a:pt x="11312" y="149271"/>
                  </a:cubicBezTo>
                  <a:cubicBezTo>
                    <a:pt x="9027" y="147592"/>
                    <a:pt x="7811" y="144821"/>
                    <a:pt x="8123" y="142002"/>
                  </a:cubicBezTo>
                  <a:cubicBezTo>
                    <a:pt x="9044" y="133705"/>
                    <a:pt x="10578" y="125907"/>
                    <a:pt x="12727" y="118610"/>
                  </a:cubicBezTo>
                  <a:lnTo>
                    <a:pt x="11790" y="117451"/>
                  </a:lnTo>
                  <a:lnTo>
                    <a:pt x="10139" y="115229"/>
                  </a:lnTo>
                  <a:lnTo>
                    <a:pt x="8893" y="113411"/>
                  </a:lnTo>
                  <a:lnTo>
                    <a:pt x="7448" y="111085"/>
                  </a:lnTo>
                  <a:lnTo>
                    <a:pt x="6671" y="109728"/>
                  </a:lnTo>
                  <a:lnTo>
                    <a:pt x="6155" y="108760"/>
                  </a:lnTo>
                  <a:cubicBezTo>
                    <a:pt x="4894" y="106364"/>
                    <a:pt x="3840" y="103865"/>
                    <a:pt x="3003" y="101290"/>
                  </a:cubicBezTo>
                  <a:lnTo>
                    <a:pt x="2432" y="99409"/>
                  </a:lnTo>
                  <a:lnTo>
                    <a:pt x="1757" y="96814"/>
                  </a:lnTo>
                  <a:lnTo>
                    <a:pt x="1305" y="94686"/>
                  </a:lnTo>
                  <a:lnTo>
                    <a:pt x="963" y="92766"/>
                  </a:lnTo>
                  <a:close/>
                  <a:moveTo>
                    <a:pt x="68353" y="56245"/>
                  </a:moveTo>
                  <a:cubicBezTo>
                    <a:pt x="45771" y="66286"/>
                    <a:pt x="29824" y="81089"/>
                    <a:pt x="19871" y="100560"/>
                  </a:cubicBezTo>
                  <a:cubicBezTo>
                    <a:pt x="20389" y="101619"/>
                    <a:pt x="20966" y="102677"/>
                    <a:pt x="21601" y="103735"/>
                  </a:cubicBezTo>
                  <a:lnTo>
                    <a:pt x="23069" y="105966"/>
                  </a:lnTo>
                  <a:lnTo>
                    <a:pt x="23625" y="106736"/>
                  </a:lnTo>
                  <a:cubicBezTo>
                    <a:pt x="24260" y="107603"/>
                    <a:pt x="24943" y="108474"/>
                    <a:pt x="25673" y="109347"/>
                  </a:cubicBezTo>
                  <a:lnTo>
                    <a:pt x="27237" y="111125"/>
                  </a:lnTo>
                  <a:lnTo>
                    <a:pt x="32388" y="111125"/>
                  </a:lnTo>
                  <a:cubicBezTo>
                    <a:pt x="40619" y="93099"/>
                    <a:pt x="54430" y="79804"/>
                    <a:pt x="74798" y="70755"/>
                  </a:cubicBezTo>
                  <a:cubicBezTo>
                    <a:pt x="78805" y="68975"/>
                    <a:pt x="80610" y="64284"/>
                    <a:pt x="78830" y="60277"/>
                  </a:cubicBezTo>
                  <a:cubicBezTo>
                    <a:pt x="77051" y="56271"/>
                    <a:pt x="72360" y="54465"/>
                    <a:pt x="68353" y="56245"/>
                  </a:cubicBezTo>
                </a:path>
              </a:pathLst>
            </a:custGeom>
            <a:solidFill>
              <a:srgbClr val="8E5B3C"/>
            </a:solidFill>
            <a:ln>
              <a:noFill/>
            </a:ln>
          </p:spPr>
        </p:sp>
        <p:sp>
          <p:nvSpPr>
            <p:cNvPr id="16" name="TextBox 16"/>
            <p:cNvSpPr txBox="1"/>
            <p:nvPr/>
          </p:nvSpPr>
          <p:spPr>
            <a:xfrm>
              <a:off x="1318260" y="3328035"/>
              <a:ext cx="1898313"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1. 硬件端二期深水研发</a:t>
              </a:r>
            </a:p>
          </p:txBody>
        </p:sp>
        <p:sp>
          <p:nvSpPr>
            <p:cNvPr id="17" name="TextBox 17"/>
            <p:cNvSpPr txBox="1"/>
            <p:nvPr/>
          </p:nvSpPr>
          <p:spPr>
            <a:xfrm>
              <a:off x="843915" y="3791902"/>
              <a:ext cx="210459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精密物理标定</a:t>
              </a:r>
              <a:r>
                <a:rPr lang="zh-CN" sz="1050" dirty="0">
                  <a:solidFill>
                    <a:srgbClr val="4D5F54"/>
                  </a:solidFill>
                  <a:latin typeface="Plus Jakarta Sans"/>
                  <a:ea typeface="Microsoft YaHei"/>
                  <a:cs typeface="Plus Jakarta Sans"/>
                </a:rPr>
                <a:t>：针对不同土壤</a:t>
              </a:r>
            </a:p>
          </p:txBody>
        </p:sp>
        <p:sp>
          <p:nvSpPr>
            <p:cNvPr id="18" name="TextBox 18"/>
            <p:cNvSpPr txBox="1"/>
            <p:nvPr/>
          </p:nvSpPr>
          <p:spPr>
            <a:xfrm>
              <a:off x="843915" y="4020502"/>
              <a:ext cx="2257949"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基底加入干土/湿土现场精密标定</a:t>
              </a:r>
            </a:p>
          </p:txBody>
        </p:sp>
        <p:sp>
          <p:nvSpPr>
            <p:cNvPr id="19" name="TextBox 19"/>
            <p:cNvSpPr txBox="1"/>
            <p:nvPr/>
          </p:nvSpPr>
          <p:spPr>
            <a:xfrm>
              <a:off x="843915" y="4249102"/>
              <a:ext cx="186690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与动态漂移过滤校准算法。</a:t>
              </a:r>
            </a:p>
          </p:txBody>
        </p:sp>
        <p:sp>
          <p:nvSpPr>
            <p:cNvPr id="20" name="TextBox 20"/>
            <p:cNvSpPr txBox="1"/>
            <p:nvPr/>
          </p:nvSpPr>
          <p:spPr>
            <a:xfrm>
              <a:off x="843915" y="4515802"/>
              <a:ext cx="210459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长耐久稳定性观察</a:t>
              </a:r>
              <a:r>
                <a:rPr lang="zh-CN" sz="1050" dirty="0">
                  <a:solidFill>
                    <a:srgbClr val="4D5F54"/>
                  </a:solidFill>
                  <a:latin typeface="Plus Jakarta Sans"/>
                  <a:ea typeface="Microsoft YaHei"/>
                  <a:cs typeface="Plus Jakarta Sans"/>
                </a:rPr>
                <a:t>：进行大于</a:t>
              </a:r>
            </a:p>
          </p:txBody>
        </p:sp>
        <p:sp>
          <p:nvSpPr>
            <p:cNvPr id="21" name="TextBox 21"/>
            <p:cNvSpPr txBox="1"/>
            <p:nvPr/>
          </p:nvSpPr>
          <p:spPr>
            <a:xfrm>
              <a:off x="843915" y="4744402"/>
              <a:ext cx="235762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半年的真实野外 MQTT 长跑压测，</a:t>
              </a:r>
            </a:p>
          </p:txBody>
        </p:sp>
        <p:sp>
          <p:nvSpPr>
            <p:cNvPr id="22" name="TextBox 22"/>
            <p:cNvSpPr txBox="1"/>
            <p:nvPr/>
          </p:nvSpPr>
          <p:spPr>
            <a:xfrm>
              <a:off x="843915" y="4973002"/>
              <a:ext cx="2089261"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深度打磨 OTA 断线自愈能力。</a:t>
              </a:r>
            </a:p>
          </p:txBody>
        </p:sp>
      </p:grpSp>
      <p:grpSp>
        <p:nvGrpSpPr>
          <p:cNvPr id="35" name="Group 35"/>
          <p:cNvGrpSpPr/>
          <p:nvPr/>
        </p:nvGrpSpPr>
        <p:grpSpPr>
          <a:xfrm>
            <a:off x="4333875" y="2857500"/>
            <a:ext cx="3524250" cy="2857500"/>
            <a:chOff x="4333875" y="2857500"/>
            <a:chExt cx="3524250" cy="2857500"/>
          </a:xfrm>
        </p:grpSpPr>
        <p:sp>
          <p:nvSpPr>
            <p:cNvPr id="24" name="Freeform 24"/>
            <p:cNvSpPr/>
            <p:nvPr/>
          </p:nvSpPr>
          <p:spPr>
            <a:xfrm>
              <a:off x="4333875" y="2857500"/>
              <a:ext cx="3524250" cy="2857500"/>
            </a:xfrm>
            <a:custGeom>
              <a:avLst/>
              <a:gdLst/>
              <a:ahLst/>
              <a:cxnLst/>
              <a:rect l="l" t="t" r="r" b="b"/>
              <a:pathLst>
                <a:path w="3524250" h="2857500">
                  <a:moveTo>
                    <a:pt x="114300" y="0"/>
                  </a:moveTo>
                  <a:lnTo>
                    <a:pt x="3409950" y="0"/>
                  </a:lnTo>
                  <a:cubicBezTo>
                    <a:pt x="3473076" y="0"/>
                    <a:pt x="3524250" y="51174"/>
                    <a:pt x="3524250" y="114300"/>
                  </a:cubicBezTo>
                  <a:lnTo>
                    <a:pt x="3524250" y="2743200"/>
                  </a:lnTo>
                  <a:cubicBezTo>
                    <a:pt x="3524250" y="2806326"/>
                    <a:pt x="3473076" y="2857500"/>
                    <a:pt x="3409950" y="2857500"/>
                  </a:cubicBezTo>
                  <a:lnTo>
                    <a:pt x="114300" y="2857500"/>
                  </a:lnTo>
                  <a:cubicBezTo>
                    <a:pt x="51174" y="2857500"/>
                    <a:pt x="0" y="2806326"/>
                    <a:pt x="0" y="2743200"/>
                  </a:cubicBezTo>
                  <a:lnTo>
                    <a:pt x="0" y="114300"/>
                  </a:lnTo>
                  <a:cubicBezTo>
                    <a:pt x="0" y="51174"/>
                    <a:pt x="51174" y="0"/>
                    <a:pt x="114300" y="0"/>
                  </a:cubicBezTo>
                  <a:close/>
                </a:path>
              </a:pathLst>
            </a:custGeom>
            <a:solidFill>
              <a:srgbClr val="FFFFFF"/>
            </a:solidFill>
            <a:ln w="14288">
              <a:solidFill>
                <a:srgbClr val="D1DAD4"/>
              </a:solidFill>
            </a:ln>
          </p:spPr>
        </p:sp>
        <p:sp>
          <p:nvSpPr>
            <p:cNvPr id="25" name="Freeform 25"/>
            <p:cNvSpPr/>
            <p:nvPr/>
          </p:nvSpPr>
          <p:spPr>
            <a:xfrm>
              <a:off x="4333875" y="2857500"/>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2B583E"/>
            </a:solidFill>
            <a:ln>
              <a:noFill/>
            </a:ln>
          </p:spPr>
        </p:sp>
        <p:sp>
          <p:nvSpPr>
            <p:cNvPr id="26" name="Freeform 26"/>
            <p:cNvSpPr/>
            <p:nvPr/>
          </p:nvSpPr>
          <p:spPr>
            <a:xfrm>
              <a:off x="4619625" y="3238500"/>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2B583E">
                <a:alpha val="8000"/>
              </a:srgbClr>
            </a:solidFill>
            <a:ln>
              <a:noFill/>
            </a:ln>
          </p:spPr>
        </p:sp>
        <p:sp>
          <p:nvSpPr>
            <p:cNvPr id="27" name="Freeform 27"/>
            <p:cNvSpPr/>
            <p:nvPr/>
          </p:nvSpPr>
          <p:spPr>
            <a:xfrm>
              <a:off x="4711700" y="3330575"/>
              <a:ext cx="158750" cy="158750"/>
            </a:xfrm>
            <a:custGeom>
              <a:avLst/>
              <a:gdLst/>
              <a:ahLst/>
              <a:cxnLst/>
              <a:rect l="l" t="t" r="r" b="b"/>
              <a:pathLst>
                <a:path w="158750" h="158750">
                  <a:moveTo>
                    <a:pt x="54078" y="76295"/>
                  </a:moveTo>
                  <a:cubicBezTo>
                    <a:pt x="57706" y="73279"/>
                    <a:pt x="61365" y="73279"/>
                    <a:pt x="65080" y="76383"/>
                  </a:cubicBezTo>
                  <a:lnTo>
                    <a:pt x="65937" y="77160"/>
                  </a:lnTo>
                  <a:lnTo>
                    <a:pt x="105513" y="116737"/>
                  </a:lnTo>
                  <a:lnTo>
                    <a:pt x="106259" y="117396"/>
                  </a:lnTo>
                  <a:cubicBezTo>
                    <a:pt x="109419" y="119845"/>
                    <a:pt x="113908" y="119562"/>
                    <a:pt x="116735" y="116735"/>
                  </a:cubicBezTo>
                  <a:cubicBezTo>
                    <a:pt x="119562" y="113908"/>
                    <a:pt x="119845" y="109419"/>
                    <a:pt x="117396" y="106259"/>
                  </a:cubicBezTo>
                  <a:lnTo>
                    <a:pt x="116737" y="105513"/>
                  </a:lnTo>
                  <a:lnTo>
                    <a:pt x="106482" y="95250"/>
                  </a:lnTo>
                  <a:lnTo>
                    <a:pt x="108799" y="92924"/>
                  </a:lnTo>
                  <a:lnTo>
                    <a:pt x="109641" y="92170"/>
                  </a:lnTo>
                  <a:cubicBezTo>
                    <a:pt x="113268" y="89154"/>
                    <a:pt x="116927" y="89154"/>
                    <a:pt x="120642" y="92258"/>
                  </a:cubicBezTo>
                  <a:lnTo>
                    <a:pt x="121499" y="93035"/>
                  </a:lnTo>
                  <a:lnTo>
                    <a:pt x="158599" y="130143"/>
                  </a:lnTo>
                  <a:cubicBezTo>
                    <a:pt x="157046" y="145763"/>
                    <a:pt x="144312" y="157904"/>
                    <a:pt x="128635" y="158710"/>
                  </a:cubicBezTo>
                  <a:lnTo>
                    <a:pt x="127000" y="158750"/>
                  </a:lnTo>
                  <a:lnTo>
                    <a:pt x="31750" y="158750"/>
                  </a:lnTo>
                  <a:cubicBezTo>
                    <a:pt x="15436" y="158749"/>
                    <a:pt x="1778" y="146385"/>
                    <a:pt x="159" y="130151"/>
                  </a:cubicBezTo>
                  <a:lnTo>
                    <a:pt x="53237" y="77049"/>
                  </a:lnTo>
                  <a:lnTo>
                    <a:pt x="54078" y="76295"/>
                  </a:lnTo>
                  <a:close/>
                  <a:moveTo>
                    <a:pt x="127000" y="0"/>
                  </a:moveTo>
                  <a:cubicBezTo>
                    <a:pt x="143918" y="0"/>
                    <a:pt x="157864" y="13266"/>
                    <a:pt x="158710" y="30163"/>
                  </a:cubicBezTo>
                  <a:lnTo>
                    <a:pt x="158750" y="31750"/>
                  </a:lnTo>
                  <a:lnTo>
                    <a:pt x="158750" y="107831"/>
                  </a:lnTo>
                  <a:lnTo>
                    <a:pt x="132612" y="81701"/>
                  </a:lnTo>
                  <a:lnTo>
                    <a:pt x="131421" y="80613"/>
                  </a:lnTo>
                  <a:cubicBezTo>
                    <a:pt x="121452" y="71922"/>
                    <a:pt x="108799" y="71906"/>
                    <a:pt x="98909" y="80478"/>
                  </a:cubicBezTo>
                  <a:lnTo>
                    <a:pt x="97687" y="81590"/>
                  </a:lnTo>
                  <a:lnTo>
                    <a:pt x="95250" y="84018"/>
                  </a:lnTo>
                  <a:lnTo>
                    <a:pt x="77049" y="65826"/>
                  </a:lnTo>
                  <a:lnTo>
                    <a:pt x="75859" y="64738"/>
                  </a:lnTo>
                  <a:cubicBezTo>
                    <a:pt x="65889" y="56047"/>
                    <a:pt x="53237" y="56031"/>
                    <a:pt x="43347" y="64603"/>
                  </a:cubicBezTo>
                  <a:lnTo>
                    <a:pt x="42124" y="65715"/>
                  </a:lnTo>
                  <a:lnTo>
                    <a:pt x="0" y="107831"/>
                  </a:lnTo>
                  <a:lnTo>
                    <a:pt x="0" y="31750"/>
                  </a:lnTo>
                  <a:cubicBezTo>
                    <a:pt x="0" y="14832"/>
                    <a:pt x="13266" y="886"/>
                    <a:pt x="30163" y="40"/>
                  </a:cubicBezTo>
                  <a:lnTo>
                    <a:pt x="31750" y="0"/>
                  </a:lnTo>
                  <a:lnTo>
                    <a:pt x="127000" y="0"/>
                  </a:lnTo>
                  <a:close/>
                  <a:moveTo>
                    <a:pt x="103267" y="39688"/>
                  </a:moveTo>
                  <a:lnTo>
                    <a:pt x="102259" y="39743"/>
                  </a:lnTo>
                  <a:cubicBezTo>
                    <a:pt x="98266" y="40218"/>
                    <a:pt x="95259" y="43604"/>
                    <a:pt x="95259" y="47625"/>
                  </a:cubicBezTo>
                  <a:cubicBezTo>
                    <a:pt x="95259" y="51646"/>
                    <a:pt x="98266" y="55032"/>
                    <a:pt x="102259" y="55507"/>
                  </a:cubicBezTo>
                  <a:lnTo>
                    <a:pt x="103188" y="55563"/>
                  </a:lnTo>
                  <a:lnTo>
                    <a:pt x="104196" y="55507"/>
                  </a:lnTo>
                  <a:cubicBezTo>
                    <a:pt x="108189" y="55032"/>
                    <a:pt x="111196" y="51646"/>
                    <a:pt x="111196" y="47625"/>
                  </a:cubicBezTo>
                  <a:cubicBezTo>
                    <a:pt x="111196" y="43604"/>
                    <a:pt x="108189" y="40218"/>
                    <a:pt x="104196" y="39743"/>
                  </a:cubicBezTo>
                  <a:lnTo>
                    <a:pt x="103267" y="39688"/>
                  </a:lnTo>
                  <a:close/>
                </a:path>
              </a:pathLst>
            </a:custGeom>
            <a:solidFill>
              <a:srgbClr val="2B583E"/>
            </a:solidFill>
            <a:ln>
              <a:noFill/>
            </a:ln>
          </p:spPr>
        </p:sp>
        <p:sp>
          <p:nvSpPr>
            <p:cNvPr id="28" name="TextBox 28"/>
            <p:cNvSpPr txBox="1"/>
            <p:nvPr/>
          </p:nvSpPr>
          <p:spPr>
            <a:xfrm>
              <a:off x="5080635" y="3328035"/>
              <a:ext cx="2091538"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2. Tauri 客户端体验补全</a:t>
              </a:r>
            </a:p>
          </p:txBody>
        </p:sp>
        <p:sp>
          <p:nvSpPr>
            <p:cNvPr id="29" name="TextBox 29"/>
            <p:cNvSpPr txBox="1"/>
            <p:nvPr/>
          </p:nvSpPr>
          <p:spPr>
            <a:xfrm>
              <a:off x="4606290" y="3791902"/>
              <a:ext cx="2257949"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视觉护眼深色模式</a:t>
              </a:r>
              <a:r>
                <a:rPr lang="zh-CN" sz="1050" dirty="0">
                  <a:solidFill>
                    <a:srgbClr val="4D5F54"/>
                  </a:solidFill>
                  <a:latin typeface="Plus Jakarta Sans"/>
                  <a:ea typeface="Microsoft YaHei"/>
                  <a:cs typeface="Plus Jakarta Sans"/>
                </a:rPr>
                <a:t>：全方位重构</a:t>
              </a:r>
            </a:p>
          </p:txBody>
        </p:sp>
        <p:sp>
          <p:nvSpPr>
            <p:cNvPr id="30" name="TextBox 30"/>
            <p:cNvSpPr txBox="1"/>
            <p:nvPr/>
          </p:nvSpPr>
          <p:spPr>
            <a:xfrm>
              <a:off x="4606290" y="4020502"/>
              <a:ext cx="2349960"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Tailwind 配置，落地完美无缝切换</a:t>
              </a:r>
            </a:p>
          </p:txBody>
        </p:sp>
        <p:sp>
          <p:nvSpPr>
            <p:cNvPr id="31" name="TextBox 31"/>
            <p:cNvSpPr txBox="1"/>
            <p:nvPr/>
          </p:nvSpPr>
          <p:spPr>
            <a:xfrm>
              <a:off x="4606290" y="4249102"/>
              <a:ext cx="232695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的深色模式，符合夜间查看习惯。</a:t>
              </a:r>
            </a:p>
          </p:txBody>
        </p:sp>
        <p:sp>
          <p:nvSpPr>
            <p:cNvPr id="32" name="TextBox 32"/>
            <p:cNvSpPr txBox="1"/>
            <p:nvPr/>
          </p:nvSpPr>
          <p:spPr>
            <a:xfrm>
              <a:off x="4606290" y="4515802"/>
              <a:ext cx="210459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传感器趋势图表与管理</a:t>
              </a:r>
              <a:r>
                <a:rPr lang="zh-CN" sz="1050" dirty="0">
                  <a:solidFill>
                    <a:srgbClr val="4D5F54"/>
                  </a:solidFill>
                  <a:latin typeface="Plus Jakarta Sans"/>
                  <a:ea typeface="Microsoft YaHei"/>
                  <a:cs typeface="Plus Jakarta Sans"/>
                </a:rPr>
                <a:t>：接入</a:t>
              </a:r>
            </a:p>
          </p:txBody>
        </p:sp>
        <p:sp>
          <p:nvSpPr>
            <p:cNvPr id="33" name="TextBox 33"/>
            <p:cNvSpPr txBox="1"/>
            <p:nvPr/>
          </p:nvSpPr>
          <p:spPr>
            <a:xfrm>
              <a:off x="4606290" y="4744402"/>
              <a:ext cx="2173605"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精美的折线与趋势图，补齐头像</a:t>
              </a:r>
            </a:p>
          </p:txBody>
        </p:sp>
        <p:sp>
          <p:nvSpPr>
            <p:cNvPr id="34" name="TextBox 34"/>
            <p:cNvSpPr txBox="1"/>
            <p:nvPr/>
          </p:nvSpPr>
          <p:spPr>
            <a:xfrm>
              <a:off x="4606290" y="4973002"/>
              <a:ext cx="219660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裁剪以及主动提醒阈值管理 UI。</a:t>
              </a:r>
            </a:p>
          </p:txBody>
        </p:sp>
      </p:grpSp>
      <p:grpSp>
        <p:nvGrpSpPr>
          <p:cNvPr id="46" name="Group 46"/>
          <p:cNvGrpSpPr/>
          <p:nvPr/>
        </p:nvGrpSpPr>
        <p:grpSpPr>
          <a:xfrm>
            <a:off x="8096250" y="2857500"/>
            <a:ext cx="3524250" cy="2857500"/>
            <a:chOff x="8096250" y="2857500"/>
            <a:chExt cx="3524250" cy="2857500"/>
          </a:xfrm>
        </p:grpSpPr>
        <p:sp>
          <p:nvSpPr>
            <p:cNvPr id="36" name="Freeform 36"/>
            <p:cNvSpPr/>
            <p:nvPr/>
          </p:nvSpPr>
          <p:spPr>
            <a:xfrm>
              <a:off x="8096250" y="2857500"/>
              <a:ext cx="3524250" cy="2857500"/>
            </a:xfrm>
            <a:custGeom>
              <a:avLst/>
              <a:gdLst/>
              <a:ahLst/>
              <a:cxnLst/>
              <a:rect l="l" t="t" r="r" b="b"/>
              <a:pathLst>
                <a:path w="3524250" h="2857500">
                  <a:moveTo>
                    <a:pt x="114300" y="0"/>
                  </a:moveTo>
                  <a:lnTo>
                    <a:pt x="3409950" y="0"/>
                  </a:lnTo>
                  <a:cubicBezTo>
                    <a:pt x="3473076" y="0"/>
                    <a:pt x="3524250" y="51174"/>
                    <a:pt x="3524250" y="114300"/>
                  </a:cubicBezTo>
                  <a:lnTo>
                    <a:pt x="3524250" y="2743200"/>
                  </a:lnTo>
                  <a:cubicBezTo>
                    <a:pt x="3524250" y="2806326"/>
                    <a:pt x="3473076" y="2857500"/>
                    <a:pt x="3409950" y="2857500"/>
                  </a:cubicBezTo>
                  <a:lnTo>
                    <a:pt x="114300" y="2857500"/>
                  </a:lnTo>
                  <a:cubicBezTo>
                    <a:pt x="51174" y="2857500"/>
                    <a:pt x="0" y="2806326"/>
                    <a:pt x="0" y="2743200"/>
                  </a:cubicBezTo>
                  <a:lnTo>
                    <a:pt x="0" y="114300"/>
                  </a:lnTo>
                  <a:cubicBezTo>
                    <a:pt x="0" y="51174"/>
                    <a:pt x="51174" y="0"/>
                    <a:pt x="114300" y="0"/>
                  </a:cubicBezTo>
                  <a:close/>
                </a:path>
              </a:pathLst>
            </a:custGeom>
            <a:solidFill>
              <a:srgbClr val="FFFFFF"/>
            </a:solidFill>
            <a:ln w="14288">
              <a:solidFill>
                <a:srgbClr val="D1DAD4"/>
              </a:solidFill>
            </a:ln>
          </p:spPr>
        </p:sp>
        <p:sp>
          <p:nvSpPr>
            <p:cNvPr id="37" name="Freeform 37"/>
            <p:cNvSpPr/>
            <p:nvPr/>
          </p:nvSpPr>
          <p:spPr>
            <a:xfrm>
              <a:off x="8096250" y="2857500"/>
              <a:ext cx="3524250" cy="142875"/>
            </a:xfrm>
            <a:custGeom>
              <a:avLst/>
              <a:gdLst/>
              <a:ahLst/>
              <a:cxnLst/>
              <a:rect l="l" t="t" r="r" b="b"/>
              <a:pathLst>
                <a:path w="3524250" h="142875">
                  <a:moveTo>
                    <a:pt x="0" y="114300"/>
                  </a:moveTo>
                  <a:cubicBezTo>
                    <a:pt x="0" y="51174"/>
                    <a:pt x="51174" y="0"/>
                    <a:pt x="114300" y="0"/>
                  </a:cubicBezTo>
                  <a:lnTo>
                    <a:pt x="3409950" y="0"/>
                  </a:lnTo>
                  <a:cubicBezTo>
                    <a:pt x="3473076" y="0"/>
                    <a:pt x="3524250" y="51174"/>
                    <a:pt x="3524250" y="114300"/>
                  </a:cubicBezTo>
                  <a:lnTo>
                    <a:pt x="3524250" y="142875"/>
                  </a:lnTo>
                  <a:lnTo>
                    <a:pt x="0" y="142875"/>
                  </a:lnTo>
                  <a:close/>
                </a:path>
              </a:pathLst>
            </a:custGeom>
            <a:solidFill>
              <a:srgbClr val="DDA43B"/>
            </a:solidFill>
            <a:ln>
              <a:noFill/>
            </a:ln>
          </p:spPr>
        </p:sp>
        <p:sp>
          <p:nvSpPr>
            <p:cNvPr id="38" name="Freeform 38"/>
            <p:cNvSpPr/>
            <p:nvPr/>
          </p:nvSpPr>
          <p:spPr>
            <a:xfrm>
              <a:off x="8382000" y="3238500"/>
              <a:ext cx="342900" cy="342900"/>
            </a:xfrm>
            <a:custGeom>
              <a:avLst/>
              <a:gdLst/>
              <a:ahLst/>
              <a:cxnLst/>
              <a:rect l="l" t="t" r="r" b="b"/>
              <a:pathLst>
                <a:path w="342900" h="342900">
                  <a:moveTo>
                    <a:pt x="171450" y="0"/>
                  </a:moveTo>
                  <a:lnTo>
                    <a:pt x="171450" y="0"/>
                  </a:lnTo>
                  <a:cubicBezTo>
                    <a:pt x="266139" y="0"/>
                    <a:pt x="342900" y="76761"/>
                    <a:pt x="342900" y="171450"/>
                  </a:cubicBezTo>
                  <a:lnTo>
                    <a:pt x="342900" y="171450"/>
                  </a:lnTo>
                  <a:cubicBezTo>
                    <a:pt x="342900" y="266139"/>
                    <a:pt x="266139" y="342900"/>
                    <a:pt x="171450" y="342900"/>
                  </a:cubicBezTo>
                  <a:lnTo>
                    <a:pt x="171450" y="342900"/>
                  </a:lnTo>
                  <a:cubicBezTo>
                    <a:pt x="76761" y="342900"/>
                    <a:pt x="0" y="266139"/>
                    <a:pt x="0" y="171450"/>
                  </a:cubicBezTo>
                  <a:lnTo>
                    <a:pt x="0" y="171450"/>
                  </a:lnTo>
                  <a:cubicBezTo>
                    <a:pt x="0" y="76761"/>
                    <a:pt x="76761" y="0"/>
                    <a:pt x="171450" y="0"/>
                  </a:cubicBezTo>
                  <a:close/>
                </a:path>
              </a:pathLst>
            </a:custGeom>
            <a:solidFill>
              <a:srgbClr val="DDA43B">
                <a:alpha val="8000"/>
              </a:srgbClr>
            </a:solidFill>
            <a:ln>
              <a:noFill/>
            </a:ln>
          </p:spPr>
        </p:sp>
        <p:sp>
          <p:nvSpPr>
            <p:cNvPr id="39" name="TextBox 39"/>
            <p:cNvSpPr txBox="1"/>
            <p:nvPr/>
          </p:nvSpPr>
          <p:spPr>
            <a:xfrm>
              <a:off x="8843010" y="3328035"/>
              <a:ext cx="1944319" cy="243840"/>
            </a:xfrm>
            <a:prstGeom prst="rect">
              <a:avLst/>
            </a:prstGeom>
            <a:noFill/>
            <a:ln>
              <a:noFill/>
            </a:ln>
          </p:spPr>
          <p:txBody>
            <a:bodyPr wrap="none" lIns="0" tIns="0" rIns="0" bIns="0" anchor="t" anchorCtr="0">
              <a:spAutoFit/>
            </a:bodyPr>
            <a:lstStyle/>
            <a:p>
              <a:pPr algn="l"/>
              <a:r>
                <a:rPr lang="zh-CN" sz="1200" b="1" dirty="0">
                  <a:solidFill>
                    <a:srgbClr val="1C2E24"/>
                  </a:solidFill>
                  <a:latin typeface="Quicksand"/>
                  <a:ea typeface="Microsoft YaHei"/>
                  <a:cs typeface="Quicksand"/>
                </a:rPr>
                <a:t>3. 记忆系统与语料压测</a:t>
              </a:r>
            </a:p>
          </p:txBody>
        </p:sp>
        <p:sp>
          <p:nvSpPr>
            <p:cNvPr id="40" name="TextBox 40"/>
            <p:cNvSpPr txBox="1"/>
            <p:nvPr/>
          </p:nvSpPr>
          <p:spPr>
            <a:xfrm>
              <a:off x="8368665" y="3791902"/>
              <a:ext cx="2257949"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端侧本地大模型降维</a:t>
              </a:r>
              <a:r>
                <a:rPr lang="zh-CN" sz="1050" dirty="0">
                  <a:solidFill>
                    <a:srgbClr val="4D5F54"/>
                  </a:solidFill>
                  <a:latin typeface="Plus Jakarta Sans"/>
                  <a:ea typeface="Microsoft YaHei"/>
                  <a:cs typeface="Plus Jakarta Sans"/>
                </a:rPr>
                <a:t>：积极尝试</a:t>
              </a:r>
            </a:p>
          </p:txBody>
        </p:sp>
        <p:sp>
          <p:nvSpPr>
            <p:cNvPr id="41" name="TextBox 41"/>
            <p:cNvSpPr txBox="1"/>
            <p:nvPr/>
          </p:nvSpPr>
          <p:spPr>
            <a:xfrm>
              <a:off x="8368665" y="4020502"/>
              <a:ext cx="2434304"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在树莓派/边缘计算端部署轻量 LLM</a:t>
              </a:r>
            </a:p>
          </p:txBody>
        </p:sp>
        <p:sp>
          <p:nvSpPr>
            <p:cNvPr id="42" name="TextBox 42"/>
            <p:cNvSpPr txBox="1"/>
            <p:nvPr/>
          </p:nvSpPr>
          <p:spPr>
            <a:xfrm>
              <a:off x="8368665" y="4249102"/>
              <a:ext cx="232695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，提供本地无网高共情响应兜底。</a:t>
              </a:r>
            </a:p>
          </p:txBody>
        </p:sp>
        <p:sp>
          <p:nvSpPr>
            <p:cNvPr id="43" name="TextBox 43"/>
            <p:cNvSpPr txBox="1"/>
            <p:nvPr/>
          </p:nvSpPr>
          <p:spPr>
            <a:xfrm>
              <a:off x="8368665" y="4515802"/>
              <a:ext cx="2104596"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a:t>
              </a:r>
              <a:r>
                <a:rPr lang="zh-CN" sz="1050" b="1" dirty="0">
                  <a:solidFill>
                    <a:srgbClr val="1C2E24"/>
                  </a:solidFill>
                  <a:latin typeface="Plus Jakarta Sans"/>
                  <a:ea typeface="Microsoft YaHei"/>
                  <a:cs typeface="Plus Jakarta Sans"/>
                </a:rPr>
                <a:t>长尾真实养护压测</a:t>
              </a:r>
              <a:r>
                <a:rPr lang="zh-CN" sz="1050" dirty="0">
                  <a:solidFill>
                    <a:srgbClr val="4D5F54"/>
                  </a:solidFill>
                  <a:latin typeface="Plus Jakarta Sans"/>
                  <a:ea typeface="Microsoft YaHei"/>
                  <a:cs typeface="Plus Jakarta Sans"/>
                </a:rPr>
                <a:t>：使用极其</a:t>
              </a:r>
            </a:p>
          </p:txBody>
        </p:sp>
        <p:sp>
          <p:nvSpPr>
            <p:cNvPr id="44" name="TextBox 44"/>
            <p:cNvSpPr txBox="1"/>
            <p:nvPr/>
          </p:nvSpPr>
          <p:spPr>
            <a:xfrm>
              <a:off x="8368665" y="4744402"/>
              <a:ext cx="2326958"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丰富的长尾植物真实习性资料语料</a:t>
              </a:r>
            </a:p>
          </p:txBody>
        </p:sp>
        <p:sp>
          <p:nvSpPr>
            <p:cNvPr id="45" name="TextBox 45"/>
            <p:cNvSpPr txBox="1"/>
            <p:nvPr/>
          </p:nvSpPr>
          <p:spPr>
            <a:xfrm>
              <a:off x="8368665" y="4973002"/>
              <a:ext cx="2909697" cy="213360"/>
            </a:xfrm>
            <a:prstGeom prst="rect">
              <a:avLst/>
            </a:prstGeom>
            <a:noFill/>
            <a:ln>
              <a:noFill/>
            </a:ln>
          </p:spPr>
          <p:txBody>
            <a:bodyPr wrap="none" lIns="0" tIns="0" rIns="0" bIns="0" anchor="t" anchorCtr="0">
              <a:spAutoFit/>
            </a:bodyPr>
            <a:lstStyle/>
            <a:p>
              <a:pPr algn="l"/>
              <a:r>
                <a:rPr lang="zh-CN" sz="1050" dirty="0">
                  <a:solidFill>
                    <a:srgbClr val="4D5F54"/>
                  </a:solidFill>
                  <a:latin typeface="Plus Jakarta Sans"/>
                  <a:ea typeface="Microsoft YaHei"/>
                  <a:cs typeface="Plus Jakarta Sans"/>
                </a:rPr>
                <a:t>压测主动发言 Prompt，确发言的合理性。</a:t>
              </a:r>
            </a:p>
          </p:txBody>
        </p:sp>
      </p:grpSp>
      <p:grpSp>
        <p:nvGrpSpPr>
          <p:cNvPr id="49" name="Group 49"/>
          <p:cNvGrpSpPr/>
          <p:nvPr/>
        </p:nvGrpSpPr>
        <p:grpSpPr>
          <a:xfrm>
            <a:off x="561975" y="6443662"/>
            <a:ext cx="10877550" cy="152400"/>
            <a:chOff x="561975" y="6443662"/>
            <a:chExt cx="10877550" cy="152400"/>
          </a:xfrm>
        </p:grpSpPr>
        <p:sp>
          <p:nvSpPr>
            <p:cNvPr id="47" name="TextBox 47"/>
            <p:cNvSpPr txBox="1"/>
            <p:nvPr/>
          </p:nvSpPr>
          <p:spPr>
            <a:xfrm>
              <a:off x="561975" y="6443662"/>
              <a:ext cx="1448514" cy="152400"/>
            </a:xfrm>
            <a:prstGeom prst="rect">
              <a:avLst/>
            </a:prstGeom>
            <a:noFill/>
            <a:ln>
              <a:noFill/>
            </a:ln>
          </p:spPr>
          <p:txBody>
            <a:bodyPr wrap="none" lIns="0" tIns="0" rIns="0" bIns="0" anchor="t" anchorCtr="0">
              <a:spAutoFit/>
            </a:bodyPr>
            <a:lstStyle/>
            <a:p>
              <a:pPr algn="l"/>
              <a:r>
                <a:rPr lang="zh-CN" sz="750" dirty="0">
                  <a:solidFill>
                    <a:srgbClr val="809085"/>
                  </a:solidFill>
                  <a:latin typeface="Plus Jakarta Sans"/>
                  <a:ea typeface="Microsoft YaHei"/>
                  <a:cs typeface="Plus Jakarta Sans"/>
                </a:rPr>
                <a:t>DYN Plant Pal | 期末项目答辩</a:t>
              </a:r>
            </a:p>
          </p:txBody>
        </p:sp>
        <p:sp>
          <p:nvSpPr>
            <p:cNvPr id="48" name="TextBox 48"/>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solidFill>
                  <a:latin typeface="Plus Jakarta Sans"/>
                  <a:ea typeface="Microsoft YaHei"/>
                  <a:cs typeface="Plus Jakarta Sans"/>
                </a:rPr>
                <a:t>16</a:t>
              </a:r>
            </a:p>
          </p:txBody>
        </p:sp>
      </p:grpSp>
    </p:spTree>
  </p:cSld>
  <p:clrMapOvr>
    <a:masterClrMapping/>
  </p:clrMapOvr>
  <p:transition 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3C6D52"/>
              </a:gs>
              <a:gs pos="60000">
                <a:srgbClr val="2B583E"/>
              </a:gs>
              <a:gs pos="100000">
                <a:srgbClr val="1A3E2A"/>
              </a:gs>
            </a:gsLst>
            <a:path path="circle">
              <a:fillToRect l="50000" t="50000" r="50000" b="50000"/>
            </a:path>
          </a:gradFill>
          <a:ln>
            <a:noFill/>
          </a:ln>
        </p:spPr>
      </p:sp>
      <p:grpSp>
        <p:nvGrpSpPr>
          <p:cNvPr id="11" name="Group 11"/>
          <p:cNvGrpSpPr/>
          <p:nvPr/>
        </p:nvGrpSpPr>
        <p:grpSpPr>
          <a:xfrm>
            <a:off x="3640693" y="1828800"/>
            <a:ext cx="4910614" cy="3552825"/>
            <a:chOff x="3640693" y="1828800"/>
            <a:chExt cx="4910614" cy="3552825"/>
          </a:xfrm>
        </p:grpSpPr>
        <p:sp>
          <p:nvSpPr>
            <p:cNvPr id="3" name="Ellipse 3"/>
            <p:cNvSpPr/>
            <p:nvPr/>
          </p:nvSpPr>
          <p:spPr>
            <a:xfrm>
              <a:off x="5638800" y="1828800"/>
              <a:ext cx="914400" cy="914400"/>
            </a:xfrm>
            <a:prstGeom prst="ellipse">
              <a:avLst/>
            </a:prstGeom>
            <a:solidFill>
              <a:srgbClr val="FFFFFF">
                <a:alpha val="10000"/>
              </a:srgbClr>
            </a:solidFill>
            <a:ln>
              <a:noFill/>
            </a:ln>
          </p:spPr>
        </p:sp>
        <p:sp>
          <p:nvSpPr>
            <p:cNvPr id="4" name="Freeform 4"/>
            <p:cNvSpPr/>
            <p:nvPr/>
          </p:nvSpPr>
          <p:spPr>
            <a:xfrm>
              <a:off x="5866959" y="2057400"/>
              <a:ext cx="457641" cy="484108"/>
            </a:xfrm>
            <a:custGeom>
              <a:avLst/>
              <a:gdLst/>
              <a:ahLst/>
              <a:cxnLst/>
              <a:rect l="l" t="t" r="r" b="b"/>
              <a:pathLst>
                <a:path w="457641" h="484108">
                  <a:moveTo>
                    <a:pt x="1838" y="287731"/>
                  </a:moveTo>
                  <a:lnTo>
                    <a:pt x="1381" y="283464"/>
                  </a:lnTo>
                  <a:lnTo>
                    <a:pt x="1280" y="282372"/>
                  </a:lnTo>
                  <a:cubicBezTo>
                    <a:pt x="398" y="272916"/>
                    <a:pt x="0" y="263421"/>
                    <a:pt x="86" y="253924"/>
                  </a:cubicBezTo>
                  <a:cubicBezTo>
                    <a:pt x="543" y="94158"/>
                    <a:pt x="109052" y="0"/>
                    <a:pt x="330286" y="0"/>
                  </a:cubicBezTo>
                  <a:lnTo>
                    <a:pt x="432241" y="0"/>
                  </a:lnTo>
                  <a:cubicBezTo>
                    <a:pt x="446269" y="0"/>
                    <a:pt x="457641" y="11372"/>
                    <a:pt x="457641" y="25400"/>
                  </a:cubicBezTo>
                  <a:lnTo>
                    <a:pt x="457591" y="77648"/>
                  </a:lnTo>
                  <a:cubicBezTo>
                    <a:pt x="444941" y="298653"/>
                    <a:pt x="337195" y="406400"/>
                    <a:pt x="152841" y="406400"/>
                  </a:cubicBezTo>
                  <a:lnTo>
                    <a:pt x="86014" y="406400"/>
                  </a:lnTo>
                  <a:cubicBezTo>
                    <a:pt x="81645" y="424032"/>
                    <a:pt x="78463" y="441937"/>
                    <a:pt x="76489" y="459994"/>
                  </a:cubicBezTo>
                  <a:cubicBezTo>
                    <a:pt x="75491" y="469014"/>
                    <a:pt x="69756" y="476816"/>
                    <a:pt x="61446" y="480462"/>
                  </a:cubicBezTo>
                  <a:cubicBezTo>
                    <a:pt x="53135" y="484108"/>
                    <a:pt x="43510" y="483043"/>
                    <a:pt x="36198" y="477668"/>
                  </a:cubicBezTo>
                  <a:cubicBezTo>
                    <a:pt x="28885" y="472294"/>
                    <a:pt x="24996" y="463426"/>
                    <a:pt x="25994" y="454406"/>
                  </a:cubicBezTo>
                  <a:cubicBezTo>
                    <a:pt x="28940" y="427855"/>
                    <a:pt x="33851" y="402903"/>
                    <a:pt x="40726" y="379552"/>
                  </a:cubicBezTo>
                  <a:lnTo>
                    <a:pt x="37729" y="375844"/>
                  </a:lnTo>
                  <a:lnTo>
                    <a:pt x="32445" y="368732"/>
                  </a:lnTo>
                  <a:lnTo>
                    <a:pt x="28458" y="362915"/>
                  </a:lnTo>
                  <a:lnTo>
                    <a:pt x="23835" y="355473"/>
                  </a:lnTo>
                  <a:lnTo>
                    <a:pt x="21346" y="351130"/>
                  </a:lnTo>
                  <a:lnTo>
                    <a:pt x="19695" y="348031"/>
                  </a:lnTo>
                  <a:cubicBezTo>
                    <a:pt x="15660" y="340365"/>
                    <a:pt x="12287" y="332369"/>
                    <a:pt x="9611" y="324129"/>
                  </a:cubicBezTo>
                  <a:lnTo>
                    <a:pt x="7782" y="318110"/>
                  </a:lnTo>
                  <a:lnTo>
                    <a:pt x="5623" y="309804"/>
                  </a:lnTo>
                  <a:lnTo>
                    <a:pt x="4175" y="302997"/>
                  </a:lnTo>
                  <a:lnTo>
                    <a:pt x="3083" y="296850"/>
                  </a:lnTo>
                  <a:close/>
                  <a:moveTo>
                    <a:pt x="218729" y="179984"/>
                  </a:moveTo>
                  <a:cubicBezTo>
                    <a:pt x="146466" y="212115"/>
                    <a:pt x="95437" y="259486"/>
                    <a:pt x="63586" y="321793"/>
                  </a:cubicBezTo>
                  <a:cubicBezTo>
                    <a:pt x="65245" y="325179"/>
                    <a:pt x="67091" y="328566"/>
                    <a:pt x="69123" y="331953"/>
                  </a:cubicBezTo>
                  <a:lnTo>
                    <a:pt x="73822" y="339090"/>
                  </a:lnTo>
                  <a:lnTo>
                    <a:pt x="75600" y="341554"/>
                  </a:lnTo>
                  <a:cubicBezTo>
                    <a:pt x="77632" y="344331"/>
                    <a:pt x="79816" y="347116"/>
                    <a:pt x="82153" y="349910"/>
                  </a:cubicBezTo>
                  <a:lnTo>
                    <a:pt x="87157" y="355600"/>
                  </a:lnTo>
                  <a:lnTo>
                    <a:pt x="103642" y="355600"/>
                  </a:lnTo>
                  <a:cubicBezTo>
                    <a:pt x="129981" y="297917"/>
                    <a:pt x="174177" y="255372"/>
                    <a:pt x="239354" y="226416"/>
                  </a:cubicBezTo>
                  <a:cubicBezTo>
                    <a:pt x="252175" y="220720"/>
                    <a:pt x="257952" y="205709"/>
                    <a:pt x="252257" y="192888"/>
                  </a:cubicBezTo>
                  <a:cubicBezTo>
                    <a:pt x="246562" y="180066"/>
                    <a:pt x="231551" y="174289"/>
                    <a:pt x="218729" y="179984"/>
                  </a:cubicBezTo>
                </a:path>
              </a:pathLst>
            </a:custGeom>
            <a:solidFill>
              <a:srgbClr val="F2C165"/>
            </a:solidFill>
            <a:ln>
              <a:noFill/>
            </a:ln>
          </p:spPr>
        </p:sp>
        <p:sp>
          <p:nvSpPr>
            <p:cNvPr id="5" name="TextBox 5"/>
            <p:cNvSpPr txBox="1"/>
            <p:nvPr/>
          </p:nvSpPr>
          <p:spPr>
            <a:xfrm>
              <a:off x="3640693" y="3088958"/>
              <a:ext cx="4910614" cy="640080"/>
            </a:xfrm>
            <a:prstGeom prst="rect">
              <a:avLst/>
            </a:prstGeom>
            <a:noFill/>
            <a:ln>
              <a:noFill/>
            </a:ln>
          </p:spPr>
          <p:txBody>
            <a:bodyPr wrap="none" lIns="0" tIns="0" rIns="0" bIns="0" anchor="t" anchorCtr="0">
              <a:spAutoFit/>
            </a:bodyPr>
            <a:lstStyle/>
            <a:p>
              <a:pPr algn="ctr"/>
              <a:r>
                <a:rPr lang="zh-CN" sz="3150" b="1" dirty="0">
                  <a:solidFill>
                    <a:srgbClr val="FFFFFF"/>
                  </a:solidFill>
                  <a:latin typeface="Quicksand"/>
                  <a:ea typeface="Microsoft YaHei"/>
                  <a:cs typeface="Quicksand"/>
                </a:rPr>
                <a:t>与植物一起，静静呼吸</a:t>
              </a:r>
            </a:p>
          </p:txBody>
        </p:sp>
        <p:sp>
          <p:nvSpPr>
            <p:cNvPr id="6" name="Line 6"/>
            <p:cNvSpPr/>
            <p:nvPr/>
          </p:nvSpPr>
          <p:spPr>
            <a:xfrm>
              <a:off x="4191000" y="3762375"/>
              <a:ext cx="3810000" cy="9525"/>
            </a:xfrm>
            <a:custGeom>
              <a:avLst/>
              <a:gdLst/>
              <a:ahLst/>
              <a:cxnLst/>
              <a:rect l="l" t="t" r="r" b="b"/>
              <a:pathLst>
                <a:path w="3810000" h="9525">
                  <a:moveTo>
                    <a:pt x="0" y="0"/>
                  </a:moveTo>
                  <a:lnTo>
                    <a:pt x="3810000" y="0"/>
                  </a:lnTo>
                </a:path>
              </a:pathLst>
            </a:custGeom>
            <a:noFill/>
            <a:ln w="19050">
              <a:solidFill>
                <a:srgbClr val="F2C165">
                  <a:alpha val="60000"/>
                </a:srgbClr>
              </a:solidFill>
            </a:ln>
          </p:spPr>
        </p:sp>
        <p:sp>
          <p:nvSpPr>
            <p:cNvPr id="7" name="TextBox 7"/>
            <p:cNvSpPr txBox="1"/>
            <p:nvPr/>
          </p:nvSpPr>
          <p:spPr>
            <a:xfrm>
              <a:off x="4120376" y="4060508"/>
              <a:ext cx="3951249" cy="335280"/>
            </a:xfrm>
            <a:prstGeom prst="rect">
              <a:avLst/>
            </a:prstGeom>
            <a:noFill/>
            <a:ln>
              <a:noFill/>
            </a:ln>
          </p:spPr>
          <p:txBody>
            <a:bodyPr wrap="none" lIns="0" tIns="0" rIns="0" bIns="0" anchor="t" anchorCtr="0">
              <a:spAutoFit/>
            </a:bodyPr>
            <a:lstStyle/>
            <a:p>
              <a:pPr algn="ctr"/>
              <a:r>
                <a:rPr lang="zh-CN" sz="1650" b="1" dirty="0">
                  <a:solidFill>
                    <a:srgbClr val="D1DAD4"/>
                  </a:solidFill>
                  <a:latin typeface="Plus Jakarta Sans"/>
                  <a:ea typeface="Microsoft YaHei"/>
                  <a:cs typeface="Plus Jakarta Sans"/>
                </a:rPr>
                <a:t>DYN Plant Pal 感谢您的聆听与指导</a:t>
              </a:r>
            </a:p>
          </p:txBody>
        </p:sp>
        <p:grpSp>
          <p:nvGrpSpPr>
            <p:cNvPr id="10" name="Group 10"/>
            <p:cNvGrpSpPr/>
            <p:nvPr/>
          </p:nvGrpSpPr>
          <p:grpSpPr>
            <a:xfrm>
              <a:off x="4381500" y="4762500"/>
              <a:ext cx="3429000" cy="619125"/>
              <a:chOff x="4381500" y="4762500"/>
              <a:chExt cx="3429000" cy="619125"/>
            </a:xfrm>
          </p:grpSpPr>
          <p:sp>
            <p:nvSpPr>
              <p:cNvPr id="8" name="Freeform 8"/>
              <p:cNvSpPr/>
              <p:nvPr/>
            </p:nvSpPr>
            <p:spPr>
              <a:xfrm>
                <a:off x="4381500" y="4762500"/>
                <a:ext cx="3429000" cy="619125"/>
              </a:xfrm>
              <a:custGeom>
                <a:avLst/>
                <a:gdLst/>
                <a:ahLst/>
                <a:cxnLst/>
                <a:rect l="l" t="t" r="r" b="b"/>
                <a:pathLst>
                  <a:path w="3429000" h="619125">
                    <a:moveTo>
                      <a:pt x="76200" y="0"/>
                    </a:moveTo>
                    <a:lnTo>
                      <a:pt x="3352800" y="0"/>
                    </a:lnTo>
                    <a:cubicBezTo>
                      <a:pt x="3394884" y="0"/>
                      <a:pt x="3429000" y="34116"/>
                      <a:pt x="3429000" y="76200"/>
                    </a:cubicBezTo>
                    <a:lnTo>
                      <a:pt x="3429000" y="542925"/>
                    </a:lnTo>
                    <a:cubicBezTo>
                      <a:pt x="3429000" y="585009"/>
                      <a:pt x="3394884" y="619125"/>
                      <a:pt x="3352800" y="619125"/>
                    </a:cubicBezTo>
                    <a:lnTo>
                      <a:pt x="76200" y="619125"/>
                    </a:lnTo>
                    <a:cubicBezTo>
                      <a:pt x="34116" y="619125"/>
                      <a:pt x="0" y="585009"/>
                      <a:pt x="0" y="542925"/>
                    </a:cubicBezTo>
                    <a:lnTo>
                      <a:pt x="0" y="76200"/>
                    </a:lnTo>
                    <a:cubicBezTo>
                      <a:pt x="0" y="34116"/>
                      <a:pt x="34116" y="0"/>
                      <a:pt x="76200" y="0"/>
                    </a:cubicBezTo>
                    <a:close/>
                  </a:path>
                </a:pathLst>
              </a:custGeom>
              <a:solidFill>
                <a:srgbClr val="FFFFFF">
                  <a:alpha val="6000"/>
                </a:srgbClr>
              </a:solidFill>
              <a:ln w="9525">
                <a:solidFill>
                  <a:srgbClr val="FFFFFF">
                    <a:alpha val="10000"/>
                  </a:srgbClr>
                </a:solidFill>
              </a:ln>
            </p:spPr>
          </p:sp>
          <p:sp>
            <p:nvSpPr>
              <p:cNvPr id="9" name="TextBox 9"/>
              <p:cNvSpPr txBox="1"/>
              <p:nvPr/>
            </p:nvSpPr>
            <p:spPr>
              <a:xfrm>
                <a:off x="4590633" y="5003006"/>
                <a:ext cx="3010733" cy="228600"/>
              </a:xfrm>
              <a:prstGeom prst="rect">
                <a:avLst/>
              </a:prstGeom>
              <a:noFill/>
              <a:ln>
                <a:noFill/>
              </a:ln>
            </p:spPr>
            <p:txBody>
              <a:bodyPr wrap="none" lIns="0" tIns="0" rIns="0" bIns="0" anchor="t" anchorCtr="0">
                <a:spAutoFit/>
              </a:bodyPr>
              <a:lstStyle/>
              <a:p>
                <a:pPr algn="ctr"/>
                <a:r>
                  <a:rPr lang="zh-CN" sz="1125" dirty="0">
                    <a:solidFill>
                      <a:srgbClr val="D1DAD4"/>
                    </a:solidFill>
                    <a:latin typeface="Plus Jakarta Sans"/>
                    <a:ea typeface="Microsoft YaHei"/>
                    <a:cs typeface="Plus Jakarta Sans"/>
                  </a:rPr>
                  <a:t>小组成员：</a:t>
                </a:r>
                <a:r>
                  <a:rPr lang="zh-CN" sz="1125" b="1" dirty="0">
                    <a:solidFill>
                      <a:srgbClr val="FFFFFF"/>
                    </a:solidFill>
                    <a:latin typeface="Plus Jakarta Sans"/>
                    <a:ea typeface="Microsoft YaHei"/>
                    <a:cs typeface="Plus Jakarta Sans"/>
                  </a:rPr>
                  <a:t>邓雅宁、程宇择</a:t>
                </a:r>
                <a:r>
                  <a:rPr lang="zh-CN" sz="1125" dirty="0">
                    <a:solidFill>
                      <a:srgbClr val="D1DAD4"/>
                    </a:solidFill>
                    <a:latin typeface="Plus Jakarta Sans"/>
                    <a:ea typeface="Microsoft YaHei"/>
                    <a:cs typeface="Plus Jakarta Sans"/>
                  </a:rPr>
                  <a:t>| 智农 2501 班</a:t>
                </a:r>
              </a:p>
            </p:txBody>
          </p:sp>
        </p:grpSp>
      </p:grpSp>
      <p:grpSp>
        <p:nvGrpSpPr>
          <p:cNvPr id="14" name="Group 14"/>
          <p:cNvGrpSpPr/>
          <p:nvPr/>
        </p:nvGrpSpPr>
        <p:grpSpPr>
          <a:xfrm>
            <a:off x="561975" y="6443662"/>
            <a:ext cx="10877550" cy="152400"/>
            <a:chOff x="561975" y="6443662"/>
            <a:chExt cx="10877550" cy="152400"/>
          </a:xfrm>
        </p:grpSpPr>
        <p:sp>
          <p:nvSpPr>
            <p:cNvPr id="12" name="TextBox 12"/>
            <p:cNvSpPr txBox="1"/>
            <p:nvPr/>
          </p:nvSpPr>
          <p:spPr>
            <a:xfrm>
              <a:off x="561975" y="6443662"/>
              <a:ext cx="2007156" cy="152400"/>
            </a:xfrm>
            <a:prstGeom prst="rect">
              <a:avLst/>
            </a:prstGeom>
            <a:noFill/>
            <a:ln>
              <a:noFill/>
            </a:ln>
          </p:spPr>
          <p:txBody>
            <a:bodyPr wrap="none" lIns="0" tIns="0" rIns="0" bIns="0" anchor="t" anchorCtr="0">
              <a:spAutoFit/>
            </a:bodyPr>
            <a:lstStyle/>
            <a:p>
              <a:pPr algn="l"/>
              <a:r>
                <a:rPr lang="zh-CN" sz="750" dirty="0">
                  <a:solidFill>
                    <a:srgbClr val="809085">
                      <a:alpha val="50000"/>
                    </a:srgbClr>
                  </a:solidFill>
                  <a:latin typeface="Plus Jakarta Sans"/>
                  <a:ea typeface="Microsoft YaHei"/>
                  <a:cs typeface="Plus Jakarta Sans"/>
                </a:rPr>
                <a:t>DYN Plant Pal | Design by Verdant Echo</a:t>
              </a:r>
            </a:p>
          </p:txBody>
        </p:sp>
        <p:sp>
          <p:nvSpPr>
            <p:cNvPr id="13" name="TextBox 13"/>
            <p:cNvSpPr txBox="1"/>
            <p:nvPr/>
          </p:nvSpPr>
          <p:spPr>
            <a:xfrm>
              <a:off x="11327368" y="6443662"/>
              <a:ext cx="112157" cy="152400"/>
            </a:xfrm>
            <a:prstGeom prst="rect">
              <a:avLst/>
            </a:prstGeom>
            <a:noFill/>
            <a:ln>
              <a:noFill/>
            </a:ln>
          </p:spPr>
          <p:txBody>
            <a:bodyPr wrap="none" lIns="0" tIns="0" rIns="0" bIns="0" anchor="t" anchorCtr="0">
              <a:spAutoFit/>
            </a:bodyPr>
            <a:lstStyle/>
            <a:p>
              <a:pPr algn="r"/>
              <a:r>
                <a:rPr lang="zh-CN" sz="750" dirty="0">
                  <a:solidFill>
                    <a:srgbClr val="809085">
                      <a:alpha val="50000"/>
                    </a:srgbClr>
                  </a:solidFill>
                  <a:latin typeface="Plus Jakarta Sans"/>
                  <a:ea typeface="Microsoft YaHei"/>
                  <a:cs typeface="Plus Jakarta Sans"/>
                </a:rPr>
                <a:t>17</a:t>
              </a:r>
            </a:p>
          </p:txBody>
        </p:sp>
      </p:gr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